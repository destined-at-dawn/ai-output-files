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media/image46.emf" ContentType="image/x-emf"/>
  <Override PartName="/ppt/media/image2.emf" ContentType="image/x-emf"/>
  <Override PartName="/ppt/media/image28.emf" ContentType="image/x-emf"/>
  <Override PartName="/ppt/media/image75.emf" ContentType="image/x-emf"/>
  <Override PartName="/ppt/media/image130.emf" ContentType="image/x-emf"/>
  <Override PartName="/ppt/media/image57.emf" ContentType="image/x-emf"/>
  <Override PartName="/ppt/media/image45.emf" ContentType="image/x-emf"/>
  <Override PartName="/ppt/media/image18.emf" ContentType="image/x-emf"/>
  <Override PartName="/ppt/media/image1.emf" ContentType="image/x-emf"/>
  <Override PartName="/ppt/media/image58.emf" ContentType="image/x-emf"/>
  <Override PartName="/ppt/media/image120.emf" ContentType="image/x-emf"/>
  <Override PartName="/ppt/media/image47.emf" ContentType="image/x-emf"/>
  <Override PartName="/ppt/media/image3.emf" ContentType="image/x-emf"/>
  <Override PartName="/ppt/media/image29.emf" ContentType="image/x-emf"/>
  <Override PartName="/ppt/media/image74.emf" ContentType="image/x-emf"/>
  <Override PartName="/ppt/media/image131.emf" ContentType="image/x-emf"/>
  <Override PartName="/ppt/media/image59.emf" ContentType="image/x-emf"/>
  <Override PartName="/ppt/media/image70.emf" ContentType="image/x-emf"/>
  <Override PartName="/ppt/media/image40.emf" ContentType="image/x-emf"/>
  <Override PartName="/ppt/media/image4.emf" ContentType="image/x-emf"/>
  <Override PartName="/ppt/media/image71.emf" ContentType="image/x-emf"/>
  <Override PartName="/ppt/media/image41.emf" ContentType="image/x-emf"/>
  <Override PartName="/ppt/media/image5.emf" ContentType="image/x-emf"/>
  <Override PartName="/ppt/media/image72.emf" ContentType="image/x-emf"/>
  <Override PartName="/ppt/media/image42.emf" ContentType="image/x-emf"/>
  <Override PartName="/ppt/media/image6.emf" ContentType="image/x-emf"/>
  <Override PartName="/ppt/media/image73.emf" ContentType="image/x-emf"/>
  <Override PartName="/ppt/media/image43.emf" ContentType="image/x-emf"/>
  <Override PartName="/ppt/media/image7.emf" ContentType="image/x-emf"/>
  <Override PartName="/ppt/media/image154.emf" ContentType="image/x-emf"/>
  <Override PartName="/ppt/media/image11.emf" ContentType="image/x-emf"/>
  <Override PartName="/ppt/media/image8.emf" ContentType="image/x-emf"/>
  <Override PartName="/ppt/media/image155.emf" ContentType="image/x-emf"/>
  <Override PartName="/ppt/media/image10.emf" ContentType="image/x-emf"/>
  <Override PartName="/ppt/media/image9.emf" ContentType="image/x-emf"/>
  <Override PartName="/ppt/media/image12.emf" ContentType="image/x-emf"/>
  <Override PartName="/ppt/media/image156.emf" ContentType="image/x-emf"/>
  <Override PartName="/ppt/media/image13.emf" ContentType="image/x-emf"/>
  <Override PartName="/ppt/media/image151.emf" ContentType="image/x-emf"/>
  <Override PartName="/ppt/media/image14.emf" ContentType="image/x-emf"/>
  <Override PartName="/ppt/media/image48.emf" ContentType="image/x-emf"/>
  <Override PartName="/ppt/media/image150.emf" ContentType="image/x-emf"/>
  <Override PartName="/ppt/media/image15.emf" ContentType="image/x-emf"/>
  <Override PartName="/ppt/media/image153.emf" ContentType="image/x-emf"/>
  <Override PartName="/ppt/media/image16.emf" ContentType="image/x-emf"/>
  <Override PartName="/ppt/media/image152.emf" ContentType="image/x-emf"/>
  <Override PartName="/ppt/media/image17.emf" ContentType="image/x-emf"/>
  <Override PartName="/ppt/media/image103.emf" ContentType="image/x-emf"/>
  <Override PartName="/ppt/media/image20.emf" ContentType="image/x-emf"/>
  <Override PartName="/ppt/media/image102.emf" ContentType="image/x-emf"/>
  <Override PartName="/ppt/media/image21.emf" ContentType="image/x-emf"/>
  <Override PartName="/ppt/media/image22.emf" ContentType="image/x-emf"/>
  <Override PartName="/ppt/media/image101.emf" ContentType="image/x-emf"/>
  <Override PartName="/ppt/media/image23.emf" ContentType="image/x-emf"/>
  <Override PartName="/ppt/media/image100.emf" ContentType="image/x-emf"/>
  <Override PartName="/ppt/media/image107.emf" ContentType="image/x-emf"/>
  <Override PartName="/ppt/media/image24.emf" ContentType="image/x-emf"/>
  <Override PartName="/ppt/media/image106.emf" ContentType="image/x-emf"/>
  <Override PartName="/ppt/media/image25.emf" ContentType="image/x-emf"/>
  <Override PartName="/ppt/media/image105.emf" ContentType="image/x-emf"/>
  <Override PartName="/ppt/media/image26.emf" ContentType="image/x-emf"/>
  <Override PartName="/ppt/media/image104.emf" ContentType="image/x-emf"/>
  <Override PartName="/ppt/media/image27.emf" ContentType="image/x-emf"/>
  <Override PartName="/ppt/media/image30.emf" ContentType="image/x-emf"/>
  <Override PartName="/ppt/media/image31.emf" ContentType="image/x-emf"/>
  <Override PartName="/ppt/media/image32.emf" ContentType="image/x-emf"/>
  <Override PartName="/ppt/media/image33.emf" ContentType="image/x-emf"/>
  <Override PartName="/ppt/media/image34.emf" ContentType="image/x-emf"/>
  <Override PartName="/ppt/media/image35.emf" ContentType="image/x-emf"/>
  <Override PartName="/ppt/media/image36.emf" ContentType="image/x-emf"/>
  <Override PartName="/ppt/media/image37.emf" ContentType="image/x-emf"/>
  <Override PartName="/ppt/media/image110.emf" ContentType="image/x-emf"/>
  <Override PartName="/ppt/media/image38.emf" ContentType="image/x-emf"/>
  <Override PartName="/ppt/media/image111.emf" ContentType="image/x-emf"/>
  <Override PartName="/ppt/media/image39.emf" ContentType="image/x-emf"/>
  <Override PartName="/ppt/media/image44.emf" ContentType="image/x-emf"/>
  <Override PartName="/ppt/media/image121.emf" ContentType="image/x-emf"/>
  <Override PartName="/ppt/media/image49.emf" ContentType="image/x-emf"/>
  <Override PartName="/ppt/media/image50.emf" ContentType="image/x-emf"/>
  <Override PartName="/ppt/media/image51.emf" ContentType="image/x-emf"/>
  <Override PartName="/ppt/media/image52.emf" ContentType="image/x-emf"/>
  <Override PartName="/ppt/media/image53.emf" ContentType="image/x-emf"/>
  <Override PartName="/ppt/media/image54.emf" ContentType="image/x-emf"/>
  <Override PartName="/ppt/media/image55.emf" ContentType="image/x-emf"/>
  <Override PartName="/ppt/media/image56.emf" ContentType="image/x-emf"/>
  <Override PartName="/ppt/media/image143.emf" ContentType="image/x-emf"/>
  <Override PartName="/ppt/media/image60.emf" ContentType="image/x-emf"/>
  <Override PartName="/ppt/media/image142.emf" ContentType="image/x-emf"/>
  <Override PartName="/ppt/media/image61.emf" ContentType="image/x-emf"/>
  <Override PartName="/ppt/media/image141.emf" ContentType="image/x-emf"/>
  <Override PartName="/ppt/media/image62.emf" ContentType="image/x-emf"/>
  <Override PartName="/ppt/media/image140.emf" ContentType="image/x-emf"/>
  <Override PartName="/ppt/media/image63.emf" ContentType="image/x-emf"/>
  <Override PartName="/ppt/media/image147.emf" ContentType="image/x-emf"/>
  <Override PartName="/ppt/media/image64.emf" ContentType="image/x-emf"/>
  <Override PartName="/ppt/media/image146.emf" ContentType="image/x-emf"/>
  <Override PartName="/ppt/media/image65.emf" ContentType="image/x-emf"/>
  <Override PartName="/ppt/media/image145.emf" ContentType="image/x-emf"/>
  <Override PartName="/ppt/media/image66.emf" ContentType="image/x-emf"/>
  <Override PartName="/ppt/media/image144.emf" ContentType="image/x-emf"/>
  <Override PartName="/ppt/media/image67.emf" ContentType="image/x-emf"/>
  <Override PartName="/ppt/media/image68.emf" ContentType="image/x-emf"/>
  <Override PartName="/ppt/media/image69.emf" ContentType="image/x-emf"/>
  <Override PartName="/ppt/media/image76.emf" ContentType="image/x-emf"/>
  <Override PartName="/ppt/media/image77.emf" ContentType="image/x-emf"/>
  <Override PartName="/ppt/media/image78.emf" ContentType="image/x-emf"/>
  <Override PartName="/ppt/media/image79.emf" ContentType="image/x-emf"/>
  <Override PartName="/ppt/media/image80.emf" ContentType="image/x-emf"/>
  <Override PartName="/ppt/media/image81.emf" ContentType="image/x-emf"/>
  <Override PartName="/ppt/media/image82.emf" ContentType="image/x-emf"/>
  <Override PartName="/ppt/media/image83.emf" ContentType="image/x-emf"/>
  <Override PartName="/ppt/media/image84.emf" ContentType="image/x-emf"/>
  <Override PartName="/ppt/media/image85.emf" ContentType="image/x-emf"/>
  <Override PartName="/ppt/media/image86.emf" ContentType="image/x-emf"/>
  <Override PartName="/ppt/media/image87.emf" ContentType="image/x-emf"/>
  <Override PartName="/ppt/media/image88.emf" ContentType="image/x-emf"/>
  <Override PartName="/ppt/media/image89.emf" ContentType="image/x-emf"/>
  <Override PartName="/ppt/media/image90.emf" ContentType="image/x-emf"/>
  <Override PartName="/ppt/media/image91.emf" ContentType="image/x-emf"/>
  <Override PartName="/ppt/media/image92.emf" ContentType="image/x-emf"/>
  <Override PartName="/ppt/media/image93.emf" ContentType="image/x-emf"/>
  <Override PartName="/ppt/media/image94.emf" ContentType="image/x-emf"/>
  <Override PartName="/ppt/media/image95.emf" ContentType="image/x-emf"/>
  <Override PartName="/ppt/media/image96.emf" ContentType="image/x-emf"/>
  <Override PartName="/ppt/media/image97.emf" ContentType="image/x-emf"/>
  <Override PartName="/ppt/media/image98.emf" ContentType="image/x-emf"/>
  <Override PartName="/ppt/media/image99.emf" ContentType="image/x-emf"/>
  <Override PartName="/ppt/media/image108.emf" ContentType="image/x-emf"/>
  <Override PartName="/ppt/media/image109.emf" ContentType="image/x-emf"/>
  <Override PartName="/ppt/media/image112.emf" ContentType="image/x-emf"/>
  <Override PartName="/ppt/media/image113.emf" ContentType="image/x-emf"/>
  <Override PartName="/ppt/media/image114.emf" ContentType="image/x-emf"/>
  <Override PartName="/ppt/media/image115.emf" ContentType="image/x-emf"/>
  <Override PartName="/ppt/media/image116.emf" ContentType="image/x-emf"/>
  <Override PartName="/ppt/media/image117.emf" ContentType="image/x-emf"/>
  <Override PartName="/ppt/media/image118.emf" ContentType="image/x-emf"/>
  <Override PartName="/ppt/media/image119.emf" ContentType="image/x-emf"/>
  <Override PartName="/ppt/media/image122.emf" ContentType="image/x-emf"/>
  <Override PartName="/ppt/media/image123.emf" ContentType="image/x-emf"/>
  <Override PartName="/ppt/media/image124.emf" ContentType="image/x-emf"/>
  <Override PartName="/ppt/media/image125.emf" ContentType="image/x-emf"/>
  <Override PartName="/ppt/media/image126.emf" ContentType="image/x-emf"/>
  <Override PartName="/ppt/media/image127.emf" ContentType="image/x-emf"/>
  <Override PartName="/ppt/media/image128.emf" ContentType="image/x-emf"/>
  <Override PartName="/ppt/media/image129.emf" ContentType="image/x-emf"/>
  <Override PartName="/ppt/media/image132.emf" ContentType="image/x-emf"/>
  <Override PartName="/ppt/media/image133.emf" ContentType="image/x-emf"/>
  <Override PartName="/ppt/media/image134.emf" ContentType="image/x-emf"/>
  <Override PartName="/ppt/media/image135.emf" ContentType="image/x-emf"/>
  <Override PartName="/ppt/media/image136.emf" ContentType="image/x-emf"/>
  <Override PartName="/ppt/media/image137.emf" ContentType="image/x-emf"/>
  <Override PartName="/ppt/media/image138.emf" ContentType="image/x-emf"/>
  <Override PartName="/ppt/media/image139.emf" ContentType="image/x-emf"/>
  <Override PartName="/ppt/media/image148.emf" ContentType="image/x-emf"/>
  <Override PartName="/ppt/media/image149.emf" ContentType="image/x-emf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CB5B5A-D889-4D72-B523-31E81372BF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lnSpcReduction="9999"/>
          </a:bodyPr>
          <a:lstStyle>
            <a:lvl1pPr algn="l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lvl="1" algn="l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2pPr>
            <a:lvl3pPr lvl="2" algn="l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3pPr>
            <a:lvl4pPr lvl="3" algn="l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4pPr>
            <a:lvl5pPr lvl="4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5pPr>
            <a:lvl6pPr lvl="5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6pPr>
            <a:lvl7pPr lvl="6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7pPr>
          </a:lstStyle>
          <a:p>
            <a:pPr marL="343080" indent="-343080" algn="l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743040" lvl="1" indent="-285840" algn="l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第二提纲级别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143000" lvl="2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第三提纲级别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600200" lvl="3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第四提纲级别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057400" lvl="4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第五提纲级别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057400" lvl="5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第六提纲级别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057400" lvl="6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第七提纲级别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41FAF8E-4277-4F5F-846B-BBEA1162D01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emf"/><Relationship Id="rId2" Type="http://schemas.openxmlformats.org/officeDocument/2006/relationships/image" Target="../media/image2.emf"/><Relationship Id="rId3" Type="http://schemas.openxmlformats.org/officeDocument/2006/relationships/image" Target="../media/image3.emf"/><Relationship Id="rId4" Type="http://schemas.openxmlformats.org/officeDocument/2006/relationships/image" Target="../media/image4.emf"/><Relationship Id="rId5" Type="http://schemas.openxmlformats.org/officeDocument/2006/relationships/image" Target="../media/image5.emf"/><Relationship Id="rId6" Type="http://schemas.openxmlformats.org/officeDocument/2006/relationships/image" Target="../media/image6.emf"/><Relationship Id="rId7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emf"/><Relationship Id="rId2" Type="http://schemas.openxmlformats.org/officeDocument/2006/relationships/image" Target="../media/image8.emf"/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emf"/><Relationship Id="rId2" Type="http://schemas.openxmlformats.org/officeDocument/2006/relationships/image" Target="../media/image12.emf"/><Relationship Id="rId3" Type="http://schemas.openxmlformats.org/officeDocument/2006/relationships/image" Target="../media/image13.emf"/><Relationship Id="rId4" Type="http://schemas.openxmlformats.org/officeDocument/2006/relationships/image" Target="../media/image14.emf"/><Relationship Id="rId5" Type="http://schemas.openxmlformats.org/officeDocument/2006/relationships/image" Target="../media/image15.emf"/><Relationship Id="rId6" Type="http://schemas.openxmlformats.org/officeDocument/2006/relationships/image" Target="../media/image6.emf"/><Relationship Id="rId7" Type="http://schemas.openxmlformats.org/officeDocument/2006/relationships/image" Target="../media/image16.emf"/><Relationship Id="rId8" Type="http://schemas.openxmlformats.org/officeDocument/2006/relationships/image" Target="../media/image17.emf"/><Relationship Id="rId9" Type="http://schemas.openxmlformats.org/officeDocument/2006/relationships/image" Target="../media/image18.emf"/><Relationship Id="rId10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image" Target="../media/image19.jpeg"/><Relationship Id="rId3" Type="http://schemas.openxmlformats.org/officeDocument/2006/relationships/image" Target="../media/image20.emf"/><Relationship Id="rId4" Type="http://schemas.openxmlformats.org/officeDocument/2006/relationships/image" Target="../media/image21.emf"/><Relationship Id="rId5" Type="http://schemas.openxmlformats.org/officeDocument/2006/relationships/image" Target="../media/image22.emf"/><Relationship Id="rId6" Type="http://schemas.openxmlformats.org/officeDocument/2006/relationships/image" Target="../media/image23.emf"/><Relationship Id="rId7" Type="http://schemas.openxmlformats.org/officeDocument/2006/relationships/image" Target="../media/image24.emf"/><Relationship Id="rId8" Type="http://schemas.openxmlformats.org/officeDocument/2006/relationships/image" Target="../media/image25.emf"/><Relationship Id="rId9" Type="http://schemas.openxmlformats.org/officeDocument/2006/relationships/image" Target="../media/image26.emf"/><Relationship Id="rId10" Type="http://schemas.openxmlformats.org/officeDocument/2006/relationships/image" Target="../media/image27.emf"/><Relationship Id="rId11" Type="http://schemas.openxmlformats.org/officeDocument/2006/relationships/image" Target="../media/image28.emf"/><Relationship Id="rId1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9.emf"/><Relationship Id="rId2" Type="http://schemas.openxmlformats.org/officeDocument/2006/relationships/image" Target="../media/image30.emf"/><Relationship Id="rId3" Type="http://schemas.openxmlformats.org/officeDocument/2006/relationships/image" Target="../media/image31.emf"/><Relationship Id="rId4" Type="http://schemas.openxmlformats.org/officeDocument/2006/relationships/image" Target="../media/image32.emf"/><Relationship Id="rId5" Type="http://schemas.openxmlformats.org/officeDocument/2006/relationships/image" Target="../media/image33.emf"/><Relationship Id="rId6" Type="http://schemas.openxmlformats.org/officeDocument/2006/relationships/image" Target="../media/image34.emf"/><Relationship Id="rId7" Type="http://schemas.openxmlformats.org/officeDocument/2006/relationships/image" Target="../media/image35.emf"/><Relationship Id="rId8" Type="http://schemas.openxmlformats.org/officeDocument/2006/relationships/image" Target="../media/image36.emf"/><Relationship Id="rId9" Type="http://schemas.openxmlformats.org/officeDocument/2006/relationships/image" Target="../media/image37.emf"/><Relationship Id="rId10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8.emf"/><Relationship Id="rId2" Type="http://schemas.openxmlformats.org/officeDocument/2006/relationships/image" Target="../media/image39.emf"/><Relationship Id="rId3" Type="http://schemas.openxmlformats.org/officeDocument/2006/relationships/image" Target="../media/image40.emf"/><Relationship Id="rId4" Type="http://schemas.openxmlformats.org/officeDocument/2006/relationships/image" Target="../media/image41.emf"/><Relationship Id="rId5" Type="http://schemas.openxmlformats.org/officeDocument/2006/relationships/image" Target="../media/image42.emf"/><Relationship Id="rId6" Type="http://schemas.openxmlformats.org/officeDocument/2006/relationships/image" Target="../media/image43.emf"/><Relationship Id="rId7" Type="http://schemas.openxmlformats.org/officeDocument/2006/relationships/image" Target="../media/image44.emf"/><Relationship Id="rId8" Type="http://schemas.openxmlformats.org/officeDocument/2006/relationships/image" Target="../media/image45.emf"/><Relationship Id="rId9" Type="http://schemas.openxmlformats.org/officeDocument/2006/relationships/image" Target="../media/image46.emf"/><Relationship Id="rId10" Type="http://schemas.openxmlformats.org/officeDocument/2006/relationships/image" Target="../media/image47.emf"/><Relationship Id="rId11" Type="http://schemas.openxmlformats.org/officeDocument/2006/relationships/image" Target="../media/image40.emf"/><Relationship Id="rId12" Type="http://schemas.openxmlformats.org/officeDocument/2006/relationships/image" Target="../media/image38.emf"/><Relationship Id="rId13" Type="http://schemas.openxmlformats.org/officeDocument/2006/relationships/image" Target="../media/image46.emf"/><Relationship Id="rId1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8.emf"/><Relationship Id="rId2" Type="http://schemas.openxmlformats.org/officeDocument/2006/relationships/image" Target="../media/image49.emf"/><Relationship Id="rId3" Type="http://schemas.openxmlformats.org/officeDocument/2006/relationships/image" Target="../media/image50.emf"/><Relationship Id="rId4" Type="http://schemas.openxmlformats.org/officeDocument/2006/relationships/image" Target="../media/image51.emf"/><Relationship Id="rId5" Type="http://schemas.openxmlformats.org/officeDocument/2006/relationships/image" Target="../media/image52.emf"/><Relationship Id="rId6" Type="http://schemas.openxmlformats.org/officeDocument/2006/relationships/image" Target="../media/image53.emf"/><Relationship Id="rId7" Type="http://schemas.openxmlformats.org/officeDocument/2006/relationships/image" Target="../media/image54.emf"/><Relationship Id="rId8" Type="http://schemas.openxmlformats.org/officeDocument/2006/relationships/image" Target="../media/image55.emf"/><Relationship Id="rId9" Type="http://schemas.openxmlformats.org/officeDocument/2006/relationships/image" Target="../media/image56.emf"/><Relationship Id="rId10" Type="http://schemas.openxmlformats.org/officeDocument/2006/relationships/image" Target="../media/image57.emf"/><Relationship Id="rId11" Type="http://schemas.openxmlformats.org/officeDocument/2006/relationships/image" Target="../media/image58.emf"/><Relationship Id="rId12" Type="http://schemas.openxmlformats.org/officeDocument/2006/relationships/image" Target="../media/image59.emf"/><Relationship Id="rId13" Type="http://schemas.openxmlformats.org/officeDocument/2006/relationships/image" Target="../media/image60.emf"/><Relationship Id="rId1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1.emf"/><Relationship Id="rId2" Type="http://schemas.openxmlformats.org/officeDocument/2006/relationships/image" Target="../media/image62.emf"/><Relationship Id="rId3" Type="http://schemas.openxmlformats.org/officeDocument/2006/relationships/image" Target="../media/image63.emf"/><Relationship Id="rId4" Type="http://schemas.openxmlformats.org/officeDocument/2006/relationships/image" Target="../media/image64.emf"/><Relationship Id="rId5" Type="http://schemas.openxmlformats.org/officeDocument/2006/relationships/image" Target="../media/image65.emf"/><Relationship Id="rId6" Type="http://schemas.openxmlformats.org/officeDocument/2006/relationships/image" Target="../media/image66.emf"/><Relationship Id="rId7" Type="http://schemas.openxmlformats.org/officeDocument/2006/relationships/image" Target="../media/image67.emf"/><Relationship Id="rId8" Type="http://schemas.openxmlformats.org/officeDocument/2006/relationships/image" Target="../media/image68.emf"/><Relationship Id="rId9" Type="http://schemas.openxmlformats.org/officeDocument/2006/relationships/image" Target="../media/image69.emf"/><Relationship Id="rId10" Type="http://schemas.openxmlformats.org/officeDocument/2006/relationships/image" Target="../media/image70.emf"/><Relationship Id="rId11" Type="http://schemas.openxmlformats.org/officeDocument/2006/relationships/image" Target="../media/image71.emf"/><Relationship Id="rId1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2.emf"/><Relationship Id="rId2" Type="http://schemas.openxmlformats.org/officeDocument/2006/relationships/image" Target="../media/image73.emf"/><Relationship Id="rId3" Type="http://schemas.openxmlformats.org/officeDocument/2006/relationships/image" Target="../media/image74.emf"/><Relationship Id="rId4" Type="http://schemas.openxmlformats.org/officeDocument/2006/relationships/image" Target="../media/image75.emf"/><Relationship Id="rId5" Type="http://schemas.openxmlformats.org/officeDocument/2006/relationships/image" Target="../media/image76.emf"/><Relationship Id="rId6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7.emf"/><Relationship Id="rId2" Type="http://schemas.openxmlformats.org/officeDocument/2006/relationships/image" Target="../media/image78.emf"/><Relationship Id="rId3" Type="http://schemas.openxmlformats.org/officeDocument/2006/relationships/image" Target="../media/image79.emf"/><Relationship Id="rId4" Type="http://schemas.openxmlformats.org/officeDocument/2006/relationships/image" Target="../media/image80.emf"/><Relationship Id="rId5" Type="http://schemas.openxmlformats.org/officeDocument/2006/relationships/image" Target="../media/image81.emf"/><Relationship Id="rId6" Type="http://schemas.openxmlformats.org/officeDocument/2006/relationships/image" Target="../media/image46.emf"/><Relationship Id="rId7" Type="http://schemas.openxmlformats.org/officeDocument/2006/relationships/image" Target="../media/image82.emf"/><Relationship Id="rId8" Type="http://schemas.openxmlformats.org/officeDocument/2006/relationships/image" Target="../media/image83.emf"/><Relationship Id="rId9" Type="http://schemas.openxmlformats.org/officeDocument/2006/relationships/image" Target="../media/image84.emf"/><Relationship Id="rId10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5.emf"/><Relationship Id="rId2" Type="http://schemas.openxmlformats.org/officeDocument/2006/relationships/image" Target="../media/image86.emf"/><Relationship Id="rId3" Type="http://schemas.openxmlformats.org/officeDocument/2006/relationships/image" Target="../media/image50.emf"/><Relationship Id="rId4" Type="http://schemas.openxmlformats.org/officeDocument/2006/relationships/image" Target="../media/image87.emf"/><Relationship Id="rId5" Type="http://schemas.openxmlformats.org/officeDocument/2006/relationships/image" Target="../media/image88.emf"/><Relationship Id="rId6" Type="http://schemas.openxmlformats.org/officeDocument/2006/relationships/image" Target="../media/image89.emf"/><Relationship Id="rId7" Type="http://schemas.openxmlformats.org/officeDocument/2006/relationships/image" Target="../media/image90.emf"/><Relationship Id="rId8" Type="http://schemas.openxmlformats.org/officeDocument/2006/relationships/image" Target="../media/image91.emf"/><Relationship Id="rId9" Type="http://schemas.openxmlformats.org/officeDocument/2006/relationships/image" Target="../media/image92.emf"/><Relationship Id="rId10" Type="http://schemas.openxmlformats.org/officeDocument/2006/relationships/image" Target="../media/image93.emf"/><Relationship Id="rId11" Type="http://schemas.openxmlformats.org/officeDocument/2006/relationships/image" Target="../media/image94.emf"/><Relationship Id="rId12" Type="http://schemas.openxmlformats.org/officeDocument/2006/relationships/image" Target="../media/image95.emf"/><Relationship Id="rId13" Type="http://schemas.openxmlformats.org/officeDocument/2006/relationships/image" Target="../media/image92.emf"/><Relationship Id="rId14" Type="http://schemas.openxmlformats.org/officeDocument/2006/relationships/image" Target="../media/image93.emf"/><Relationship Id="rId15" Type="http://schemas.openxmlformats.org/officeDocument/2006/relationships/image" Target="../media/image96.emf"/><Relationship Id="rId16" Type="http://schemas.openxmlformats.org/officeDocument/2006/relationships/image" Target="../media/image97.emf"/><Relationship Id="rId17" Type="http://schemas.openxmlformats.org/officeDocument/2006/relationships/image" Target="../media/image63.emf"/><Relationship Id="rId18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8.emf"/><Relationship Id="rId2" Type="http://schemas.openxmlformats.org/officeDocument/2006/relationships/image" Target="../media/image99.emf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0.emf"/><Relationship Id="rId2" Type="http://schemas.openxmlformats.org/officeDocument/2006/relationships/image" Target="../media/image101.emf"/><Relationship Id="rId3" Type="http://schemas.openxmlformats.org/officeDocument/2006/relationships/image" Target="../media/image102.emf"/><Relationship Id="rId4" Type="http://schemas.openxmlformats.org/officeDocument/2006/relationships/image" Target="../media/image103.emf"/><Relationship Id="rId5" Type="http://schemas.openxmlformats.org/officeDocument/2006/relationships/image" Target="../media/image104.emf"/><Relationship Id="rId6" Type="http://schemas.openxmlformats.org/officeDocument/2006/relationships/image" Target="../media/image20.emf"/><Relationship Id="rId7" Type="http://schemas.openxmlformats.org/officeDocument/2006/relationships/image" Target="../media/image81.emf"/><Relationship Id="rId8" Type="http://schemas.openxmlformats.org/officeDocument/2006/relationships/image" Target="../media/image38.emf"/><Relationship Id="rId9" Type="http://schemas.openxmlformats.org/officeDocument/2006/relationships/image" Target="../media/image105.emf"/><Relationship Id="rId10" Type="http://schemas.openxmlformats.org/officeDocument/2006/relationships/image" Target="../media/image105.emf"/><Relationship Id="rId11" Type="http://schemas.openxmlformats.org/officeDocument/2006/relationships/image" Target="../media/image106.emf"/><Relationship Id="rId12" Type="http://schemas.openxmlformats.org/officeDocument/2006/relationships/image" Target="../media/image107.emf"/><Relationship Id="rId1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8.emf"/><Relationship Id="rId2" Type="http://schemas.openxmlformats.org/officeDocument/2006/relationships/image" Target="../media/image109.emf"/><Relationship Id="rId3" Type="http://schemas.openxmlformats.org/officeDocument/2006/relationships/image" Target="../media/image110.emf"/><Relationship Id="rId4" Type="http://schemas.openxmlformats.org/officeDocument/2006/relationships/image" Target="../media/image111.emf"/><Relationship Id="rId5" Type="http://schemas.openxmlformats.org/officeDocument/2006/relationships/image" Target="../media/image112.emf"/><Relationship Id="rId6" Type="http://schemas.openxmlformats.org/officeDocument/2006/relationships/image" Target="../media/image113.emf"/><Relationship Id="rId7" Type="http://schemas.openxmlformats.org/officeDocument/2006/relationships/image" Target="../media/image114.emf"/><Relationship Id="rId8" Type="http://schemas.openxmlformats.org/officeDocument/2006/relationships/image" Target="../media/image115.emf"/><Relationship Id="rId9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6.emf"/><Relationship Id="rId2" Type="http://schemas.openxmlformats.org/officeDocument/2006/relationships/image" Target="../media/image117.emf"/><Relationship Id="rId3" Type="http://schemas.openxmlformats.org/officeDocument/2006/relationships/image" Target="../media/image118.emf"/><Relationship Id="rId4" Type="http://schemas.openxmlformats.org/officeDocument/2006/relationships/image" Target="../media/image119.emf"/><Relationship Id="rId5" Type="http://schemas.openxmlformats.org/officeDocument/2006/relationships/image" Target="../media/image117.emf"/><Relationship Id="rId6" Type="http://schemas.openxmlformats.org/officeDocument/2006/relationships/image" Target="../media/image118.emf"/><Relationship Id="rId7" Type="http://schemas.openxmlformats.org/officeDocument/2006/relationships/image" Target="../media/image120.emf"/><Relationship Id="rId8" Type="http://schemas.openxmlformats.org/officeDocument/2006/relationships/image" Target="../media/image39.emf"/><Relationship Id="rId9" Type="http://schemas.openxmlformats.org/officeDocument/2006/relationships/image" Target="../media/image121.emf"/><Relationship Id="rId10" Type="http://schemas.openxmlformats.org/officeDocument/2006/relationships/image" Target="../media/image122.emf"/><Relationship Id="rId11" Type="http://schemas.openxmlformats.org/officeDocument/2006/relationships/image" Target="../media/image123.emf"/><Relationship Id="rId12" Type="http://schemas.openxmlformats.org/officeDocument/2006/relationships/image" Target="../media/image124.emf"/><Relationship Id="rId13" Type="http://schemas.openxmlformats.org/officeDocument/2006/relationships/image" Target="../media/image125.emf"/><Relationship Id="rId14" Type="http://schemas.openxmlformats.org/officeDocument/2006/relationships/image" Target="../media/image126.emf"/><Relationship Id="rId15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7.emf"/><Relationship Id="rId2" Type="http://schemas.openxmlformats.org/officeDocument/2006/relationships/image" Target="../media/image128.emf"/><Relationship Id="rId3" Type="http://schemas.openxmlformats.org/officeDocument/2006/relationships/image" Target="../media/image127.emf"/><Relationship Id="rId4" Type="http://schemas.openxmlformats.org/officeDocument/2006/relationships/image" Target="../media/image128.emf"/><Relationship Id="rId5" Type="http://schemas.openxmlformats.org/officeDocument/2006/relationships/image" Target="../media/image129.emf"/><Relationship Id="rId6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30.emf"/><Relationship Id="rId2" Type="http://schemas.openxmlformats.org/officeDocument/2006/relationships/image" Target="../media/image131.emf"/><Relationship Id="rId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61.emf"/><Relationship Id="rId2" Type="http://schemas.openxmlformats.org/officeDocument/2006/relationships/image" Target="../media/image64.emf"/><Relationship Id="rId3" Type="http://schemas.openxmlformats.org/officeDocument/2006/relationships/image" Target="../media/image132.emf"/><Relationship Id="rId4" Type="http://schemas.openxmlformats.org/officeDocument/2006/relationships/image" Target="../media/image133.emf"/><Relationship Id="rId5" Type="http://schemas.openxmlformats.org/officeDocument/2006/relationships/image" Target="../media/image134.emf"/><Relationship Id="rId6" Type="http://schemas.openxmlformats.org/officeDocument/2006/relationships/image" Target="../media/image98.emf"/><Relationship Id="rId7" Type="http://schemas.openxmlformats.org/officeDocument/2006/relationships/image" Target="../media/image135.emf"/><Relationship Id="rId8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36.emf"/><Relationship Id="rId2" Type="http://schemas.openxmlformats.org/officeDocument/2006/relationships/image" Target="../media/image137.emf"/><Relationship Id="rId3" Type="http://schemas.openxmlformats.org/officeDocument/2006/relationships/image" Target="../media/image138.emf"/><Relationship Id="rId4" Type="http://schemas.openxmlformats.org/officeDocument/2006/relationships/image" Target="../media/image139.emf"/><Relationship Id="rId5" Type="http://schemas.openxmlformats.org/officeDocument/2006/relationships/image" Target="../media/image140.emf"/><Relationship Id="rId6" Type="http://schemas.openxmlformats.org/officeDocument/2006/relationships/image" Target="../media/image141.emf"/><Relationship Id="rId7" Type="http://schemas.openxmlformats.org/officeDocument/2006/relationships/image" Target="../media/image142.emf"/><Relationship Id="rId8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43.emf"/><Relationship Id="rId2" Type="http://schemas.openxmlformats.org/officeDocument/2006/relationships/image" Target="../media/image144.emf"/><Relationship Id="rId3" Type="http://schemas.openxmlformats.org/officeDocument/2006/relationships/image" Target="../media/image145.emf"/><Relationship Id="rId4" Type="http://schemas.openxmlformats.org/officeDocument/2006/relationships/image" Target="../media/image146.emf"/><Relationship Id="rId5" Type="http://schemas.openxmlformats.org/officeDocument/2006/relationships/image" Target="../media/image147.emf"/><Relationship Id="rId6" Type="http://schemas.openxmlformats.org/officeDocument/2006/relationships/image" Target="../media/image6.emf"/><Relationship Id="rId7" Type="http://schemas.openxmlformats.org/officeDocument/2006/relationships/image" Target="../media/image148.emf"/><Relationship Id="rId8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98.emf"/><Relationship Id="rId2" Type="http://schemas.openxmlformats.org/officeDocument/2006/relationships/image" Target="../media/image149.emf"/><Relationship Id="rId3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81.emf"/><Relationship Id="rId2" Type="http://schemas.openxmlformats.org/officeDocument/2006/relationships/image" Target="../media/image150.emf"/><Relationship Id="rId3" Type="http://schemas.openxmlformats.org/officeDocument/2006/relationships/image" Target="../media/image151.emf"/><Relationship Id="rId4" Type="http://schemas.openxmlformats.org/officeDocument/2006/relationships/image" Target="../media/image152.emf"/><Relationship Id="rId5" Type="http://schemas.openxmlformats.org/officeDocument/2006/relationships/image" Target="../media/image153.emf"/><Relationship Id="rId6" Type="http://schemas.openxmlformats.org/officeDocument/2006/relationships/image" Target="../media/image154.emf"/><Relationship Id="rId7" Type="http://schemas.openxmlformats.org/officeDocument/2006/relationships/image" Target="../media/image155.emf"/><Relationship Id="rId8" Type="http://schemas.openxmlformats.org/officeDocument/2006/relationships/image" Target="../media/image156.emf"/><Relationship Id="rId9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"/>
          <p:cNvSpPr/>
          <p:nvPr/>
        </p:nvSpPr>
        <p:spPr>
          <a:xfrm>
            <a:off x="34560" y="1523880"/>
            <a:ext cx="6360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P13/1.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下列说法正确的是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Text Box 3"/>
          <p:cNvSpPr/>
          <p:nvPr/>
        </p:nvSpPr>
        <p:spPr>
          <a:xfrm>
            <a:off x="50760" y="2286000"/>
            <a:ext cx="7891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加速度恒定不变时，质点的运动方向也不变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Text Box 4"/>
          <p:cNvSpPr/>
          <p:nvPr/>
        </p:nvSpPr>
        <p:spPr>
          <a:xfrm>
            <a:off x="68040" y="2803680"/>
            <a:ext cx="5605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平均速率等于平均速度的大小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Text Box 5"/>
          <p:cNvSpPr/>
          <p:nvPr/>
        </p:nvSpPr>
        <p:spPr>
          <a:xfrm>
            <a:off x="71280" y="3276720"/>
            <a:ext cx="7130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当质点的速度为零时，其加速度必为零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Text Box 6"/>
          <p:cNvSpPr/>
          <p:nvPr/>
        </p:nvSpPr>
        <p:spPr>
          <a:xfrm>
            <a:off x="-16200" y="3809880"/>
            <a:ext cx="9027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质点作曲线运动时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质点速度大小的变化是因为有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Text Box 7"/>
          <p:cNvSpPr/>
          <p:nvPr/>
        </p:nvSpPr>
        <p:spPr>
          <a:xfrm>
            <a:off x="408960" y="4343400"/>
            <a:ext cx="8555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切向加速度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速度方向的变化是因为有法向加速度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Text Box 8"/>
          <p:cNvSpPr/>
          <p:nvPr/>
        </p:nvSpPr>
        <p:spPr>
          <a:xfrm>
            <a:off x="4884120" y="152388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2"/>
          <p:cNvSpPr/>
          <p:nvPr/>
        </p:nvSpPr>
        <p:spPr>
          <a:xfrm>
            <a:off x="48960" y="1550880"/>
            <a:ext cx="7130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P13/2.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质点作曲线运动，某时刻的速度为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Text Box 3"/>
          <p:cNvSpPr/>
          <p:nvPr/>
        </p:nvSpPr>
        <p:spPr>
          <a:xfrm>
            <a:off x="154800" y="2084400"/>
            <a:ext cx="3983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速度的大小是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6" name="Object 4"/>
              <p:cNvSpPr txBox="1"/>
              <p:nvPr/>
            </p:nvSpPr>
            <p:spPr>
              <a:xfrm>
                <a:off x="7122960" y="1558800"/>
                <a:ext cx="484200" cy="609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v</m:t>
                        </m:r>
                      </m:e>
                    </m:acc>
                    <m:r>
                      <m:t xml:space="preserve">,</m:t>
                    </m:r>
                  </m:oMath>
                </a14:m>
              </a:p>
            </p:txBody>
          </p:sp>
        </mc:Choice>
        <mc:Fallback>
          <p:sp>
            <p:nvSpPr>
              <p:cNvPr id="16" name="Object 4"/>
              <p:cNvSpPr txBox="1"/>
              <p:nvPr/>
            </p:nvSpPr>
            <p:spPr>
              <a:xfrm>
                <a:off x="7122960" y="1558800"/>
                <a:ext cx="484200" cy="60984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17" name="Text Box 5"/>
          <p:cNvSpPr/>
          <p:nvPr/>
        </p:nvSpPr>
        <p:spPr>
          <a:xfrm>
            <a:off x="376200" y="306720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8" name="Object 6"/>
              <p:cNvSpPr txBox="1"/>
              <p:nvPr/>
            </p:nvSpPr>
            <p:spPr>
              <a:xfrm>
                <a:off x="782640" y="2889360"/>
                <a:ext cx="581040" cy="1073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dr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8" name="Object 6"/>
              <p:cNvSpPr txBox="1"/>
              <p:nvPr/>
            </p:nvSpPr>
            <p:spPr>
              <a:xfrm>
                <a:off x="782640" y="2889360"/>
                <a:ext cx="581040" cy="10731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19" name="Text Box 7"/>
          <p:cNvSpPr/>
          <p:nvPr/>
        </p:nvSpPr>
        <p:spPr>
          <a:xfrm>
            <a:off x="2040120" y="308628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0" name="Object 8"/>
              <p:cNvSpPr txBox="1"/>
              <p:nvPr/>
            </p:nvSpPr>
            <p:spPr>
              <a:xfrm>
                <a:off x="2449440" y="2908440"/>
                <a:ext cx="654120" cy="1073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0" name="Object 8"/>
              <p:cNvSpPr txBox="1"/>
              <p:nvPr/>
            </p:nvSpPr>
            <p:spPr>
              <a:xfrm>
                <a:off x="2449440" y="2908440"/>
                <a:ext cx="654120" cy="1073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21" name="Text Box 9"/>
          <p:cNvSpPr/>
          <p:nvPr/>
        </p:nvSpPr>
        <p:spPr>
          <a:xfrm>
            <a:off x="3780000" y="309240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2" name="Object 10"/>
              <p:cNvSpPr txBox="1"/>
              <p:nvPr/>
            </p:nvSpPr>
            <p:spPr>
              <a:xfrm>
                <a:off x="4167360" y="2862360"/>
                <a:ext cx="763560" cy="1177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</m:dPr>
                      <m:e>
                        <m:f>
                          <m:num>
                            <m:r>
                              <m:t xml:space="preserve">d</m:t>
                            </m:r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m:t xml:space="preserve">v</m:t>
                                </m:r>
                              </m:e>
                            </m:acc>
                          </m:num>
                          <m:den>
                            <m:r>
                              <m:rPr>
                                <m:lit/>
                                <m:nor/>
                              </m:rPr>
                              <m:t xml:space="preserve">dt</m:t>
                            </m:r>
                          </m:den>
                        </m:f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22" name="Object 10"/>
              <p:cNvSpPr txBox="1"/>
              <p:nvPr/>
            </p:nvSpPr>
            <p:spPr>
              <a:xfrm>
                <a:off x="4167360" y="2862360"/>
                <a:ext cx="763560" cy="11779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23" name="Text Box 11"/>
          <p:cNvSpPr/>
          <p:nvPr/>
        </p:nvSpPr>
        <p:spPr>
          <a:xfrm>
            <a:off x="5542200" y="309240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4" name="Object 12"/>
              <p:cNvSpPr txBox="1"/>
              <p:nvPr/>
            </p:nvSpPr>
            <p:spPr>
              <a:xfrm>
                <a:off x="6005520" y="2914560"/>
                <a:ext cx="654120" cy="1073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4" name="Object 12"/>
              <p:cNvSpPr txBox="1"/>
              <p:nvPr/>
            </p:nvSpPr>
            <p:spPr>
              <a:xfrm>
                <a:off x="6005520" y="2914560"/>
                <a:ext cx="654120" cy="10731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25" name="Text Box 13"/>
          <p:cNvSpPr/>
          <p:nvPr/>
        </p:nvSpPr>
        <p:spPr>
          <a:xfrm>
            <a:off x="2897280" y="209556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Text Box 14"/>
          <p:cNvSpPr/>
          <p:nvPr/>
        </p:nvSpPr>
        <p:spPr>
          <a:xfrm>
            <a:off x="329400" y="4403880"/>
            <a:ext cx="2085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切向加速度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7" name="Object 15"/>
              <p:cNvSpPr txBox="1"/>
              <p:nvPr/>
            </p:nvSpPr>
            <p:spPr>
              <a:xfrm>
                <a:off x="2492280" y="4184640"/>
                <a:ext cx="1489320" cy="1073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τ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7" name="Object 15"/>
              <p:cNvSpPr txBox="1"/>
              <p:nvPr/>
            </p:nvSpPr>
            <p:spPr>
              <a:xfrm>
                <a:off x="2492280" y="4184640"/>
                <a:ext cx="1489320" cy="10731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28" name="Text Box 16"/>
          <p:cNvSpPr/>
          <p:nvPr/>
        </p:nvSpPr>
        <p:spPr>
          <a:xfrm>
            <a:off x="7584120" y="154620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切向加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" dur="indefinite" restart="never" nodeType="tmRoot">
          <p:childTnLst>
            <p:seq>
              <p:cTn id="9" dur="indefinite" nodeType="mainSeq">
                <p:childTnLst>
                  <p:par>
                    <p:cTn id="10" fill="hold" nodeType="clickEffect">
                      <p:stCondLst>
                        <p:cond delay="indefinite"/>
                      </p:stCondLst>
                      <p:childTnLst>
                        <p:par>
                          <p:cTn id="1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Effect">
                      <p:stCondLst>
                        <p:cond delay="indefinite"/>
                      </p:stCondLst>
                      <p:childTnLst>
                        <p:par>
                          <p:cTn id="2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"/>
          <p:cNvSpPr/>
          <p:nvPr/>
        </p:nvSpPr>
        <p:spPr>
          <a:xfrm>
            <a:off x="452520" y="274320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Text Box 3"/>
          <p:cNvSpPr/>
          <p:nvPr/>
        </p:nvSpPr>
        <p:spPr>
          <a:xfrm>
            <a:off x="3292560" y="281952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Text Box 4"/>
          <p:cNvSpPr/>
          <p:nvPr/>
        </p:nvSpPr>
        <p:spPr>
          <a:xfrm>
            <a:off x="488880" y="396252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Text Box 5"/>
          <p:cNvSpPr/>
          <p:nvPr/>
        </p:nvSpPr>
        <p:spPr>
          <a:xfrm>
            <a:off x="3240720" y="3916440"/>
            <a:ext cx="370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条件不够不能确定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3" name="Object 6"/>
              <p:cNvSpPr txBox="1"/>
              <p:nvPr/>
            </p:nvSpPr>
            <p:spPr>
              <a:xfrm>
                <a:off x="1050840" y="2590920"/>
                <a:ext cx="1104840" cy="952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sSup>
                      <m:e>
                        <m:r>
                          <m:t xml:space="preserve">α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R</m:t>
                    </m:r>
                  </m:oMath>
                </a14:m>
              </a:p>
            </p:txBody>
          </p:sp>
        </mc:Choice>
        <mc:Fallback>
          <p:sp>
            <p:nvSpPr>
              <p:cNvPr id="33" name="Object 6"/>
              <p:cNvSpPr txBox="1"/>
              <p:nvPr/>
            </p:nvSpPr>
            <p:spPr>
              <a:xfrm>
                <a:off x="1050840" y="2590920"/>
                <a:ext cx="1104840" cy="9525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4" name="Object 7"/>
              <p:cNvSpPr txBox="1"/>
              <p:nvPr/>
            </p:nvSpPr>
            <p:spPr>
              <a:xfrm>
                <a:off x="3886200" y="2620800"/>
                <a:ext cx="895320" cy="1081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ad>
                      <m:radPr>
                        <m:degHide m:val="1"/>
                      </m:radPr>
                      <m:deg/>
                      <m:e>
                        <m:f>
                          <m:num>
                            <m:r>
                              <m:t xml:space="preserve">4</m:t>
                            </m:r>
                            <m:r>
                              <m:t xml:space="preserve">π</m:t>
                            </m:r>
                          </m:num>
                          <m:den>
                            <m:r>
                              <m:t xml:space="preserve">α</m:t>
                            </m:r>
                          </m:den>
                        </m:f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34" name="Object 7"/>
              <p:cNvSpPr txBox="1"/>
              <p:nvPr/>
            </p:nvSpPr>
            <p:spPr>
              <a:xfrm>
                <a:off x="3886200" y="2620800"/>
                <a:ext cx="895320" cy="10810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5" name="Object 8"/>
              <p:cNvSpPr txBox="1"/>
              <p:nvPr/>
            </p:nvSpPr>
            <p:spPr>
              <a:xfrm>
                <a:off x="1163520" y="3765600"/>
                <a:ext cx="770040" cy="995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2</m:t>
                        </m:r>
                        <m:r>
                          <m:t xml:space="preserve">π</m:t>
                        </m:r>
                      </m:num>
                      <m:den>
                        <m:r>
                          <m:t xml:space="preserve">α</m:t>
                        </m:r>
                      </m:den>
                    </m:f>
                    <m:r>
                      <m:t xml:space="preserve">;</m:t>
                    </m:r>
                  </m:oMath>
                </a14:m>
              </a:p>
            </p:txBody>
          </p:sp>
        </mc:Choice>
        <mc:Fallback>
          <p:sp>
            <p:nvSpPr>
              <p:cNvPr id="35" name="Object 8"/>
              <p:cNvSpPr txBox="1"/>
              <p:nvPr/>
            </p:nvSpPr>
            <p:spPr>
              <a:xfrm>
                <a:off x="1163520" y="3765600"/>
                <a:ext cx="770040" cy="995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36" name="Text Box 9"/>
          <p:cNvSpPr/>
          <p:nvPr/>
        </p:nvSpPr>
        <p:spPr>
          <a:xfrm>
            <a:off x="3355200" y="166068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B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7" name="Object 10"/>
              <p:cNvSpPr txBox="1"/>
              <p:nvPr/>
            </p:nvSpPr>
            <p:spPr>
              <a:xfrm>
                <a:off x="822240" y="5105520"/>
                <a:ext cx="1725840" cy="990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2</m:t>
                    </m:r>
                    <m:r>
                      <m:t xml:space="preserve">π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sSup>
                      <m:e>
                        <m:r>
                          <m:t xml:space="preserve">αt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37" name="Object 10"/>
              <p:cNvSpPr txBox="1"/>
              <p:nvPr/>
            </p:nvSpPr>
            <p:spPr>
              <a:xfrm>
                <a:off x="822240" y="5105520"/>
                <a:ext cx="1725840" cy="9903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38" name="Text Box 11"/>
          <p:cNvSpPr/>
          <p:nvPr/>
        </p:nvSpPr>
        <p:spPr>
          <a:xfrm>
            <a:off x="-38520" y="716040"/>
            <a:ext cx="9027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P13/4.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质点从静止出发绕半径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R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圆周作匀变速圆周运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Text Box 12"/>
          <p:cNvSpPr/>
          <p:nvPr/>
        </p:nvSpPr>
        <p:spPr>
          <a:xfrm>
            <a:off x="-167400" y="1203480"/>
            <a:ext cx="91332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角加速度为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otum"/>
              </a:rPr>
              <a:t>α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当该质点走完一周回到出发点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所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Text Box 13"/>
          <p:cNvSpPr/>
          <p:nvPr/>
        </p:nvSpPr>
        <p:spPr>
          <a:xfrm>
            <a:off x="-3240" y="1660680"/>
            <a:ext cx="5316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经历的时间为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星形: 五角 2"/>
          <p:cNvSpPr/>
          <p:nvPr/>
        </p:nvSpPr>
        <p:spPr>
          <a:xfrm>
            <a:off x="250920" y="189000"/>
            <a:ext cx="433440" cy="404640"/>
          </a:xfrm>
          <a:custGeom>
            <a:avLst/>
            <a:gdLst>
              <a:gd name="GluePoint1X" fmla="*/ 0 w 432048"/>
              <a:gd name="GluePoint1Y" fmla="*/ 154728 h 405085"/>
              <a:gd name="GluePoint2X" fmla="*/ 165029 w 432048"/>
              <a:gd name="GluePoint2Y" fmla="*/ 154729 h 405085"/>
              <a:gd name="GluePoint3X" fmla="*/ 216024 w 432048"/>
              <a:gd name="GluePoint3Y" fmla="*/ 0 h 405085"/>
              <a:gd name="GluePoint4X" fmla="*/ 267019 w 432048"/>
              <a:gd name="GluePoint4Y" fmla="*/ 154729 h 405085"/>
              <a:gd name="GluePoint5X" fmla="*/ 432048 w 432048"/>
              <a:gd name="GluePoint5Y" fmla="*/ 154728 h 405085"/>
              <a:gd name="GluePoint6X" fmla="*/ 298536 w 432048"/>
              <a:gd name="GluePoint6Y" fmla="*/ 250355 h 405085"/>
              <a:gd name="GluePoint7X" fmla="*/ 349534 w 432048"/>
              <a:gd name="GluePoint7Y" fmla="*/ 405084 h 405085"/>
              <a:gd name="GluePoint8X" fmla="*/ 216024 w 432048"/>
              <a:gd name="GluePoint8Y" fmla="*/ 309455 h 405085"/>
              <a:gd name="GluePoint9X" fmla="*/ 82514 w 432048"/>
              <a:gd name="GluePoint9Y" fmla="*/ 405084 h 405085"/>
              <a:gd name="GluePoint10X" fmla="*/ 133512 w 432048"/>
              <a:gd name="GluePoint10Y" fmla="*/ 250355 h 405085"/>
              <a:gd name="GluePoint11X" fmla="*/ 0 w 432048"/>
              <a:gd name="GluePoint11Y" fmla="*/ 154728 h 4050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2048" h="405085">
                <a:moveTo>
                  <a:pt x="0" y="154728"/>
                </a:moveTo>
                <a:lnTo>
                  <a:pt x="165029" y="154729"/>
                </a:lnTo>
                <a:lnTo>
                  <a:pt x="216024" y="0"/>
                </a:lnTo>
                <a:lnTo>
                  <a:pt x="267019" y="154729"/>
                </a:lnTo>
                <a:lnTo>
                  <a:pt x="432048" y="154728"/>
                </a:lnTo>
                <a:lnTo>
                  <a:pt x="298536" y="250355"/>
                </a:lnTo>
                <a:lnTo>
                  <a:pt x="349534" y="405084"/>
                </a:lnTo>
                <a:lnTo>
                  <a:pt x="216024" y="309455"/>
                </a:lnTo>
                <a:lnTo>
                  <a:pt x="82514" y="405084"/>
                </a:lnTo>
                <a:lnTo>
                  <a:pt x="133512" y="250355"/>
                </a:lnTo>
                <a:lnTo>
                  <a:pt x="0" y="154728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" dur="indefinite" restart="never" nodeType="tmRoot">
          <p:childTnLst>
            <p:seq>
              <p:cTn id="26" dur="indefinite" nodeType="mainSeq">
                <p:childTnLst>
                  <p:par>
                    <p:cTn id="27" fill="hold" nodeType="clickEffect">
                      <p:stCondLst>
                        <p:cond delay="indefinite"/>
                      </p:stCondLst>
                      <p:childTnLst>
                        <p:par>
                          <p:cTn id="2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Effect">
                      <p:stCondLst>
                        <p:cond delay="indefinite"/>
                      </p:stCondLst>
                      <p:childTnLst>
                        <p:par>
                          <p:cTn id="3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Box 2"/>
          <p:cNvSpPr/>
          <p:nvPr/>
        </p:nvSpPr>
        <p:spPr>
          <a:xfrm>
            <a:off x="360" y="1219320"/>
            <a:ext cx="5697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等于切向加速度的大小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Text Box 3"/>
          <p:cNvSpPr/>
          <p:nvPr/>
        </p:nvSpPr>
        <p:spPr>
          <a:xfrm>
            <a:off x="-87120" y="182520"/>
            <a:ext cx="9210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P14/5.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质点从静止出发绕半径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R=2m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的圆周运动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切向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Text Box 4"/>
          <p:cNvSpPr/>
          <p:nvPr/>
        </p:nvSpPr>
        <p:spPr>
          <a:xfrm>
            <a:off x="56880" y="685800"/>
            <a:ext cx="90464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加速度为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2m/s</a:t>
            </a:r>
            <a:r>
              <a:rPr lang="en-US" sz="3000" b="1" u="none" strike="noStrike" baseline="30000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经过多长时间它的法向加速度的大小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Text Box 5"/>
          <p:cNvSpPr/>
          <p:nvPr/>
        </p:nvSpPr>
        <p:spPr>
          <a:xfrm>
            <a:off x="374760" y="223992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6" name="Object 6"/>
              <p:cNvSpPr txBox="1"/>
              <p:nvPr/>
            </p:nvSpPr>
            <p:spPr>
              <a:xfrm>
                <a:off x="947880" y="2062080"/>
                <a:ext cx="652320" cy="1073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s</m:t>
                    </m:r>
                  </m:oMath>
                </a14:m>
              </a:p>
            </p:txBody>
          </p:sp>
        </mc:Choice>
        <mc:Fallback>
          <p:sp>
            <p:nvSpPr>
              <p:cNvPr id="46" name="Object 6"/>
              <p:cNvSpPr txBox="1"/>
              <p:nvPr/>
            </p:nvSpPr>
            <p:spPr>
              <a:xfrm>
                <a:off x="947880" y="2062080"/>
                <a:ext cx="652320" cy="10731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47" name="Text Box 7"/>
          <p:cNvSpPr/>
          <p:nvPr/>
        </p:nvSpPr>
        <p:spPr>
          <a:xfrm>
            <a:off x="2060640" y="225900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Text Box 8"/>
          <p:cNvSpPr/>
          <p:nvPr/>
        </p:nvSpPr>
        <p:spPr>
          <a:xfrm>
            <a:off x="3936960" y="226548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Text Box 9"/>
          <p:cNvSpPr/>
          <p:nvPr/>
        </p:nvSpPr>
        <p:spPr>
          <a:xfrm>
            <a:off x="5775480" y="226548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0" name="Object 10"/>
              <p:cNvSpPr txBox="1"/>
              <p:nvPr/>
            </p:nvSpPr>
            <p:spPr>
              <a:xfrm>
                <a:off x="2687760" y="2057400"/>
                <a:ext cx="652320" cy="1073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4</m:t>
                        </m:r>
                      </m:den>
                    </m:f>
                    <m:r>
                      <m:t xml:space="preserve">s</m:t>
                    </m:r>
                  </m:oMath>
                </a14:m>
              </a:p>
            </p:txBody>
          </p:sp>
        </mc:Choice>
        <mc:Fallback>
          <p:sp>
            <p:nvSpPr>
              <p:cNvPr id="50" name="Object 10"/>
              <p:cNvSpPr txBox="1"/>
              <p:nvPr/>
            </p:nvSpPr>
            <p:spPr>
              <a:xfrm>
                <a:off x="2687760" y="2057400"/>
                <a:ext cx="652320" cy="10731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1" name="Object 11"/>
              <p:cNvSpPr txBox="1"/>
              <p:nvPr/>
            </p:nvSpPr>
            <p:spPr>
              <a:xfrm>
                <a:off x="4500720" y="2351160"/>
                <a:ext cx="434880" cy="485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1</m:t>
                    </m:r>
                    <m:r>
                      <m:t xml:space="preserve">s</m:t>
                    </m:r>
                  </m:oMath>
                </a14:m>
              </a:p>
            </p:txBody>
          </p:sp>
        </mc:Choice>
        <mc:Fallback>
          <p:sp>
            <p:nvSpPr>
              <p:cNvPr id="51" name="Object 11"/>
              <p:cNvSpPr txBox="1"/>
              <p:nvPr/>
            </p:nvSpPr>
            <p:spPr>
              <a:xfrm>
                <a:off x="4500720" y="2351160"/>
                <a:ext cx="434880" cy="4856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2" name="Object 12"/>
              <p:cNvSpPr txBox="1"/>
              <p:nvPr/>
            </p:nvSpPr>
            <p:spPr>
              <a:xfrm>
                <a:off x="6253200" y="2057400"/>
                <a:ext cx="833400" cy="1073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1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4</m:t>
                        </m:r>
                      </m:den>
                    </m:f>
                    <m:r>
                      <m:t xml:space="preserve">s</m:t>
                    </m:r>
                  </m:oMath>
                </a14:m>
              </a:p>
            </p:txBody>
          </p:sp>
        </mc:Choice>
        <mc:Fallback>
          <p:sp>
            <p:nvSpPr>
              <p:cNvPr id="52" name="Object 12"/>
              <p:cNvSpPr txBox="1"/>
              <p:nvPr/>
            </p:nvSpPr>
            <p:spPr>
              <a:xfrm>
                <a:off x="6253200" y="2057400"/>
                <a:ext cx="833400" cy="10731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53" name="Text Box 13"/>
          <p:cNvSpPr/>
          <p:nvPr/>
        </p:nvSpPr>
        <p:spPr>
          <a:xfrm>
            <a:off x="3965040" y="120348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C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4" name="Object 14"/>
              <p:cNvSpPr txBox="1"/>
              <p:nvPr/>
            </p:nvSpPr>
            <p:spPr>
              <a:xfrm>
                <a:off x="685800" y="3657600"/>
                <a:ext cx="1089000" cy="588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τ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n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54" name="Object 14"/>
              <p:cNvSpPr txBox="1"/>
              <p:nvPr/>
            </p:nvSpPr>
            <p:spPr>
              <a:xfrm>
                <a:off x="685800" y="3657600"/>
                <a:ext cx="1089000" cy="5889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5" name="Object 15"/>
              <p:cNvSpPr txBox="1"/>
              <p:nvPr/>
            </p:nvSpPr>
            <p:spPr>
              <a:xfrm>
                <a:off x="5410080" y="3429000"/>
                <a:ext cx="1489320" cy="1073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τ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55" name="Object 15"/>
              <p:cNvSpPr txBox="1"/>
              <p:nvPr/>
            </p:nvSpPr>
            <p:spPr>
              <a:xfrm>
                <a:off x="5410080" y="3429000"/>
                <a:ext cx="1489320" cy="10731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6" name="Object 16"/>
              <p:cNvSpPr txBox="1"/>
              <p:nvPr/>
            </p:nvSpPr>
            <p:spPr>
              <a:xfrm>
                <a:off x="2301840" y="3352680"/>
                <a:ext cx="1203480" cy="1143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n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sSup>
                          <m:e>
                            <m:r>
                              <m:t xml:space="preserve">v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num>
                      <m:den>
                        <m:r>
                          <m:t xml:space="preserve">R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56" name="Object 16"/>
              <p:cNvSpPr txBox="1"/>
              <p:nvPr/>
            </p:nvSpPr>
            <p:spPr>
              <a:xfrm>
                <a:off x="2301840" y="3352680"/>
                <a:ext cx="1203480" cy="1143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7" name="Object 17"/>
              <p:cNvSpPr txBox="1"/>
              <p:nvPr/>
            </p:nvSpPr>
            <p:spPr>
              <a:xfrm>
                <a:off x="4038480" y="3733920"/>
                <a:ext cx="801720" cy="485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=</m:t>
                    </m:r>
                    <m:r>
                      <m:t xml:space="preserve">2</m:t>
                    </m:r>
                  </m:oMath>
                </a14:m>
              </a:p>
            </p:txBody>
          </p:sp>
        </mc:Choice>
        <mc:Fallback>
          <p:sp>
            <p:nvSpPr>
              <p:cNvPr id="57" name="Object 17"/>
              <p:cNvSpPr txBox="1"/>
              <p:nvPr/>
            </p:nvSpPr>
            <p:spPr>
              <a:xfrm>
                <a:off x="4038480" y="3733920"/>
                <a:ext cx="801720" cy="4856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8" name="Object 18"/>
              <p:cNvSpPr txBox="1"/>
              <p:nvPr/>
            </p:nvSpPr>
            <p:spPr>
              <a:xfrm>
                <a:off x="533520" y="4724280"/>
                <a:ext cx="2360520" cy="900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e>
                    </m:nary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t xml:space="preserve">2</m:t>
                        </m:r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58" name="Object 18"/>
              <p:cNvSpPr txBox="1"/>
              <p:nvPr/>
            </p:nvSpPr>
            <p:spPr>
              <a:xfrm>
                <a:off x="533520" y="4724280"/>
                <a:ext cx="2360520" cy="9003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" dur="indefinite" restart="never" nodeType="tmRoot">
          <p:childTnLst>
            <p:seq>
              <p:cTn id="38" dur="indefinite" nodeType="mainSeq">
                <p:childTnLst>
                  <p:par>
                    <p:cTn id="39" fill="hold" nodeType="clickEffect">
                      <p:stCondLst>
                        <p:cond delay="indefinite"/>
                      </p:stCondLst>
                      <p:childTnLst>
                        <p:par>
                          <p:cTn id="4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Effect">
                      <p:stCondLst>
                        <p:cond delay="indefinite"/>
                      </p:stCondLst>
                      <p:childTnLst>
                        <p:par>
                          <p:cTn id="4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Effect">
                      <p:stCondLst>
                        <p:cond delay="indefinite"/>
                      </p:stCondLst>
                      <p:childTnLst>
                        <p:par>
                          <p:cTn id="5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Effect">
                      <p:stCondLst>
                        <p:cond delay="indefinite"/>
                      </p:stCondLst>
                      <p:childTnLst>
                        <p:par>
                          <p:cTn id="5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Effect">
                      <p:stCondLst>
                        <p:cond delay="indefinite"/>
                      </p:stCondLst>
                      <p:childTnLst>
                        <p:par>
                          <p:cTn id="6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Effect">
                      <p:stCondLst>
                        <p:cond delay="indefinite"/>
                      </p:stCondLst>
                      <p:childTnLst>
                        <p:par>
                          <p:cTn id="6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Arc 1026"/>
          <p:cNvSpPr/>
          <p:nvPr/>
        </p:nvSpPr>
        <p:spPr>
          <a:xfrm flipH="1">
            <a:off x="7424640" y="1447920"/>
            <a:ext cx="152640" cy="326880"/>
          </a:xfrm>
          <a:custGeom>
            <a:avLst/>
            <a:gdLst>
              <a:gd name="GluePoint1X" fmla="*/ 78408 w 21600"/>
              <a:gd name="GluePoint1Y" fmla="*/ 0 h 18522"/>
              <a:gd name="GluePoint2X" fmla="*/ 152400 w 21600"/>
              <a:gd name="GluePoint2Y" fmla="*/ 327025 h 18522"/>
              <a:gd name="GluePoint3X" fmla="*/ 0 w 21600"/>
              <a:gd name="GluePoint3Y" fmla="*/ 327025 h 1852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18522">
                <a:moveTo>
                  <a:pt x="11112" y="0"/>
                </a:moveTo>
                <a:cubicBezTo>
                  <a:pt x="17619" y="3903"/>
                  <a:pt x="21600" y="10934"/>
                  <a:pt x="21600" y="18522"/>
                </a:cubicBezTo>
              </a:path>
              <a:path stroke="0" w="21600" h="18522">
                <a:moveTo>
                  <a:pt x="11112" y="0"/>
                </a:moveTo>
                <a:cubicBezTo>
                  <a:pt x="17619" y="3903"/>
                  <a:pt x="21600" y="10934"/>
                  <a:pt x="21600" y="18522"/>
                </a:cubicBezTo>
                <a:lnTo>
                  <a:pt x="0" y="18522"/>
                </a:lnTo>
                <a:lnTo>
                  <a:pt x="11112" y="0"/>
                </a:lnTo>
                <a:close/>
              </a:path>
            </a:pathLst>
          </a:custGeom>
          <a:noFill/>
          <a:ln w="28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Line 1027"/>
          <p:cNvSpPr/>
          <p:nvPr/>
        </p:nvSpPr>
        <p:spPr>
          <a:xfrm>
            <a:off x="6738840" y="990720"/>
            <a:ext cx="1371600" cy="838080"/>
          </a:xfrm>
          <a:prstGeom prst="line">
            <a:avLst/>
          </a:prstGeom>
          <a:ln w="572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Rectangle 1028"/>
          <p:cNvSpPr/>
          <p:nvPr/>
        </p:nvSpPr>
        <p:spPr>
          <a:xfrm>
            <a:off x="6662880" y="1752480"/>
            <a:ext cx="1828800" cy="152640"/>
          </a:xfrm>
          <a:prstGeom prst="rect">
            <a:avLst/>
          </a:prstGeom>
          <a:blipFill rotWithShape="0">
            <a:blip r:embed="rId1"/>
            <a:srcRect/>
            <a:tile tx="0" ty="0" sx="100000" sy="100000" algn="ctr"/>
          </a:blip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Rectangle 1029"/>
          <p:cNvSpPr/>
          <p:nvPr/>
        </p:nvSpPr>
        <p:spPr>
          <a:xfrm>
            <a:off x="6662880" y="533520"/>
            <a:ext cx="152280" cy="1218960"/>
          </a:xfrm>
          <a:prstGeom prst="rect">
            <a:avLst/>
          </a:prstGeom>
          <a:blipFill rotWithShape="0">
            <a:blip r:embed="rId2"/>
            <a:srcRect/>
            <a:tile tx="0" ty="0" sx="100000" sy="100000" algn="ctr"/>
          </a:blip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Text Box 1030"/>
          <p:cNvSpPr/>
          <p:nvPr/>
        </p:nvSpPr>
        <p:spPr>
          <a:xfrm>
            <a:off x="6284160" y="72540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Text Box 1031"/>
          <p:cNvSpPr/>
          <p:nvPr/>
        </p:nvSpPr>
        <p:spPr>
          <a:xfrm>
            <a:off x="7884360" y="179244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5" name="Object 1032"/>
              <p:cNvSpPr txBox="1"/>
              <p:nvPr/>
            </p:nvSpPr>
            <p:spPr>
              <a:xfrm>
                <a:off x="7120080" y="1319040"/>
                <a:ext cx="318960" cy="433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θ</m:t>
                    </m:r>
                  </m:oMath>
                </a14:m>
              </a:p>
            </p:txBody>
          </p:sp>
        </mc:Choice>
        <mc:Fallback>
          <p:sp>
            <p:nvSpPr>
              <p:cNvPr id="65" name="Object 1032"/>
              <p:cNvSpPr txBox="1"/>
              <p:nvPr/>
            </p:nvSpPr>
            <p:spPr>
              <a:xfrm>
                <a:off x="7120080" y="1319040"/>
                <a:ext cx="318960" cy="4334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66" name="Text Box 1033"/>
          <p:cNvSpPr/>
          <p:nvPr/>
        </p:nvSpPr>
        <p:spPr>
          <a:xfrm>
            <a:off x="-134640" y="76320"/>
            <a:ext cx="673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P14/6.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如图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墙和地面都为光滑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当杆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Text Box 1034"/>
          <p:cNvSpPr/>
          <p:nvPr/>
        </p:nvSpPr>
        <p:spPr>
          <a:xfrm>
            <a:off x="-133200" y="533520"/>
            <a:ext cx="66420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滑止如图位置时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端速度大小为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v,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方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Text Box 1035"/>
          <p:cNvSpPr/>
          <p:nvPr/>
        </p:nvSpPr>
        <p:spPr>
          <a:xfrm>
            <a:off x="-181440" y="990720"/>
            <a:ext cx="7016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向水平向右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此时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端速度大小为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Text Box 1036"/>
          <p:cNvSpPr/>
          <p:nvPr/>
        </p:nvSpPr>
        <p:spPr>
          <a:xfrm>
            <a:off x="142920" y="227016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Text Box 1037"/>
          <p:cNvSpPr/>
          <p:nvPr/>
        </p:nvSpPr>
        <p:spPr>
          <a:xfrm>
            <a:off x="2517840" y="228600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1" name="Object 1038"/>
              <p:cNvSpPr txBox="1"/>
              <p:nvPr/>
            </p:nvSpPr>
            <p:spPr>
              <a:xfrm>
                <a:off x="604800" y="2346480"/>
                <a:ext cx="1071720" cy="430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rPr>
                        <m:lit/>
                        <m:nor/>
                      </m:rPr>
                      <m:t xml:space="preserve">sin</m:t>
                    </m:r>
                    <m:r>
                      <m:t xml:space="preserve">θ</m:t>
                    </m:r>
                  </m:oMath>
                </a14:m>
              </a:p>
            </p:txBody>
          </p:sp>
        </mc:Choice>
        <mc:Fallback>
          <p:sp>
            <p:nvSpPr>
              <p:cNvPr id="71" name="Object 1038"/>
              <p:cNvSpPr txBox="1"/>
              <p:nvPr/>
            </p:nvSpPr>
            <p:spPr>
              <a:xfrm>
                <a:off x="604800" y="2346480"/>
                <a:ext cx="1071720" cy="430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72" name="Object 1039"/>
              <p:cNvSpPr txBox="1"/>
              <p:nvPr/>
            </p:nvSpPr>
            <p:spPr>
              <a:xfrm>
                <a:off x="2997360" y="2362320"/>
                <a:ext cx="1136520" cy="430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rPr>
                        <m:lit/>
                        <m:nor/>
                      </m:rPr>
                      <m:t xml:space="preserve">cos</m:t>
                    </m:r>
                    <m:r>
                      <m:t xml:space="preserve">θ</m:t>
                    </m:r>
                  </m:oMath>
                </a14:m>
              </a:p>
            </p:txBody>
          </p:sp>
        </mc:Choice>
        <mc:Fallback>
          <p:sp>
            <p:nvSpPr>
              <p:cNvPr id="72" name="Object 1039"/>
              <p:cNvSpPr txBox="1"/>
              <p:nvPr/>
            </p:nvSpPr>
            <p:spPr>
              <a:xfrm>
                <a:off x="2997360" y="2362320"/>
                <a:ext cx="1136520" cy="430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73" name="Text Box 1040"/>
          <p:cNvSpPr/>
          <p:nvPr/>
        </p:nvSpPr>
        <p:spPr>
          <a:xfrm>
            <a:off x="5019840" y="225432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Text Box 1041"/>
          <p:cNvSpPr/>
          <p:nvPr/>
        </p:nvSpPr>
        <p:spPr>
          <a:xfrm>
            <a:off x="7375680" y="227016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5" name="Object 1042"/>
              <p:cNvSpPr txBox="1"/>
              <p:nvPr/>
            </p:nvSpPr>
            <p:spPr>
              <a:xfrm>
                <a:off x="5614920" y="2332080"/>
                <a:ext cx="812880" cy="490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vtg</m:t>
                    </m:r>
                    <m:r>
                      <m:t xml:space="preserve">θ</m:t>
                    </m:r>
                  </m:oMath>
                </a14:m>
              </a:p>
            </p:txBody>
          </p:sp>
        </mc:Choice>
        <mc:Fallback>
          <p:sp>
            <p:nvSpPr>
              <p:cNvPr id="75" name="Object 1042"/>
              <p:cNvSpPr txBox="1"/>
              <p:nvPr/>
            </p:nvSpPr>
            <p:spPr>
              <a:xfrm>
                <a:off x="5614920" y="2332080"/>
                <a:ext cx="812880" cy="4903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76" name="Object 1043"/>
              <p:cNvSpPr txBox="1"/>
              <p:nvPr/>
            </p:nvSpPr>
            <p:spPr>
              <a:xfrm>
                <a:off x="7920000" y="2316240"/>
                <a:ext cx="1006560" cy="492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vctg</m:t>
                    </m:r>
                    <m:r>
                      <m:t xml:space="preserve">θ</m:t>
                    </m:r>
                  </m:oMath>
                </a14:m>
              </a:p>
            </p:txBody>
          </p:sp>
        </mc:Choice>
        <mc:Fallback>
          <p:sp>
            <p:nvSpPr>
              <p:cNvPr id="76" name="Object 1043"/>
              <p:cNvSpPr txBox="1"/>
              <p:nvPr/>
            </p:nvSpPr>
            <p:spPr>
              <a:xfrm>
                <a:off x="7920000" y="2316240"/>
                <a:ext cx="1006560" cy="4921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p:sp>
        <p:nvSpPr>
          <p:cNvPr id="77" name="Line 1044"/>
          <p:cNvSpPr/>
          <p:nvPr/>
        </p:nvSpPr>
        <p:spPr>
          <a:xfrm>
            <a:off x="6662880" y="1905120"/>
            <a:ext cx="2133360" cy="0"/>
          </a:xfrm>
          <a:prstGeom prst="line">
            <a:avLst/>
          </a:prstGeom>
          <a:ln w="38160">
            <a:solidFill>
              <a:srgbClr val="FF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Line 1045"/>
          <p:cNvSpPr/>
          <p:nvPr/>
        </p:nvSpPr>
        <p:spPr>
          <a:xfrm flipV="1">
            <a:off x="6662880" y="304560"/>
            <a:ext cx="0" cy="1600200"/>
          </a:xfrm>
          <a:prstGeom prst="line">
            <a:avLst/>
          </a:prstGeom>
          <a:ln w="38160">
            <a:solidFill>
              <a:srgbClr val="FF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Text Box 1046"/>
          <p:cNvSpPr/>
          <p:nvPr/>
        </p:nvSpPr>
        <p:spPr>
          <a:xfrm>
            <a:off x="8570160" y="175248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x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Text Box 1047"/>
          <p:cNvSpPr/>
          <p:nvPr/>
        </p:nvSpPr>
        <p:spPr>
          <a:xfrm>
            <a:off x="6293880" y="1159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81" name="Object 1048"/>
              <p:cNvSpPr txBox="1"/>
              <p:nvPr/>
            </p:nvSpPr>
            <p:spPr>
              <a:xfrm>
                <a:off x="533520" y="3352680"/>
                <a:ext cx="1947600" cy="554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x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+</m:t>
                    </m:r>
                    <m:sSup>
                      <m:e>
                        <m:r>
                          <m:t xml:space="preserve">y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=</m:t>
                    </m:r>
                    <m:sSup>
                      <m:e>
                        <m:r>
                          <m:t xml:space="preserve">r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81" name="Object 1048"/>
              <p:cNvSpPr txBox="1"/>
              <p:nvPr/>
            </p:nvSpPr>
            <p:spPr>
              <a:xfrm>
                <a:off x="533520" y="3352680"/>
                <a:ext cx="1947600" cy="5540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82" name="Object 1049"/>
              <p:cNvSpPr txBox="1"/>
              <p:nvPr/>
            </p:nvSpPr>
            <p:spPr>
              <a:xfrm>
                <a:off x="3429000" y="3124080"/>
                <a:ext cx="2889360" cy="954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2</m:t>
                    </m:r>
                    <m:r>
                      <m:t xml:space="preserve">x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dx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  <m:r>
                      <m:t xml:space="preserve">+</m:t>
                    </m:r>
                    <m:r>
                      <m:t xml:space="preserve">2</m:t>
                    </m:r>
                    <m:r>
                      <m:t xml:space="preserve">y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dy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82" name="Object 1049"/>
              <p:cNvSpPr txBox="1"/>
              <p:nvPr/>
            </p:nvSpPr>
            <p:spPr>
              <a:xfrm>
                <a:off x="3429000" y="3124080"/>
                <a:ext cx="2889360" cy="9543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83" name="Object 1050"/>
              <p:cNvSpPr txBox="1"/>
              <p:nvPr/>
            </p:nvSpPr>
            <p:spPr>
              <a:xfrm>
                <a:off x="504720" y="4800600"/>
                <a:ext cx="2695680" cy="523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2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xv</m:t>
                        </m:r>
                      </m:e>
                      <m:sub>
                        <m:r>
                          <m:t xml:space="preserve">B</m:t>
                        </m:r>
                      </m:sub>
                    </m:sSub>
                    <m:r>
                      <m:t xml:space="preserve">+</m:t>
                    </m:r>
                    <m:r>
                      <m:t xml:space="preserve">2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yv</m:t>
                        </m:r>
                      </m:e>
                      <m:sub>
                        <m:r>
                          <m:t xml:space="preserve">A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83" name="Object 1050"/>
              <p:cNvSpPr txBox="1"/>
              <p:nvPr/>
            </p:nvSpPr>
            <p:spPr>
              <a:xfrm>
                <a:off x="504720" y="4800600"/>
                <a:ext cx="2695680" cy="5238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p:sp>
        <p:nvSpPr>
          <p:cNvPr id="84" name="Text Box 1051"/>
          <p:cNvSpPr/>
          <p:nvPr/>
        </p:nvSpPr>
        <p:spPr>
          <a:xfrm>
            <a:off x="5569920" y="97488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85" name="Object 1052"/>
              <p:cNvSpPr txBox="1"/>
              <p:nvPr/>
            </p:nvSpPr>
            <p:spPr>
              <a:xfrm>
                <a:off x="3646440" y="4554360"/>
                <a:ext cx="1916280" cy="1017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A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−</m:t>
                    </m:r>
                    <m:f>
                      <m:num>
                        <m:r>
                          <m:t xml:space="preserve">x</m:t>
                        </m:r>
                      </m:num>
                      <m:den>
                        <m:r>
                          <m:t xml:space="preserve">y</m:t>
                        </m:r>
                      </m:den>
                    </m:f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B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85" name="Object 1052"/>
              <p:cNvSpPr txBox="1"/>
              <p:nvPr/>
            </p:nvSpPr>
            <p:spPr>
              <a:xfrm>
                <a:off x="3646440" y="4554360"/>
                <a:ext cx="1916280" cy="10177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" dur="indefinite" restart="never" nodeType="tmRoot">
          <p:childTnLst>
            <p:seq>
              <p:cTn id="70" dur="indefinite" nodeType="mainSeq">
                <p:childTnLst>
                  <p:par>
                    <p:cTn id="71" fill="hold" nodeType="clickEffect">
                      <p:stCondLst>
                        <p:cond delay="indefinite"/>
                      </p:stCondLst>
                      <p:childTnLst>
                        <p:par>
                          <p:cTn id="7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Effect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8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Effect">
                            <p:stCondLst>
                              <p:cond delay="1500"/>
                            </p:stCondLst>
                            <p:childTnLst>
                              <p:par>
                                <p:cTn id="85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Effect">
                      <p:stCondLst>
                        <p:cond delay="indefinite"/>
                      </p:stCondLst>
                      <p:childTnLst>
                        <p:par>
                          <p:cTn id="8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Effect">
                      <p:stCondLst>
                        <p:cond delay="indefinite"/>
                      </p:stCondLst>
                      <p:childTnLst>
                        <p:par>
                          <p:cTn id="9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Effect">
                      <p:stCondLst>
                        <p:cond delay="indefinite"/>
                      </p:stCondLst>
                      <p:childTnLst>
                        <p:par>
                          <p:cTn id="9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0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Effect">
                      <p:stCondLst>
                        <p:cond delay="indefinite"/>
                      </p:stCondLst>
                      <p:childTnLst>
                        <p:par>
                          <p:cTn id="10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0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Effect">
                      <p:stCondLst>
                        <p:cond delay="indefinite"/>
                      </p:stCondLst>
                      <p:childTnLst>
                        <p:par>
                          <p:cTn id="10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Box 2"/>
          <p:cNvSpPr/>
          <p:nvPr/>
        </p:nvSpPr>
        <p:spPr>
          <a:xfrm>
            <a:off x="43560" y="642960"/>
            <a:ext cx="4463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P14/7.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质点的运动方程为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Text Box 3"/>
          <p:cNvSpPr/>
          <p:nvPr/>
        </p:nvSpPr>
        <p:spPr>
          <a:xfrm>
            <a:off x="83520" y="1236600"/>
            <a:ext cx="8364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则它的加速度的大小和方向分别为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88" name="Object 4"/>
              <p:cNvSpPr txBox="1"/>
              <p:nvPr/>
            </p:nvSpPr>
            <p:spPr>
              <a:xfrm>
                <a:off x="4419720" y="609480"/>
                <a:ext cx="4651200" cy="642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r</m:t>
                        </m:r>
                      </m:e>
                    </m:acc>
                    <m:r>
                      <m:t xml:space="preserve">=</m:t>
                    </m:r>
                    <m:r>
                      <m:t xml:space="preserve">(</m:t>
                    </m:r>
                    <m:r>
                      <m:t xml:space="preserve">0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r>
                      <m:rPr>
                        <m:lit/>
                        <m:nor/>
                      </m:rPr>
                      <m:t xml:space="preserve">5 </m:t>
                    </m:r>
                    <m:sSup>
                      <m:e>
                        <m:r>
                          <m:t xml:space="preserve">t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)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+</m:t>
                    </m:r>
                    <m:r>
                      <m:t xml:space="preserve">(</m:t>
                    </m:r>
                    <m:r>
                      <m:t xml:space="preserve">3</m:t>
                    </m:r>
                    <m:r>
                      <m:t xml:space="preserve">t</m:t>
                    </m:r>
                    <m:r>
                      <m:t xml:space="preserve">+</m:t>
                    </m:r>
                    <m:sSup>
                      <m:e>
                        <m:r>
                          <m:t xml:space="preserve">t</m:t>
                        </m:r>
                      </m:e>
                      <m:sup>
                        <m:r>
                          <m:t xml:space="preserve">3</m:t>
                        </m:r>
                      </m:sup>
                    </m:sSup>
                    <m:r>
                      <m:t xml:space="preserve">)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  <m:r>
                      <m:rPr>
                        <m:lit/>
                        <m:nor/>
                      </m:rPr>
                      <m:t xml:space="preserve">  </m:t>
                    </m:r>
                    <m:r>
                      <m:t xml:space="preserve">(</m:t>
                    </m:r>
                    <m:r>
                      <m:t xml:space="preserve">m</m:t>
                    </m:r>
                    <m:r>
                      <m:t xml:space="preserve">)</m:t>
                    </m:r>
                    <m:r>
                      <m:rPr>
                        <m:lit/>
                        <m:nor/>
                      </m:rPr>
                      <m:t xml:space="preserve">, </m:t>
                    </m:r>
                  </m:oMath>
                </a14:m>
              </a:p>
            </p:txBody>
          </p:sp>
        </mc:Choice>
        <mc:Fallback>
          <p:sp>
            <p:nvSpPr>
              <p:cNvPr id="88" name="Object 4"/>
              <p:cNvSpPr txBox="1"/>
              <p:nvPr/>
            </p:nvSpPr>
            <p:spPr>
              <a:xfrm>
                <a:off x="4419720" y="609480"/>
                <a:ext cx="4651200" cy="6429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89" name="Object 5"/>
              <p:cNvSpPr txBox="1"/>
              <p:nvPr/>
            </p:nvSpPr>
            <p:spPr>
              <a:xfrm>
                <a:off x="914400" y="2097000"/>
                <a:ext cx="3048120" cy="735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ad>
                      <m:radPr>
                        <m:degHide m:val="1"/>
                      </m:radPr>
                      <m:deg/>
                      <m:e>
                        <m:r>
                          <m:t xml:space="preserve">1</m:t>
                        </m:r>
                        <m:r>
                          <m:t xml:space="preserve">+</m:t>
                        </m:r>
                        <m:r>
                          <m:rPr>
                            <m:lit/>
                            <m:nor/>
                          </m:rPr>
                          <m:t xml:space="preserve">36</m:t>
                        </m:r>
                        <m:sSup>
                          <m:e>
                            <m:r>
                              <m:t xml:space="preserve">t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e>
                    </m:rad>
                    <m:r>
                      <m:rPr>
                        <m:lit/>
                        <m:nor/>
                      </m:rPr>
                      <m:t xml:space="preserve">,arctan</m:t>
                    </m:r>
                    <m:r>
                      <m:t xml:space="preserve">6</m:t>
                    </m:r>
                    <m:r>
                      <m:t xml:space="preserve">t</m:t>
                    </m:r>
                  </m:oMath>
                </a14:m>
              </a:p>
            </p:txBody>
          </p:sp>
        </mc:Choice>
        <mc:Fallback>
          <p:sp>
            <p:nvSpPr>
              <p:cNvPr id="89" name="Object 5"/>
              <p:cNvSpPr txBox="1"/>
              <p:nvPr/>
            </p:nvSpPr>
            <p:spPr>
              <a:xfrm>
                <a:off x="914400" y="2097000"/>
                <a:ext cx="3048120" cy="735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90" name="Object 6"/>
              <p:cNvSpPr txBox="1"/>
              <p:nvPr/>
            </p:nvSpPr>
            <p:spPr>
              <a:xfrm>
                <a:off x="5181480" y="2330280"/>
                <a:ext cx="2514600" cy="522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1</m:t>
                    </m:r>
                    <m:r>
                      <m:t xml:space="preserve">+</m:t>
                    </m:r>
                    <m:r>
                      <m:rPr>
                        <m:lit/>
                        <m:nor/>
                      </m:rPr>
                      <m:t xml:space="preserve">36</m:t>
                    </m:r>
                    <m:r>
                      <m:t xml:space="preserve">t</m:t>
                    </m:r>
                    <m:r>
                      <m:rPr>
                        <m:lit/>
                        <m:nor/>
                      </m:rPr>
                      <m:t xml:space="preserve">,arctan</m:t>
                    </m:r>
                    <m:r>
                      <m:t xml:space="preserve">6</m:t>
                    </m:r>
                    <m:r>
                      <m:t xml:space="preserve">t</m:t>
                    </m:r>
                  </m:oMath>
                </a14:m>
              </a:p>
            </p:txBody>
          </p:sp>
        </mc:Choice>
        <mc:Fallback>
          <p:sp>
            <p:nvSpPr>
              <p:cNvPr id="90" name="Object 6"/>
              <p:cNvSpPr txBox="1"/>
              <p:nvPr/>
            </p:nvSpPr>
            <p:spPr>
              <a:xfrm>
                <a:off x="5181480" y="2330280"/>
                <a:ext cx="2514600" cy="5223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91" name="Object 7"/>
              <p:cNvSpPr txBox="1"/>
              <p:nvPr/>
            </p:nvSpPr>
            <p:spPr>
              <a:xfrm>
                <a:off x="914400" y="2979720"/>
                <a:ext cx="2971800" cy="679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ad>
                      <m:radPr>
                        <m:degHide m:val="1"/>
                      </m:radPr>
                      <m:deg/>
                      <m:e>
                        <m:r>
                          <m:t xml:space="preserve">1</m:t>
                        </m:r>
                        <m:r>
                          <m:t xml:space="preserve">+</m:t>
                        </m:r>
                        <m:r>
                          <m:rPr>
                            <m:lit/>
                            <m:nor/>
                          </m:rPr>
                          <m:t xml:space="preserve">36</m:t>
                        </m:r>
                        <m:sSup>
                          <m:e>
                            <m:r>
                              <m:t xml:space="preserve">t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e>
                    </m:rad>
                    <m:r>
                      <m:rPr>
                        <m:lit/>
                        <m:nor/>
                      </m:rPr>
                      <m:t xml:space="preserve">,arctan</m:t>
                    </m:r>
                    <m:r>
                      <m:t xml:space="preserve">3</m:t>
                    </m:r>
                    <m:r>
                      <m:t xml:space="preserve">t</m:t>
                    </m:r>
                  </m:oMath>
                </a14:m>
              </a:p>
            </p:txBody>
          </p:sp>
        </mc:Choice>
        <mc:Fallback>
          <p:sp>
            <p:nvSpPr>
              <p:cNvPr id="91" name="Object 7"/>
              <p:cNvSpPr txBox="1"/>
              <p:nvPr/>
            </p:nvSpPr>
            <p:spPr>
              <a:xfrm>
                <a:off x="914400" y="2979720"/>
                <a:ext cx="2971800" cy="6793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92" name="Object 8"/>
              <p:cNvSpPr txBox="1"/>
              <p:nvPr/>
            </p:nvSpPr>
            <p:spPr>
              <a:xfrm>
                <a:off x="5181480" y="3157560"/>
                <a:ext cx="2590920" cy="533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1</m:t>
                    </m:r>
                    <m:r>
                      <m:t xml:space="preserve">+</m:t>
                    </m:r>
                    <m:r>
                      <m:rPr>
                        <m:lit/>
                        <m:nor/>
                      </m:rPr>
                      <m:t xml:space="preserve">36</m:t>
                    </m:r>
                    <m:r>
                      <m:t xml:space="preserve">t</m:t>
                    </m:r>
                    <m:r>
                      <m:rPr>
                        <m:lit/>
                        <m:nor/>
                      </m:rPr>
                      <m:t xml:space="preserve">,arctan</m:t>
                    </m:r>
                    <m:r>
                      <m:t xml:space="preserve">3</m:t>
                    </m:r>
                    <m:r>
                      <m:t xml:space="preserve">t</m:t>
                    </m:r>
                  </m:oMath>
                </a14:m>
              </a:p>
            </p:txBody>
          </p:sp>
        </mc:Choice>
        <mc:Fallback>
          <p:sp>
            <p:nvSpPr>
              <p:cNvPr id="92" name="Object 8"/>
              <p:cNvSpPr txBox="1"/>
              <p:nvPr/>
            </p:nvSpPr>
            <p:spPr>
              <a:xfrm>
                <a:off x="5181480" y="3157560"/>
                <a:ext cx="2590920" cy="533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93" name="Text Box 9"/>
          <p:cNvSpPr/>
          <p:nvPr/>
        </p:nvSpPr>
        <p:spPr>
          <a:xfrm>
            <a:off x="460440" y="222732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Text Box 10"/>
          <p:cNvSpPr/>
          <p:nvPr/>
        </p:nvSpPr>
        <p:spPr>
          <a:xfrm>
            <a:off x="4727520" y="220500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Text Box 11"/>
          <p:cNvSpPr/>
          <p:nvPr/>
        </p:nvSpPr>
        <p:spPr>
          <a:xfrm>
            <a:off x="460440" y="306540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Text Box 12"/>
          <p:cNvSpPr/>
          <p:nvPr/>
        </p:nvSpPr>
        <p:spPr>
          <a:xfrm>
            <a:off x="4727520" y="306540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Text Box 13"/>
          <p:cNvSpPr/>
          <p:nvPr/>
        </p:nvSpPr>
        <p:spPr>
          <a:xfrm>
            <a:off x="6712920" y="123660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98" name="Object 14"/>
              <p:cNvSpPr txBox="1"/>
              <p:nvPr/>
            </p:nvSpPr>
            <p:spPr>
              <a:xfrm>
                <a:off x="533520" y="3836880"/>
                <a:ext cx="1307880" cy="1073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v</m:t>
                        </m:r>
                      </m:e>
                    </m:acc>
                    <m:r>
                      <m:t xml:space="preserve">=</m:t>
                    </m:r>
                    <m:f>
                      <m:num>
                        <m:r>
                          <m:t xml:space="preserve">d</m:t>
                        </m:r>
                        <m:r>
                          <m:t xml:space="preserve">r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98" name="Object 14"/>
              <p:cNvSpPr txBox="1"/>
              <p:nvPr/>
            </p:nvSpPr>
            <p:spPr>
              <a:xfrm>
                <a:off x="533520" y="3836880"/>
                <a:ext cx="1307880" cy="10731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99" name="Object 15"/>
              <p:cNvSpPr txBox="1"/>
              <p:nvPr/>
            </p:nvSpPr>
            <p:spPr>
              <a:xfrm>
                <a:off x="533520" y="4979880"/>
                <a:ext cx="1344600" cy="1073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a</m:t>
                        </m:r>
                      </m:e>
                    </m:acc>
                    <m:r>
                      <m:t xml:space="preserve">=</m:t>
                    </m:r>
                    <m:f>
                      <m:num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99" name="Object 15"/>
              <p:cNvSpPr txBox="1"/>
              <p:nvPr/>
            </p:nvSpPr>
            <p:spPr>
              <a:xfrm>
                <a:off x="533520" y="4979880"/>
                <a:ext cx="1344600" cy="10731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00" name="Object 16"/>
              <p:cNvSpPr txBox="1"/>
              <p:nvPr/>
            </p:nvSpPr>
            <p:spPr>
              <a:xfrm>
                <a:off x="1960560" y="4071960"/>
                <a:ext cx="2608200" cy="642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t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+</m:t>
                    </m:r>
                    <m:r>
                      <m:t xml:space="preserve">(</m:t>
                    </m:r>
                    <m:r>
                      <m:t xml:space="preserve">3</m:t>
                    </m:r>
                    <m:r>
                      <m:t xml:space="preserve">+</m:t>
                    </m:r>
                    <m:r>
                      <m:t xml:space="preserve">3</m:t>
                    </m:r>
                    <m:sSup>
                      <m:e>
                        <m:r>
                          <m:t xml:space="preserve">t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)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00" name="Object 16"/>
              <p:cNvSpPr txBox="1"/>
              <p:nvPr/>
            </p:nvSpPr>
            <p:spPr>
              <a:xfrm>
                <a:off x="1960560" y="4071960"/>
                <a:ext cx="2608200" cy="6429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01" name="Object 17"/>
              <p:cNvSpPr txBox="1"/>
              <p:nvPr/>
            </p:nvSpPr>
            <p:spPr>
              <a:xfrm>
                <a:off x="1905120" y="5208480"/>
                <a:ext cx="1444680" cy="642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+</m:t>
                    </m:r>
                    <m:r>
                      <m:t xml:space="preserve">6</m:t>
                    </m:r>
                    <m:r>
                      <m:t xml:space="preserve">t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01" name="Object 17"/>
              <p:cNvSpPr txBox="1"/>
              <p:nvPr/>
            </p:nvSpPr>
            <p:spPr>
              <a:xfrm>
                <a:off x="1905120" y="5208480"/>
                <a:ext cx="1444680" cy="6429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3" dur="indefinite" restart="never" nodeType="tmRoot">
          <p:childTnLst>
            <p:seq>
              <p:cTn id="114" dur="indefinite" nodeType="mainSeq">
                <p:childTnLst>
                  <p:par>
                    <p:cTn id="115" fill="hold" nodeType="clickEffect">
                      <p:stCondLst>
                        <p:cond delay="indefinite"/>
                      </p:stCondLst>
                      <p:childTnLst>
                        <p:par>
                          <p:cTn id="1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1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Effect">
                      <p:stCondLst>
                        <p:cond delay="indefinite"/>
                      </p:stCondLst>
                      <p:childTnLst>
                        <p:par>
                          <p:cTn id="12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Effect">
                      <p:stCondLst>
                        <p:cond delay="indefinite"/>
                      </p:stCondLst>
                      <p:childTnLst>
                        <p:par>
                          <p:cTn id="12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Effect">
                      <p:stCondLst>
                        <p:cond delay="indefinite"/>
                      </p:stCondLst>
                      <p:childTnLst>
                        <p:par>
                          <p:cTn id="13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3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Effect">
                      <p:stCondLst>
                        <p:cond delay="indefinite"/>
                      </p:stCondLst>
                      <p:childTnLst>
                        <p:par>
                          <p:cTn id="13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3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Box 2"/>
          <p:cNvSpPr/>
          <p:nvPr/>
        </p:nvSpPr>
        <p:spPr>
          <a:xfrm>
            <a:off x="-128880" y="76320"/>
            <a:ext cx="94006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P14/8.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质点在平面上作曲线运动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设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t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时刻的瞬时速度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Text Box 3"/>
          <p:cNvSpPr/>
          <p:nvPr/>
        </p:nvSpPr>
        <p:spPr>
          <a:xfrm>
            <a:off x="78840" y="53352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Text Box 4"/>
          <p:cNvSpPr/>
          <p:nvPr/>
        </p:nvSpPr>
        <p:spPr>
          <a:xfrm>
            <a:off x="613800" y="533520"/>
            <a:ext cx="84405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瞬时速率为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v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0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～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t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这段时间内的平均速度为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05" name="Object 5"/>
              <p:cNvSpPr txBox="1"/>
              <p:nvPr/>
            </p:nvSpPr>
            <p:spPr>
              <a:xfrm>
                <a:off x="609480" y="609480"/>
                <a:ext cx="325440" cy="430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v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05" name="Object 5"/>
              <p:cNvSpPr txBox="1"/>
              <p:nvPr/>
            </p:nvSpPr>
            <p:spPr>
              <a:xfrm>
                <a:off x="609480" y="609480"/>
                <a:ext cx="325440" cy="43020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106" name="Text Box 6"/>
          <p:cNvSpPr/>
          <p:nvPr/>
        </p:nvSpPr>
        <p:spPr>
          <a:xfrm>
            <a:off x="213480" y="1127160"/>
            <a:ext cx="2085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平均速率为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07" name="Object 7"/>
              <p:cNvSpPr txBox="1"/>
              <p:nvPr/>
            </p:nvSpPr>
            <p:spPr>
              <a:xfrm>
                <a:off x="8696160" y="533520"/>
                <a:ext cx="371520" cy="609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acc>
                          <m:accPr>
                            <m:chr m:val="¯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07" name="Object 7"/>
              <p:cNvSpPr txBox="1"/>
              <p:nvPr/>
            </p:nvSpPr>
            <p:spPr>
              <a:xfrm>
                <a:off x="8696160" y="533520"/>
                <a:ext cx="371520" cy="6094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108" name="Text Box 8"/>
          <p:cNvSpPr/>
          <p:nvPr/>
        </p:nvSpPr>
        <p:spPr>
          <a:xfrm>
            <a:off x="2395800" y="1127160"/>
            <a:ext cx="6550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它们之间有如下的关系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09" name="Object 9"/>
              <p:cNvSpPr txBox="1"/>
              <p:nvPr/>
            </p:nvSpPr>
            <p:spPr>
              <a:xfrm>
                <a:off x="2286000" y="1219320"/>
                <a:ext cx="325440" cy="414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¯"/>
                      </m:accPr>
                      <m:e>
                        <m:r>
                          <m:t xml:space="preserve">v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09" name="Object 9"/>
              <p:cNvSpPr txBox="1"/>
              <p:nvPr/>
            </p:nvSpPr>
            <p:spPr>
              <a:xfrm>
                <a:off x="2286000" y="1219320"/>
                <a:ext cx="325440" cy="4143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110" name="Text Box 10"/>
          <p:cNvSpPr/>
          <p:nvPr/>
        </p:nvSpPr>
        <p:spPr>
          <a:xfrm>
            <a:off x="266760" y="211788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Text Box 11"/>
          <p:cNvSpPr/>
          <p:nvPr/>
        </p:nvSpPr>
        <p:spPr>
          <a:xfrm>
            <a:off x="4587840" y="213372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12" name="Object 12"/>
              <p:cNvSpPr txBox="1"/>
              <p:nvPr/>
            </p:nvSpPr>
            <p:spPr>
              <a:xfrm>
                <a:off x="809640" y="2057400"/>
                <a:ext cx="2543040" cy="762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</m:d>
                    <m:r>
                      <m:t xml:space="preserve">=</m:t>
                    </m:r>
                    <m:r>
                      <m:t xml:space="preserve">v</m:t>
                    </m:r>
                    <m:r>
                      <m:t xml:space="preserve">,</m:t>
                    </m:r>
                    <m:d>
                      <m:dPr>
                        <m:begChr m:val="|"/>
                        <m:endChr m:val="|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acc>
                              <m:accPr>
                                <m:chr m:val="¯"/>
                              </m:accPr>
                              <m:e>
                                <m:r>
                                  <m:t xml:space="preserve">v</m:t>
                                </m:r>
                              </m:e>
                            </m:acc>
                          </m:e>
                        </m:acc>
                      </m:e>
                    </m:d>
                    <m:r>
                      <m:t xml:space="preserve">=</m:t>
                    </m:r>
                    <m:acc>
                      <m:accPr>
                        <m:chr m:val="¯"/>
                      </m:accPr>
                      <m:e>
                        <m:r>
                          <m:t xml:space="preserve">v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12" name="Object 12"/>
              <p:cNvSpPr txBox="1"/>
              <p:nvPr/>
            </p:nvSpPr>
            <p:spPr>
              <a:xfrm>
                <a:off x="809640" y="2057400"/>
                <a:ext cx="2543040" cy="7621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113" name="Text Box 13"/>
          <p:cNvSpPr/>
          <p:nvPr/>
        </p:nvSpPr>
        <p:spPr>
          <a:xfrm>
            <a:off x="279360" y="289404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Text Box 14"/>
          <p:cNvSpPr/>
          <p:nvPr/>
        </p:nvSpPr>
        <p:spPr>
          <a:xfrm>
            <a:off x="4575240" y="290988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15" name="Object 15"/>
              <p:cNvSpPr txBox="1"/>
              <p:nvPr/>
            </p:nvSpPr>
            <p:spPr>
              <a:xfrm>
                <a:off x="5076720" y="2057400"/>
                <a:ext cx="2543400" cy="762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</m:d>
                    <m:r>
                      <m:t xml:space="preserve">≠</m:t>
                    </m:r>
                    <m:r>
                      <m:t xml:space="preserve">v</m:t>
                    </m:r>
                    <m:r>
                      <m:t xml:space="preserve">,</m:t>
                    </m:r>
                    <m:d>
                      <m:dPr>
                        <m:begChr m:val="|"/>
                        <m:endChr m:val="|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acc>
                              <m:accPr>
                                <m:chr m:val="¯"/>
                              </m:accPr>
                              <m:e>
                                <m:r>
                                  <m:t xml:space="preserve">v</m:t>
                                </m:r>
                              </m:e>
                            </m:acc>
                          </m:e>
                        </m:acc>
                      </m:e>
                    </m:d>
                    <m:r>
                      <m:t xml:space="preserve">=</m:t>
                    </m:r>
                    <m:acc>
                      <m:accPr>
                        <m:chr m:val="¯"/>
                      </m:accPr>
                      <m:e>
                        <m:r>
                          <m:t xml:space="preserve">v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15" name="Object 15"/>
              <p:cNvSpPr txBox="1"/>
              <p:nvPr/>
            </p:nvSpPr>
            <p:spPr>
              <a:xfrm>
                <a:off x="5076720" y="2057400"/>
                <a:ext cx="2543400" cy="7621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16" name="Object 16"/>
              <p:cNvSpPr txBox="1"/>
              <p:nvPr/>
            </p:nvSpPr>
            <p:spPr>
              <a:xfrm>
                <a:off x="809640" y="2895480"/>
                <a:ext cx="2543040" cy="762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</m:d>
                    <m:r>
                      <m:t xml:space="preserve">=</m:t>
                    </m:r>
                    <m:r>
                      <m:t xml:space="preserve">v</m:t>
                    </m:r>
                    <m:r>
                      <m:t xml:space="preserve">,</m:t>
                    </m:r>
                    <m:d>
                      <m:dPr>
                        <m:begChr m:val="|"/>
                        <m:endChr m:val="|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acc>
                              <m:accPr>
                                <m:chr m:val="¯"/>
                              </m:accPr>
                              <m:e>
                                <m:r>
                                  <m:t xml:space="preserve">v</m:t>
                                </m:r>
                              </m:e>
                            </m:acc>
                          </m:e>
                        </m:acc>
                      </m:e>
                    </m:d>
                    <m:r>
                      <m:t xml:space="preserve">≠</m:t>
                    </m:r>
                    <m:acc>
                      <m:accPr>
                        <m:chr m:val="¯"/>
                      </m:accPr>
                      <m:e>
                        <m:r>
                          <m:t xml:space="preserve">v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16" name="Object 16"/>
              <p:cNvSpPr txBox="1"/>
              <p:nvPr/>
            </p:nvSpPr>
            <p:spPr>
              <a:xfrm>
                <a:off x="809640" y="2895480"/>
                <a:ext cx="2543040" cy="7621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17" name="Object 17"/>
              <p:cNvSpPr txBox="1"/>
              <p:nvPr/>
            </p:nvSpPr>
            <p:spPr>
              <a:xfrm>
                <a:off x="5153040" y="2819520"/>
                <a:ext cx="2543040" cy="761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</m:d>
                    <m:r>
                      <m:t xml:space="preserve">≠</m:t>
                    </m:r>
                    <m:r>
                      <m:t xml:space="preserve">v</m:t>
                    </m:r>
                    <m:r>
                      <m:t xml:space="preserve">,</m:t>
                    </m:r>
                    <m:d>
                      <m:dPr>
                        <m:begChr m:val="|"/>
                        <m:endChr m:val="|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acc>
                              <m:accPr>
                                <m:chr m:val="¯"/>
                              </m:accPr>
                              <m:e>
                                <m:r>
                                  <m:t xml:space="preserve">v</m:t>
                                </m:r>
                              </m:e>
                            </m:acc>
                          </m:e>
                        </m:acc>
                      </m:e>
                    </m:d>
                    <m:r>
                      <m:t xml:space="preserve">≠</m:t>
                    </m:r>
                    <m:acc>
                      <m:accPr>
                        <m:chr m:val="¯"/>
                      </m:accPr>
                      <m:e>
                        <m:r>
                          <m:t xml:space="preserve">v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17" name="Object 17"/>
              <p:cNvSpPr txBox="1"/>
              <p:nvPr/>
            </p:nvSpPr>
            <p:spPr>
              <a:xfrm>
                <a:off x="5153040" y="2819520"/>
                <a:ext cx="2543040" cy="7617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p:sp>
        <p:nvSpPr>
          <p:cNvPr id="118" name="Text Box 18"/>
          <p:cNvSpPr/>
          <p:nvPr/>
        </p:nvSpPr>
        <p:spPr>
          <a:xfrm>
            <a:off x="7170120" y="112716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C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19" name="Object 19"/>
              <p:cNvSpPr txBox="1"/>
              <p:nvPr/>
            </p:nvSpPr>
            <p:spPr>
              <a:xfrm>
                <a:off x="297000" y="4336920"/>
                <a:ext cx="473040" cy="692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19" name="Object 19"/>
              <p:cNvSpPr txBox="1"/>
              <p:nvPr/>
            </p:nvSpPr>
            <p:spPr>
              <a:xfrm>
                <a:off x="297000" y="4336920"/>
                <a:ext cx="473040" cy="6922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p:sp>
        <p:nvSpPr>
          <p:cNvPr id="120" name="Text Box 20"/>
          <p:cNvSpPr/>
          <p:nvPr/>
        </p:nvSpPr>
        <p:spPr>
          <a:xfrm>
            <a:off x="682560" y="4413240"/>
            <a:ext cx="1704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速度大小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21" name="Object 21"/>
              <p:cNvSpPr txBox="1"/>
              <p:nvPr/>
            </p:nvSpPr>
            <p:spPr>
              <a:xfrm>
                <a:off x="274680" y="5016600"/>
                <a:ext cx="363600" cy="380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</m:oMath>
                </a14:m>
              </a:p>
            </p:txBody>
          </p:sp>
        </mc:Choice>
        <mc:Fallback>
          <p:sp>
            <p:nvSpPr>
              <p:cNvPr id="121" name="Object 21"/>
              <p:cNvSpPr txBox="1"/>
              <p:nvPr/>
            </p:nvSpPr>
            <p:spPr>
              <a:xfrm>
                <a:off x="274680" y="5016600"/>
                <a:ext cx="363600" cy="3808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p:sp>
        <p:nvSpPr>
          <p:cNvPr id="122" name="Text Box 22"/>
          <p:cNvSpPr/>
          <p:nvPr/>
        </p:nvSpPr>
        <p:spPr>
          <a:xfrm>
            <a:off x="528840" y="4861080"/>
            <a:ext cx="942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速率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Text Box 23"/>
          <p:cNvSpPr/>
          <p:nvPr/>
        </p:nvSpPr>
        <p:spPr>
          <a:xfrm>
            <a:off x="2271960" y="4708440"/>
            <a:ext cx="3602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瞬时速度大小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黑体"/>
                <a:ea typeface="黑体"/>
              </a:rPr>
              <a:t>=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速率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24" name="Object 24"/>
              <p:cNvSpPr txBox="1"/>
              <p:nvPr/>
            </p:nvSpPr>
            <p:spPr>
              <a:xfrm>
                <a:off x="263520" y="5410080"/>
                <a:ext cx="509760" cy="762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acc>
                              <m:accPr>
                                <m:chr m:val="¯"/>
                              </m:accPr>
                              <m:e>
                                <m:r>
                                  <m:t xml:space="preserve">v</m:t>
                                </m:r>
                              </m:e>
                            </m:acc>
                          </m:e>
                        </m:acc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24" name="Object 24"/>
              <p:cNvSpPr txBox="1"/>
              <p:nvPr/>
            </p:nvSpPr>
            <p:spPr>
              <a:xfrm>
                <a:off x="263520" y="5410080"/>
                <a:ext cx="509760" cy="7621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p:sp>
        <p:nvSpPr>
          <p:cNvPr id="125" name="Text Box 25"/>
          <p:cNvSpPr/>
          <p:nvPr/>
        </p:nvSpPr>
        <p:spPr>
          <a:xfrm>
            <a:off x="650880" y="5486400"/>
            <a:ext cx="2466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平均速度大小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26" name="Object 26"/>
              <p:cNvSpPr txBox="1"/>
              <p:nvPr/>
            </p:nvSpPr>
            <p:spPr>
              <a:xfrm>
                <a:off x="336600" y="6099120"/>
                <a:ext cx="363600" cy="451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¯"/>
                      </m:accPr>
                      <m:e>
                        <m:r>
                          <m:t xml:space="preserve">v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26" name="Object 26"/>
              <p:cNvSpPr txBox="1"/>
              <p:nvPr/>
            </p:nvSpPr>
            <p:spPr>
              <a:xfrm>
                <a:off x="336600" y="6099120"/>
                <a:ext cx="363600" cy="45108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  <p:sp>
        <p:nvSpPr>
          <p:cNvPr id="127" name="Text Box 27"/>
          <p:cNvSpPr/>
          <p:nvPr/>
        </p:nvSpPr>
        <p:spPr>
          <a:xfrm>
            <a:off x="649440" y="6080040"/>
            <a:ext cx="1704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平均速率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28" name="Object 28"/>
              <p:cNvSpPr txBox="1"/>
              <p:nvPr/>
            </p:nvSpPr>
            <p:spPr>
              <a:xfrm>
                <a:off x="130320" y="3738600"/>
                <a:ext cx="363240" cy="484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v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28" name="Object 28"/>
              <p:cNvSpPr txBox="1"/>
              <p:nvPr/>
            </p:nvSpPr>
            <p:spPr>
              <a:xfrm>
                <a:off x="130320" y="3738600"/>
                <a:ext cx="363240" cy="484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</p:sp>
        </mc:Fallback>
      </mc:AlternateContent>
      <p:sp>
        <p:nvSpPr>
          <p:cNvPr id="129" name="Text Box 29"/>
          <p:cNvSpPr/>
          <p:nvPr/>
        </p:nvSpPr>
        <p:spPr>
          <a:xfrm>
            <a:off x="235440" y="3718080"/>
            <a:ext cx="4356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速度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矢量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: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大小和方向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30" name="Object 30"/>
              <p:cNvSpPr txBox="1"/>
              <p:nvPr/>
            </p:nvSpPr>
            <p:spPr>
              <a:xfrm>
                <a:off x="5046840" y="3828960"/>
                <a:ext cx="363240" cy="381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</m:oMath>
                </a14:m>
              </a:p>
            </p:txBody>
          </p:sp>
        </mc:Choice>
        <mc:Fallback>
          <p:sp>
            <p:nvSpPr>
              <p:cNvPr id="130" name="Object 30"/>
              <p:cNvSpPr txBox="1"/>
              <p:nvPr/>
            </p:nvSpPr>
            <p:spPr>
              <a:xfrm>
                <a:off x="5046840" y="3828960"/>
                <a:ext cx="363240" cy="38124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</p:sp>
        </mc:Fallback>
      </mc:AlternateContent>
      <p:sp>
        <p:nvSpPr>
          <p:cNvPr id="131" name="Text Box 31"/>
          <p:cNvSpPr/>
          <p:nvPr/>
        </p:nvSpPr>
        <p:spPr>
          <a:xfrm>
            <a:off x="5176080" y="3701880"/>
            <a:ext cx="3983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速率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只有大小无方向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0" dur="indefinite" restart="never" nodeType="tmRoot">
          <p:childTnLst>
            <p:seq>
              <p:cTn id="141" dur="indefinite" nodeType="mainSeq">
                <p:childTnLst>
                  <p:par>
                    <p:cTn id="142" fill="hold" nodeType="clickEffect">
                      <p:stCondLst>
                        <p:cond delay="indefinite"/>
                      </p:stCondLst>
                      <p:childTnLst>
                        <p:par>
                          <p:cTn id="14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4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Effect">
                      <p:stCondLst>
                        <p:cond delay="indefinite"/>
                      </p:stCondLst>
                      <p:childTnLst>
                        <p:par>
                          <p:cTn id="14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5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Effect">
                      <p:stCondLst>
                        <p:cond delay="indefinite"/>
                      </p:stCondLst>
                      <p:childTnLst>
                        <p:par>
                          <p:cTn id="15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5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Effect">
                      <p:stCondLst>
                        <p:cond delay="indefinite"/>
                      </p:stCondLst>
                      <p:childTnLst>
                        <p:par>
                          <p:cTn id="15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6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Effect">
                      <p:stCondLst>
                        <p:cond delay="indefinite"/>
                      </p:stCondLst>
                      <p:childTnLst>
                        <p:par>
                          <p:cTn id="16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6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Effect">
                      <p:stCondLst>
                        <p:cond delay="indefinite"/>
                      </p:stCondLst>
                      <p:childTnLst>
                        <p:par>
                          <p:cTn id="16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Effect">
                      <p:stCondLst>
                        <p:cond delay="indefinite"/>
                      </p:stCondLst>
                      <p:childTnLst>
                        <p:par>
                          <p:cTn id="17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Effect">
                      <p:stCondLst>
                        <p:cond delay="indefinite"/>
                      </p:stCondLst>
                      <p:childTnLst>
                        <p:par>
                          <p:cTn id="17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8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Effect">
                      <p:stCondLst>
                        <p:cond delay="indefinite"/>
                      </p:stCondLst>
                      <p:childTnLst>
                        <p:par>
                          <p:cTn id="18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8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Effect">
                      <p:stCondLst>
                        <p:cond delay="indefinite"/>
                      </p:stCondLst>
                      <p:childTnLst>
                        <p:par>
                          <p:cTn id="18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9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Effect">
                      <p:stCondLst>
                        <p:cond delay="indefinite"/>
                      </p:stCondLst>
                      <p:childTnLst>
                        <p:par>
                          <p:cTn id="19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9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Effect">
                      <p:stCondLst>
                        <p:cond delay="indefinite"/>
                      </p:stCondLst>
                      <p:childTnLst>
                        <p:par>
                          <p:cTn id="19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0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Effect">
                      <p:stCondLst>
                        <p:cond delay="indefinite"/>
                      </p:stCondLst>
                      <p:childTnLst>
                        <p:par>
                          <p:cTn id="20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0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Effect">
                      <p:stCondLst>
                        <p:cond delay="indefinite"/>
                      </p:stCondLst>
                      <p:childTnLst>
                        <p:par>
                          <p:cTn id="20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1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Box 2"/>
          <p:cNvSpPr/>
          <p:nvPr/>
        </p:nvSpPr>
        <p:spPr>
          <a:xfrm>
            <a:off x="-37800" y="685800"/>
            <a:ext cx="9027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P16/1.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质点作定向直线运动，下列说法正确是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Text Box 3"/>
          <p:cNvSpPr/>
          <p:nvPr/>
        </p:nvSpPr>
        <p:spPr>
          <a:xfrm>
            <a:off x="-25200" y="1614600"/>
            <a:ext cx="84261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r>
              <a:rPr lang="zh-CN" sz="28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质点位置矢量的方向一定恒定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28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位移方向一定恒定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Text Box 4"/>
          <p:cNvSpPr/>
          <p:nvPr/>
        </p:nvSpPr>
        <p:spPr>
          <a:xfrm>
            <a:off x="-24120" y="2224080"/>
            <a:ext cx="87811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r>
              <a:rPr lang="zh-CN" sz="28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质点位置矢量的方向不一定恒定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28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位移方向一定恒定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Text Box 5"/>
          <p:cNvSpPr/>
          <p:nvPr/>
        </p:nvSpPr>
        <p:spPr>
          <a:xfrm>
            <a:off x="-24120" y="2894040"/>
            <a:ext cx="87811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r>
              <a:rPr lang="zh-CN" sz="28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质点位置矢量的方向一定恒定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28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位移方向不一定恒定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Text Box 6"/>
          <p:cNvSpPr/>
          <p:nvPr/>
        </p:nvSpPr>
        <p:spPr>
          <a:xfrm>
            <a:off x="-23040" y="3519360"/>
            <a:ext cx="9136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r>
              <a:rPr lang="zh-CN" sz="28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质点位置矢量的方向不一定恒定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28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位移方向不一定恒定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Text Box 7"/>
          <p:cNvSpPr/>
          <p:nvPr/>
        </p:nvSpPr>
        <p:spPr>
          <a:xfrm>
            <a:off x="7527240" y="68580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B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Line 8"/>
          <p:cNvSpPr/>
          <p:nvPr/>
        </p:nvSpPr>
        <p:spPr>
          <a:xfrm>
            <a:off x="1523880" y="5318280"/>
            <a:ext cx="548640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Text Box 9"/>
          <p:cNvSpPr/>
          <p:nvPr/>
        </p:nvSpPr>
        <p:spPr>
          <a:xfrm>
            <a:off x="6978600" y="4921200"/>
            <a:ext cx="4348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25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Oval 10"/>
          <p:cNvSpPr/>
          <p:nvPr/>
        </p:nvSpPr>
        <p:spPr>
          <a:xfrm>
            <a:off x="4038480" y="5280120"/>
            <a:ext cx="76320" cy="7596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6840" rIns="90000" bIns="684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Text Box 11"/>
          <p:cNvSpPr/>
          <p:nvPr/>
        </p:nvSpPr>
        <p:spPr>
          <a:xfrm>
            <a:off x="3906360" y="5241960"/>
            <a:ext cx="358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Line 12"/>
          <p:cNvSpPr/>
          <p:nvPr/>
        </p:nvSpPr>
        <p:spPr>
          <a:xfrm flipH="1">
            <a:off x="2437920" y="5318280"/>
            <a:ext cx="1600200" cy="0"/>
          </a:xfrm>
          <a:prstGeom prst="line">
            <a:avLst/>
          </a:prstGeom>
          <a:ln w="152280">
            <a:solidFill>
              <a:srgbClr val="0000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Oval 13"/>
          <p:cNvSpPr/>
          <p:nvPr/>
        </p:nvSpPr>
        <p:spPr>
          <a:xfrm>
            <a:off x="2247840" y="5208480"/>
            <a:ext cx="190440" cy="185760"/>
          </a:xfrm>
          <a:prstGeom prst="ellipse">
            <a:avLst/>
          </a:prstGeom>
          <a:solidFill>
            <a:srgbClr val="0000FF"/>
          </a:solidFill>
          <a:ln w="93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Oval 14"/>
          <p:cNvSpPr/>
          <p:nvPr/>
        </p:nvSpPr>
        <p:spPr>
          <a:xfrm>
            <a:off x="6143760" y="5191200"/>
            <a:ext cx="231480" cy="228600"/>
          </a:xfrm>
          <a:prstGeom prst="ellipse">
            <a:avLst/>
          </a:prstGeom>
          <a:solidFill>
            <a:srgbClr val="336600"/>
          </a:solidFill>
          <a:ln w="9360">
            <a:solidFill>
              <a:srgbClr val="00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Line 15"/>
          <p:cNvSpPr/>
          <p:nvPr/>
        </p:nvSpPr>
        <p:spPr>
          <a:xfrm>
            <a:off x="4114800" y="5318280"/>
            <a:ext cx="2057400" cy="0"/>
          </a:xfrm>
          <a:prstGeom prst="line">
            <a:avLst/>
          </a:prstGeom>
          <a:ln w="152280">
            <a:solidFill>
              <a:srgbClr val="3366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Text Box 16"/>
          <p:cNvSpPr/>
          <p:nvPr/>
        </p:nvSpPr>
        <p:spPr>
          <a:xfrm>
            <a:off x="1756440" y="539424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初位置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Text Box 17"/>
          <p:cNvSpPr/>
          <p:nvPr/>
        </p:nvSpPr>
        <p:spPr>
          <a:xfrm>
            <a:off x="5566680" y="539424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336600"/>
                </a:solidFill>
                <a:effectLst/>
                <a:uFillTx/>
                <a:latin typeface="宋体"/>
              </a:rPr>
              <a:t>末位置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Line 18"/>
          <p:cNvSpPr/>
          <p:nvPr/>
        </p:nvSpPr>
        <p:spPr>
          <a:xfrm>
            <a:off x="2438280" y="4937040"/>
            <a:ext cx="3657600" cy="0"/>
          </a:xfrm>
          <a:prstGeom prst="line">
            <a:avLst/>
          </a:prstGeom>
          <a:ln w="7632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Text Box 19"/>
          <p:cNvSpPr/>
          <p:nvPr/>
        </p:nvSpPr>
        <p:spPr>
          <a:xfrm>
            <a:off x="3625920" y="4175280"/>
            <a:ext cx="942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位移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2" dur="indefinite" restart="never" nodeType="tmRoot">
          <p:childTnLst>
            <p:seq>
              <p:cTn id="213" dur="indefinite" nodeType="mainSeq">
                <p:childTnLst>
                  <p:par>
                    <p:cTn id="214" fill="hold" nodeType="clickEffect">
                      <p:stCondLst>
                        <p:cond delay="indefinite"/>
                      </p:stCondLst>
                      <p:childTnLst>
                        <p:par>
                          <p:cTn id="21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1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220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 nodeType="afterEffect">
                            <p:stCondLst>
                              <p:cond delay="1000"/>
                            </p:stCondLst>
                            <p:childTnLst>
                              <p:par>
                                <p:cTn id="224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 nodeType="afterEffect">
                            <p:stCondLst>
                              <p:cond delay="1500"/>
                            </p:stCondLst>
                            <p:childTnLst>
                              <p:par>
                                <p:cTn id="228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3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Effect">
                      <p:stCondLst>
                        <p:cond delay="indefinite"/>
                      </p:stCondLst>
                      <p:childTnLst>
                        <p:par>
                          <p:cTn id="23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3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237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3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 nodeType="clickEffect">
                      <p:stCondLst>
                        <p:cond delay="indefinite"/>
                      </p:stCondLst>
                      <p:childTnLst>
                        <p:par>
                          <p:cTn id="24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4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Effect">
                      <p:stCondLst>
                        <p:cond delay="indefinite"/>
                      </p:stCondLst>
                      <p:childTnLst>
                        <p:par>
                          <p:cTn id="24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4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251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5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 nodeType="clickEffect">
                      <p:stCondLst>
                        <p:cond delay="indefinite"/>
                      </p:stCondLst>
                      <p:childTnLst>
                        <p:par>
                          <p:cTn id="25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5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 nodeType="clickEffect">
                      <p:stCondLst>
                        <p:cond delay="indefinite"/>
                      </p:stCondLst>
                      <p:childTnLst>
                        <p:par>
                          <p:cTn id="26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6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265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6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 nodeType="clickEffect">
                      <p:stCondLst>
                        <p:cond delay="indefinite"/>
                      </p:stCondLst>
                      <p:childTnLst>
                        <p:par>
                          <p:cTn id="26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7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Box 2"/>
          <p:cNvSpPr/>
          <p:nvPr/>
        </p:nvSpPr>
        <p:spPr>
          <a:xfrm>
            <a:off x="-219960" y="1295280"/>
            <a:ext cx="9583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P16/2.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质点沿轨道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作曲线运动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速率逐渐减小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如图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Text Box 3"/>
          <p:cNvSpPr/>
          <p:nvPr/>
        </p:nvSpPr>
        <p:spPr>
          <a:xfrm>
            <a:off x="-55440" y="1828800"/>
            <a:ext cx="8928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所示，问哪一个图表示了在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处的加速度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Freeform 4"/>
          <p:cNvSpPr/>
          <p:nvPr/>
        </p:nvSpPr>
        <p:spPr>
          <a:xfrm>
            <a:off x="533520" y="3048120"/>
            <a:ext cx="1523880" cy="838080"/>
          </a:xfrm>
          <a:custGeom>
            <a:avLst/>
            <a:gdLst>
              <a:gd name="GluePoint1X" fmla="*/ 0 w 960"/>
              <a:gd name="GluePoint1Y" fmla="*/ 838200 h 768"/>
              <a:gd name="GluePoint2X" fmla="*/ 457200 w 960"/>
              <a:gd name="GluePoint2Y" fmla="*/ 209550 h 768"/>
              <a:gd name="GluePoint3X" fmla="*/ 1524000 w 960"/>
              <a:gd name="GluePoint3Y" fmla="*/ 0 h 76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960" h="768">
                <a:moveTo>
                  <a:pt x="0" y="768"/>
                </a:moveTo>
                <a:cubicBezTo>
                  <a:pt x="64" y="544"/>
                  <a:pt x="128" y="320"/>
                  <a:pt x="288" y="192"/>
                </a:cubicBezTo>
                <a:cubicBezTo>
                  <a:pt x="448" y="64"/>
                  <a:pt x="704" y="32"/>
                  <a:pt x="960" y="0"/>
                </a:cubicBezTo>
              </a:path>
            </a:pathLst>
          </a:cu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Line 5"/>
          <p:cNvSpPr/>
          <p:nvPr/>
        </p:nvSpPr>
        <p:spPr>
          <a:xfrm flipV="1">
            <a:off x="1066680" y="2895120"/>
            <a:ext cx="762120" cy="30492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Freeform 6"/>
          <p:cNvSpPr/>
          <p:nvPr/>
        </p:nvSpPr>
        <p:spPr>
          <a:xfrm>
            <a:off x="2819520" y="3124080"/>
            <a:ext cx="1523880" cy="838440"/>
          </a:xfrm>
          <a:custGeom>
            <a:avLst/>
            <a:gdLst>
              <a:gd name="GluePoint1X" fmla="*/ 0 w 960"/>
              <a:gd name="GluePoint1Y" fmla="*/ 838200 h 768"/>
              <a:gd name="GluePoint2X" fmla="*/ 457200 w 960"/>
              <a:gd name="GluePoint2Y" fmla="*/ 209550 h 768"/>
              <a:gd name="GluePoint3X" fmla="*/ 1524000 w 960"/>
              <a:gd name="GluePoint3Y" fmla="*/ 0 h 76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960" h="768">
                <a:moveTo>
                  <a:pt x="0" y="768"/>
                </a:moveTo>
                <a:cubicBezTo>
                  <a:pt x="64" y="544"/>
                  <a:pt x="128" y="320"/>
                  <a:pt x="288" y="192"/>
                </a:cubicBezTo>
                <a:cubicBezTo>
                  <a:pt x="448" y="64"/>
                  <a:pt x="704" y="32"/>
                  <a:pt x="960" y="0"/>
                </a:cubicBezTo>
              </a:path>
            </a:pathLst>
          </a:cu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Line 7"/>
          <p:cNvSpPr/>
          <p:nvPr/>
        </p:nvSpPr>
        <p:spPr>
          <a:xfrm>
            <a:off x="3395520" y="3276720"/>
            <a:ext cx="762120" cy="22860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Freeform 8"/>
          <p:cNvSpPr/>
          <p:nvPr/>
        </p:nvSpPr>
        <p:spPr>
          <a:xfrm>
            <a:off x="5029200" y="3276720"/>
            <a:ext cx="1523880" cy="838080"/>
          </a:xfrm>
          <a:custGeom>
            <a:avLst/>
            <a:gdLst>
              <a:gd name="GluePoint1X" fmla="*/ 0 w 960"/>
              <a:gd name="GluePoint1Y" fmla="*/ 838200 h 768"/>
              <a:gd name="GluePoint2X" fmla="*/ 457200 w 960"/>
              <a:gd name="GluePoint2Y" fmla="*/ 209550 h 768"/>
              <a:gd name="GluePoint3X" fmla="*/ 1524000 w 960"/>
              <a:gd name="GluePoint3Y" fmla="*/ 0 h 76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960" h="768">
                <a:moveTo>
                  <a:pt x="0" y="768"/>
                </a:moveTo>
                <a:cubicBezTo>
                  <a:pt x="64" y="544"/>
                  <a:pt x="128" y="320"/>
                  <a:pt x="288" y="192"/>
                </a:cubicBezTo>
                <a:cubicBezTo>
                  <a:pt x="448" y="64"/>
                  <a:pt x="704" y="32"/>
                  <a:pt x="960" y="0"/>
                </a:cubicBezTo>
              </a:path>
            </a:pathLst>
          </a:cu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Line 9"/>
          <p:cNvSpPr/>
          <p:nvPr/>
        </p:nvSpPr>
        <p:spPr>
          <a:xfrm flipH="1">
            <a:off x="5333760" y="3452760"/>
            <a:ext cx="228600" cy="60948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Freeform 10"/>
          <p:cNvSpPr/>
          <p:nvPr/>
        </p:nvSpPr>
        <p:spPr>
          <a:xfrm>
            <a:off x="7086600" y="3276720"/>
            <a:ext cx="1523880" cy="838080"/>
          </a:xfrm>
          <a:custGeom>
            <a:avLst/>
            <a:gdLst>
              <a:gd name="GluePoint1X" fmla="*/ 0 w 960"/>
              <a:gd name="GluePoint1Y" fmla="*/ 838200 h 768"/>
              <a:gd name="GluePoint2X" fmla="*/ 457200 w 960"/>
              <a:gd name="GluePoint2Y" fmla="*/ 209550 h 768"/>
              <a:gd name="GluePoint3X" fmla="*/ 1524000 w 960"/>
              <a:gd name="GluePoint3Y" fmla="*/ 0 h 76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960" h="768">
                <a:moveTo>
                  <a:pt x="0" y="768"/>
                </a:moveTo>
                <a:cubicBezTo>
                  <a:pt x="64" y="544"/>
                  <a:pt x="128" y="320"/>
                  <a:pt x="288" y="192"/>
                </a:cubicBezTo>
                <a:cubicBezTo>
                  <a:pt x="448" y="64"/>
                  <a:pt x="704" y="32"/>
                  <a:pt x="960" y="0"/>
                </a:cubicBezTo>
              </a:path>
            </a:pathLst>
          </a:cu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Line 11"/>
          <p:cNvSpPr/>
          <p:nvPr/>
        </p:nvSpPr>
        <p:spPr>
          <a:xfrm flipH="1">
            <a:off x="6981480" y="3429000"/>
            <a:ext cx="685800" cy="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Text Box 12"/>
          <p:cNvSpPr/>
          <p:nvPr/>
        </p:nvSpPr>
        <p:spPr>
          <a:xfrm>
            <a:off x="276480" y="435924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Text Box 13"/>
          <p:cNvSpPr/>
          <p:nvPr/>
        </p:nvSpPr>
        <p:spPr>
          <a:xfrm>
            <a:off x="2692800" y="437508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Text Box 14"/>
          <p:cNvSpPr/>
          <p:nvPr/>
        </p:nvSpPr>
        <p:spPr>
          <a:xfrm>
            <a:off x="5089680" y="434340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Text Box 15"/>
          <p:cNvSpPr/>
          <p:nvPr/>
        </p:nvSpPr>
        <p:spPr>
          <a:xfrm>
            <a:off x="7417080" y="435924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Text Box 16"/>
          <p:cNvSpPr/>
          <p:nvPr/>
        </p:nvSpPr>
        <p:spPr>
          <a:xfrm>
            <a:off x="6922440" y="181296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C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Text Box 17"/>
          <p:cNvSpPr/>
          <p:nvPr/>
        </p:nvSpPr>
        <p:spPr>
          <a:xfrm>
            <a:off x="-245160" y="380988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Text Box 18"/>
          <p:cNvSpPr/>
          <p:nvPr/>
        </p:nvSpPr>
        <p:spPr>
          <a:xfrm>
            <a:off x="1507680" y="266688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Text Box 19"/>
          <p:cNvSpPr/>
          <p:nvPr/>
        </p:nvSpPr>
        <p:spPr>
          <a:xfrm>
            <a:off x="2083680" y="380988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Text Box 20"/>
          <p:cNvSpPr/>
          <p:nvPr/>
        </p:nvSpPr>
        <p:spPr>
          <a:xfrm>
            <a:off x="3836520" y="266688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Text Box 21"/>
          <p:cNvSpPr/>
          <p:nvPr/>
        </p:nvSpPr>
        <p:spPr>
          <a:xfrm>
            <a:off x="4326840" y="403848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Text Box 22"/>
          <p:cNvSpPr/>
          <p:nvPr/>
        </p:nvSpPr>
        <p:spPr>
          <a:xfrm>
            <a:off x="6079680" y="289548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Text Box 23"/>
          <p:cNvSpPr/>
          <p:nvPr/>
        </p:nvSpPr>
        <p:spPr>
          <a:xfrm>
            <a:off x="6308280" y="396252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Text Box 24"/>
          <p:cNvSpPr/>
          <p:nvPr/>
        </p:nvSpPr>
        <p:spPr>
          <a:xfrm>
            <a:off x="8060760" y="281952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Text Box 25"/>
          <p:cNvSpPr/>
          <p:nvPr/>
        </p:nvSpPr>
        <p:spPr>
          <a:xfrm>
            <a:off x="331200" y="281952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Text Box 26"/>
          <p:cNvSpPr/>
          <p:nvPr/>
        </p:nvSpPr>
        <p:spPr>
          <a:xfrm>
            <a:off x="2617200" y="289548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Text Box 27"/>
          <p:cNvSpPr/>
          <p:nvPr/>
        </p:nvSpPr>
        <p:spPr>
          <a:xfrm>
            <a:off x="4784040" y="304812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Text Box 28"/>
          <p:cNvSpPr/>
          <p:nvPr/>
        </p:nvSpPr>
        <p:spPr>
          <a:xfrm>
            <a:off x="6994080" y="297180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星形: 五角 30"/>
          <p:cNvSpPr/>
          <p:nvPr/>
        </p:nvSpPr>
        <p:spPr>
          <a:xfrm>
            <a:off x="250920" y="189000"/>
            <a:ext cx="433440" cy="404640"/>
          </a:xfrm>
          <a:custGeom>
            <a:avLst/>
            <a:gdLst>
              <a:gd name="GluePoint1X" fmla="*/ 0 w 432048"/>
              <a:gd name="GluePoint1Y" fmla="*/ 154728 h 405085"/>
              <a:gd name="GluePoint2X" fmla="*/ 165029 w 432048"/>
              <a:gd name="GluePoint2Y" fmla="*/ 154729 h 405085"/>
              <a:gd name="GluePoint3X" fmla="*/ 216024 w 432048"/>
              <a:gd name="GluePoint3Y" fmla="*/ 0 h 405085"/>
              <a:gd name="GluePoint4X" fmla="*/ 267019 w 432048"/>
              <a:gd name="GluePoint4Y" fmla="*/ 154729 h 405085"/>
              <a:gd name="GluePoint5X" fmla="*/ 432048 w 432048"/>
              <a:gd name="GluePoint5Y" fmla="*/ 154728 h 405085"/>
              <a:gd name="GluePoint6X" fmla="*/ 298536 w 432048"/>
              <a:gd name="GluePoint6Y" fmla="*/ 250355 h 405085"/>
              <a:gd name="GluePoint7X" fmla="*/ 349534 w 432048"/>
              <a:gd name="GluePoint7Y" fmla="*/ 405084 h 405085"/>
              <a:gd name="GluePoint8X" fmla="*/ 216024 w 432048"/>
              <a:gd name="GluePoint8Y" fmla="*/ 309455 h 405085"/>
              <a:gd name="GluePoint9X" fmla="*/ 82514 w 432048"/>
              <a:gd name="GluePoint9Y" fmla="*/ 405084 h 405085"/>
              <a:gd name="GluePoint10X" fmla="*/ 133512 w 432048"/>
              <a:gd name="GluePoint10Y" fmla="*/ 250355 h 405085"/>
              <a:gd name="GluePoint11X" fmla="*/ 0 w 432048"/>
              <a:gd name="GluePoint11Y" fmla="*/ 154728 h 4050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2048" h="405085">
                <a:moveTo>
                  <a:pt x="0" y="154728"/>
                </a:moveTo>
                <a:lnTo>
                  <a:pt x="165029" y="154729"/>
                </a:lnTo>
                <a:lnTo>
                  <a:pt x="216024" y="0"/>
                </a:lnTo>
                <a:lnTo>
                  <a:pt x="267019" y="154729"/>
                </a:lnTo>
                <a:lnTo>
                  <a:pt x="432048" y="154728"/>
                </a:lnTo>
                <a:lnTo>
                  <a:pt x="298536" y="250355"/>
                </a:lnTo>
                <a:lnTo>
                  <a:pt x="349534" y="405084"/>
                </a:lnTo>
                <a:lnTo>
                  <a:pt x="216024" y="309455"/>
                </a:lnTo>
                <a:lnTo>
                  <a:pt x="82514" y="405084"/>
                </a:lnTo>
                <a:lnTo>
                  <a:pt x="133512" y="250355"/>
                </a:lnTo>
                <a:lnTo>
                  <a:pt x="0" y="154728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3" dur="indefinite" restart="never" nodeType="tmRoot">
          <p:childTnLst>
            <p:seq>
              <p:cTn id="274" dur="indefinite" nodeType="mainSeq">
                <p:childTnLst>
                  <p:par>
                    <p:cTn id="275" fill="hold" nodeType="clickEffect">
                      <p:stCondLst>
                        <p:cond delay="indefinite"/>
                      </p:stCondLst>
                      <p:childTnLst>
                        <p:par>
                          <p:cTn id="27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79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Box 1026"/>
          <p:cNvSpPr/>
          <p:nvPr/>
        </p:nvSpPr>
        <p:spPr>
          <a:xfrm>
            <a:off x="-142200" y="136440"/>
            <a:ext cx="7160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P16/3.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如图为质点沿直线运动</a:t>
            </a:r>
            <a:r>
              <a:rPr lang="en-US" sz="3000" b="0" i="1" u="none" strike="noStrike">
                <a:solidFill>
                  <a:srgbClr val="000000"/>
                </a:solidFill>
                <a:effectLst/>
                <a:uFillTx/>
                <a:latin typeface="Bookman Old Style"/>
              </a:rPr>
              <a:t>a</a:t>
            </a:r>
            <a:r>
              <a:rPr lang="zh-CN" sz="3000" b="1" i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～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t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图，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Line 1027"/>
          <p:cNvSpPr/>
          <p:nvPr/>
        </p:nvSpPr>
        <p:spPr>
          <a:xfrm>
            <a:off x="7086600" y="1752480"/>
            <a:ext cx="160020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Line 1028"/>
          <p:cNvSpPr/>
          <p:nvPr/>
        </p:nvSpPr>
        <p:spPr>
          <a:xfrm flipV="1">
            <a:off x="7086600" y="380880"/>
            <a:ext cx="0" cy="137160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Line 1029"/>
          <p:cNvSpPr/>
          <p:nvPr/>
        </p:nvSpPr>
        <p:spPr>
          <a:xfrm flipV="1">
            <a:off x="7086600" y="837720"/>
            <a:ext cx="990720" cy="304920"/>
          </a:xfrm>
          <a:prstGeom prst="line">
            <a:avLst/>
          </a:prstGeom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Line 1030"/>
          <p:cNvSpPr/>
          <p:nvPr/>
        </p:nvSpPr>
        <p:spPr>
          <a:xfrm>
            <a:off x="8077320" y="838080"/>
            <a:ext cx="0" cy="914400"/>
          </a:xfrm>
          <a:prstGeom prst="line">
            <a:avLst/>
          </a:prstGeom>
          <a:ln w="1908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83" name="Object 1031"/>
              <p:cNvSpPr txBox="1"/>
              <p:nvPr/>
            </p:nvSpPr>
            <p:spPr>
              <a:xfrm>
                <a:off x="8686800" y="1752480"/>
                <a:ext cx="290520" cy="451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t</m:t>
                    </m:r>
                  </m:oMath>
                </a14:m>
              </a:p>
            </p:txBody>
          </p:sp>
        </mc:Choice>
        <mc:Fallback>
          <p:sp>
            <p:nvSpPr>
              <p:cNvPr id="183" name="Object 1031"/>
              <p:cNvSpPr txBox="1"/>
              <p:nvPr/>
            </p:nvSpPr>
            <p:spPr>
              <a:xfrm>
                <a:off x="8686800" y="1752480"/>
                <a:ext cx="290520" cy="4510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84" name="Object 1032"/>
              <p:cNvSpPr txBox="1"/>
              <p:nvPr/>
            </p:nvSpPr>
            <p:spPr>
              <a:xfrm>
                <a:off x="7947000" y="1758960"/>
                <a:ext cx="399960" cy="590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t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84" name="Object 1032"/>
              <p:cNvSpPr txBox="1"/>
              <p:nvPr/>
            </p:nvSpPr>
            <p:spPr>
              <a:xfrm>
                <a:off x="7947000" y="1758960"/>
                <a:ext cx="399960" cy="590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85" name="Object 1033"/>
              <p:cNvSpPr txBox="1"/>
              <p:nvPr/>
            </p:nvSpPr>
            <p:spPr>
              <a:xfrm>
                <a:off x="6629400" y="228600"/>
                <a:ext cx="399960" cy="380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</m:t>
                    </m:r>
                  </m:oMath>
                </a14:m>
              </a:p>
            </p:txBody>
          </p:sp>
        </mc:Choice>
        <mc:Fallback>
          <p:sp>
            <p:nvSpPr>
              <p:cNvPr id="185" name="Object 1033"/>
              <p:cNvSpPr txBox="1"/>
              <p:nvPr/>
            </p:nvSpPr>
            <p:spPr>
              <a:xfrm>
                <a:off x="6629400" y="228600"/>
                <a:ext cx="399960" cy="3808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186" name="Text Box 1034"/>
          <p:cNvSpPr/>
          <p:nvPr/>
        </p:nvSpPr>
        <p:spPr>
          <a:xfrm>
            <a:off x="-87840" y="609480"/>
            <a:ext cx="675324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且已知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t=0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时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,v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o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=0,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则直线下部分的面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Text Box 1035"/>
          <p:cNvSpPr/>
          <p:nvPr/>
        </p:nvSpPr>
        <p:spPr>
          <a:xfrm>
            <a:off x="-12600" y="1143000"/>
            <a:ext cx="3220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积表示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Text Box 1036"/>
          <p:cNvSpPr/>
          <p:nvPr/>
        </p:nvSpPr>
        <p:spPr>
          <a:xfrm>
            <a:off x="78480" y="1676520"/>
            <a:ext cx="666144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A.0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～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t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1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这段时间内质点所通过的路程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Text Box 1037"/>
          <p:cNvSpPr/>
          <p:nvPr/>
        </p:nvSpPr>
        <p:spPr>
          <a:xfrm>
            <a:off x="78480" y="2178000"/>
            <a:ext cx="666144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B.0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～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t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1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这段时间内质点所通过的位移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Text Box 1038"/>
          <p:cNvSpPr/>
          <p:nvPr/>
        </p:nvSpPr>
        <p:spPr>
          <a:xfrm>
            <a:off x="164880" y="2651040"/>
            <a:ext cx="438336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C.t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1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时刻质点的速度大小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Text Box 1039"/>
          <p:cNvSpPr/>
          <p:nvPr/>
        </p:nvSpPr>
        <p:spPr>
          <a:xfrm>
            <a:off x="79200" y="3124080"/>
            <a:ext cx="704268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D.0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～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t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1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这段时间内质点的平均速度大小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92" name="Object 1040"/>
              <p:cNvSpPr txBox="1"/>
              <p:nvPr/>
            </p:nvSpPr>
            <p:spPr>
              <a:xfrm>
                <a:off x="6553080" y="838080"/>
                <a:ext cx="487440" cy="522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92" name="Object 1040"/>
              <p:cNvSpPr txBox="1"/>
              <p:nvPr/>
            </p:nvSpPr>
            <p:spPr>
              <a:xfrm>
                <a:off x="6553080" y="838080"/>
                <a:ext cx="487440" cy="5223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93" name="Object 1041"/>
              <p:cNvSpPr txBox="1"/>
              <p:nvPr/>
            </p:nvSpPr>
            <p:spPr>
              <a:xfrm>
                <a:off x="522360" y="3886200"/>
                <a:ext cx="1535040" cy="522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r>
                      <m:t xml:space="preserve">+</m:t>
                    </m:r>
                    <m:r>
                      <m:rPr>
                        <m:lit/>
                        <m:nor/>
                      </m:rPr>
                      <m:t xml:space="preserve">kt</m:t>
                    </m:r>
                  </m:oMath>
                </a14:m>
              </a:p>
            </p:txBody>
          </p:sp>
        </mc:Choice>
        <mc:Fallback>
          <p:sp>
            <p:nvSpPr>
              <p:cNvPr id="193" name="Object 1041"/>
              <p:cNvSpPr txBox="1"/>
              <p:nvPr/>
            </p:nvSpPr>
            <p:spPr>
              <a:xfrm>
                <a:off x="522360" y="3886200"/>
                <a:ext cx="1535040" cy="5223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94" name="Object 1042"/>
              <p:cNvSpPr txBox="1"/>
              <p:nvPr/>
            </p:nvSpPr>
            <p:spPr>
              <a:xfrm>
                <a:off x="3173400" y="3733920"/>
                <a:ext cx="1703520" cy="952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  <m:r>
                      <m:t xml:space="preserve">=</m:t>
                    </m:r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r>
                      <m:t xml:space="preserve">+</m:t>
                    </m:r>
                    <m:r>
                      <m:rPr>
                        <m:lit/>
                        <m:nor/>
                      </m:rPr>
                      <m:t xml:space="preserve">kt</m:t>
                    </m:r>
                  </m:oMath>
                </a14:m>
              </a:p>
            </p:txBody>
          </p:sp>
        </mc:Choice>
        <mc:Fallback>
          <p:sp>
            <p:nvSpPr>
              <p:cNvPr id="194" name="Object 1042"/>
              <p:cNvSpPr txBox="1"/>
              <p:nvPr/>
            </p:nvSpPr>
            <p:spPr>
              <a:xfrm>
                <a:off x="3173400" y="3733920"/>
                <a:ext cx="1703520" cy="9525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95" name="Object 1043"/>
              <p:cNvSpPr txBox="1"/>
              <p:nvPr/>
            </p:nvSpPr>
            <p:spPr>
              <a:xfrm>
                <a:off x="5638680" y="3809880"/>
                <a:ext cx="3200400" cy="860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e>
                    </m:nary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t xml:space="preserve">(</m:t>
                        </m:r>
                        <m:sSub>
                          <m:e>
                            <m:r>
                              <m:t xml:space="preserve">a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+</m:t>
                        </m:r>
                        <m:sSub>
                          <m:e>
                            <m:r>
                              <m:rPr>
                                <m:lit/>
                                <m:nor/>
                              </m:rPr>
                              <m:t xml:space="preserve">kt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  <m:r>
                          <m:t xml:space="preserve">)</m:t>
                        </m:r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195" name="Object 1043"/>
              <p:cNvSpPr txBox="1"/>
              <p:nvPr/>
            </p:nvSpPr>
            <p:spPr>
              <a:xfrm>
                <a:off x="5638680" y="3809880"/>
                <a:ext cx="3200400" cy="860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96" name="Object 1044"/>
              <p:cNvSpPr txBox="1"/>
              <p:nvPr/>
            </p:nvSpPr>
            <p:spPr>
              <a:xfrm>
                <a:off x="380880" y="4724280"/>
                <a:ext cx="2502000" cy="952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sSub>
                      <m:e>
                        <m:r>
                          <m:t xml:space="preserve">t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+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sSubSup>
                      <m:e>
                        <m:r>
                          <m:rPr>
                            <m:lit/>
                            <m:nor/>
                          </m:rPr>
                          <m:t xml:space="preserve">kt</m:t>
                        </m:r>
                      </m:e>
                      <m:sub>
                        <m:r>
                          <m:t xml:space="preserve">1</m:t>
                        </m:r>
                      </m:sub>
                      <m:sup>
                        <m:r>
                          <m:t xml:space="preserve">2</m:t>
                        </m:r>
                      </m:sup>
                    </m:sSubSup>
                  </m:oMath>
                </a14:m>
              </a:p>
            </p:txBody>
          </p:sp>
        </mc:Choice>
        <mc:Fallback>
          <p:sp>
            <p:nvSpPr>
              <p:cNvPr id="196" name="Object 1044"/>
              <p:cNvSpPr txBox="1"/>
              <p:nvPr/>
            </p:nvSpPr>
            <p:spPr>
              <a:xfrm>
                <a:off x="380880" y="4724280"/>
                <a:ext cx="2502000" cy="9525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p:sp>
        <p:nvSpPr>
          <p:cNvPr id="197" name="Text Box 1045"/>
          <p:cNvSpPr/>
          <p:nvPr/>
        </p:nvSpPr>
        <p:spPr>
          <a:xfrm>
            <a:off x="3587040" y="5013360"/>
            <a:ext cx="2085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直线下面积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98" name="Object 1046"/>
              <p:cNvSpPr txBox="1"/>
              <p:nvPr/>
            </p:nvSpPr>
            <p:spPr>
              <a:xfrm>
                <a:off x="5715000" y="4800600"/>
                <a:ext cx="2666880" cy="952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(</m:t>
                    </m:r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r>
                      <m:t xml:space="preserve">+</m:t>
                    </m:r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r>
                      <m:t xml:space="preserve">+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kt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)</m:t>
                    </m:r>
                    <m:sSub>
                      <m:e>
                        <m:r>
                          <m:t xml:space="preserve">t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98" name="Object 1046"/>
              <p:cNvSpPr txBox="1"/>
              <p:nvPr/>
            </p:nvSpPr>
            <p:spPr>
              <a:xfrm>
                <a:off x="5715000" y="4800600"/>
                <a:ext cx="2666880" cy="9525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p:sp>
        <p:nvSpPr>
          <p:cNvPr id="199" name="Text Box 1047"/>
          <p:cNvSpPr/>
          <p:nvPr/>
        </p:nvSpPr>
        <p:spPr>
          <a:xfrm>
            <a:off x="1278720" y="112716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C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Rectangle 1048"/>
          <p:cNvSpPr/>
          <p:nvPr/>
        </p:nvSpPr>
        <p:spPr>
          <a:xfrm>
            <a:off x="7429680" y="1038240"/>
            <a:ext cx="61560" cy="714240"/>
          </a:xfrm>
          <a:prstGeom prst="rect">
            <a:avLst/>
          </a:prstGeom>
          <a:solidFill>
            <a:srgbClr val="00FF00"/>
          </a:solidFill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01" name="Object 1049"/>
              <p:cNvSpPr txBox="1"/>
              <p:nvPr/>
            </p:nvSpPr>
            <p:spPr>
              <a:xfrm>
                <a:off x="7242120" y="527040"/>
                <a:ext cx="474840" cy="430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dS</m:t>
                    </m:r>
                  </m:oMath>
                </a14:m>
              </a:p>
            </p:txBody>
          </p:sp>
        </mc:Choice>
        <mc:Fallback>
          <p:sp>
            <p:nvSpPr>
              <p:cNvPr id="201" name="Object 1049"/>
              <p:cNvSpPr txBox="1"/>
              <p:nvPr/>
            </p:nvSpPr>
            <p:spPr>
              <a:xfrm>
                <a:off x="7242120" y="527040"/>
                <a:ext cx="474840" cy="430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02" name="Object 1050"/>
              <p:cNvSpPr txBox="1"/>
              <p:nvPr/>
            </p:nvSpPr>
            <p:spPr>
              <a:xfrm>
                <a:off x="380880" y="5943600"/>
                <a:ext cx="1305000" cy="430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dS</m:t>
                    </m:r>
                    <m:r>
                      <m:t xml:space="preserve">=</m:t>
                    </m:r>
                    <m:r>
                      <m:t xml:space="preserve">a</m:t>
                    </m:r>
                    <m:r>
                      <m:rPr>
                        <m:lit/>
                        <m:nor/>
                      </m:rPr>
                      <m:t xml:space="preserve">dt</m:t>
                    </m:r>
                  </m:oMath>
                </a14:m>
              </a:p>
            </p:txBody>
          </p:sp>
        </mc:Choice>
        <mc:Fallback>
          <p:sp>
            <p:nvSpPr>
              <p:cNvPr id="202" name="Object 1050"/>
              <p:cNvSpPr txBox="1"/>
              <p:nvPr/>
            </p:nvSpPr>
            <p:spPr>
              <a:xfrm>
                <a:off x="380880" y="5943600"/>
                <a:ext cx="1305000" cy="430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03" name="Object 1051"/>
              <p:cNvSpPr txBox="1"/>
              <p:nvPr/>
            </p:nvSpPr>
            <p:spPr>
              <a:xfrm>
                <a:off x="2514600" y="5791320"/>
                <a:ext cx="2014560" cy="860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rPr>
                            <m:lit/>
                            <m:nor/>
                          </m:rPr>
                          <m:t xml:space="preserve">dS</m:t>
                        </m:r>
                      </m:e>
                    </m:nary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t xml:space="preserve">a</m:t>
                        </m:r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203" name="Object 1051"/>
              <p:cNvSpPr txBox="1"/>
              <p:nvPr/>
            </p:nvSpPr>
            <p:spPr>
              <a:xfrm>
                <a:off x="2514600" y="5791320"/>
                <a:ext cx="2014560" cy="8604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04" name="Object 1052"/>
              <p:cNvSpPr txBox="1"/>
              <p:nvPr/>
            </p:nvSpPr>
            <p:spPr>
              <a:xfrm>
                <a:off x="5334120" y="5791320"/>
                <a:ext cx="2162160" cy="798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−</m:t>
                    </m:r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t xml:space="preserve">a</m:t>
                        </m:r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204" name="Object 1052"/>
              <p:cNvSpPr txBox="1"/>
              <p:nvPr/>
            </p:nvSpPr>
            <p:spPr>
              <a:xfrm>
                <a:off x="5334120" y="5791320"/>
                <a:ext cx="2162160" cy="79848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</p:sp>
        </mc:Fallback>
      </mc:AlternateContent>
      <p:sp>
        <p:nvSpPr>
          <p:cNvPr id="205" name="星形: 五角 30"/>
          <p:cNvSpPr/>
          <p:nvPr/>
        </p:nvSpPr>
        <p:spPr>
          <a:xfrm>
            <a:off x="8502480" y="173160"/>
            <a:ext cx="432000" cy="404640"/>
          </a:xfrm>
          <a:custGeom>
            <a:avLst/>
            <a:gdLst>
              <a:gd name="GluePoint1X" fmla="*/ 0 w 432048"/>
              <a:gd name="GluePoint1Y" fmla="*/ 154728 h 405085"/>
              <a:gd name="GluePoint2X" fmla="*/ 165029 w 432048"/>
              <a:gd name="GluePoint2Y" fmla="*/ 154729 h 405085"/>
              <a:gd name="GluePoint3X" fmla="*/ 216024 w 432048"/>
              <a:gd name="GluePoint3Y" fmla="*/ 0 h 405085"/>
              <a:gd name="GluePoint4X" fmla="*/ 267019 w 432048"/>
              <a:gd name="GluePoint4Y" fmla="*/ 154729 h 405085"/>
              <a:gd name="GluePoint5X" fmla="*/ 432048 w 432048"/>
              <a:gd name="GluePoint5Y" fmla="*/ 154728 h 405085"/>
              <a:gd name="GluePoint6X" fmla="*/ 298536 w 432048"/>
              <a:gd name="GluePoint6Y" fmla="*/ 250355 h 405085"/>
              <a:gd name="GluePoint7X" fmla="*/ 349534 w 432048"/>
              <a:gd name="GluePoint7Y" fmla="*/ 405084 h 405085"/>
              <a:gd name="GluePoint8X" fmla="*/ 216024 w 432048"/>
              <a:gd name="GluePoint8Y" fmla="*/ 309455 h 405085"/>
              <a:gd name="GluePoint9X" fmla="*/ 82514 w 432048"/>
              <a:gd name="GluePoint9Y" fmla="*/ 405084 h 405085"/>
              <a:gd name="GluePoint10X" fmla="*/ 133512 w 432048"/>
              <a:gd name="GluePoint10Y" fmla="*/ 250355 h 405085"/>
              <a:gd name="GluePoint11X" fmla="*/ 0 w 432048"/>
              <a:gd name="GluePoint11Y" fmla="*/ 154728 h 4050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2048" h="405085">
                <a:moveTo>
                  <a:pt x="0" y="154728"/>
                </a:moveTo>
                <a:lnTo>
                  <a:pt x="165029" y="154729"/>
                </a:lnTo>
                <a:lnTo>
                  <a:pt x="216024" y="0"/>
                </a:lnTo>
                <a:lnTo>
                  <a:pt x="267019" y="154729"/>
                </a:lnTo>
                <a:lnTo>
                  <a:pt x="432048" y="154728"/>
                </a:lnTo>
                <a:lnTo>
                  <a:pt x="298536" y="250355"/>
                </a:lnTo>
                <a:lnTo>
                  <a:pt x="349534" y="405084"/>
                </a:lnTo>
                <a:lnTo>
                  <a:pt x="216024" y="309455"/>
                </a:lnTo>
                <a:lnTo>
                  <a:pt x="82514" y="405084"/>
                </a:lnTo>
                <a:lnTo>
                  <a:pt x="133512" y="250355"/>
                </a:lnTo>
                <a:lnTo>
                  <a:pt x="0" y="154728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0" dur="indefinite" restart="never" nodeType="tmRoot">
          <p:childTnLst>
            <p:seq>
              <p:cTn id="281" dur="indefinite" nodeType="mainSeq">
                <p:childTnLst>
                  <p:par>
                    <p:cTn id="282" fill="hold" nodeType="clickEffect">
                      <p:stCondLst>
                        <p:cond delay="indefinite"/>
                      </p:stCondLst>
                      <p:childTnLst>
                        <p:par>
                          <p:cTn id="28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8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86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 nodeType="clickEffect">
                      <p:stCondLst>
                        <p:cond delay="indefinite"/>
                      </p:stCondLst>
                      <p:childTnLst>
                        <p:par>
                          <p:cTn id="28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8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91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 nodeType="clickEffect">
                      <p:stCondLst>
                        <p:cond delay="indefinite"/>
                      </p:stCondLst>
                      <p:childTnLst>
                        <p:par>
                          <p:cTn id="29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9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96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 nodeType="clickEffect">
                      <p:stCondLst>
                        <p:cond delay="indefinite"/>
                      </p:stCondLst>
                      <p:childTnLst>
                        <p:par>
                          <p:cTn id="29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9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0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 nodeType="clickEffect">
                      <p:stCondLst>
                        <p:cond delay="indefinite"/>
                      </p:stCondLst>
                      <p:childTnLst>
                        <p:par>
                          <p:cTn id="30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0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 nodeType="clickEffect">
                      <p:stCondLst>
                        <p:cond delay="indefinite"/>
                      </p:stCondLst>
                      <p:childTnLst>
                        <p:par>
                          <p:cTn id="30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0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11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 nodeType="clickEffect">
                      <p:stCondLst>
                        <p:cond delay="indefinite"/>
                      </p:stCondLst>
                      <p:childTnLst>
                        <p:par>
                          <p:cTn id="31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1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1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 nodeType="clickEffect">
                      <p:stCondLst>
                        <p:cond delay="indefinite"/>
                      </p:stCondLst>
                      <p:childTnLst>
                        <p:par>
                          <p:cTn id="31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1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2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 nodeType="clickEffect">
                      <p:stCondLst>
                        <p:cond delay="indefinite"/>
                      </p:stCondLst>
                      <p:childTnLst>
                        <p:par>
                          <p:cTn id="32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24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326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328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30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 nodeType="clickEffect">
                      <p:stCondLst>
                        <p:cond delay="indefinite"/>
                      </p:stCondLst>
                      <p:childTnLst>
                        <p:par>
                          <p:cTn id="33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3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3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 nodeType="clickEffect">
                      <p:stCondLst>
                        <p:cond delay="indefinite"/>
                      </p:stCondLst>
                      <p:childTnLst>
                        <p:par>
                          <p:cTn id="33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3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4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 nodeType="clickEffect">
                      <p:stCondLst>
                        <p:cond delay="indefinite"/>
                      </p:stCondLst>
                      <p:childTnLst>
                        <p:par>
                          <p:cTn id="34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4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Box 2"/>
          <p:cNvSpPr/>
          <p:nvPr/>
        </p:nvSpPr>
        <p:spPr>
          <a:xfrm>
            <a:off x="-169560" y="380880"/>
            <a:ext cx="9221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P16/4.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质点作直线运动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运动方程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x=t</a:t>
            </a:r>
            <a:r>
              <a:rPr lang="en-US" sz="3000" b="1" u="none" strike="noStrike" baseline="30000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-4t+2(SI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制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),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Text Box 3"/>
          <p:cNvSpPr/>
          <p:nvPr/>
        </p:nvSpPr>
        <p:spPr>
          <a:xfrm>
            <a:off x="4680" y="930240"/>
            <a:ext cx="8936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则质点在前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5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秒内通过的路程和平均速度大小分别为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Text Box 4"/>
          <p:cNvSpPr/>
          <p:nvPr/>
        </p:nvSpPr>
        <p:spPr>
          <a:xfrm>
            <a:off x="230400" y="2133720"/>
            <a:ext cx="2085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A.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13m,1m/s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Text Box 5"/>
          <p:cNvSpPr/>
          <p:nvPr/>
        </p:nvSpPr>
        <p:spPr>
          <a:xfrm>
            <a:off x="2524320" y="2152800"/>
            <a:ext cx="2085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B.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13m,3m/s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Text Box 6"/>
          <p:cNvSpPr/>
          <p:nvPr/>
        </p:nvSpPr>
        <p:spPr>
          <a:xfrm>
            <a:off x="4791960" y="2158920"/>
            <a:ext cx="1895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C.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5m,1m/s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Text Box 7"/>
          <p:cNvSpPr/>
          <p:nvPr/>
        </p:nvSpPr>
        <p:spPr>
          <a:xfrm>
            <a:off x="6935040" y="2158920"/>
            <a:ext cx="1895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D.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5m,3m/s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Text Box 8"/>
          <p:cNvSpPr/>
          <p:nvPr/>
        </p:nvSpPr>
        <p:spPr>
          <a:xfrm>
            <a:off x="68040" y="1432080"/>
            <a:ext cx="2558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Text Box 9"/>
          <p:cNvSpPr/>
          <p:nvPr/>
        </p:nvSpPr>
        <p:spPr>
          <a:xfrm>
            <a:off x="440640" y="143208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14" name="Object 10"/>
              <p:cNvSpPr txBox="1"/>
              <p:nvPr/>
            </p:nvSpPr>
            <p:spPr>
              <a:xfrm>
                <a:off x="380880" y="2819520"/>
                <a:ext cx="973080" cy="952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dx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14" name="Object 10"/>
              <p:cNvSpPr txBox="1"/>
              <p:nvPr/>
            </p:nvSpPr>
            <p:spPr>
              <a:xfrm>
                <a:off x="380880" y="2819520"/>
                <a:ext cx="973080" cy="9525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15" name="Object 11"/>
              <p:cNvSpPr txBox="1"/>
              <p:nvPr/>
            </p:nvSpPr>
            <p:spPr>
              <a:xfrm>
                <a:off x="1371600" y="3075120"/>
                <a:ext cx="1081080" cy="430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2</m:t>
                    </m:r>
                    <m:r>
                      <m:t xml:space="preserve">t</m:t>
                    </m:r>
                    <m:r>
                      <m:t xml:space="preserve">−</m:t>
                    </m:r>
                    <m:r>
                      <m:t xml:space="preserve">4</m:t>
                    </m:r>
                  </m:oMath>
                </a14:m>
              </a:p>
            </p:txBody>
          </p:sp>
        </mc:Choice>
        <mc:Fallback>
          <p:sp>
            <p:nvSpPr>
              <p:cNvPr id="215" name="Object 11"/>
              <p:cNvSpPr txBox="1"/>
              <p:nvPr/>
            </p:nvSpPr>
            <p:spPr>
              <a:xfrm>
                <a:off x="1371600" y="3075120"/>
                <a:ext cx="1081080" cy="430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16" name="Object 12"/>
              <p:cNvSpPr txBox="1"/>
              <p:nvPr/>
            </p:nvSpPr>
            <p:spPr>
              <a:xfrm>
                <a:off x="2438280" y="3075120"/>
                <a:ext cx="514440" cy="430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216" name="Object 12"/>
              <p:cNvSpPr txBox="1"/>
              <p:nvPr/>
            </p:nvSpPr>
            <p:spPr>
              <a:xfrm>
                <a:off x="2438280" y="3075120"/>
                <a:ext cx="514440" cy="430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17" name="Object 13"/>
              <p:cNvSpPr txBox="1"/>
              <p:nvPr/>
            </p:nvSpPr>
            <p:spPr>
              <a:xfrm>
                <a:off x="3335400" y="3075120"/>
                <a:ext cx="703080" cy="430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t</m:t>
                    </m:r>
                    <m:r>
                      <m:t xml:space="preserve">=</m:t>
                    </m:r>
                    <m:r>
                      <m:t xml:space="preserve">2</m:t>
                    </m:r>
                  </m:oMath>
                </a14:m>
              </a:p>
            </p:txBody>
          </p:sp>
        </mc:Choice>
        <mc:Fallback>
          <p:sp>
            <p:nvSpPr>
              <p:cNvPr id="217" name="Object 13"/>
              <p:cNvSpPr txBox="1"/>
              <p:nvPr/>
            </p:nvSpPr>
            <p:spPr>
              <a:xfrm>
                <a:off x="3335400" y="3075120"/>
                <a:ext cx="703080" cy="430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18" name="Object 14"/>
              <p:cNvSpPr txBox="1"/>
              <p:nvPr/>
            </p:nvSpPr>
            <p:spPr>
              <a:xfrm>
                <a:off x="380880" y="3733920"/>
                <a:ext cx="3440160" cy="1025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S</m:t>
                    </m:r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ad>
                          <m:radPr>
                            <m:degHide m:val="1"/>
                          </m:radPr>
                          <m:deg/>
                          <m:e>
                            <m:r>
                              <m:t xml:space="preserve">(</m:t>
                            </m:r>
                            <m:f>
                              <m:num>
                                <m:r>
                                  <m:rPr>
                                    <m:lit/>
                                    <m:nor/>
                                  </m:rPr>
                                  <m:t xml:space="preserve">dx</m:t>
                                </m:r>
                              </m:num>
                              <m:den>
                                <m:r>
                                  <m:rPr>
                                    <m:lit/>
                                    <m:nor/>
                                  </m:rPr>
                                  <m:t xml:space="preserve">dt</m:t>
                                </m:r>
                              </m:den>
                            </m:f>
                            <m:sSup>
                              <m:e>
                                <m:r>
                                  <m:t xml:space="preserve">)</m:t>
                                </m:r>
                              </m:e>
                              <m:sup>
                                <m:r>
                                  <m:t xml:space="preserve">2</m:t>
                                </m:r>
                              </m:sup>
                            </m:sSup>
                            <m:r>
                              <m:t xml:space="preserve">+</m:t>
                            </m:r>
                            <m:r>
                              <m:t xml:space="preserve">(</m:t>
                            </m:r>
                            <m:f>
                              <m:num>
                                <m:r>
                                  <m:rPr>
                                    <m:lit/>
                                    <m:nor/>
                                  </m:rPr>
                                  <m:t xml:space="preserve">dy</m:t>
                                </m:r>
                              </m:num>
                              <m:den>
                                <m:r>
                                  <m:rPr>
                                    <m:lit/>
                                    <m:nor/>
                                  </m:rPr>
                                  <m:t xml:space="preserve">dt</m:t>
                                </m:r>
                              </m:den>
                            </m:f>
                            <m:sSup>
                              <m:e>
                                <m:r>
                                  <m:t xml:space="preserve">)</m:t>
                                </m:r>
                              </m:e>
                              <m:sup>
                                <m:r>
                                  <m:t xml:space="preserve"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218" name="Object 14"/>
              <p:cNvSpPr txBox="1"/>
              <p:nvPr/>
            </p:nvSpPr>
            <p:spPr>
              <a:xfrm>
                <a:off x="380880" y="3733920"/>
                <a:ext cx="3440160" cy="10252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19" name="Object 15"/>
              <p:cNvSpPr txBox="1"/>
              <p:nvPr/>
            </p:nvSpPr>
            <p:spPr>
              <a:xfrm>
                <a:off x="3886200" y="3865680"/>
                <a:ext cx="1898640" cy="761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d>
                          <m:dPr>
                            <m:begChr m:val="|"/>
                            <m:endChr m:val="|"/>
                          </m:dPr>
                          <m:e>
                            <m:r>
                              <m:t xml:space="preserve">2</m:t>
                            </m:r>
                            <m:r>
                              <m:t xml:space="preserve">t</m:t>
                            </m:r>
                            <m:r>
                              <m:t xml:space="preserve">−</m:t>
                            </m:r>
                            <m:r>
                              <m:t xml:space="preserve">4</m:t>
                            </m:r>
                          </m:e>
                        </m:d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219" name="Object 15"/>
              <p:cNvSpPr txBox="1"/>
              <p:nvPr/>
            </p:nvSpPr>
            <p:spPr>
              <a:xfrm>
                <a:off x="3886200" y="3865680"/>
                <a:ext cx="1898640" cy="7617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20" name="Object 16"/>
              <p:cNvSpPr txBox="1"/>
              <p:nvPr/>
            </p:nvSpPr>
            <p:spPr>
              <a:xfrm>
                <a:off x="380880" y="4724280"/>
                <a:ext cx="4272120" cy="762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S</m:t>
                    </m:r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t xml:space="preserve">(</m:t>
                        </m:r>
                        <m:r>
                          <m:t xml:space="preserve">4</m:t>
                        </m:r>
                        <m:r>
                          <m:t xml:space="preserve">−</m:t>
                        </m:r>
                        <m:r>
                          <m:t xml:space="preserve">2</m:t>
                        </m:r>
                        <m:r>
                          <m:t xml:space="preserve">t</m:t>
                        </m:r>
                        <m:r>
                          <m:t xml:space="preserve">)</m:t>
                        </m:r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e>
                    </m:nary>
                    <m:r>
                      <m:t xml:space="preserve">+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t xml:space="preserve">(</m:t>
                        </m:r>
                        <m:r>
                          <m:t xml:space="preserve">2</m:t>
                        </m:r>
                        <m:r>
                          <m:t xml:space="preserve">t</m:t>
                        </m:r>
                        <m:r>
                          <m:t xml:space="preserve">−</m:t>
                        </m:r>
                        <m:r>
                          <m:t xml:space="preserve">4</m:t>
                        </m:r>
                        <m:r>
                          <m:t xml:space="preserve">)</m:t>
                        </m:r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220" name="Object 16"/>
              <p:cNvSpPr txBox="1"/>
              <p:nvPr/>
            </p:nvSpPr>
            <p:spPr>
              <a:xfrm>
                <a:off x="380880" y="4724280"/>
                <a:ext cx="4272120" cy="7621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21" name="Object 17"/>
              <p:cNvSpPr txBox="1"/>
              <p:nvPr/>
            </p:nvSpPr>
            <p:spPr>
              <a:xfrm>
                <a:off x="4648320" y="4876920"/>
                <a:ext cx="1216080" cy="468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13</m:t>
                    </m:r>
                    <m:r>
                      <m:t xml:space="preserve">(</m:t>
                    </m:r>
                    <m:r>
                      <m:t xml:space="preserve">m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221" name="Object 17"/>
              <p:cNvSpPr txBox="1"/>
              <p:nvPr/>
            </p:nvSpPr>
            <p:spPr>
              <a:xfrm>
                <a:off x="4648320" y="4876920"/>
                <a:ext cx="1216080" cy="4683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22" name="Object 18"/>
              <p:cNvSpPr txBox="1"/>
              <p:nvPr/>
            </p:nvSpPr>
            <p:spPr>
              <a:xfrm>
                <a:off x="336600" y="5543640"/>
                <a:ext cx="1305000" cy="965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acc>
                              <m:accPr>
                                <m:chr m:val="¯"/>
                              </m:accPr>
                              <m:e>
                                <m:r>
                                  <m:t xml:space="preserve">v</m:t>
                                </m:r>
                              </m:e>
                            </m:acc>
                          </m:e>
                        </m:acc>
                      </m:e>
                    </m:d>
                    <m:r>
                      <m:t xml:space="preserve">=</m:t>
                    </m:r>
                    <m:f>
                      <m:num>
                        <m:d>
                          <m:dPr>
                            <m:begChr m:val="|"/>
                            <m:endChr m:val="|"/>
                          </m:dPr>
                          <m:e>
                            <m:r>
                              <m:t xml:space="preserve">Δ</m:t>
                            </m:r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m:t xml:space="preserve">r</m:t>
                                </m:r>
                              </m:e>
                            </m:acc>
                          </m:e>
                        </m:d>
                      </m:num>
                      <m:den>
                        <m:r>
                          <m:t xml:space="preserve">Δt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22" name="Object 18"/>
              <p:cNvSpPr txBox="1"/>
              <p:nvPr/>
            </p:nvSpPr>
            <p:spPr>
              <a:xfrm>
                <a:off x="336600" y="5543640"/>
                <a:ext cx="1305000" cy="9651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23" name="Object 19"/>
              <p:cNvSpPr txBox="1"/>
              <p:nvPr/>
            </p:nvSpPr>
            <p:spPr>
              <a:xfrm>
                <a:off x="2286000" y="5715000"/>
                <a:ext cx="2075040" cy="584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</m:dPr>
                      <m:e>
                        <m:r>
                          <m:t xml:space="preserve">Δ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r</m:t>
                            </m:r>
                          </m:e>
                        </m:acc>
                      </m:e>
                    </m:d>
                    <m:r>
                      <m:t xml:space="preserve">=</m:t>
                    </m:r>
                    <m:d>
                      <m:dPr>
                        <m:begChr m:val="|"/>
                        <m:endChr m:val="|"/>
                      </m:dPr>
                      <m:e>
                        <m:sSub>
                          <m:e>
                            <m:r>
                              <m:t xml:space="preserve">x</m:t>
                            </m:r>
                          </m:e>
                          <m:sub>
                            <m:r>
                              <m:t xml:space="preserve">5</m:t>
                            </m:r>
                          </m:sub>
                        </m:sSub>
                        <m:r>
                          <m:t xml:space="preserve">−</m:t>
                        </m:r>
                        <m:sSub>
                          <m:e>
                            <m:r>
                              <m:t xml:space="preserve">x</m:t>
                            </m:r>
                          </m:e>
                          <m:sub>
                            <m:r>
                              <m:t xml:space="preserve">0</m:t>
                            </m:r>
                          </m:sub>
                        </m:sSub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223" name="Object 19"/>
              <p:cNvSpPr txBox="1"/>
              <p:nvPr/>
            </p:nvSpPr>
            <p:spPr>
              <a:xfrm>
                <a:off x="2286000" y="5715000"/>
                <a:ext cx="2075040" cy="5842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24" name="Object 20"/>
              <p:cNvSpPr txBox="1"/>
              <p:nvPr/>
            </p:nvSpPr>
            <p:spPr>
              <a:xfrm>
                <a:off x="4343400" y="5791320"/>
                <a:ext cx="563400" cy="409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5</m:t>
                    </m:r>
                  </m:oMath>
                </a14:m>
              </a:p>
            </p:txBody>
          </p:sp>
        </mc:Choice>
        <mc:Fallback>
          <p:sp>
            <p:nvSpPr>
              <p:cNvPr id="224" name="Object 20"/>
              <p:cNvSpPr txBox="1"/>
              <p:nvPr/>
            </p:nvSpPr>
            <p:spPr>
              <a:xfrm>
                <a:off x="4343400" y="5791320"/>
                <a:ext cx="563400" cy="4093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46" dur="indefinite" restart="never" nodeType="tmRoot">
          <p:childTnLst>
            <p:seq>
              <p:cTn id="347" dur="indefinite" nodeType="mainSeq">
                <p:childTnLst>
                  <p:par>
                    <p:cTn id="348" fill="hold" nodeType="clickEffect">
                      <p:stCondLst>
                        <p:cond delay="indefinite"/>
                      </p:stCondLst>
                      <p:childTnLst>
                        <p:par>
                          <p:cTn id="34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5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52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 nodeType="clickEffect">
                      <p:stCondLst>
                        <p:cond delay="indefinite"/>
                      </p:stCondLst>
                      <p:childTnLst>
                        <p:par>
                          <p:cTn id="35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5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5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 nodeType="clickEffect">
                      <p:stCondLst>
                        <p:cond delay="indefinite"/>
                      </p:stCondLst>
                      <p:childTnLst>
                        <p:par>
                          <p:cTn id="35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6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6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 nodeType="clickEffect">
                      <p:stCondLst>
                        <p:cond delay="indefinite"/>
                      </p:stCondLst>
                      <p:childTnLst>
                        <p:par>
                          <p:cTn id="36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6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6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 nodeType="clickEffect">
                      <p:stCondLst>
                        <p:cond delay="indefinite"/>
                      </p:stCondLst>
                      <p:childTnLst>
                        <p:par>
                          <p:cTn id="36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7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72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 nodeType="clickEffect">
                      <p:stCondLst>
                        <p:cond delay="indefinite"/>
                      </p:stCondLst>
                      <p:childTnLst>
                        <p:par>
                          <p:cTn id="37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7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77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 nodeType="clickEffect">
                      <p:stCondLst>
                        <p:cond delay="indefinite"/>
                      </p:stCondLst>
                      <p:childTnLst>
                        <p:par>
                          <p:cTn id="37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8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82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 nodeType="clickEffect">
                      <p:stCondLst>
                        <p:cond delay="indefinite"/>
                      </p:stCondLst>
                      <p:childTnLst>
                        <p:par>
                          <p:cTn id="38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8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8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 nodeType="clickEffect">
                      <p:stCondLst>
                        <p:cond delay="indefinite"/>
                      </p:stCondLst>
                      <p:childTnLst>
                        <p:par>
                          <p:cTn id="38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9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9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 nodeType="clickEffect">
                      <p:stCondLst>
                        <p:cond delay="indefinite"/>
                      </p:stCondLst>
                      <p:childTnLst>
                        <p:par>
                          <p:cTn id="39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97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 nodeType="clickEffect">
                      <p:stCondLst>
                        <p:cond delay="indefinite"/>
                      </p:stCondLst>
                      <p:childTnLst>
                        <p:par>
                          <p:cTn id="39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0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02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 nodeType="clickEffect">
                      <p:stCondLst>
                        <p:cond delay="indefinite"/>
                      </p:stCondLst>
                      <p:childTnLst>
                        <p:par>
                          <p:cTn id="40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0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0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 Box 2"/>
          <p:cNvSpPr/>
          <p:nvPr/>
        </p:nvSpPr>
        <p:spPr>
          <a:xfrm>
            <a:off x="-60120" y="685800"/>
            <a:ext cx="9104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P16/5.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已知半径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＝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ｍ的圆作圆周运动，其角位置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Text Box 3"/>
          <p:cNvSpPr/>
          <p:nvPr/>
        </p:nvSpPr>
        <p:spPr>
          <a:xfrm>
            <a:off x="2669760" y="1219320"/>
            <a:ext cx="65430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则在ｔ＝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秒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时它速度大小为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27" name="Object 4"/>
              <p:cNvSpPr txBox="1"/>
              <p:nvPr/>
            </p:nvSpPr>
            <p:spPr>
              <a:xfrm>
                <a:off x="223920" y="1219320"/>
                <a:ext cx="2743200" cy="585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θ</m:t>
                    </m:r>
                    <m:r>
                      <m:t xml:space="preserve">=</m:t>
                    </m:r>
                    <m:r>
                      <m:t xml:space="preserve">2</m:t>
                    </m:r>
                    <m:r>
                      <m:t xml:space="preserve">t</m:t>
                    </m:r>
                    <m:r>
                      <m:t xml:space="preserve">+</m:t>
                    </m:r>
                    <m:r>
                      <m:t xml:space="preserve">4</m:t>
                    </m:r>
                    <m:sSup>
                      <m:e>
                        <m:r>
                          <m:t xml:space="preserve">t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(</m:t>
                    </m:r>
                    <m:r>
                      <m:rPr>
                        <m:lit/>
                        <m:nor/>
                      </m:rPr>
                      <m:t xml:space="preserve">rad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227" name="Object 4"/>
              <p:cNvSpPr txBox="1"/>
              <p:nvPr/>
            </p:nvSpPr>
            <p:spPr>
              <a:xfrm>
                <a:off x="223920" y="1219320"/>
                <a:ext cx="2743200" cy="5857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228" name="Text Box 5"/>
          <p:cNvSpPr/>
          <p:nvPr/>
        </p:nvSpPr>
        <p:spPr>
          <a:xfrm>
            <a:off x="-227520" y="1996920"/>
            <a:ext cx="2466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A.20m/s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Text Box 6"/>
          <p:cNvSpPr/>
          <p:nvPr/>
        </p:nvSpPr>
        <p:spPr>
          <a:xfrm>
            <a:off x="1883880" y="2013120"/>
            <a:ext cx="2466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B.18m/s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Text Box 7"/>
          <p:cNvSpPr/>
          <p:nvPr/>
        </p:nvSpPr>
        <p:spPr>
          <a:xfrm>
            <a:off x="4092840" y="1981080"/>
            <a:ext cx="2276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C.9m/s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Text Box 8"/>
          <p:cNvSpPr/>
          <p:nvPr/>
        </p:nvSpPr>
        <p:spPr>
          <a:xfrm>
            <a:off x="6760440" y="1996920"/>
            <a:ext cx="2466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D.12m/s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Text Box 9"/>
          <p:cNvSpPr/>
          <p:nvPr/>
        </p:nvSpPr>
        <p:spPr>
          <a:xfrm>
            <a:off x="7608240" y="120348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B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33" name="Object 10"/>
              <p:cNvSpPr txBox="1"/>
              <p:nvPr/>
            </p:nvSpPr>
            <p:spPr>
              <a:xfrm>
                <a:off x="762120" y="4495680"/>
                <a:ext cx="1330200" cy="506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=</m:t>
                    </m:r>
                    <m:r>
                      <m:t xml:space="preserve">Rω</m:t>
                    </m:r>
                  </m:oMath>
                </a14:m>
              </a:p>
            </p:txBody>
          </p:sp>
        </mc:Choice>
        <mc:Fallback>
          <p:sp>
            <p:nvSpPr>
              <p:cNvPr id="233" name="Object 10"/>
              <p:cNvSpPr txBox="1"/>
              <p:nvPr/>
            </p:nvSpPr>
            <p:spPr>
              <a:xfrm>
                <a:off x="762120" y="4495680"/>
                <a:ext cx="1330200" cy="506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34" name="Object 11"/>
              <p:cNvSpPr txBox="1"/>
              <p:nvPr/>
            </p:nvSpPr>
            <p:spPr>
              <a:xfrm>
                <a:off x="762120" y="2971800"/>
                <a:ext cx="1296720" cy="1119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ω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dθ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34" name="Object 11"/>
              <p:cNvSpPr txBox="1"/>
              <p:nvPr/>
            </p:nvSpPr>
            <p:spPr>
              <a:xfrm>
                <a:off x="762120" y="2971800"/>
                <a:ext cx="1296720" cy="11192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35" name="Object 12"/>
              <p:cNvSpPr txBox="1"/>
              <p:nvPr/>
            </p:nvSpPr>
            <p:spPr>
              <a:xfrm>
                <a:off x="2057400" y="3276720"/>
                <a:ext cx="1366920" cy="504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2</m:t>
                    </m:r>
                    <m:r>
                      <m:t xml:space="preserve">+</m:t>
                    </m:r>
                    <m:r>
                      <m:t xml:space="preserve">8</m:t>
                    </m:r>
                    <m:r>
                      <m:t xml:space="preserve">t</m:t>
                    </m:r>
                  </m:oMath>
                </a14:m>
              </a:p>
            </p:txBody>
          </p:sp>
        </mc:Choice>
        <mc:Fallback>
          <p:sp>
            <p:nvSpPr>
              <p:cNvPr id="235" name="Object 12"/>
              <p:cNvSpPr txBox="1"/>
              <p:nvPr/>
            </p:nvSpPr>
            <p:spPr>
              <a:xfrm>
                <a:off x="2057400" y="3276720"/>
                <a:ext cx="1366920" cy="5047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36" name="Object 13"/>
              <p:cNvSpPr txBox="1"/>
              <p:nvPr/>
            </p:nvSpPr>
            <p:spPr>
              <a:xfrm>
                <a:off x="3429000" y="3233880"/>
                <a:ext cx="2286000" cy="576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18</m:t>
                    </m:r>
                    <m:r>
                      <m:t xml:space="preserve">(</m:t>
                    </m:r>
                    <m:f>
                      <m:fPr>
                        <m:type m:val="lin"/>
                      </m:fPr>
                      <m:num>
                        <m:r>
                          <m:rPr>
                            <m:lit/>
                            <m:nor/>
                          </m:rPr>
                          <m:t xml:space="preserve">rad</m:t>
                        </m:r>
                      </m:num>
                      <m:den>
                        <m:r>
                          <m:t xml:space="preserve">s</m:t>
                        </m:r>
                      </m:den>
                    </m:f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236" name="Object 13"/>
              <p:cNvSpPr txBox="1"/>
              <p:nvPr/>
            </p:nvSpPr>
            <p:spPr>
              <a:xfrm>
                <a:off x="3429000" y="3233880"/>
                <a:ext cx="2286000" cy="576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237" name="星形: 五角 15"/>
          <p:cNvSpPr/>
          <p:nvPr/>
        </p:nvSpPr>
        <p:spPr>
          <a:xfrm>
            <a:off x="250920" y="189000"/>
            <a:ext cx="433440" cy="404640"/>
          </a:xfrm>
          <a:custGeom>
            <a:avLst/>
            <a:gdLst>
              <a:gd name="GluePoint1X" fmla="*/ 0 w 432048"/>
              <a:gd name="GluePoint1Y" fmla="*/ 154728 h 405085"/>
              <a:gd name="GluePoint2X" fmla="*/ 165029 w 432048"/>
              <a:gd name="GluePoint2Y" fmla="*/ 154729 h 405085"/>
              <a:gd name="GluePoint3X" fmla="*/ 216024 w 432048"/>
              <a:gd name="GluePoint3Y" fmla="*/ 0 h 405085"/>
              <a:gd name="GluePoint4X" fmla="*/ 267019 w 432048"/>
              <a:gd name="GluePoint4Y" fmla="*/ 154729 h 405085"/>
              <a:gd name="GluePoint5X" fmla="*/ 432048 w 432048"/>
              <a:gd name="GluePoint5Y" fmla="*/ 154728 h 405085"/>
              <a:gd name="GluePoint6X" fmla="*/ 298536 w 432048"/>
              <a:gd name="GluePoint6Y" fmla="*/ 250355 h 405085"/>
              <a:gd name="GluePoint7X" fmla="*/ 349534 w 432048"/>
              <a:gd name="GluePoint7Y" fmla="*/ 405084 h 405085"/>
              <a:gd name="GluePoint8X" fmla="*/ 216024 w 432048"/>
              <a:gd name="GluePoint8Y" fmla="*/ 309455 h 405085"/>
              <a:gd name="GluePoint9X" fmla="*/ 82514 w 432048"/>
              <a:gd name="GluePoint9Y" fmla="*/ 405084 h 405085"/>
              <a:gd name="GluePoint10X" fmla="*/ 133512 w 432048"/>
              <a:gd name="GluePoint10Y" fmla="*/ 250355 h 405085"/>
              <a:gd name="GluePoint11X" fmla="*/ 0 w 432048"/>
              <a:gd name="GluePoint11Y" fmla="*/ 154728 h 4050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2048" h="405085">
                <a:moveTo>
                  <a:pt x="0" y="154728"/>
                </a:moveTo>
                <a:lnTo>
                  <a:pt x="165029" y="154729"/>
                </a:lnTo>
                <a:lnTo>
                  <a:pt x="216024" y="0"/>
                </a:lnTo>
                <a:lnTo>
                  <a:pt x="267019" y="154729"/>
                </a:lnTo>
                <a:lnTo>
                  <a:pt x="432048" y="154728"/>
                </a:lnTo>
                <a:lnTo>
                  <a:pt x="298536" y="250355"/>
                </a:lnTo>
                <a:lnTo>
                  <a:pt x="349534" y="405084"/>
                </a:lnTo>
                <a:lnTo>
                  <a:pt x="216024" y="309455"/>
                </a:lnTo>
                <a:lnTo>
                  <a:pt x="82514" y="405084"/>
                </a:lnTo>
                <a:lnTo>
                  <a:pt x="133512" y="250355"/>
                </a:lnTo>
                <a:lnTo>
                  <a:pt x="0" y="154728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08" dur="indefinite" restart="never" nodeType="tmRoot">
          <p:childTnLst>
            <p:seq>
              <p:cTn id="409" dur="indefinite" nodeType="mainSeq">
                <p:childTnLst>
                  <p:par>
                    <p:cTn id="410" fill="hold" nodeType="clickEffect">
                      <p:stCondLst>
                        <p:cond delay="indefinite"/>
                      </p:stCondLst>
                      <p:childTnLst>
                        <p:par>
                          <p:cTn id="41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1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14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 nodeType="clickEffect">
                      <p:stCondLst>
                        <p:cond delay="indefinite"/>
                      </p:stCondLst>
                      <p:childTnLst>
                        <p:par>
                          <p:cTn id="4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1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19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 nodeType="clickEffect">
                      <p:stCondLst>
                        <p:cond delay="indefinite"/>
                      </p:stCondLst>
                      <p:childTnLst>
                        <p:par>
                          <p:cTn id="42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2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2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 nodeType="clickEffect">
                      <p:stCondLst>
                        <p:cond delay="indefinite"/>
                      </p:stCondLst>
                      <p:childTnLst>
                        <p:par>
                          <p:cTn id="42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2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29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 nodeType="clickEffect">
                      <p:stCondLst>
                        <p:cond delay="indefinite"/>
                      </p:stCondLst>
                      <p:childTnLst>
                        <p:par>
                          <p:cTn id="43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3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34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 Box 1026"/>
          <p:cNvSpPr/>
          <p:nvPr/>
        </p:nvSpPr>
        <p:spPr>
          <a:xfrm>
            <a:off x="-128880" y="136440"/>
            <a:ext cx="913032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P16/6.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物体从某确定高度以初速率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v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o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被水平抛出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不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Text Box 1027"/>
          <p:cNvSpPr/>
          <p:nvPr/>
        </p:nvSpPr>
        <p:spPr>
          <a:xfrm>
            <a:off x="-112680" y="593640"/>
            <a:ext cx="91188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计空气阻力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当它落地时的速率为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v,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则它在空中运动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Text Box 1028"/>
          <p:cNvSpPr/>
          <p:nvPr/>
        </p:nvSpPr>
        <p:spPr>
          <a:xfrm>
            <a:off x="-3960" y="1050840"/>
            <a:ext cx="3983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的时间为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Text Box 1029"/>
          <p:cNvSpPr/>
          <p:nvPr/>
        </p:nvSpPr>
        <p:spPr>
          <a:xfrm>
            <a:off x="-333000" y="200340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Text Box 1030"/>
          <p:cNvSpPr/>
          <p:nvPr/>
        </p:nvSpPr>
        <p:spPr>
          <a:xfrm>
            <a:off x="1778400" y="201924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Text Box 1031"/>
          <p:cNvSpPr/>
          <p:nvPr/>
        </p:nvSpPr>
        <p:spPr>
          <a:xfrm>
            <a:off x="3988080" y="198756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Text Box 1032"/>
          <p:cNvSpPr/>
          <p:nvPr/>
        </p:nvSpPr>
        <p:spPr>
          <a:xfrm>
            <a:off x="6654960" y="200340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45" name="Object 1033"/>
              <p:cNvSpPr txBox="1"/>
              <p:nvPr/>
            </p:nvSpPr>
            <p:spPr>
              <a:xfrm>
                <a:off x="609480" y="1828800"/>
                <a:ext cx="1136880" cy="1044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v</m:t>
                        </m:r>
                        <m:r>
                          <m:t xml:space="preserve">−</m:t>
                        </m:r>
                        <m:sSub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</m:num>
                      <m:den>
                        <m:r>
                          <m:t xml:space="preserve">g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45" name="Object 1033"/>
              <p:cNvSpPr txBox="1"/>
              <p:nvPr/>
            </p:nvSpPr>
            <p:spPr>
              <a:xfrm>
                <a:off x="609480" y="1828800"/>
                <a:ext cx="1136880" cy="10447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46" name="Object 1034"/>
              <p:cNvSpPr txBox="1"/>
              <p:nvPr/>
            </p:nvSpPr>
            <p:spPr>
              <a:xfrm>
                <a:off x="2749680" y="1828800"/>
                <a:ext cx="1136520" cy="1044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v</m:t>
                        </m:r>
                        <m:r>
                          <m:t xml:space="preserve">−</m:t>
                        </m:r>
                        <m:sSub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</m:num>
                      <m:den>
                        <m:r>
                          <m:t xml:space="preserve">2</m:t>
                        </m:r>
                        <m:r>
                          <m:t xml:space="preserve">g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46" name="Object 1034"/>
              <p:cNvSpPr txBox="1"/>
              <p:nvPr/>
            </p:nvSpPr>
            <p:spPr>
              <a:xfrm>
                <a:off x="2749680" y="1828800"/>
                <a:ext cx="1136520" cy="1044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47" name="Object 1035"/>
              <p:cNvSpPr txBox="1"/>
              <p:nvPr/>
            </p:nvSpPr>
            <p:spPr>
              <a:xfrm>
                <a:off x="4960800" y="1752480"/>
                <a:ext cx="1592280" cy="1198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ad>
                          <m:radPr>
                            <m:degHide m:val="1"/>
                          </m:radPr>
                          <m:deg/>
                          <m:e>
                            <m:sSup>
                              <m:e>
                                <m:r>
                                  <m:t xml:space="preserve">v</m:t>
                                </m:r>
                              </m:e>
                              <m:sup>
                                <m:r>
                                  <m:t xml:space="preserve">2</m:t>
                                </m:r>
                              </m:sup>
                            </m:sSup>
                            <m:r>
                              <m:t xml:space="preserve">−</m:t>
                            </m:r>
                            <m:sSubSup>
                              <m:e>
                                <m:r>
                                  <m:t xml:space="preserve">v</m:t>
                                </m:r>
                              </m:e>
                              <m:sub>
                                <m:r>
                                  <m:t xml:space="preserve">o</m:t>
                                </m:r>
                              </m:sub>
                              <m:sup>
                                <m:r>
                                  <m:t xml:space="preserve">2</m:t>
                                </m:r>
                              </m:sup>
                            </m:sSubSup>
                          </m:e>
                        </m:rad>
                      </m:num>
                      <m:den>
                        <m:r>
                          <m:t xml:space="preserve">g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47" name="Object 1035"/>
              <p:cNvSpPr txBox="1"/>
              <p:nvPr/>
            </p:nvSpPr>
            <p:spPr>
              <a:xfrm>
                <a:off x="4960800" y="1752480"/>
                <a:ext cx="1592280" cy="1198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48" name="Object 1036"/>
              <p:cNvSpPr txBox="1"/>
              <p:nvPr/>
            </p:nvSpPr>
            <p:spPr>
              <a:xfrm>
                <a:off x="7691400" y="1828800"/>
                <a:ext cx="1300320" cy="1106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sSup>
                          <m:e>
                            <m:r>
                              <m:t xml:space="preserve">v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  <m:r>
                          <m:t xml:space="preserve">−</m:t>
                        </m:r>
                        <m:sSubSup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  <m:sup>
                            <m:r>
                              <m:t xml:space="preserve">2</m:t>
                            </m:r>
                          </m:sup>
                        </m:sSubSup>
                      </m:num>
                      <m:den>
                        <m:r>
                          <m:t xml:space="preserve">g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48" name="Object 1036"/>
              <p:cNvSpPr txBox="1"/>
              <p:nvPr/>
            </p:nvSpPr>
            <p:spPr>
              <a:xfrm>
                <a:off x="7691400" y="1828800"/>
                <a:ext cx="1300320" cy="11066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249" name="Line 1037"/>
          <p:cNvSpPr/>
          <p:nvPr/>
        </p:nvSpPr>
        <p:spPr>
          <a:xfrm>
            <a:off x="7315200" y="3581280"/>
            <a:ext cx="838080" cy="1371600"/>
          </a:xfrm>
          <a:prstGeom prst="line">
            <a:avLst/>
          </a:prstGeom>
          <a:ln w="38160">
            <a:solidFill>
              <a:srgbClr val="FF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Line 1038"/>
          <p:cNvSpPr/>
          <p:nvPr/>
        </p:nvSpPr>
        <p:spPr>
          <a:xfrm>
            <a:off x="7315200" y="3581280"/>
            <a:ext cx="838080" cy="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Line 1039"/>
          <p:cNvSpPr/>
          <p:nvPr/>
        </p:nvSpPr>
        <p:spPr>
          <a:xfrm>
            <a:off x="7315200" y="3581280"/>
            <a:ext cx="0" cy="137160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Line 1040"/>
          <p:cNvSpPr/>
          <p:nvPr/>
        </p:nvSpPr>
        <p:spPr>
          <a:xfrm>
            <a:off x="7315200" y="4952880"/>
            <a:ext cx="838080" cy="0"/>
          </a:xfrm>
          <a:prstGeom prst="line">
            <a:avLst/>
          </a:prstGeom>
          <a:ln w="1908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Line 1041"/>
          <p:cNvSpPr/>
          <p:nvPr/>
        </p:nvSpPr>
        <p:spPr>
          <a:xfrm>
            <a:off x="8153280" y="3581280"/>
            <a:ext cx="0" cy="1371600"/>
          </a:xfrm>
          <a:prstGeom prst="line">
            <a:avLst/>
          </a:prstGeom>
          <a:ln w="1908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54" name="Object 1042"/>
              <p:cNvSpPr txBox="1"/>
              <p:nvPr/>
            </p:nvSpPr>
            <p:spPr>
              <a:xfrm>
                <a:off x="7543800" y="3048120"/>
                <a:ext cx="487440" cy="522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254" name="Object 1042"/>
              <p:cNvSpPr txBox="1"/>
              <p:nvPr/>
            </p:nvSpPr>
            <p:spPr>
              <a:xfrm>
                <a:off x="7543800" y="3048120"/>
                <a:ext cx="487440" cy="522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55" name="Object 1043"/>
              <p:cNvSpPr txBox="1"/>
              <p:nvPr/>
            </p:nvSpPr>
            <p:spPr>
              <a:xfrm>
                <a:off x="8229600" y="4800600"/>
                <a:ext cx="325440" cy="338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</m:oMath>
                </a14:m>
              </a:p>
            </p:txBody>
          </p:sp>
        </mc:Choice>
        <mc:Fallback>
          <p:sp>
            <p:nvSpPr>
              <p:cNvPr id="255" name="Object 1043"/>
              <p:cNvSpPr txBox="1"/>
              <p:nvPr/>
            </p:nvSpPr>
            <p:spPr>
              <a:xfrm>
                <a:off x="8229600" y="4800600"/>
                <a:ext cx="325440" cy="3380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56" name="Object 1044"/>
              <p:cNvSpPr txBox="1"/>
              <p:nvPr/>
            </p:nvSpPr>
            <p:spPr>
              <a:xfrm>
                <a:off x="380880" y="3429000"/>
                <a:ext cx="2306880" cy="676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t</m:t>
                        </m:r>
                      </m:sub>
                    </m:sSub>
                    <m:r>
                      <m:t xml:space="preserve">=</m:t>
                    </m:r>
                    <m:rad>
                      <m:radPr>
                        <m:degHide m:val="1"/>
                      </m:radPr>
                      <m:deg/>
                      <m:e>
                        <m:sSup>
                          <m:e>
                            <m:r>
                              <m:t xml:space="preserve">v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  <m:r>
                          <m:t xml:space="preserve">−</m:t>
                        </m:r>
                        <m:sSubSup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  <m:sup>
                            <m:r>
                              <m:t xml:space="preserve">2</m:t>
                            </m:r>
                          </m:sup>
                        </m:sSubSup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256" name="Object 1044"/>
              <p:cNvSpPr txBox="1"/>
              <p:nvPr/>
            </p:nvSpPr>
            <p:spPr>
              <a:xfrm>
                <a:off x="380880" y="3429000"/>
                <a:ext cx="2306880" cy="6764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57" name="Object 1045"/>
              <p:cNvSpPr txBox="1"/>
              <p:nvPr/>
            </p:nvSpPr>
            <p:spPr>
              <a:xfrm>
                <a:off x="533520" y="4419720"/>
                <a:ext cx="1292040" cy="522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t</m:t>
                        </m:r>
                      </m:sub>
                    </m:sSub>
                    <m:r>
                      <m:t xml:space="preserve">=</m:t>
                    </m:r>
                  </m:oMath>
                </a14:m>
              </a:p>
            </p:txBody>
          </p:sp>
        </mc:Choice>
        <mc:Fallback>
          <p:sp>
            <p:nvSpPr>
              <p:cNvPr id="257" name="Object 1045"/>
              <p:cNvSpPr txBox="1"/>
              <p:nvPr/>
            </p:nvSpPr>
            <p:spPr>
              <a:xfrm>
                <a:off x="533520" y="4419720"/>
                <a:ext cx="1292040" cy="522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p:sp>
        <p:nvSpPr>
          <p:cNvPr id="258" name="Text Box 1046"/>
          <p:cNvSpPr/>
          <p:nvPr/>
        </p:nvSpPr>
        <p:spPr>
          <a:xfrm>
            <a:off x="1893240" y="105084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C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59" name="Object 1047"/>
              <p:cNvSpPr txBox="1"/>
              <p:nvPr/>
            </p:nvSpPr>
            <p:spPr>
              <a:xfrm>
                <a:off x="6781680" y="4572000"/>
                <a:ext cx="476280" cy="522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t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259" name="Object 1047"/>
              <p:cNvSpPr txBox="1"/>
              <p:nvPr/>
            </p:nvSpPr>
            <p:spPr>
              <a:xfrm>
                <a:off x="6781680" y="4572000"/>
                <a:ext cx="476280" cy="5223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5" dur="indefinite" restart="never" nodeType="tmRoot">
          <p:childTnLst>
            <p:seq>
              <p:cTn id="436" dur="indefinite" nodeType="mainSeq">
                <p:childTnLst>
                  <p:par>
                    <p:cTn id="437" fill="hold" nodeType="clickEffect">
                      <p:stCondLst>
                        <p:cond delay="indefinite"/>
                      </p:stCondLst>
                      <p:childTnLst>
                        <p:par>
                          <p:cTn id="43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3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41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2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443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4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 nodeType="clickEffect">
                      <p:stCondLst>
                        <p:cond delay="indefinite"/>
                      </p:stCondLst>
                      <p:childTnLst>
                        <p:par>
                          <p:cTn id="44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4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50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1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452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54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 nodeType="clickEffect">
                      <p:stCondLst>
                        <p:cond delay="indefinite"/>
                      </p:stCondLst>
                      <p:childTnLst>
                        <p:par>
                          <p:cTn id="45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57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459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0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461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63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4" fill="hold" nodeType="clickEffect">
                      <p:stCondLst>
                        <p:cond delay="indefinite"/>
                      </p:stCondLst>
                      <p:childTnLst>
                        <p:par>
                          <p:cTn id="46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66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468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9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470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72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 nodeType="clickEffect">
                      <p:stCondLst>
                        <p:cond delay="indefinite"/>
                      </p:stCondLst>
                      <p:childTnLst>
                        <p:par>
                          <p:cTn id="47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7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77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8" fill="hold" nodeType="clickEffect">
                      <p:stCondLst>
                        <p:cond delay="indefinite"/>
                      </p:stCondLst>
                      <p:childTnLst>
                        <p:par>
                          <p:cTn id="47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8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82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 nodeType="clickEffect">
                      <p:stCondLst>
                        <p:cond delay="indefinite"/>
                      </p:stCondLst>
                      <p:childTnLst>
                        <p:par>
                          <p:cTn id="48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8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8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 Box 1026"/>
          <p:cNvSpPr/>
          <p:nvPr/>
        </p:nvSpPr>
        <p:spPr>
          <a:xfrm>
            <a:off x="-55080" y="76320"/>
            <a:ext cx="5598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P16/7.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xoy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平面内作匀速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Line 1027"/>
          <p:cNvSpPr/>
          <p:nvPr/>
        </p:nvSpPr>
        <p:spPr>
          <a:xfrm>
            <a:off x="5562720" y="1447920"/>
            <a:ext cx="335268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Line 1028"/>
          <p:cNvSpPr/>
          <p:nvPr/>
        </p:nvSpPr>
        <p:spPr>
          <a:xfrm flipV="1">
            <a:off x="5562720" y="228600"/>
            <a:ext cx="0" cy="220968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Freeform 1029"/>
          <p:cNvSpPr/>
          <p:nvPr/>
        </p:nvSpPr>
        <p:spPr>
          <a:xfrm flipV="1">
            <a:off x="5562720" y="761760"/>
            <a:ext cx="2819160" cy="1295280"/>
          </a:xfrm>
          <a:custGeom>
            <a:avLst/>
            <a:gdLst>
              <a:gd name="GluePoint1X" fmla="*/ 0 w 1776"/>
              <a:gd name="GluePoint1Y" fmla="*/ 597877 h 624"/>
              <a:gd name="GluePoint2X" fmla="*/ 533400 w 1776"/>
              <a:gd name="GluePoint2Y" fmla="*/ 1195754 h 624"/>
              <a:gd name="GluePoint3X" fmla="*/ 1371600 w 1776"/>
              <a:gd name="GluePoint3Y" fmla="*/ 0 h 624"/>
              <a:gd name="GluePoint4X" fmla="*/ 2286000 w 1776"/>
              <a:gd name="GluePoint4Y" fmla="*/ 1195754 h 624"/>
              <a:gd name="GluePoint5X" fmla="*/ 2819400 w 1776"/>
              <a:gd name="GluePoint5Y" fmla="*/ 398585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1776" h="624">
                <a:moveTo>
                  <a:pt x="0" y="288"/>
                </a:moveTo>
                <a:cubicBezTo>
                  <a:pt x="96" y="456"/>
                  <a:pt x="192" y="624"/>
                  <a:pt x="336" y="576"/>
                </a:cubicBezTo>
                <a:cubicBezTo>
                  <a:pt x="480" y="528"/>
                  <a:pt x="680" y="0"/>
                  <a:pt x="864" y="0"/>
                </a:cubicBezTo>
                <a:cubicBezTo>
                  <a:pt x="1048" y="0"/>
                  <a:pt x="1288" y="544"/>
                  <a:pt x="1440" y="576"/>
                </a:cubicBezTo>
                <a:cubicBezTo>
                  <a:pt x="1592" y="608"/>
                  <a:pt x="1684" y="400"/>
                  <a:pt x="1776" y="192"/>
                </a:cubicBezTo>
              </a:path>
            </a:pathLst>
          </a:custGeom>
          <a:noFill/>
          <a:ln w="28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64" name="Object 1030"/>
              <p:cNvSpPr txBox="1"/>
              <p:nvPr/>
            </p:nvSpPr>
            <p:spPr>
              <a:xfrm>
                <a:off x="8686800" y="1523880"/>
                <a:ext cx="325440" cy="308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x</m:t>
                    </m:r>
                  </m:oMath>
                </a14:m>
              </a:p>
            </p:txBody>
          </p:sp>
        </mc:Choice>
        <mc:Fallback>
          <p:sp>
            <p:nvSpPr>
              <p:cNvPr id="264" name="Object 1030"/>
              <p:cNvSpPr txBox="1"/>
              <p:nvPr/>
            </p:nvSpPr>
            <p:spPr>
              <a:xfrm>
                <a:off x="8686800" y="1523880"/>
                <a:ext cx="325440" cy="3081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65" name="Object 1031"/>
              <p:cNvSpPr txBox="1"/>
              <p:nvPr/>
            </p:nvSpPr>
            <p:spPr>
              <a:xfrm>
                <a:off x="5160960" y="152280"/>
                <a:ext cx="325440" cy="400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y</m:t>
                    </m:r>
                  </m:oMath>
                </a14:m>
              </a:p>
            </p:txBody>
          </p:sp>
        </mc:Choice>
        <mc:Fallback>
          <p:sp>
            <p:nvSpPr>
              <p:cNvPr id="265" name="Object 1031"/>
              <p:cNvSpPr txBox="1"/>
              <p:nvPr/>
            </p:nvSpPr>
            <p:spPr>
              <a:xfrm>
                <a:off x="5160960" y="152280"/>
                <a:ext cx="325440" cy="4003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66" name="Object 1032"/>
              <p:cNvSpPr txBox="1"/>
              <p:nvPr/>
            </p:nvSpPr>
            <p:spPr>
              <a:xfrm>
                <a:off x="5853240" y="500040"/>
                <a:ext cx="334800" cy="338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</m:t>
                    </m:r>
                  </m:oMath>
                </a14:m>
              </a:p>
            </p:txBody>
          </p:sp>
        </mc:Choice>
        <mc:Fallback>
          <p:sp>
            <p:nvSpPr>
              <p:cNvPr id="266" name="Object 1032"/>
              <p:cNvSpPr txBox="1"/>
              <p:nvPr/>
            </p:nvSpPr>
            <p:spPr>
              <a:xfrm>
                <a:off x="5853240" y="500040"/>
                <a:ext cx="334800" cy="3380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67" name="Object 1033"/>
              <p:cNvSpPr txBox="1"/>
              <p:nvPr/>
            </p:nvSpPr>
            <p:spPr>
              <a:xfrm>
                <a:off x="6324480" y="1474920"/>
                <a:ext cx="304920" cy="430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b</m:t>
                    </m:r>
                  </m:oMath>
                </a14:m>
              </a:p>
            </p:txBody>
          </p:sp>
        </mc:Choice>
        <mc:Fallback>
          <p:sp>
            <p:nvSpPr>
              <p:cNvPr id="267" name="Object 1033"/>
              <p:cNvSpPr txBox="1"/>
              <p:nvPr/>
            </p:nvSpPr>
            <p:spPr>
              <a:xfrm>
                <a:off x="6324480" y="1474920"/>
                <a:ext cx="304920" cy="430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68" name="Object 1034"/>
              <p:cNvSpPr txBox="1"/>
              <p:nvPr/>
            </p:nvSpPr>
            <p:spPr>
              <a:xfrm>
                <a:off x="6796080" y="2130480"/>
                <a:ext cx="274680" cy="338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c</m:t>
                    </m:r>
                  </m:oMath>
                </a14:m>
              </a:p>
            </p:txBody>
          </p:sp>
        </mc:Choice>
        <mc:Fallback>
          <p:sp>
            <p:nvSpPr>
              <p:cNvPr id="268" name="Object 1034"/>
              <p:cNvSpPr txBox="1"/>
              <p:nvPr/>
            </p:nvSpPr>
            <p:spPr>
              <a:xfrm>
                <a:off x="6796080" y="2130480"/>
                <a:ext cx="274680" cy="3380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69" name="Object 1035"/>
              <p:cNvSpPr txBox="1"/>
              <p:nvPr/>
            </p:nvSpPr>
            <p:spPr>
              <a:xfrm>
                <a:off x="7315200" y="1474920"/>
                <a:ext cx="304920" cy="430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d</m:t>
                    </m:r>
                  </m:oMath>
                </a14:m>
              </a:p>
            </p:txBody>
          </p:sp>
        </mc:Choice>
        <mc:Fallback>
          <p:sp>
            <p:nvSpPr>
              <p:cNvPr id="269" name="Object 1035"/>
              <p:cNvSpPr txBox="1"/>
              <p:nvPr/>
            </p:nvSpPr>
            <p:spPr>
              <a:xfrm>
                <a:off x="7315200" y="1474920"/>
                <a:ext cx="304920" cy="430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70" name="Object 1036"/>
              <p:cNvSpPr txBox="1"/>
              <p:nvPr/>
            </p:nvSpPr>
            <p:spPr>
              <a:xfrm>
                <a:off x="8319960" y="1109520"/>
                <a:ext cx="274680" cy="338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e</m:t>
                    </m:r>
                  </m:oMath>
                </a14:m>
              </a:p>
            </p:txBody>
          </p:sp>
        </mc:Choice>
        <mc:Fallback>
          <p:sp>
            <p:nvSpPr>
              <p:cNvPr id="270" name="Object 1036"/>
              <p:cNvSpPr txBox="1"/>
              <p:nvPr/>
            </p:nvSpPr>
            <p:spPr>
              <a:xfrm>
                <a:off x="8319960" y="1109520"/>
                <a:ext cx="274680" cy="338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p:sp>
        <p:nvSpPr>
          <p:cNvPr id="271" name="Oval 1037"/>
          <p:cNvSpPr/>
          <p:nvPr/>
        </p:nvSpPr>
        <p:spPr>
          <a:xfrm>
            <a:off x="5977080" y="804960"/>
            <a:ext cx="75960" cy="7596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6840" rIns="90000" bIns="684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Oval 1038"/>
          <p:cNvSpPr/>
          <p:nvPr/>
        </p:nvSpPr>
        <p:spPr>
          <a:xfrm>
            <a:off x="6424560" y="1405080"/>
            <a:ext cx="76320" cy="7596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6840" rIns="90000" bIns="684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Oval 1039"/>
          <p:cNvSpPr/>
          <p:nvPr/>
        </p:nvSpPr>
        <p:spPr>
          <a:xfrm>
            <a:off x="6896160" y="2023920"/>
            <a:ext cx="76320" cy="7632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7200" rIns="90000" bIns="72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Oval 1040"/>
          <p:cNvSpPr/>
          <p:nvPr/>
        </p:nvSpPr>
        <p:spPr>
          <a:xfrm>
            <a:off x="7400880" y="1405080"/>
            <a:ext cx="76320" cy="7596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6840" rIns="90000" bIns="684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Oval 1041"/>
          <p:cNvSpPr/>
          <p:nvPr/>
        </p:nvSpPr>
        <p:spPr>
          <a:xfrm>
            <a:off x="8272440" y="1409760"/>
            <a:ext cx="76320" cy="7632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7200" rIns="90000" bIns="72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Text Box 1042"/>
          <p:cNvSpPr/>
          <p:nvPr/>
        </p:nvSpPr>
        <p:spPr>
          <a:xfrm>
            <a:off x="-61560" y="577800"/>
            <a:ext cx="50266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率正弦曲线运动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如图所示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Text Box 1043"/>
          <p:cNvSpPr/>
          <p:nvPr/>
        </p:nvSpPr>
        <p:spPr>
          <a:xfrm>
            <a:off x="-1440" y="1127160"/>
            <a:ext cx="5507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在如下的说法中正确的是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Text Box 1044"/>
          <p:cNvSpPr/>
          <p:nvPr/>
        </p:nvSpPr>
        <p:spPr>
          <a:xfrm>
            <a:off x="-61560" y="2514600"/>
            <a:ext cx="6398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质点在</a:t>
            </a:r>
            <a:r>
              <a:rPr lang="en-US" sz="3000" b="0" i="1" u="none" strike="noStrike">
                <a:solidFill>
                  <a:srgbClr val="000000"/>
                </a:solidFill>
                <a:effectLst/>
                <a:uFillTx/>
                <a:latin typeface="Bookman Old Style"/>
              </a:rPr>
              <a:t>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处的加速度的值为零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Text Box 1045"/>
          <p:cNvSpPr/>
          <p:nvPr/>
        </p:nvSpPr>
        <p:spPr>
          <a:xfrm>
            <a:off x="120960" y="2895480"/>
            <a:ext cx="5987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质点在各处的加速度大小都相等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Text Box 1046"/>
          <p:cNvSpPr/>
          <p:nvPr/>
        </p:nvSpPr>
        <p:spPr>
          <a:xfrm>
            <a:off x="-60840" y="3352680"/>
            <a:ext cx="63525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处的加速度的值最大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Text Box 1047"/>
          <p:cNvSpPr/>
          <p:nvPr/>
        </p:nvSpPr>
        <p:spPr>
          <a:xfrm>
            <a:off x="-60840" y="3809880"/>
            <a:ext cx="63525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处的加速度的值为零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Text Box 1048"/>
          <p:cNvSpPr/>
          <p:nvPr/>
        </p:nvSpPr>
        <p:spPr>
          <a:xfrm>
            <a:off x="3945960" y="111132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Line 1049"/>
          <p:cNvSpPr/>
          <p:nvPr/>
        </p:nvSpPr>
        <p:spPr>
          <a:xfrm>
            <a:off x="4191120" y="609480"/>
            <a:ext cx="761760" cy="0"/>
          </a:xfrm>
          <a:prstGeom prst="line">
            <a:avLst/>
          </a:prstGeom>
          <a:ln w="381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Line 1050"/>
          <p:cNvSpPr/>
          <p:nvPr/>
        </p:nvSpPr>
        <p:spPr>
          <a:xfrm>
            <a:off x="152280" y="1143000"/>
            <a:ext cx="304920" cy="0"/>
          </a:xfrm>
          <a:prstGeom prst="line">
            <a:avLst/>
          </a:prstGeom>
          <a:ln w="381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85" name="Group 1051"/>
          <p:cNvGrpSpPr/>
          <p:nvPr/>
        </p:nvGrpSpPr>
        <p:grpSpPr>
          <a:xfrm>
            <a:off x="762120" y="5105520"/>
            <a:ext cx="1998720" cy="885240"/>
            <a:chOff x="762120" y="5105520"/>
            <a:chExt cx="1998720" cy="885240"/>
          </a:xfrm>
        </p:grpSpPr>
        <mc:AlternateContent>
          <mc:Choice xmlns:a14="http://schemas.microsoft.com/office/drawing/2010/main" Requires="a14">
            <p:sp>
              <p:nvSpPr>
                <p:cNvPr id="286" name="Object 1052"/>
                <p:cNvSpPr txBox="1"/>
                <p:nvPr/>
              </p:nvSpPr>
              <p:spPr>
                <a:xfrm>
                  <a:off x="762120" y="5403600"/>
                  <a:ext cx="471600" cy="37620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r>
                        <m:t xml:space="preserve">=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286" name="Object 1052"/>
                <p:cNvSpPr txBox="1"/>
                <p:nvPr/>
              </p:nvSpPr>
              <p:spPr>
                <a:xfrm>
                  <a:off x="762120" y="5403600"/>
                  <a:ext cx="471600" cy="3762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</p:sp>
          </mc:Fallback>
        </mc:AlternateContent>
        <mc:AlternateContent>
          <mc:Choice xmlns:a14="http://schemas.microsoft.com/office/drawing/2010/main" Requires="a14">
            <p:sp>
              <p:nvSpPr>
                <p:cNvPr id="287" name="Object 1053"/>
                <p:cNvSpPr txBox="1"/>
                <p:nvPr/>
              </p:nvSpPr>
              <p:spPr>
                <a:xfrm>
                  <a:off x="1122480" y="5105520"/>
                  <a:ext cx="741600" cy="78876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sSub>
                        <m:e>
                          <m:acc>
                            <m:accPr>
                              <m:chr m:val="⃗"/>
                            </m:accPr>
                            <m:e>
                              <m:r>
                                <m:t xml:space="preserve">a</m:t>
                              </m:r>
                            </m:e>
                          </m:acc>
                        </m:e>
                        <m:sub>
                          <m:r>
                            <m:t xml:space="preserve">n</m:t>
                          </m:r>
                        </m:sub>
                      </m:sSub>
                    </m:oMath>
                  </a14:m>
                </a:p>
              </p:txBody>
            </p:sp>
          </mc:Choice>
          <mc:Fallback>
            <p:sp>
              <p:nvSpPr>
                <p:cNvPr id="287" name="Object 1053"/>
                <p:cNvSpPr txBox="1"/>
                <p:nvPr/>
              </p:nvSpPr>
              <p:spPr>
                <a:xfrm>
                  <a:off x="1122480" y="5105520"/>
                  <a:ext cx="741600" cy="78876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</p:sp>
          </mc:Fallback>
        </mc:AlternateContent>
        <mc:AlternateContent>
          <mc:Choice xmlns:a14="http://schemas.microsoft.com/office/drawing/2010/main" Requires="a14">
            <p:sp>
              <p:nvSpPr>
                <p:cNvPr id="288" name="Object 1054"/>
                <p:cNvSpPr txBox="1"/>
                <p:nvPr/>
              </p:nvSpPr>
              <p:spPr>
                <a:xfrm>
                  <a:off x="2059200" y="5149800"/>
                  <a:ext cx="701640" cy="84096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sSub>
                        <m:e>
                          <m:acc>
                            <m:accPr>
                              <m:chr m:val="⃗"/>
                            </m:accPr>
                            <m:e>
                              <m:r>
                                <m:t xml:space="preserve">a</m:t>
                              </m:r>
                            </m:e>
                          </m:acc>
                        </m:e>
                        <m:sub>
                          <m:r>
                            <m:t xml:space="preserve">τ</m:t>
                          </m:r>
                        </m:sub>
                      </m:sSub>
                    </m:oMath>
                  </a14:m>
                </a:p>
              </p:txBody>
            </p:sp>
          </mc:Choice>
          <mc:Fallback>
            <p:sp>
              <p:nvSpPr>
                <p:cNvPr id="288" name="Object 1054"/>
                <p:cNvSpPr txBox="1"/>
                <p:nvPr/>
              </p:nvSpPr>
              <p:spPr>
                <a:xfrm>
                  <a:off x="2059200" y="5149800"/>
                  <a:ext cx="701640" cy="84096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</p:sp>
          </mc:Fallback>
        </mc:AlternateContent>
        <mc:AlternateContent>
          <mc:Choice xmlns:a14="http://schemas.microsoft.com/office/drawing/2010/main" Requires="a14">
            <p:sp>
              <p:nvSpPr>
                <p:cNvPr id="289" name="Object 1055"/>
                <p:cNvSpPr txBox="1"/>
                <p:nvPr/>
              </p:nvSpPr>
              <p:spPr>
                <a:xfrm>
                  <a:off x="1617840" y="5251320"/>
                  <a:ext cx="525600" cy="52524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r>
                        <m:t xml:space="preserve">+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289" name="Object 1055"/>
                <p:cNvSpPr txBox="1"/>
                <p:nvPr/>
              </p:nvSpPr>
              <p:spPr>
                <a:xfrm>
                  <a:off x="1617840" y="5251320"/>
                  <a:ext cx="525600" cy="52524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</p:sp>
          </mc:Fallback>
        </mc:AlternateContent>
      </p:grpSp>
      <mc:AlternateContent>
        <mc:Choice xmlns:a14="http://schemas.microsoft.com/office/drawing/2010/main" Requires="a14">
          <p:sp>
            <p:nvSpPr>
              <p:cNvPr id="290" name="Object 1056"/>
              <p:cNvSpPr txBox="1"/>
              <p:nvPr/>
            </p:nvSpPr>
            <p:spPr>
              <a:xfrm>
                <a:off x="324000" y="5181480"/>
                <a:ext cx="514080" cy="649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a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90" name="Object 1056"/>
              <p:cNvSpPr txBox="1"/>
              <p:nvPr/>
            </p:nvSpPr>
            <p:spPr>
              <a:xfrm>
                <a:off x="324000" y="5181480"/>
                <a:ext cx="514080" cy="64944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91" name="Object 1057"/>
              <p:cNvSpPr txBox="1"/>
              <p:nvPr/>
            </p:nvSpPr>
            <p:spPr>
              <a:xfrm>
                <a:off x="3463920" y="5688000"/>
                <a:ext cx="743040" cy="789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a</m:t>
                            </m:r>
                          </m:e>
                        </m:acc>
                      </m:e>
                      <m:sub>
                        <m:r>
                          <m:t xml:space="preserve">n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291" name="Object 1057"/>
              <p:cNvSpPr txBox="1"/>
              <p:nvPr/>
            </p:nvSpPr>
            <p:spPr>
              <a:xfrm>
                <a:off x="3463920" y="5688000"/>
                <a:ext cx="743040" cy="7891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92" name="Object 1058"/>
              <p:cNvSpPr txBox="1"/>
              <p:nvPr/>
            </p:nvSpPr>
            <p:spPr>
              <a:xfrm>
                <a:off x="3479760" y="4645080"/>
                <a:ext cx="701640" cy="841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a</m:t>
                            </m:r>
                          </m:e>
                        </m:acc>
                      </m:e>
                      <m:sub>
                        <m:r>
                          <m:t xml:space="preserve">τ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292" name="Object 1058"/>
              <p:cNvSpPr txBox="1"/>
              <p:nvPr/>
            </p:nvSpPr>
            <p:spPr>
              <a:xfrm>
                <a:off x="3479760" y="4645080"/>
                <a:ext cx="701640" cy="8413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93" name="Object 1059"/>
              <p:cNvSpPr txBox="1"/>
              <p:nvPr/>
            </p:nvSpPr>
            <p:spPr>
              <a:xfrm>
                <a:off x="4095720" y="5380200"/>
                <a:ext cx="1306440" cy="1344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f>
                      <m:num>
                        <m:sSup>
                          <m:e>
                            <m:r>
                              <m:t xml:space="preserve">v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num>
                      <m:den>
                        <m:r>
                          <m:t xml:space="preserve">ρ</m:t>
                        </m:r>
                      </m:den>
                    </m:f>
                    <m:acc>
                      <m:accPr>
                        <m:chr m:val="⃗"/>
                      </m:accPr>
                      <m:e>
                        <m:r>
                          <m:t xml:space="preserve">n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93" name="Object 1059"/>
              <p:cNvSpPr txBox="1"/>
              <p:nvPr/>
            </p:nvSpPr>
            <p:spPr>
              <a:xfrm>
                <a:off x="4095720" y="5380200"/>
                <a:ext cx="1306440" cy="13446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94" name="Object 1060"/>
              <p:cNvSpPr txBox="1"/>
              <p:nvPr/>
            </p:nvSpPr>
            <p:spPr>
              <a:xfrm>
                <a:off x="4114800" y="4419720"/>
                <a:ext cx="1249200" cy="1143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  <m:acc>
                      <m:accPr>
                        <m:chr m:val="⃗"/>
                      </m:accPr>
                      <m:e>
                        <m:r>
                          <m:t xml:space="preserve">τ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94" name="Object 1060"/>
              <p:cNvSpPr txBox="1"/>
              <p:nvPr/>
            </p:nvSpPr>
            <p:spPr>
              <a:xfrm>
                <a:off x="4114800" y="4419720"/>
                <a:ext cx="1249200" cy="11430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95" name="Object 1061"/>
              <p:cNvSpPr txBox="1"/>
              <p:nvPr/>
            </p:nvSpPr>
            <p:spPr>
              <a:xfrm>
                <a:off x="5397480" y="4724280"/>
                <a:ext cx="698400" cy="515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295" name="Object 1061"/>
              <p:cNvSpPr txBox="1"/>
              <p:nvPr/>
            </p:nvSpPr>
            <p:spPr>
              <a:xfrm>
                <a:off x="5397480" y="4724280"/>
                <a:ext cx="698400" cy="51588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</p:sp>
        </mc:Fallback>
      </mc:AlternateContent>
      <p:sp>
        <p:nvSpPr>
          <p:cNvPr id="296" name="星形: 五角 39"/>
          <p:cNvSpPr/>
          <p:nvPr/>
        </p:nvSpPr>
        <p:spPr>
          <a:xfrm>
            <a:off x="8240760" y="6072120"/>
            <a:ext cx="433440" cy="405000"/>
          </a:xfrm>
          <a:custGeom>
            <a:avLst/>
            <a:gdLst>
              <a:gd name="GluePoint1X" fmla="*/ 0 w 432048"/>
              <a:gd name="GluePoint1Y" fmla="*/ 154728 h 405085"/>
              <a:gd name="GluePoint2X" fmla="*/ 165029 w 432048"/>
              <a:gd name="GluePoint2Y" fmla="*/ 154729 h 405085"/>
              <a:gd name="GluePoint3X" fmla="*/ 216024 w 432048"/>
              <a:gd name="GluePoint3Y" fmla="*/ 0 h 405085"/>
              <a:gd name="GluePoint4X" fmla="*/ 267019 w 432048"/>
              <a:gd name="GluePoint4Y" fmla="*/ 154729 h 405085"/>
              <a:gd name="GluePoint5X" fmla="*/ 432048 w 432048"/>
              <a:gd name="GluePoint5Y" fmla="*/ 154728 h 405085"/>
              <a:gd name="GluePoint6X" fmla="*/ 298536 w 432048"/>
              <a:gd name="GluePoint6Y" fmla="*/ 250355 h 405085"/>
              <a:gd name="GluePoint7X" fmla="*/ 349534 w 432048"/>
              <a:gd name="GluePoint7Y" fmla="*/ 405084 h 405085"/>
              <a:gd name="GluePoint8X" fmla="*/ 216024 w 432048"/>
              <a:gd name="GluePoint8Y" fmla="*/ 309455 h 405085"/>
              <a:gd name="GluePoint9X" fmla="*/ 82514 w 432048"/>
              <a:gd name="GluePoint9Y" fmla="*/ 405084 h 405085"/>
              <a:gd name="GluePoint10X" fmla="*/ 133512 w 432048"/>
              <a:gd name="GluePoint10Y" fmla="*/ 250355 h 405085"/>
              <a:gd name="GluePoint11X" fmla="*/ 0 w 432048"/>
              <a:gd name="GluePoint11Y" fmla="*/ 154728 h 4050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2048" h="405085">
                <a:moveTo>
                  <a:pt x="0" y="154728"/>
                </a:moveTo>
                <a:lnTo>
                  <a:pt x="165029" y="154729"/>
                </a:lnTo>
                <a:lnTo>
                  <a:pt x="216024" y="0"/>
                </a:lnTo>
                <a:lnTo>
                  <a:pt x="267019" y="154729"/>
                </a:lnTo>
                <a:lnTo>
                  <a:pt x="432048" y="154728"/>
                </a:lnTo>
                <a:lnTo>
                  <a:pt x="298536" y="250355"/>
                </a:lnTo>
                <a:lnTo>
                  <a:pt x="349534" y="405084"/>
                </a:lnTo>
                <a:lnTo>
                  <a:pt x="216024" y="309455"/>
                </a:lnTo>
                <a:lnTo>
                  <a:pt x="82514" y="405084"/>
                </a:lnTo>
                <a:lnTo>
                  <a:pt x="133512" y="250355"/>
                </a:lnTo>
                <a:lnTo>
                  <a:pt x="0" y="154728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88" dur="indefinite" restart="never" nodeType="tmRoot">
          <p:childTnLst>
            <p:seq>
              <p:cTn id="489" dur="indefinite" nodeType="mainSeq">
                <p:childTnLst>
                  <p:par>
                    <p:cTn id="490" fill="hold" nodeType="clickEffect">
                      <p:stCondLst>
                        <p:cond delay="indefinite"/>
                      </p:stCondLst>
                      <p:childTnLst>
                        <p:par>
                          <p:cTn id="49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9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94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5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496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98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 nodeType="clickEffect">
                      <p:stCondLst>
                        <p:cond delay="indefinite"/>
                      </p:stCondLst>
                      <p:childTnLst>
                        <p:par>
                          <p:cTn id="50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0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03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4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505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07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8" fill="hold" nodeType="clickEffect">
                      <p:stCondLst>
                        <p:cond delay="indefinite"/>
                      </p:stCondLst>
                      <p:childTnLst>
                        <p:par>
                          <p:cTn id="50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1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12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3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514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16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 nodeType="clickEffect">
                      <p:stCondLst>
                        <p:cond delay="indefinite"/>
                      </p:stCondLst>
                      <p:childTnLst>
                        <p:par>
                          <p:cTn id="51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1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21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2" fill="hold" nodeType="clickEffect">
                      <p:stCondLst>
                        <p:cond delay="indefinite"/>
                      </p:stCondLst>
                      <p:childTnLst>
                        <p:par>
                          <p:cTn id="52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2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26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7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528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30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 nodeType="clickEffect">
                      <p:stCondLst>
                        <p:cond delay="indefinite"/>
                      </p:stCondLst>
                      <p:childTnLst>
                        <p:par>
                          <p:cTn id="53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3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35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 Box 2"/>
          <p:cNvSpPr/>
          <p:nvPr/>
        </p:nvSpPr>
        <p:spPr>
          <a:xfrm>
            <a:off x="-794880" y="1905120"/>
            <a:ext cx="10419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P14/1.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质点初速度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米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Bookman Old Style"/>
              </a:rPr>
              <a:t>/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秒沿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方向直线运动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加速度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Text Box 3"/>
          <p:cNvSpPr/>
          <p:nvPr/>
        </p:nvSpPr>
        <p:spPr>
          <a:xfrm>
            <a:off x="-533160" y="2438280"/>
            <a:ext cx="9699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和时间的关系为</a:t>
            </a:r>
            <a:r>
              <a:rPr lang="en-US" sz="3000" b="0" i="1" u="none" strike="noStrike">
                <a:solidFill>
                  <a:srgbClr val="000000"/>
                </a:solidFill>
                <a:effectLst/>
                <a:uFillTx/>
                <a:latin typeface="Bookman Old Style"/>
              </a:rPr>
              <a:t>a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=3+4t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，则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t=3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秒时的速度大小为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Text Box 4"/>
          <p:cNvSpPr/>
          <p:nvPr/>
        </p:nvSpPr>
        <p:spPr>
          <a:xfrm>
            <a:off x="-362160" y="2987640"/>
            <a:ext cx="4463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00" name="Object 5"/>
              <p:cNvSpPr txBox="1"/>
              <p:nvPr/>
            </p:nvSpPr>
            <p:spPr>
              <a:xfrm>
                <a:off x="380880" y="3825720"/>
                <a:ext cx="1114560" cy="1052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</m:t>
                    </m:r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00" name="Object 5"/>
              <p:cNvSpPr txBox="1"/>
              <p:nvPr/>
            </p:nvSpPr>
            <p:spPr>
              <a:xfrm>
                <a:off x="380880" y="3825720"/>
                <a:ext cx="1114560" cy="105264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01" name="Object 6"/>
              <p:cNvSpPr txBox="1"/>
              <p:nvPr/>
            </p:nvSpPr>
            <p:spPr>
              <a:xfrm>
                <a:off x="2438280" y="3978360"/>
                <a:ext cx="3353040" cy="882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e>
                    </m:nary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t xml:space="preserve">(</m:t>
                        </m:r>
                        <m:r>
                          <m:t xml:space="preserve">3</m:t>
                        </m:r>
                        <m:r>
                          <m:t xml:space="preserve">+</m:t>
                        </m:r>
                        <m:r>
                          <m:t xml:space="preserve">4</m:t>
                        </m:r>
                        <m:r>
                          <m:t xml:space="preserve">t</m:t>
                        </m:r>
                        <m:r>
                          <m:t xml:space="preserve">)</m:t>
                        </m:r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301" name="Object 6"/>
              <p:cNvSpPr txBox="1"/>
              <p:nvPr/>
            </p:nvSpPr>
            <p:spPr>
              <a:xfrm>
                <a:off x="2438280" y="3978360"/>
                <a:ext cx="3353040" cy="882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302" name="Text Box 7"/>
          <p:cNvSpPr/>
          <p:nvPr/>
        </p:nvSpPr>
        <p:spPr>
          <a:xfrm>
            <a:off x="858600" y="2911320"/>
            <a:ext cx="1826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31</a:t>
            </a: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米</a:t>
            </a: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Bookman Old Style"/>
              </a:rPr>
              <a:t>/</a:t>
            </a: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6" dur="indefinite" restart="never" nodeType="tmRoot">
          <p:childTnLst>
            <p:seq>
              <p:cTn id="537" dur="indefinite" nodeType="mainSeq">
                <p:childTnLst>
                  <p:par>
                    <p:cTn id="538" fill="hold" nodeType="clickEffect">
                      <p:stCondLst>
                        <p:cond delay="indefinite"/>
                      </p:stCondLst>
                      <p:childTnLst>
                        <p:par>
                          <p:cTn id="53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4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42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 nodeType="clickEffect">
                      <p:stCondLst>
                        <p:cond delay="indefinite"/>
                      </p:stCondLst>
                      <p:childTnLst>
                        <p:par>
                          <p:cTn id="54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4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47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8" fill="hold" nodeType="clickEffect">
                      <p:stCondLst>
                        <p:cond delay="indefinite"/>
                      </p:stCondLst>
                      <p:childTnLst>
                        <p:par>
                          <p:cTn id="54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5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52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 Box 2"/>
          <p:cNvSpPr/>
          <p:nvPr/>
        </p:nvSpPr>
        <p:spPr>
          <a:xfrm>
            <a:off x="-599400" y="898560"/>
            <a:ext cx="1027332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P14/2.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质点作斜抛运动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初速度大小为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v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o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与水平方向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Text Box 3"/>
          <p:cNvSpPr/>
          <p:nvPr/>
        </p:nvSpPr>
        <p:spPr>
          <a:xfrm>
            <a:off x="-758880" y="1432080"/>
            <a:ext cx="96746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成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θ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角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忽略空气阻力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在最高点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处的速度大小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Text Box 4"/>
          <p:cNvSpPr/>
          <p:nvPr/>
        </p:nvSpPr>
        <p:spPr>
          <a:xfrm>
            <a:off x="240120" y="2117880"/>
            <a:ext cx="5796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=</a:t>
            </a:r>
            <a:r>
              <a:rPr lang="en-US" sz="3000" b="1" u="sng" strike="noStrike">
                <a:solidFill>
                  <a:srgbClr val="000000"/>
                </a:solidFill>
                <a:effectLst/>
                <a:uFillTx/>
                <a:latin typeface="宋体"/>
              </a:rPr>
              <a:t>      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，加速度大小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06" name="Object 5"/>
              <p:cNvSpPr txBox="1"/>
              <p:nvPr/>
            </p:nvSpPr>
            <p:spPr>
              <a:xfrm>
                <a:off x="1279440" y="2075040"/>
                <a:ext cx="1298520" cy="572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cos</m:t>
                    </m:r>
                    <m:r>
                      <m:t xml:space="preserve">θ</m:t>
                    </m:r>
                  </m:oMath>
                </a14:m>
              </a:p>
            </p:txBody>
          </p:sp>
        </mc:Choice>
        <mc:Fallback>
          <p:sp>
            <p:nvSpPr>
              <p:cNvPr id="306" name="Object 5"/>
              <p:cNvSpPr txBox="1"/>
              <p:nvPr/>
            </p:nvSpPr>
            <p:spPr>
              <a:xfrm>
                <a:off x="1279440" y="2075040"/>
                <a:ext cx="1298520" cy="5727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07" name="Object 6"/>
              <p:cNvSpPr txBox="1"/>
              <p:nvPr/>
            </p:nvSpPr>
            <p:spPr>
              <a:xfrm>
                <a:off x="228600" y="2133720"/>
                <a:ext cx="584280" cy="492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|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v</m:t>
                        </m:r>
                      </m:e>
                    </m:acc>
                    <m:r>
                      <m:t xml:space="preserve">|</m:t>
                    </m:r>
                  </m:oMath>
                </a14:m>
              </a:p>
            </p:txBody>
          </p:sp>
        </mc:Choice>
        <mc:Fallback>
          <p:sp>
            <p:nvSpPr>
              <p:cNvPr id="307" name="Object 6"/>
              <p:cNvSpPr txBox="1"/>
              <p:nvPr/>
            </p:nvSpPr>
            <p:spPr>
              <a:xfrm>
                <a:off x="228600" y="2133720"/>
                <a:ext cx="584280" cy="492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308" name="Text Box 7"/>
          <p:cNvSpPr/>
          <p:nvPr/>
        </p:nvSpPr>
        <p:spPr>
          <a:xfrm>
            <a:off x="-240120" y="2819520"/>
            <a:ext cx="3800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法向加速度大小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09" name="Object 8"/>
              <p:cNvSpPr txBox="1"/>
              <p:nvPr/>
            </p:nvSpPr>
            <p:spPr>
              <a:xfrm>
                <a:off x="5486400" y="2133720"/>
                <a:ext cx="615960" cy="492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|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a</m:t>
                        </m:r>
                      </m:e>
                    </m:acc>
                    <m:r>
                      <m:t xml:space="preserve">|</m:t>
                    </m:r>
                  </m:oMath>
                </a14:m>
              </a:p>
            </p:txBody>
          </p:sp>
        </mc:Choice>
        <mc:Fallback>
          <p:sp>
            <p:nvSpPr>
              <p:cNvPr id="309" name="Object 8"/>
              <p:cNvSpPr txBox="1"/>
              <p:nvPr/>
            </p:nvSpPr>
            <p:spPr>
              <a:xfrm>
                <a:off x="5486400" y="2133720"/>
                <a:ext cx="615960" cy="4921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310" name="Text Box 9"/>
          <p:cNvSpPr/>
          <p:nvPr/>
        </p:nvSpPr>
        <p:spPr>
          <a:xfrm>
            <a:off x="5509800" y="2133720"/>
            <a:ext cx="39870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=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 </a:t>
            </a:r>
            <a:r>
              <a:rPr lang="en-US" sz="3000" b="1" u="sng" strike="noStrike">
                <a:solidFill>
                  <a:srgbClr val="000000"/>
                </a:solidFill>
                <a:effectLst/>
                <a:uFillTx/>
                <a:latin typeface="宋体"/>
              </a:rPr>
              <a:t>   ____ 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；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11" name="Object 10"/>
              <p:cNvSpPr txBox="1"/>
              <p:nvPr/>
            </p:nvSpPr>
            <p:spPr>
              <a:xfrm>
                <a:off x="3110040" y="2830680"/>
                <a:ext cx="3956040" cy="522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n</m:t>
                        </m:r>
                      </m:sub>
                    </m:sSub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_______________,</m:t>
                    </m:r>
                  </m:oMath>
                </a14:m>
              </a:p>
            </p:txBody>
          </p:sp>
        </mc:Choice>
        <mc:Fallback>
          <p:sp>
            <p:nvSpPr>
              <p:cNvPr id="311" name="Object 10"/>
              <p:cNvSpPr txBox="1"/>
              <p:nvPr/>
            </p:nvSpPr>
            <p:spPr>
              <a:xfrm>
                <a:off x="3110040" y="2830680"/>
                <a:ext cx="3956040" cy="52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312" name="Text Box 11"/>
          <p:cNvSpPr/>
          <p:nvPr/>
        </p:nvSpPr>
        <p:spPr>
          <a:xfrm>
            <a:off x="-240120" y="3429000"/>
            <a:ext cx="3800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切向加速度大小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13" name="Object 12"/>
              <p:cNvSpPr txBox="1"/>
              <p:nvPr/>
            </p:nvSpPr>
            <p:spPr>
              <a:xfrm>
                <a:off x="2981160" y="3414600"/>
                <a:ext cx="4214880" cy="552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τ</m:t>
                        </m:r>
                      </m:sub>
                    </m:sSub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________________</m:t>
                    </m:r>
                    <m:r>
                      <m:t xml:space="preserve">。</m:t>
                    </m:r>
                  </m:oMath>
                </a14:m>
              </a:p>
            </p:txBody>
          </p:sp>
        </mc:Choice>
        <mc:Fallback>
          <p:sp>
            <p:nvSpPr>
              <p:cNvPr id="313" name="Object 12"/>
              <p:cNvSpPr txBox="1"/>
              <p:nvPr/>
            </p:nvSpPr>
            <p:spPr>
              <a:xfrm>
                <a:off x="2981160" y="3414600"/>
                <a:ext cx="4214880" cy="5526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314" name="Freeform 13"/>
          <p:cNvSpPr/>
          <p:nvPr/>
        </p:nvSpPr>
        <p:spPr>
          <a:xfrm>
            <a:off x="4419720" y="4724280"/>
            <a:ext cx="1981080" cy="1752840"/>
          </a:xfrm>
          <a:custGeom>
            <a:avLst/>
            <a:gdLst>
              <a:gd name="GluePoint1X" fmla="*/ 0 w 1728"/>
              <a:gd name="GluePoint1Y" fmla="*/ 1752600 h 1584"/>
              <a:gd name="GluePoint2X" fmla="*/ 990600 w 1728"/>
              <a:gd name="GluePoint2Y" fmla="*/ 0 h 1584"/>
              <a:gd name="GluePoint3X" fmla="*/ 1981200 w 1728"/>
              <a:gd name="GluePoint3Y" fmla="*/ 1752600 h 158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1728" h="1584">
                <a:moveTo>
                  <a:pt x="0" y="1584"/>
                </a:moveTo>
                <a:cubicBezTo>
                  <a:pt x="288" y="792"/>
                  <a:pt x="576" y="0"/>
                  <a:pt x="864" y="0"/>
                </a:cubicBezTo>
                <a:cubicBezTo>
                  <a:pt x="1152" y="0"/>
                  <a:pt x="1440" y="792"/>
                  <a:pt x="1728" y="1584"/>
                </a:cubicBezTo>
              </a:path>
            </a:pathLst>
          </a:cu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15" name="Group 14"/>
          <p:cNvGrpSpPr/>
          <p:nvPr/>
        </p:nvGrpSpPr>
        <p:grpSpPr>
          <a:xfrm>
            <a:off x="3962520" y="5638680"/>
            <a:ext cx="1295280" cy="838080"/>
            <a:chOff x="3962520" y="5638680"/>
            <a:chExt cx="1295280" cy="838080"/>
          </a:xfrm>
        </p:grpSpPr>
        <p:sp>
          <p:nvSpPr>
            <p:cNvPr id="316" name="Line 15"/>
            <p:cNvSpPr/>
            <p:nvPr/>
          </p:nvSpPr>
          <p:spPr>
            <a:xfrm flipV="1">
              <a:off x="4419720" y="5638680"/>
              <a:ext cx="304560" cy="838080"/>
            </a:xfrm>
            <a:prstGeom prst="line">
              <a:avLst/>
            </a:prstGeom>
            <a:ln w="38160">
              <a:solidFill>
                <a:srgbClr val="0000FF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7" name="Line 16"/>
            <p:cNvSpPr/>
            <p:nvPr/>
          </p:nvSpPr>
          <p:spPr>
            <a:xfrm>
              <a:off x="4419720" y="6476760"/>
              <a:ext cx="838080" cy="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8" name="Arc 17"/>
            <p:cNvSpPr/>
            <p:nvPr/>
          </p:nvSpPr>
          <p:spPr>
            <a:xfrm>
              <a:off x="4572000" y="6172200"/>
              <a:ext cx="228600" cy="304560"/>
            </a:xfrm>
            <a:custGeom>
              <a:avLst/>
              <a:gdLst>
                <a:gd name="GluePoint1X" fmla="*/ 0 w 21600"/>
                <a:gd name="GluePoint1Y" fmla="*/ 0 h 21600"/>
                <a:gd name="GluePoint2X" fmla="*/ 144 w 21600"/>
                <a:gd name="GluePoint2Y" fmla="*/ 192 h 21600"/>
                <a:gd name="GluePoint3X" fmla="*/ 0 w 21600"/>
                <a:gd name="GluePoint3Y" fmla="*/ 192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l" t="t" r="r" b="b"/>
              <a:pathLst>
                <a:path fill="none" w="21600" h="2160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stroke="0" w="21600" h="2160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4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mc:AlternateContent>
          <mc:Choice xmlns:a14="http://schemas.microsoft.com/office/drawing/2010/main" Requires="a14">
            <p:sp>
              <p:nvSpPr>
                <p:cNvPr id="319" name="Object 18"/>
                <p:cNvSpPr txBox="1"/>
                <p:nvPr/>
              </p:nvSpPr>
              <p:spPr>
                <a:xfrm>
                  <a:off x="4800600" y="5943600"/>
                  <a:ext cx="324000" cy="43020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r>
                        <m:t xml:space="preserve">θ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319" name="Object 18"/>
                <p:cNvSpPr txBox="1"/>
                <p:nvPr/>
              </p:nvSpPr>
              <p:spPr>
                <a:xfrm>
                  <a:off x="4800600" y="5943600"/>
                  <a:ext cx="324000" cy="4302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</p:sp>
          </mc:Fallback>
        </mc:AlternateContent>
        <mc:AlternateContent>
          <mc:Choice xmlns:a14="http://schemas.microsoft.com/office/drawing/2010/main" Requires="a14">
            <p:sp>
              <p:nvSpPr>
                <p:cNvPr id="320" name="Object 19"/>
                <p:cNvSpPr txBox="1"/>
                <p:nvPr/>
              </p:nvSpPr>
              <p:spPr>
                <a:xfrm>
                  <a:off x="3962520" y="5790960"/>
                  <a:ext cx="487080" cy="60984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sSub>
                        <m:e>
                          <m:r>
                            <m:t xml:space="preserve">v</m:t>
                          </m:r>
                        </m:e>
                        <m:sub>
                          <m:r>
                            <m:t xml:space="preserve">o</m:t>
                          </m:r>
                        </m:sub>
                      </m:sSub>
                    </m:oMath>
                  </a14:m>
                </a:p>
              </p:txBody>
            </p:sp>
          </mc:Choice>
          <mc:Fallback>
            <p:sp>
              <p:nvSpPr>
                <p:cNvPr id="320" name="Object 19"/>
                <p:cNvSpPr txBox="1"/>
                <p:nvPr/>
              </p:nvSpPr>
              <p:spPr>
                <a:xfrm>
                  <a:off x="3962520" y="5790960"/>
                  <a:ext cx="487080" cy="60984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</p:sp>
          </mc:Fallback>
        </mc:AlternateContent>
      </p:grpSp>
      <p:sp>
        <p:nvSpPr>
          <p:cNvPr id="321" name="Line 20"/>
          <p:cNvSpPr/>
          <p:nvPr/>
        </p:nvSpPr>
        <p:spPr>
          <a:xfrm>
            <a:off x="5410080" y="4724280"/>
            <a:ext cx="838440" cy="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22" name="Object 21"/>
              <p:cNvSpPr txBox="1"/>
              <p:nvPr/>
            </p:nvSpPr>
            <p:spPr>
              <a:xfrm>
                <a:off x="5638680" y="4191120"/>
                <a:ext cx="325440" cy="503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v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22" name="Object 21"/>
              <p:cNvSpPr txBox="1"/>
              <p:nvPr/>
            </p:nvSpPr>
            <p:spPr>
              <a:xfrm>
                <a:off x="5638680" y="4191120"/>
                <a:ext cx="325440" cy="5032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p:sp>
        <p:nvSpPr>
          <p:cNvPr id="323" name="Line 22"/>
          <p:cNvSpPr/>
          <p:nvPr/>
        </p:nvSpPr>
        <p:spPr>
          <a:xfrm>
            <a:off x="5410080" y="4724280"/>
            <a:ext cx="0" cy="990720"/>
          </a:xfrm>
          <a:prstGeom prst="line">
            <a:avLst/>
          </a:prstGeom>
          <a:ln w="38160">
            <a:solidFill>
              <a:srgbClr val="FF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24" name="Object 23"/>
              <p:cNvSpPr txBox="1"/>
              <p:nvPr/>
            </p:nvSpPr>
            <p:spPr>
              <a:xfrm>
                <a:off x="7010280" y="2209680"/>
                <a:ext cx="357480" cy="487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g</m:t>
                    </m:r>
                  </m:oMath>
                </a14:m>
              </a:p>
            </p:txBody>
          </p:sp>
        </mc:Choice>
        <mc:Fallback>
          <p:sp>
            <p:nvSpPr>
              <p:cNvPr id="324" name="Object 23"/>
              <p:cNvSpPr txBox="1"/>
              <p:nvPr/>
            </p:nvSpPr>
            <p:spPr>
              <a:xfrm>
                <a:off x="7010280" y="2209680"/>
                <a:ext cx="357480" cy="4874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25" name="Object 24"/>
              <p:cNvSpPr txBox="1"/>
              <p:nvPr/>
            </p:nvSpPr>
            <p:spPr>
              <a:xfrm>
                <a:off x="5029200" y="2789280"/>
                <a:ext cx="357120" cy="487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g</m:t>
                    </m:r>
                  </m:oMath>
                </a14:m>
              </a:p>
            </p:txBody>
          </p:sp>
        </mc:Choice>
        <mc:Fallback>
          <p:sp>
            <p:nvSpPr>
              <p:cNvPr id="325" name="Object 24"/>
              <p:cNvSpPr txBox="1"/>
              <p:nvPr/>
            </p:nvSpPr>
            <p:spPr>
              <a:xfrm>
                <a:off x="5029200" y="2789280"/>
                <a:ext cx="357120" cy="4874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26" name="Object 25"/>
              <p:cNvSpPr txBox="1"/>
              <p:nvPr/>
            </p:nvSpPr>
            <p:spPr>
              <a:xfrm>
                <a:off x="5029200" y="3457440"/>
                <a:ext cx="357120" cy="524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326" name="Object 25"/>
              <p:cNvSpPr txBox="1"/>
              <p:nvPr/>
            </p:nvSpPr>
            <p:spPr>
              <a:xfrm>
                <a:off x="5029200" y="3457440"/>
                <a:ext cx="357120" cy="52416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27" name="Object 26"/>
              <p:cNvSpPr txBox="1"/>
              <p:nvPr/>
            </p:nvSpPr>
            <p:spPr>
              <a:xfrm>
                <a:off x="5257800" y="5724360"/>
                <a:ext cx="357120" cy="600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g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27" name="Object 26"/>
              <p:cNvSpPr txBox="1"/>
              <p:nvPr/>
            </p:nvSpPr>
            <p:spPr>
              <a:xfrm>
                <a:off x="5257800" y="5724360"/>
                <a:ext cx="357120" cy="6001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53" dur="indefinite" restart="never" nodeType="tmRoot">
          <p:childTnLst>
            <p:seq>
              <p:cTn id="554" dur="indefinite" nodeType="mainSeq">
                <p:childTnLst>
                  <p:par>
                    <p:cTn id="555" fill="hold" nodeType="clickEffect">
                      <p:stCondLst>
                        <p:cond delay="indefinite"/>
                      </p:stCondLst>
                      <p:childTnLst>
                        <p:par>
                          <p:cTn id="55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5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559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0" fill="hold" nodeType="clickEffect">
                      <p:stCondLst>
                        <p:cond delay="indefinite"/>
                      </p:stCondLst>
                      <p:childTnLst>
                        <p:par>
                          <p:cTn id="56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6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64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5" fill="hold" nodeType="clickEffect">
                      <p:stCondLst>
                        <p:cond delay="indefinite"/>
                      </p:stCondLst>
                      <p:childTnLst>
                        <p:par>
                          <p:cTn id="56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6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69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0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571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73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4" fill="hold" nodeType="clickEffect">
                      <p:stCondLst>
                        <p:cond delay="indefinite"/>
                      </p:stCondLst>
                      <p:childTnLst>
                        <p:par>
                          <p:cTn id="57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7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78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9" fill="hold" nodeType="clickEffect">
                      <p:stCondLst>
                        <p:cond delay="indefinite"/>
                      </p:stCondLst>
                      <p:childTnLst>
                        <p:par>
                          <p:cTn id="58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81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583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4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585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87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8" fill="hold" nodeType="clickEffect">
                      <p:stCondLst>
                        <p:cond delay="indefinite"/>
                      </p:stCondLst>
                      <p:childTnLst>
                        <p:par>
                          <p:cTn id="58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9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92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3" fill="hold" nodeType="clickEffect">
                      <p:stCondLst>
                        <p:cond delay="indefinite"/>
                      </p:stCondLst>
                      <p:childTnLst>
                        <p:par>
                          <p:cTn id="59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9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97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8" fill="hold" nodeType="clickEffect">
                      <p:stCondLst>
                        <p:cond delay="indefinite"/>
                      </p:stCondLst>
                      <p:childTnLst>
                        <p:par>
                          <p:cTn id="59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0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02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 Box 2"/>
          <p:cNvSpPr/>
          <p:nvPr/>
        </p:nvSpPr>
        <p:spPr>
          <a:xfrm>
            <a:off x="-611640" y="838080"/>
            <a:ext cx="100576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P14/3.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xoy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平面内运动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任意时刻位置矢量为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29" name="Object 3"/>
              <p:cNvSpPr txBox="1"/>
              <p:nvPr/>
            </p:nvSpPr>
            <p:spPr>
              <a:xfrm>
                <a:off x="228600" y="1371600"/>
                <a:ext cx="3675240" cy="557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r</m:t>
                        </m:r>
                      </m:e>
                    </m:acc>
                    <m:r>
                      <m:t xml:space="preserve">=</m:t>
                    </m:r>
                    <m:r>
                      <m:t xml:space="preserve">3</m:t>
                    </m:r>
                    <m:r>
                      <m:rPr>
                        <m:lit/>
                        <m:nor/>
                      </m:rPr>
                      <m:t xml:space="preserve">sin</m:t>
                    </m:r>
                    <m:r>
                      <m:t xml:space="preserve">ωt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+</m:t>
                    </m:r>
                    <m:r>
                      <m:t xml:space="preserve">4</m:t>
                    </m:r>
                    <m:r>
                      <m:rPr>
                        <m:lit/>
                        <m:nor/>
                      </m:rPr>
                      <m:t xml:space="preserve">cos</m:t>
                    </m:r>
                    <m:r>
                      <m:t xml:space="preserve">ωt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29" name="Object 3"/>
              <p:cNvSpPr txBox="1"/>
              <p:nvPr/>
            </p:nvSpPr>
            <p:spPr>
              <a:xfrm>
                <a:off x="228600" y="1371600"/>
                <a:ext cx="3675240" cy="5572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330" name="Text Box 4"/>
          <p:cNvSpPr/>
          <p:nvPr/>
        </p:nvSpPr>
        <p:spPr>
          <a:xfrm>
            <a:off x="3479040" y="1355760"/>
            <a:ext cx="4364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其中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ω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是正常数。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Text Box 5"/>
          <p:cNvSpPr/>
          <p:nvPr/>
        </p:nvSpPr>
        <p:spPr>
          <a:xfrm>
            <a:off x="-408240" y="2057400"/>
            <a:ext cx="7793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速度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=___________________________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，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Text Box 6"/>
          <p:cNvSpPr/>
          <p:nvPr/>
        </p:nvSpPr>
        <p:spPr>
          <a:xfrm>
            <a:off x="-405360" y="3960720"/>
            <a:ext cx="93168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运动轨迹方程为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33" name="Object 7"/>
              <p:cNvSpPr txBox="1"/>
              <p:nvPr/>
            </p:nvSpPr>
            <p:spPr>
              <a:xfrm>
                <a:off x="304920" y="4967280"/>
                <a:ext cx="1084320" cy="1052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v</m:t>
                        </m:r>
                      </m:e>
                    </m:acc>
                    <m:r>
                      <m:t xml:space="preserve">=</m:t>
                    </m:r>
                    <m:f>
                      <m:num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r</m:t>
                            </m:r>
                          </m:e>
                        </m:acc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33" name="Object 7"/>
              <p:cNvSpPr txBox="1"/>
              <p:nvPr/>
            </p:nvSpPr>
            <p:spPr>
              <a:xfrm>
                <a:off x="304920" y="4967280"/>
                <a:ext cx="1084320" cy="10526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34" name="Object 8"/>
              <p:cNvSpPr txBox="1"/>
              <p:nvPr/>
            </p:nvSpPr>
            <p:spPr>
              <a:xfrm>
                <a:off x="1676520" y="1981080"/>
                <a:ext cx="3962160" cy="557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v</m:t>
                        </m:r>
                      </m:e>
                    </m:acc>
                    <m:r>
                      <m:t xml:space="preserve">=</m:t>
                    </m:r>
                    <m:r>
                      <m:t xml:space="preserve">3</m:t>
                    </m:r>
                    <m:r>
                      <m:t xml:space="preserve">ω</m:t>
                    </m:r>
                    <m:r>
                      <m:rPr>
                        <m:lit/>
                        <m:nor/>
                      </m:rPr>
                      <m:t xml:space="preserve">cos</m:t>
                    </m:r>
                    <m:r>
                      <m:t xml:space="preserve">ωt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−</m:t>
                    </m:r>
                    <m:r>
                      <m:t xml:space="preserve">4</m:t>
                    </m:r>
                    <m:r>
                      <m:t xml:space="preserve">ω</m:t>
                    </m:r>
                    <m:r>
                      <m:rPr>
                        <m:lit/>
                        <m:nor/>
                      </m:rPr>
                      <m:t xml:space="preserve">sin</m:t>
                    </m:r>
                    <m:r>
                      <m:t xml:space="preserve">ωt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34" name="Object 8"/>
              <p:cNvSpPr txBox="1"/>
              <p:nvPr/>
            </p:nvSpPr>
            <p:spPr>
              <a:xfrm>
                <a:off x="1676520" y="1981080"/>
                <a:ext cx="3962160" cy="5572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35" name="Object 9"/>
              <p:cNvSpPr txBox="1"/>
              <p:nvPr/>
            </p:nvSpPr>
            <p:spPr>
              <a:xfrm>
                <a:off x="2057400" y="5195880"/>
                <a:ext cx="963720" cy="677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=</m:t>
                    </m:r>
                    <m:d>
                      <m:dPr>
                        <m:begChr m:val="|"/>
                        <m:endChr m:val="|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335" name="Object 9"/>
              <p:cNvSpPr txBox="1"/>
              <p:nvPr/>
            </p:nvSpPr>
            <p:spPr>
              <a:xfrm>
                <a:off x="2057400" y="5195880"/>
                <a:ext cx="963720" cy="6778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36" name="Object 10"/>
              <p:cNvSpPr txBox="1"/>
              <p:nvPr/>
            </p:nvSpPr>
            <p:spPr>
              <a:xfrm>
                <a:off x="1371600" y="2666880"/>
                <a:ext cx="4724280" cy="587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=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m:t xml:space="preserve">9</m:t>
                        </m:r>
                        <m:sSup>
                          <m:e>
                            <m:r>
                              <m:t xml:space="preserve">ω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lit/>
                                <m:nor/>
                              </m:rPr>
                              <m:t xml:space="preserve">cos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  <m:r>
                          <m:t xml:space="preserve">ωt</m:t>
                        </m:r>
                        <m:r>
                          <m:t xml:space="preserve">+</m:t>
                        </m:r>
                        <m:r>
                          <m:rPr>
                            <m:lit/>
                            <m:nor/>
                          </m:rPr>
                          <m:t xml:space="preserve">16</m:t>
                        </m:r>
                        <m:sSup>
                          <m:e>
                            <m:r>
                              <m:t xml:space="preserve">ω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lit/>
                                <m:nor/>
                              </m:rPr>
                              <m:t xml:space="preserve">sin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  <m:r>
                          <m:t xml:space="preserve">ωt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336" name="Object 10"/>
              <p:cNvSpPr txBox="1"/>
              <p:nvPr/>
            </p:nvSpPr>
            <p:spPr>
              <a:xfrm>
                <a:off x="1371600" y="2666880"/>
                <a:ext cx="4724280" cy="587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337" name="Text Box 11"/>
          <p:cNvSpPr/>
          <p:nvPr/>
        </p:nvSpPr>
        <p:spPr>
          <a:xfrm>
            <a:off x="-411120" y="2803680"/>
            <a:ext cx="7793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速率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= __________________________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，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38" name="Object 12"/>
              <p:cNvSpPr txBox="1"/>
              <p:nvPr/>
            </p:nvSpPr>
            <p:spPr>
              <a:xfrm>
                <a:off x="4191120" y="5029200"/>
                <a:ext cx="1600200" cy="409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x</m:t>
                    </m:r>
                    <m:r>
                      <m:t xml:space="preserve">=</m:t>
                    </m:r>
                    <m:r>
                      <m:t xml:space="preserve">3</m:t>
                    </m:r>
                    <m:r>
                      <m:rPr>
                        <m:lit/>
                        <m:nor/>
                      </m:rPr>
                      <m:t xml:space="preserve">sin</m:t>
                    </m:r>
                    <m:r>
                      <m:t xml:space="preserve">ωt</m:t>
                    </m:r>
                  </m:oMath>
                </a14:m>
              </a:p>
            </p:txBody>
          </p:sp>
        </mc:Choice>
        <mc:Fallback>
          <p:sp>
            <p:nvSpPr>
              <p:cNvPr id="338" name="Object 12"/>
              <p:cNvSpPr txBox="1"/>
              <p:nvPr/>
            </p:nvSpPr>
            <p:spPr>
              <a:xfrm>
                <a:off x="4191120" y="5029200"/>
                <a:ext cx="1600200" cy="4096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39" name="Object 13"/>
              <p:cNvSpPr txBox="1"/>
              <p:nvPr/>
            </p:nvSpPr>
            <p:spPr>
              <a:xfrm>
                <a:off x="4191120" y="5562720"/>
                <a:ext cx="1600200" cy="468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y</m:t>
                    </m:r>
                    <m:r>
                      <m:t xml:space="preserve">=</m:t>
                    </m:r>
                    <m:r>
                      <m:t xml:space="preserve">4</m:t>
                    </m:r>
                    <m:r>
                      <m:rPr>
                        <m:lit/>
                        <m:nor/>
                      </m:rPr>
                      <m:t xml:space="preserve">cos</m:t>
                    </m:r>
                    <m:r>
                      <m:t xml:space="preserve">ωt</m:t>
                    </m:r>
                  </m:oMath>
                </a14:m>
              </a:p>
            </p:txBody>
          </p:sp>
        </mc:Choice>
        <mc:Fallback>
          <p:sp>
            <p:nvSpPr>
              <p:cNvPr id="339" name="Object 13"/>
              <p:cNvSpPr txBox="1"/>
              <p:nvPr/>
            </p:nvSpPr>
            <p:spPr>
              <a:xfrm>
                <a:off x="4191120" y="5562720"/>
                <a:ext cx="1600200" cy="4683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p:sp>
        <p:nvSpPr>
          <p:cNvPr id="340" name="AutoShape 14"/>
          <p:cNvSpPr/>
          <p:nvPr/>
        </p:nvSpPr>
        <p:spPr>
          <a:xfrm>
            <a:off x="3962520" y="5257800"/>
            <a:ext cx="152280" cy="609480"/>
          </a:xfrm>
          <a:custGeom>
            <a:avLst/>
            <a:gdLst>
              <a:gd name="textAreaLeft" fmla="*/ 97200 w 152280"/>
              <a:gd name="textAreaRight" fmla="*/ 152640 w 152280"/>
              <a:gd name="textAreaTop" fmla="*/ 15840 h 609480"/>
              <a:gd name="textAreaBottom" fmla="*/ 593640 h 60948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41" name="Object 15"/>
              <p:cNvSpPr txBox="1"/>
              <p:nvPr/>
            </p:nvSpPr>
            <p:spPr>
              <a:xfrm>
                <a:off x="3505320" y="3505320"/>
                <a:ext cx="1768320" cy="968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sSup>
                          <m:e>
                            <m:r>
                              <m:t xml:space="preserve">x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num>
                      <m:den>
                        <m:r>
                          <m:t xml:space="preserve">9</m:t>
                        </m:r>
                      </m:den>
                    </m:f>
                    <m:r>
                      <m:t xml:space="preserve">+</m:t>
                    </m:r>
                    <m:f>
                      <m:num>
                        <m:sSup>
                          <m:e>
                            <m:r>
                              <m:t xml:space="preserve">y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16</m:t>
                        </m:r>
                      </m:den>
                    </m:f>
                    <m:r>
                      <m:t xml:space="preserve">=</m:t>
                    </m:r>
                    <m:r>
                      <m:t xml:space="preserve">1</m:t>
                    </m:r>
                  </m:oMath>
                </a14:m>
              </a:p>
            </p:txBody>
          </p:sp>
        </mc:Choice>
        <mc:Fallback>
          <p:sp>
            <p:nvSpPr>
              <p:cNvPr id="341" name="Object 15"/>
              <p:cNvSpPr txBox="1"/>
              <p:nvPr/>
            </p:nvSpPr>
            <p:spPr>
              <a:xfrm>
                <a:off x="3505320" y="3505320"/>
                <a:ext cx="1768320" cy="968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p:sp>
        <p:nvSpPr>
          <p:cNvPr id="342" name="星形: 五角 17"/>
          <p:cNvSpPr/>
          <p:nvPr/>
        </p:nvSpPr>
        <p:spPr>
          <a:xfrm>
            <a:off x="250920" y="189000"/>
            <a:ext cx="433440" cy="404640"/>
          </a:xfrm>
          <a:custGeom>
            <a:avLst/>
            <a:gdLst>
              <a:gd name="GluePoint1X" fmla="*/ 0 w 432048"/>
              <a:gd name="GluePoint1Y" fmla="*/ 154728 h 405085"/>
              <a:gd name="GluePoint2X" fmla="*/ 165029 w 432048"/>
              <a:gd name="GluePoint2Y" fmla="*/ 154729 h 405085"/>
              <a:gd name="GluePoint3X" fmla="*/ 216024 w 432048"/>
              <a:gd name="GluePoint3Y" fmla="*/ 0 h 405085"/>
              <a:gd name="GluePoint4X" fmla="*/ 267019 w 432048"/>
              <a:gd name="GluePoint4Y" fmla="*/ 154729 h 405085"/>
              <a:gd name="GluePoint5X" fmla="*/ 432048 w 432048"/>
              <a:gd name="GluePoint5Y" fmla="*/ 154728 h 405085"/>
              <a:gd name="GluePoint6X" fmla="*/ 298536 w 432048"/>
              <a:gd name="GluePoint6Y" fmla="*/ 250355 h 405085"/>
              <a:gd name="GluePoint7X" fmla="*/ 349534 w 432048"/>
              <a:gd name="GluePoint7Y" fmla="*/ 405084 h 405085"/>
              <a:gd name="GluePoint8X" fmla="*/ 216024 w 432048"/>
              <a:gd name="GluePoint8Y" fmla="*/ 309455 h 405085"/>
              <a:gd name="GluePoint9X" fmla="*/ 82514 w 432048"/>
              <a:gd name="GluePoint9Y" fmla="*/ 405084 h 405085"/>
              <a:gd name="GluePoint10X" fmla="*/ 133512 w 432048"/>
              <a:gd name="GluePoint10Y" fmla="*/ 250355 h 405085"/>
              <a:gd name="GluePoint11X" fmla="*/ 0 w 432048"/>
              <a:gd name="GluePoint11Y" fmla="*/ 154728 h 4050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2048" h="405085">
                <a:moveTo>
                  <a:pt x="0" y="154728"/>
                </a:moveTo>
                <a:lnTo>
                  <a:pt x="165029" y="154729"/>
                </a:lnTo>
                <a:lnTo>
                  <a:pt x="216024" y="0"/>
                </a:lnTo>
                <a:lnTo>
                  <a:pt x="267019" y="154729"/>
                </a:lnTo>
                <a:lnTo>
                  <a:pt x="432048" y="154728"/>
                </a:lnTo>
                <a:lnTo>
                  <a:pt x="298536" y="250355"/>
                </a:lnTo>
                <a:lnTo>
                  <a:pt x="349534" y="405084"/>
                </a:lnTo>
                <a:lnTo>
                  <a:pt x="216024" y="309455"/>
                </a:lnTo>
                <a:lnTo>
                  <a:pt x="82514" y="405084"/>
                </a:lnTo>
                <a:lnTo>
                  <a:pt x="133512" y="250355"/>
                </a:lnTo>
                <a:lnTo>
                  <a:pt x="0" y="154728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03" dur="indefinite" restart="never" nodeType="tmRoot">
          <p:childTnLst>
            <p:seq>
              <p:cTn id="604" dur="indefinite" nodeType="mainSeq">
                <p:childTnLst>
                  <p:par>
                    <p:cTn id="605" fill="hold" nodeType="clickEffect">
                      <p:stCondLst>
                        <p:cond delay="indefinite"/>
                      </p:stCondLst>
                      <p:childTnLst>
                        <p:par>
                          <p:cTn id="60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0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09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0" fill="hold" nodeType="clickEffect">
                      <p:stCondLst>
                        <p:cond delay="indefinite"/>
                      </p:stCondLst>
                      <p:childTnLst>
                        <p:par>
                          <p:cTn id="61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1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14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5" fill="hold" nodeType="clickEffect">
                      <p:stCondLst>
                        <p:cond delay="indefinite"/>
                      </p:stCondLst>
                      <p:childTnLst>
                        <p:par>
                          <p:cTn id="6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1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19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0" fill="hold" nodeType="clickEffect">
                      <p:stCondLst>
                        <p:cond delay="indefinite"/>
                      </p:stCondLst>
                      <p:childTnLst>
                        <p:par>
                          <p:cTn id="62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2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24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5" fill="hold" nodeType="clickEffect">
                      <p:stCondLst>
                        <p:cond delay="indefinite"/>
                      </p:stCondLst>
                      <p:childTnLst>
                        <p:par>
                          <p:cTn id="62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2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29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0" fill="hold" nodeType="clickEffect">
                      <p:stCondLst>
                        <p:cond delay="indefinite"/>
                      </p:stCondLst>
                      <p:childTnLst>
                        <p:par>
                          <p:cTn id="63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3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34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5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636" presetID="16" presetClass="entr" fill="hold" nodeType="afterEffect" presetSubtype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 additive="repl">
                                        <p:cTn id="638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9" fill="hold" nodeType="clickEffect">
                      <p:stCondLst>
                        <p:cond delay="indefinite"/>
                      </p:stCondLst>
                      <p:childTnLst>
                        <p:par>
                          <p:cTn id="64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4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43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 Box 2"/>
          <p:cNvSpPr/>
          <p:nvPr/>
        </p:nvSpPr>
        <p:spPr>
          <a:xfrm>
            <a:off x="46800" y="1301760"/>
            <a:ext cx="5987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P14/4.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质点在某时刻的位置矢量为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Text Box 3"/>
          <p:cNvSpPr/>
          <p:nvPr/>
        </p:nvSpPr>
        <p:spPr>
          <a:xfrm>
            <a:off x="6131520" y="1301760"/>
            <a:ext cx="1605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速度为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45" name="Object 4"/>
              <p:cNvSpPr txBox="1"/>
              <p:nvPr/>
            </p:nvSpPr>
            <p:spPr>
              <a:xfrm>
                <a:off x="5969160" y="1371600"/>
                <a:ext cx="355320" cy="496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r</m:t>
                            </m:r>
                          </m:e>
                        </m:acc>
                      </m:e>
                      <m:sub>
                        <m:r>
                          <m:t xml:space="preserve">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45" name="Object 4"/>
              <p:cNvSpPr txBox="1"/>
              <p:nvPr/>
            </p:nvSpPr>
            <p:spPr>
              <a:xfrm>
                <a:off x="5969160" y="1371600"/>
                <a:ext cx="355320" cy="49680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346" name="Text Box 5"/>
          <p:cNvSpPr/>
          <p:nvPr/>
        </p:nvSpPr>
        <p:spPr>
          <a:xfrm>
            <a:off x="7883280" y="1285920"/>
            <a:ext cx="1224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在时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47" name="Object 6"/>
              <p:cNvSpPr txBox="1"/>
              <p:nvPr/>
            </p:nvSpPr>
            <p:spPr>
              <a:xfrm>
                <a:off x="7620120" y="1338120"/>
                <a:ext cx="304560" cy="497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t xml:space="preserve">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47" name="Object 6"/>
              <p:cNvSpPr txBox="1"/>
              <p:nvPr/>
            </p:nvSpPr>
            <p:spPr>
              <a:xfrm>
                <a:off x="7620120" y="1338120"/>
                <a:ext cx="304560" cy="4971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348" name="Text Box 7"/>
          <p:cNvSpPr/>
          <p:nvPr/>
        </p:nvSpPr>
        <p:spPr>
          <a:xfrm>
            <a:off x="78840" y="181944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间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Text Box 8"/>
          <p:cNvSpPr/>
          <p:nvPr/>
        </p:nvSpPr>
        <p:spPr>
          <a:xfrm>
            <a:off x="742320" y="1819440"/>
            <a:ext cx="7404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内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经任一路径回到出发点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此时的速度为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50" name="Object 9"/>
              <p:cNvSpPr txBox="1"/>
              <p:nvPr/>
            </p:nvSpPr>
            <p:spPr>
              <a:xfrm>
                <a:off x="533520" y="1911240"/>
                <a:ext cx="485640" cy="409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Δt</m:t>
                    </m:r>
                  </m:oMath>
                </a14:m>
              </a:p>
            </p:txBody>
          </p:sp>
        </mc:Choice>
        <mc:Fallback>
          <p:sp>
            <p:nvSpPr>
              <p:cNvPr id="350" name="Object 9"/>
              <p:cNvSpPr txBox="1"/>
              <p:nvPr/>
            </p:nvSpPr>
            <p:spPr>
              <a:xfrm>
                <a:off x="533520" y="1911240"/>
                <a:ext cx="485640" cy="409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351" name="Text Box 10"/>
          <p:cNvSpPr/>
          <p:nvPr/>
        </p:nvSpPr>
        <p:spPr>
          <a:xfrm>
            <a:off x="80280" y="236844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大小与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52" name="Object 11"/>
              <p:cNvSpPr txBox="1"/>
              <p:nvPr/>
            </p:nvSpPr>
            <p:spPr>
              <a:xfrm>
                <a:off x="7858080" y="1835280"/>
                <a:ext cx="371520" cy="496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t xml:space="preserve">1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52" name="Object 11"/>
              <p:cNvSpPr txBox="1"/>
              <p:nvPr/>
            </p:nvSpPr>
            <p:spPr>
              <a:xfrm>
                <a:off x="7858080" y="1835280"/>
                <a:ext cx="371520" cy="496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353" name="Text Box 12"/>
          <p:cNvSpPr/>
          <p:nvPr/>
        </p:nvSpPr>
        <p:spPr>
          <a:xfrm>
            <a:off x="8187480" y="1835280"/>
            <a:ext cx="843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Text Box 13"/>
          <p:cNvSpPr/>
          <p:nvPr/>
        </p:nvSpPr>
        <p:spPr>
          <a:xfrm>
            <a:off x="1446120" y="2368440"/>
            <a:ext cx="3975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相同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方向相反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则在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55" name="Object 14"/>
              <p:cNvSpPr txBox="1"/>
              <p:nvPr/>
            </p:nvSpPr>
            <p:spPr>
              <a:xfrm>
                <a:off x="1371600" y="2444760"/>
                <a:ext cx="304920" cy="496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t xml:space="preserve">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55" name="Object 14"/>
              <p:cNvSpPr txBox="1"/>
              <p:nvPr/>
            </p:nvSpPr>
            <p:spPr>
              <a:xfrm>
                <a:off x="1371600" y="2444760"/>
                <a:ext cx="304920" cy="496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356" name="Text Box 15"/>
          <p:cNvSpPr/>
          <p:nvPr/>
        </p:nvSpPr>
        <p:spPr>
          <a:xfrm>
            <a:off x="5604120" y="2368440"/>
            <a:ext cx="2466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时间内的位移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57" name="Object 16"/>
              <p:cNvSpPr txBox="1"/>
              <p:nvPr/>
            </p:nvSpPr>
            <p:spPr>
              <a:xfrm>
                <a:off x="5181480" y="2444760"/>
                <a:ext cx="486000" cy="409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Δt</m:t>
                    </m:r>
                  </m:oMath>
                </a14:m>
              </a:p>
            </p:txBody>
          </p:sp>
        </mc:Choice>
        <mc:Fallback>
          <p:sp>
            <p:nvSpPr>
              <p:cNvPr id="357" name="Object 16"/>
              <p:cNvSpPr txBox="1"/>
              <p:nvPr/>
            </p:nvSpPr>
            <p:spPr>
              <a:xfrm>
                <a:off x="5181480" y="2444760"/>
                <a:ext cx="486000" cy="4096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58" name="Object 17"/>
              <p:cNvSpPr txBox="1"/>
              <p:nvPr/>
            </p:nvSpPr>
            <p:spPr>
              <a:xfrm>
                <a:off x="76320" y="3054240"/>
                <a:ext cx="549000" cy="379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r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58" name="Object 17"/>
              <p:cNvSpPr txBox="1"/>
              <p:nvPr/>
            </p:nvSpPr>
            <p:spPr>
              <a:xfrm>
                <a:off x="76320" y="3054240"/>
                <a:ext cx="549000" cy="3794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p:sp>
        <p:nvSpPr>
          <p:cNvPr id="359" name="Text Box 18"/>
          <p:cNvSpPr/>
          <p:nvPr/>
        </p:nvSpPr>
        <p:spPr>
          <a:xfrm>
            <a:off x="501480" y="2901960"/>
            <a:ext cx="389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=_________,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平均速度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Text Box 19"/>
          <p:cNvSpPr/>
          <p:nvPr/>
        </p:nvSpPr>
        <p:spPr>
          <a:xfrm>
            <a:off x="4460400" y="2962440"/>
            <a:ext cx="2558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=_________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，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61" name="Object 20"/>
              <p:cNvSpPr txBox="1"/>
              <p:nvPr/>
            </p:nvSpPr>
            <p:spPr>
              <a:xfrm>
                <a:off x="4292640" y="2978280"/>
                <a:ext cx="203040" cy="468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acc>
                          <m:accPr>
                            <m:chr m:val="¯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61" name="Object 20"/>
              <p:cNvSpPr txBox="1"/>
              <p:nvPr/>
            </p:nvSpPr>
            <p:spPr>
              <a:xfrm>
                <a:off x="4292640" y="2978280"/>
                <a:ext cx="203040" cy="4683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p:sp>
        <p:nvSpPr>
          <p:cNvPr id="362" name="Text Box 21"/>
          <p:cNvSpPr/>
          <p:nvPr/>
        </p:nvSpPr>
        <p:spPr>
          <a:xfrm>
            <a:off x="81720" y="3892680"/>
            <a:ext cx="2085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平均加速度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Text Box 22"/>
          <p:cNvSpPr/>
          <p:nvPr/>
        </p:nvSpPr>
        <p:spPr>
          <a:xfrm>
            <a:off x="2319480" y="3952800"/>
            <a:ext cx="27752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=__________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64" name="Object 23"/>
              <p:cNvSpPr txBox="1"/>
              <p:nvPr/>
            </p:nvSpPr>
            <p:spPr>
              <a:xfrm>
                <a:off x="2133720" y="3968640"/>
                <a:ext cx="387360" cy="498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acc>
                          <m:accPr>
                            <m:chr m:val="¯"/>
                          </m:accPr>
                          <m:e>
                            <m:r>
                              <m:t xml:space="preserve">a</m:t>
                            </m:r>
                          </m:e>
                        </m:acc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64" name="Object 23"/>
              <p:cNvSpPr txBox="1"/>
              <p:nvPr/>
            </p:nvSpPr>
            <p:spPr>
              <a:xfrm>
                <a:off x="2133720" y="3968640"/>
                <a:ext cx="387360" cy="4986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p:sp>
        <p:nvSpPr>
          <p:cNvPr id="365" name="Text Box 24"/>
          <p:cNvSpPr/>
          <p:nvPr/>
        </p:nvSpPr>
        <p:spPr>
          <a:xfrm>
            <a:off x="1449000" y="2901960"/>
            <a:ext cx="3927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Text Box 25"/>
          <p:cNvSpPr/>
          <p:nvPr/>
        </p:nvSpPr>
        <p:spPr>
          <a:xfrm>
            <a:off x="5411160" y="2901960"/>
            <a:ext cx="3927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67" name="Object 26"/>
              <p:cNvSpPr txBox="1"/>
              <p:nvPr/>
            </p:nvSpPr>
            <p:spPr>
              <a:xfrm>
                <a:off x="609480" y="4654440"/>
                <a:ext cx="1036800" cy="908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acc>
                          <m:accPr>
                            <m:chr m:val="¯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</m:acc>
                    <m:r>
                      <m:t xml:space="preserve">=</m:t>
                    </m:r>
                    <m:f>
                      <m:num>
                        <m:r>
                          <m:t xml:space="preserve">Δ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r</m:t>
                            </m:r>
                          </m:e>
                        </m:acc>
                      </m:num>
                      <m:den>
                        <m:r>
                          <m:t xml:space="preserve">Δt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67" name="Object 26"/>
              <p:cNvSpPr txBox="1"/>
              <p:nvPr/>
            </p:nvSpPr>
            <p:spPr>
              <a:xfrm>
                <a:off x="609480" y="4654440"/>
                <a:ext cx="1036800" cy="9082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68" name="Object 27"/>
              <p:cNvSpPr txBox="1"/>
              <p:nvPr/>
            </p:nvSpPr>
            <p:spPr>
              <a:xfrm>
                <a:off x="2286000" y="4654440"/>
                <a:ext cx="1290600" cy="908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acc>
                          <m:accPr>
                            <m:chr m:val="¯"/>
                          </m:accPr>
                          <m:e>
                            <m:r>
                              <m:t xml:space="preserve">a</m:t>
                            </m:r>
                          </m:e>
                        </m:acc>
                      </m:e>
                    </m:acc>
                    <m:r>
                      <m:t xml:space="preserve">=</m:t>
                    </m:r>
                    <m:f>
                      <m:num>
                        <m:r>
                          <m:t xml:space="preserve">Δ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num>
                      <m:den>
                        <m:r>
                          <m:t xml:space="preserve">Δt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68" name="Object 27"/>
              <p:cNvSpPr txBox="1"/>
              <p:nvPr/>
            </p:nvSpPr>
            <p:spPr>
              <a:xfrm>
                <a:off x="2286000" y="4654440"/>
                <a:ext cx="1290600" cy="90828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69" name="Object 28"/>
              <p:cNvSpPr txBox="1"/>
              <p:nvPr/>
            </p:nvSpPr>
            <p:spPr>
              <a:xfrm>
                <a:off x="4235400" y="4897440"/>
                <a:ext cx="1631880" cy="469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v</m:t>
                        </m:r>
                      </m:e>
                    </m:acc>
                    <m:r>
                      <m:t xml:space="preserve">=</m:t>
                    </m:r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−</m:t>
                    </m:r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t xml:space="preserve">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69" name="Object 28"/>
              <p:cNvSpPr txBox="1"/>
              <p:nvPr/>
            </p:nvSpPr>
            <p:spPr>
              <a:xfrm>
                <a:off x="4235400" y="4897440"/>
                <a:ext cx="1631880" cy="4698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70" name="Object 29"/>
              <p:cNvSpPr txBox="1"/>
              <p:nvPr/>
            </p:nvSpPr>
            <p:spPr>
              <a:xfrm>
                <a:off x="3024360" y="3511440"/>
                <a:ext cx="1033200" cy="908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−</m:t>
                    </m:r>
                    <m:f>
                      <m:num>
                        <m:r>
                          <m:t xml:space="preserve">2</m:t>
                        </m:r>
                        <m:sSub>
                          <m:e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m:t xml:space="preserve">v</m:t>
                                </m:r>
                              </m:e>
                            </m:acc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</m:num>
                      <m:den>
                        <m:r>
                          <m:t xml:space="preserve">Δt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70" name="Object 29"/>
              <p:cNvSpPr txBox="1"/>
              <p:nvPr/>
            </p:nvSpPr>
            <p:spPr>
              <a:xfrm>
                <a:off x="3024360" y="3511440"/>
                <a:ext cx="1033200" cy="90828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71" name="Object 30"/>
              <p:cNvSpPr txBox="1"/>
              <p:nvPr/>
            </p:nvSpPr>
            <p:spPr>
              <a:xfrm>
                <a:off x="5867280" y="4883040"/>
                <a:ext cx="1524240" cy="498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(</m:t>
                    </m:r>
                    <m:r>
                      <m:t xml:space="preserve">−</m:t>
                    </m:r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t xml:space="preserve">o</m:t>
                        </m:r>
                      </m:sub>
                    </m:sSub>
                    <m:r>
                      <m:t xml:space="preserve">)</m:t>
                    </m:r>
                    <m:r>
                      <m:t xml:space="preserve">−</m:t>
                    </m:r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t xml:space="preserve">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71" name="Object 30"/>
              <p:cNvSpPr txBox="1"/>
              <p:nvPr/>
            </p:nvSpPr>
            <p:spPr>
              <a:xfrm>
                <a:off x="5867280" y="4883040"/>
                <a:ext cx="1524240" cy="4986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</p:sp>
        </mc:Fallback>
      </mc:AlternateContent>
      <p:sp>
        <p:nvSpPr>
          <p:cNvPr id="372" name="星形: 五角 32"/>
          <p:cNvSpPr/>
          <p:nvPr/>
        </p:nvSpPr>
        <p:spPr>
          <a:xfrm>
            <a:off x="250920" y="189000"/>
            <a:ext cx="433440" cy="404640"/>
          </a:xfrm>
          <a:custGeom>
            <a:avLst/>
            <a:gdLst>
              <a:gd name="GluePoint1X" fmla="*/ 0 w 432048"/>
              <a:gd name="GluePoint1Y" fmla="*/ 154728 h 405085"/>
              <a:gd name="GluePoint2X" fmla="*/ 165029 w 432048"/>
              <a:gd name="GluePoint2Y" fmla="*/ 154729 h 405085"/>
              <a:gd name="GluePoint3X" fmla="*/ 216024 w 432048"/>
              <a:gd name="GluePoint3Y" fmla="*/ 0 h 405085"/>
              <a:gd name="GluePoint4X" fmla="*/ 267019 w 432048"/>
              <a:gd name="GluePoint4Y" fmla="*/ 154729 h 405085"/>
              <a:gd name="GluePoint5X" fmla="*/ 432048 w 432048"/>
              <a:gd name="GluePoint5Y" fmla="*/ 154728 h 405085"/>
              <a:gd name="GluePoint6X" fmla="*/ 298536 w 432048"/>
              <a:gd name="GluePoint6Y" fmla="*/ 250355 h 405085"/>
              <a:gd name="GluePoint7X" fmla="*/ 349534 w 432048"/>
              <a:gd name="GluePoint7Y" fmla="*/ 405084 h 405085"/>
              <a:gd name="GluePoint8X" fmla="*/ 216024 w 432048"/>
              <a:gd name="GluePoint8Y" fmla="*/ 309455 h 405085"/>
              <a:gd name="GluePoint9X" fmla="*/ 82514 w 432048"/>
              <a:gd name="GluePoint9Y" fmla="*/ 405084 h 405085"/>
              <a:gd name="GluePoint10X" fmla="*/ 133512 w 432048"/>
              <a:gd name="GluePoint10Y" fmla="*/ 250355 h 405085"/>
              <a:gd name="GluePoint11X" fmla="*/ 0 w 432048"/>
              <a:gd name="GluePoint11Y" fmla="*/ 154728 h 4050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2048" h="405085">
                <a:moveTo>
                  <a:pt x="0" y="154728"/>
                </a:moveTo>
                <a:lnTo>
                  <a:pt x="165029" y="154729"/>
                </a:lnTo>
                <a:lnTo>
                  <a:pt x="216024" y="0"/>
                </a:lnTo>
                <a:lnTo>
                  <a:pt x="267019" y="154729"/>
                </a:lnTo>
                <a:lnTo>
                  <a:pt x="432048" y="154728"/>
                </a:lnTo>
                <a:lnTo>
                  <a:pt x="298536" y="250355"/>
                </a:lnTo>
                <a:lnTo>
                  <a:pt x="349534" y="405084"/>
                </a:lnTo>
                <a:lnTo>
                  <a:pt x="216024" y="309455"/>
                </a:lnTo>
                <a:lnTo>
                  <a:pt x="82514" y="405084"/>
                </a:lnTo>
                <a:lnTo>
                  <a:pt x="133512" y="250355"/>
                </a:lnTo>
                <a:lnTo>
                  <a:pt x="0" y="154728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44" dur="indefinite" restart="never" nodeType="tmRoot">
          <p:childTnLst>
            <p:seq>
              <p:cTn id="645" dur="indefinite" nodeType="mainSeq">
                <p:childTnLst>
                  <p:par>
                    <p:cTn id="646" fill="hold" nodeType="clickEffect">
                      <p:stCondLst>
                        <p:cond delay="indefinite"/>
                      </p:stCondLst>
                      <p:childTnLst>
                        <p:par>
                          <p:cTn id="64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4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50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1" fill="hold" nodeType="clickEffect">
                      <p:stCondLst>
                        <p:cond delay="indefinite"/>
                      </p:stCondLst>
                      <p:childTnLst>
                        <p:par>
                          <p:cTn id="65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5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55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6" fill="hold" nodeType="clickEffect">
                      <p:stCondLst>
                        <p:cond delay="indefinite"/>
                      </p:stCondLst>
                      <p:childTnLst>
                        <p:par>
                          <p:cTn id="65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5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60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1" fill="hold" nodeType="clickEffect">
                      <p:stCondLst>
                        <p:cond delay="indefinite"/>
                      </p:stCondLst>
                      <p:childTnLst>
                        <p:par>
                          <p:cTn id="66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6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65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6" fill="hold" nodeType="clickEffect">
                      <p:stCondLst>
                        <p:cond delay="indefinite"/>
                      </p:stCondLst>
                      <p:childTnLst>
                        <p:par>
                          <p:cTn id="66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6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70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1" fill="hold" nodeType="clickEffect">
                      <p:stCondLst>
                        <p:cond delay="indefinite"/>
                      </p:stCondLst>
                      <p:childTnLst>
                        <p:par>
                          <p:cTn id="67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7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75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6" fill="hold" nodeType="clickEffect">
                      <p:stCondLst>
                        <p:cond delay="indefinite"/>
                      </p:stCondLst>
                      <p:childTnLst>
                        <p:par>
                          <p:cTn id="67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7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80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ext Box 3"/>
          <p:cNvSpPr/>
          <p:nvPr/>
        </p:nvSpPr>
        <p:spPr>
          <a:xfrm>
            <a:off x="-47880" y="1332000"/>
            <a:ext cx="4455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P14/5.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质点平面运动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Text Box 4"/>
          <p:cNvSpPr/>
          <p:nvPr/>
        </p:nvSpPr>
        <p:spPr>
          <a:xfrm>
            <a:off x="5333400" y="133200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；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75" name="Object 5"/>
              <p:cNvSpPr txBox="1"/>
              <p:nvPr/>
            </p:nvSpPr>
            <p:spPr>
              <a:xfrm>
                <a:off x="4267080" y="1332000"/>
                <a:ext cx="1063800" cy="585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r</m:t>
                            </m:r>
                          </m:e>
                        </m:acc>
                      </m:e>
                    </m:d>
                    <m:r>
                      <m:t xml:space="preserve">=</m:t>
                    </m:r>
                    <m:sSub>
                      <m:e>
                        <m:r>
                          <m:t xml:space="preserve">c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75" name="Object 5"/>
              <p:cNvSpPr txBox="1"/>
              <p:nvPr/>
            </p:nvSpPr>
            <p:spPr>
              <a:xfrm>
                <a:off x="4267080" y="1332000"/>
                <a:ext cx="1063800" cy="5857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376" name="Text Box 6"/>
          <p:cNvSpPr/>
          <p:nvPr/>
        </p:nvSpPr>
        <p:spPr>
          <a:xfrm>
            <a:off x="6818040" y="1308240"/>
            <a:ext cx="200916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,c</a:t>
            </a:r>
            <a:r>
              <a:rPr lang="en-US" sz="3000" b="1" u="none" strike="noStrike" baseline="-20000">
                <a:solidFill>
                  <a:srgbClr val="000000"/>
                </a:solidFill>
                <a:effectLst/>
                <a:uFillTx/>
                <a:latin typeface="宋体"/>
              </a:rPr>
              <a:t>1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</a:t>
            </a:r>
            <a:r>
              <a:rPr lang="en-US" sz="3000" b="1" u="none" strike="noStrike" baseline="-20000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77" name="Object 7"/>
              <p:cNvSpPr txBox="1"/>
              <p:nvPr/>
            </p:nvSpPr>
            <p:spPr>
              <a:xfrm>
                <a:off x="5673600" y="1162080"/>
                <a:ext cx="1257480" cy="907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  <m:r>
                      <m:t xml:space="preserve">=</m:t>
                    </m:r>
                    <m:sSub>
                      <m:e>
                        <m:r>
                          <m:t xml:space="preserve">c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77" name="Object 7"/>
              <p:cNvSpPr txBox="1"/>
              <p:nvPr/>
            </p:nvSpPr>
            <p:spPr>
              <a:xfrm>
                <a:off x="5673600" y="1162080"/>
                <a:ext cx="1257480" cy="9079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378" name="Text Box 8"/>
          <p:cNvSpPr/>
          <p:nvPr/>
        </p:nvSpPr>
        <p:spPr>
          <a:xfrm>
            <a:off x="-6480" y="2146320"/>
            <a:ext cx="79758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大于零的常数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该质点作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Text Box 9"/>
          <p:cNvSpPr/>
          <p:nvPr/>
        </p:nvSpPr>
        <p:spPr>
          <a:xfrm>
            <a:off x="1909800" y="3130560"/>
            <a:ext cx="1704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圆周运动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80" name="Object 10"/>
              <p:cNvSpPr txBox="1"/>
              <p:nvPr/>
            </p:nvSpPr>
            <p:spPr>
              <a:xfrm>
                <a:off x="457200" y="3130560"/>
                <a:ext cx="1063800" cy="585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r</m:t>
                            </m:r>
                          </m:e>
                        </m:acc>
                      </m:e>
                    </m:d>
                    <m:r>
                      <m:t xml:space="preserve">=</m:t>
                    </m:r>
                    <m:sSub>
                      <m:e>
                        <m:r>
                          <m:t xml:space="preserve">c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80" name="Object 10"/>
              <p:cNvSpPr txBox="1"/>
              <p:nvPr/>
            </p:nvSpPr>
            <p:spPr>
              <a:xfrm>
                <a:off x="457200" y="3130560"/>
                <a:ext cx="1063800" cy="5857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81" name="Object 11"/>
              <p:cNvSpPr txBox="1"/>
              <p:nvPr/>
            </p:nvSpPr>
            <p:spPr>
              <a:xfrm>
                <a:off x="457200" y="3892680"/>
                <a:ext cx="1257480" cy="907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  <m:r>
                      <m:t xml:space="preserve">=</m:t>
                    </m:r>
                    <m:sSub>
                      <m:e>
                        <m:r>
                          <m:t xml:space="preserve">c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81" name="Object 11"/>
              <p:cNvSpPr txBox="1"/>
              <p:nvPr/>
            </p:nvSpPr>
            <p:spPr>
              <a:xfrm>
                <a:off x="457200" y="3892680"/>
                <a:ext cx="1257480" cy="9079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382" name="Text Box 12"/>
          <p:cNvSpPr/>
          <p:nvPr/>
        </p:nvSpPr>
        <p:spPr>
          <a:xfrm>
            <a:off x="3168720" y="4121280"/>
            <a:ext cx="2466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速率匀速增加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Text Box 13"/>
          <p:cNvSpPr/>
          <p:nvPr/>
        </p:nvSpPr>
        <p:spPr>
          <a:xfrm>
            <a:off x="4426920" y="2070000"/>
            <a:ext cx="2847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匀加速圆周运动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84" name="Object 14"/>
              <p:cNvSpPr txBox="1"/>
              <p:nvPr/>
            </p:nvSpPr>
            <p:spPr>
              <a:xfrm>
                <a:off x="1752480" y="4197240"/>
                <a:ext cx="612720" cy="409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384" name="Object 14"/>
              <p:cNvSpPr txBox="1"/>
              <p:nvPr/>
            </p:nvSpPr>
            <p:spPr>
              <a:xfrm>
                <a:off x="1752480" y="4197240"/>
                <a:ext cx="612720" cy="4096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81" dur="indefinite" restart="never" nodeType="tmRoot">
          <p:childTnLst>
            <p:seq>
              <p:cTn id="682" dur="indefinite" nodeType="mainSeq">
                <p:childTnLst>
                  <p:par>
                    <p:cTn id="683" fill="hold" nodeType="clickEffect">
                      <p:stCondLst>
                        <p:cond delay="indefinite"/>
                      </p:stCondLst>
                      <p:childTnLst>
                        <p:par>
                          <p:cTn id="68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8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87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8" fill="hold" nodeType="clickEffect">
                      <p:stCondLst>
                        <p:cond delay="indefinite"/>
                      </p:stCondLst>
                      <p:childTnLst>
                        <p:par>
                          <p:cTn id="68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9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92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3" fill="hold" nodeType="clickEffect">
                      <p:stCondLst>
                        <p:cond delay="indefinite"/>
                      </p:stCondLst>
                      <p:childTnLst>
                        <p:par>
                          <p:cTn id="69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9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97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8" fill="hold" nodeType="clickEffect">
                      <p:stCondLst>
                        <p:cond delay="indefinite"/>
                      </p:stCondLst>
                      <p:childTnLst>
                        <p:par>
                          <p:cTn id="69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0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02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3" fill="hold" nodeType="clickEffect">
                      <p:stCondLst>
                        <p:cond delay="indefinite"/>
                      </p:stCondLst>
                      <p:childTnLst>
                        <p:par>
                          <p:cTn id="70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0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07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8" fill="hold" nodeType="clickEffect">
                      <p:stCondLst>
                        <p:cond delay="indefinite"/>
                      </p:stCondLst>
                      <p:childTnLst>
                        <p:par>
                          <p:cTn id="70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1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12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ext Box 2"/>
          <p:cNvSpPr/>
          <p:nvPr/>
        </p:nvSpPr>
        <p:spPr>
          <a:xfrm>
            <a:off x="-43200" y="861840"/>
            <a:ext cx="6360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P14/6.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xoy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平面上作匀速率曲线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Line 3"/>
          <p:cNvSpPr/>
          <p:nvPr/>
        </p:nvSpPr>
        <p:spPr>
          <a:xfrm>
            <a:off x="6553080" y="2971800"/>
            <a:ext cx="228600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Line 4"/>
          <p:cNvSpPr/>
          <p:nvPr/>
        </p:nvSpPr>
        <p:spPr>
          <a:xfrm flipV="1">
            <a:off x="6553080" y="1143000"/>
            <a:ext cx="0" cy="182880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Freeform 5"/>
          <p:cNvSpPr/>
          <p:nvPr/>
        </p:nvSpPr>
        <p:spPr>
          <a:xfrm>
            <a:off x="6781680" y="1371600"/>
            <a:ext cx="1600200" cy="1333440"/>
          </a:xfrm>
          <a:custGeom>
            <a:avLst/>
            <a:gdLst>
              <a:gd name="GluePoint1X" fmla="*/ 0 w 1008"/>
              <a:gd name="GluePoint1Y" fmla="*/ 0 h 840"/>
              <a:gd name="GluePoint2X" fmla="*/ 457200 w 1008"/>
              <a:gd name="GluePoint2Y" fmla="*/ 228600 h 840"/>
              <a:gd name="GluePoint3X" fmla="*/ 838200 w 1008"/>
              <a:gd name="GluePoint3Y" fmla="*/ 1219200 h 840"/>
              <a:gd name="GluePoint4X" fmla="*/ 1143000 w 1008"/>
              <a:gd name="GluePoint4Y" fmla="*/ 914400 h 840"/>
              <a:gd name="GluePoint5X" fmla="*/ 1600200 w 1008"/>
              <a:gd name="GluePoint5Y" fmla="*/ 838200 h 8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1008" h="840">
                <a:moveTo>
                  <a:pt x="0" y="0"/>
                </a:moveTo>
                <a:cubicBezTo>
                  <a:pt x="100" y="8"/>
                  <a:pt x="200" y="16"/>
                  <a:pt x="288" y="144"/>
                </a:cubicBezTo>
                <a:cubicBezTo>
                  <a:pt x="376" y="272"/>
                  <a:pt x="456" y="696"/>
                  <a:pt x="528" y="768"/>
                </a:cubicBezTo>
                <a:cubicBezTo>
                  <a:pt x="600" y="840"/>
                  <a:pt x="640" y="616"/>
                  <a:pt x="720" y="576"/>
                </a:cubicBezTo>
                <a:cubicBezTo>
                  <a:pt x="800" y="536"/>
                  <a:pt x="904" y="532"/>
                  <a:pt x="1008" y="528"/>
                </a:cubicBezTo>
              </a:path>
            </a:pathLst>
          </a:custGeom>
          <a:noFill/>
          <a:ln w="28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Oval 6"/>
          <p:cNvSpPr/>
          <p:nvPr/>
        </p:nvSpPr>
        <p:spPr>
          <a:xfrm>
            <a:off x="7624800" y="2562120"/>
            <a:ext cx="76320" cy="7632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7200" rIns="90000" bIns="72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Oval 7"/>
          <p:cNvSpPr/>
          <p:nvPr/>
        </p:nvSpPr>
        <p:spPr>
          <a:xfrm>
            <a:off x="7077240" y="1428840"/>
            <a:ext cx="75960" cy="7596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6840" rIns="90000" bIns="684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Oval 8"/>
          <p:cNvSpPr/>
          <p:nvPr/>
        </p:nvSpPr>
        <p:spPr>
          <a:xfrm>
            <a:off x="8224920" y="2176560"/>
            <a:ext cx="75960" cy="7596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6840" rIns="90000" bIns="684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Text Box 9"/>
          <p:cNvSpPr/>
          <p:nvPr/>
        </p:nvSpPr>
        <p:spPr>
          <a:xfrm>
            <a:off x="7165440" y="114300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Text Box 10"/>
          <p:cNvSpPr/>
          <p:nvPr/>
        </p:nvSpPr>
        <p:spPr>
          <a:xfrm>
            <a:off x="7665480" y="251460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Text Box 11"/>
          <p:cNvSpPr/>
          <p:nvPr/>
        </p:nvSpPr>
        <p:spPr>
          <a:xfrm>
            <a:off x="8122680" y="220968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Text Box 12"/>
          <p:cNvSpPr/>
          <p:nvPr/>
        </p:nvSpPr>
        <p:spPr>
          <a:xfrm>
            <a:off x="-67680" y="1371600"/>
            <a:ext cx="6451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其轨迹如图所示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则该质点在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Text Box 13"/>
          <p:cNvSpPr/>
          <p:nvPr/>
        </p:nvSpPr>
        <p:spPr>
          <a:xfrm>
            <a:off x="-45000" y="1828800"/>
            <a:ext cx="6360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点的加速度值最大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在该点的切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Text Box 14"/>
          <p:cNvSpPr/>
          <p:nvPr/>
        </p:nvSpPr>
        <p:spPr>
          <a:xfrm>
            <a:off x="-11160" y="2346480"/>
            <a:ext cx="5506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向加速度的值为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98" name="Object 15"/>
              <p:cNvSpPr txBox="1"/>
              <p:nvPr/>
            </p:nvSpPr>
            <p:spPr>
              <a:xfrm>
                <a:off x="457200" y="3276720"/>
                <a:ext cx="1871640" cy="527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a</m:t>
                        </m:r>
                      </m:e>
                    </m:acc>
                    <m:r>
                      <m:t xml:space="preserve">=</m:t>
                    </m:r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a</m:t>
                            </m:r>
                          </m:e>
                        </m:acc>
                      </m:e>
                      <m:sub>
                        <m:r>
                          <m:t xml:space="preserve">n</m:t>
                        </m:r>
                      </m:sub>
                    </m:sSub>
                    <m:r>
                      <m:t xml:space="preserve">+</m:t>
                    </m:r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a</m:t>
                            </m:r>
                          </m:e>
                        </m:acc>
                      </m:e>
                      <m:sub>
                        <m:r>
                          <m:t xml:space="preserve">τ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98" name="Object 15"/>
              <p:cNvSpPr txBox="1"/>
              <p:nvPr/>
            </p:nvSpPr>
            <p:spPr>
              <a:xfrm>
                <a:off x="457200" y="3276720"/>
                <a:ext cx="1871640" cy="52704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399" name="Text Box 16"/>
          <p:cNvSpPr/>
          <p:nvPr/>
        </p:nvSpPr>
        <p:spPr>
          <a:xfrm>
            <a:off x="341640" y="3886200"/>
            <a:ext cx="2367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匀速率运动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Text Box 17"/>
          <p:cNvSpPr/>
          <p:nvPr/>
        </p:nvSpPr>
        <p:spPr>
          <a:xfrm>
            <a:off x="2710800" y="3886200"/>
            <a:ext cx="2847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切向加速度不变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01" name="Object 18"/>
              <p:cNvSpPr txBox="1"/>
              <p:nvPr/>
            </p:nvSpPr>
            <p:spPr>
              <a:xfrm>
                <a:off x="473040" y="4495680"/>
                <a:ext cx="1355760" cy="1095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n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sSup>
                          <m:e>
                            <m:r>
                              <m:t xml:space="preserve">v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num>
                      <m:den>
                        <m:r>
                          <m:t xml:space="preserve">ρ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401" name="Object 18"/>
              <p:cNvSpPr txBox="1"/>
              <p:nvPr/>
            </p:nvSpPr>
            <p:spPr>
              <a:xfrm>
                <a:off x="473040" y="4495680"/>
                <a:ext cx="1355760" cy="10954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402" name="Text Box 19"/>
          <p:cNvSpPr/>
          <p:nvPr/>
        </p:nvSpPr>
        <p:spPr>
          <a:xfrm>
            <a:off x="464400" y="182880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B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Text Box 20"/>
          <p:cNvSpPr/>
          <p:nvPr/>
        </p:nvSpPr>
        <p:spPr>
          <a:xfrm>
            <a:off x="3660120" y="228600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0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Text Box 21"/>
          <p:cNvSpPr/>
          <p:nvPr/>
        </p:nvSpPr>
        <p:spPr>
          <a:xfrm>
            <a:off x="6174720" y="91440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Text Box 22"/>
          <p:cNvSpPr/>
          <p:nvPr/>
        </p:nvSpPr>
        <p:spPr>
          <a:xfrm>
            <a:off x="8613000" y="297180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x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星形: 五角 24"/>
          <p:cNvSpPr/>
          <p:nvPr/>
        </p:nvSpPr>
        <p:spPr>
          <a:xfrm>
            <a:off x="250920" y="189000"/>
            <a:ext cx="433440" cy="404640"/>
          </a:xfrm>
          <a:custGeom>
            <a:avLst/>
            <a:gdLst>
              <a:gd name="GluePoint1X" fmla="*/ 0 w 432048"/>
              <a:gd name="GluePoint1Y" fmla="*/ 154728 h 405085"/>
              <a:gd name="GluePoint2X" fmla="*/ 165029 w 432048"/>
              <a:gd name="GluePoint2Y" fmla="*/ 154729 h 405085"/>
              <a:gd name="GluePoint3X" fmla="*/ 216024 w 432048"/>
              <a:gd name="GluePoint3Y" fmla="*/ 0 h 405085"/>
              <a:gd name="GluePoint4X" fmla="*/ 267019 w 432048"/>
              <a:gd name="GluePoint4Y" fmla="*/ 154729 h 405085"/>
              <a:gd name="GluePoint5X" fmla="*/ 432048 w 432048"/>
              <a:gd name="GluePoint5Y" fmla="*/ 154728 h 405085"/>
              <a:gd name="GluePoint6X" fmla="*/ 298536 w 432048"/>
              <a:gd name="GluePoint6Y" fmla="*/ 250355 h 405085"/>
              <a:gd name="GluePoint7X" fmla="*/ 349534 w 432048"/>
              <a:gd name="GluePoint7Y" fmla="*/ 405084 h 405085"/>
              <a:gd name="GluePoint8X" fmla="*/ 216024 w 432048"/>
              <a:gd name="GluePoint8Y" fmla="*/ 309455 h 405085"/>
              <a:gd name="GluePoint9X" fmla="*/ 82514 w 432048"/>
              <a:gd name="GluePoint9Y" fmla="*/ 405084 h 405085"/>
              <a:gd name="GluePoint10X" fmla="*/ 133512 w 432048"/>
              <a:gd name="GluePoint10Y" fmla="*/ 250355 h 405085"/>
              <a:gd name="GluePoint11X" fmla="*/ 0 w 432048"/>
              <a:gd name="GluePoint11Y" fmla="*/ 154728 h 4050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2048" h="405085">
                <a:moveTo>
                  <a:pt x="0" y="154728"/>
                </a:moveTo>
                <a:lnTo>
                  <a:pt x="165029" y="154729"/>
                </a:lnTo>
                <a:lnTo>
                  <a:pt x="216024" y="0"/>
                </a:lnTo>
                <a:lnTo>
                  <a:pt x="267019" y="154729"/>
                </a:lnTo>
                <a:lnTo>
                  <a:pt x="432048" y="154728"/>
                </a:lnTo>
                <a:lnTo>
                  <a:pt x="298536" y="250355"/>
                </a:lnTo>
                <a:lnTo>
                  <a:pt x="349534" y="405084"/>
                </a:lnTo>
                <a:lnTo>
                  <a:pt x="216024" y="309455"/>
                </a:lnTo>
                <a:lnTo>
                  <a:pt x="82514" y="405084"/>
                </a:lnTo>
                <a:lnTo>
                  <a:pt x="133512" y="250355"/>
                </a:lnTo>
                <a:lnTo>
                  <a:pt x="0" y="154728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13" dur="indefinite" restart="never" nodeType="tmRoot">
          <p:childTnLst>
            <p:seq>
              <p:cTn id="714" dur="indefinite" nodeType="mainSeq">
                <p:childTnLst>
                  <p:par>
                    <p:cTn id="715" fill="hold" nodeType="clickEffect">
                      <p:stCondLst>
                        <p:cond delay="indefinite"/>
                      </p:stCondLst>
                      <p:childTnLst>
                        <p:par>
                          <p:cTn id="7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1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19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0" fill="hold" nodeType="clickEffect">
                      <p:stCondLst>
                        <p:cond delay="indefinite"/>
                      </p:stCondLst>
                      <p:childTnLst>
                        <p:par>
                          <p:cTn id="72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2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24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5" fill="hold" nodeType="clickEffect">
                      <p:stCondLst>
                        <p:cond delay="indefinite"/>
                      </p:stCondLst>
                      <p:childTnLst>
                        <p:par>
                          <p:cTn id="72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2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29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0" fill="hold" nodeType="clickEffect">
                      <p:stCondLst>
                        <p:cond delay="indefinite"/>
                      </p:stCondLst>
                      <p:childTnLst>
                        <p:par>
                          <p:cTn id="73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3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34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5" fill="hold" nodeType="clickEffect">
                      <p:stCondLst>
                        <p:cond delay="indefinite"/>
                      </p:stCondLst>
                      <p:childTnLst>
                        <p:par>
                          <p:cTn id="73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3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39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0" fill="hold" nodeType="clickEffect">
                      <p:stCondLst>
                        <p:cond delay="indefinite"/>
                      </p:stCondLst>
                      <p:childTnLst>
                        <p:par>
                          <p:cTn id="74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4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44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ext Box 3"/>
          <p:cNvSpPr/>
          <p:nvPr/>
        </p:nvSpPr>
        <p:spPr>
          <a:xfrm>
            <a:off x="-549000" y="1173240"/>
            <a:ext cx="10094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P14/7.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质点沿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x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轴直线运动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运动方程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x=3+5t+6t</a:t>
            </a:r>
            <a:r>
              <a:rPr lang="en-US" sz="3000" b="1" u="none" strike="noStrike" baseline="30000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-t</a:t>
            </a:r>
            <a:r>
              <a:rPr lang="en-US" sz="3000" b="1" u="none" strike="noStrike" baseline="30000">
                <a:solidFill>
                  <a:srgbClr val="000000"/>
                </a:solidFill>
                <a:effectLst/>
                <a:uFillTx/>
                <a:latin typeface="宋体"/>
              </a:rPr>
              <a:t>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Text Box 4"/>
          <p:cNvSpPr/>
          <p:nvPr/>
        </p:nvSpPr>
        <p:spPr>
          <a:xfrm>
            <a:off x="-514800" y="1736640"/>
            <a:ext cx="1008324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(SI),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则质点在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t=0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时刻的速度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v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o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=______________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；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Text Box 5"/>
          <p:cNvSpPr/>
          <p:nvPr/>
        </p:nvSpPr>
        <p:spPr>
          <a:xfrm>
            <a:off x="-431640" y="2346480"/>
            <a:ext cx="9888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加速度为零时，该质点的速度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v=_______________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10" name="Object 6"/>
              <p:cNvSpPr txBox="1"/>
              <p:nvPr/>
            </p:nvSpPr>
            <p:spPr>
              <a:xfrm>
                <a:off x="685800" y="3048120"/>
                <a:ext cx="1189080" cy="1119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dx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410" name="Object 6"/>
              <p:cNvSpPr txBox="1"/>
              <p:nvPr/>
            </p:nvSpPr>
            <p:spPr>
              <a:xfrm>
                <a:off x="685800" y="3048120"/>
                <a:ext cx="1189080" cy="111924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11" name="Object 7"/>
              <p:cNvSpPr txBox="1"/>
              <p:nvPr/>
            </p:nvSpPr>
            <p:spPr>
              <a:xfrm>
                <a:off x="3941640" y="4572000"/>
                <a:ext cx="858960" cy="506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t</m:t>
                    </m:r>
                    <m:r>
                      <m:t xml:space="preserve">=</m:t>
                    </m:r>
                    <m:r>
                      <m:t xml:space="preserve">2</m:t>
                    </m:r>
                  </m:oMath>
                </a14:m>
              </a:p>
            </p:txBody>
          </p:sp>
        </mc:Choice>
        <mc:Fallback>
          <p:sp>
            <p:nvSpPr>
              <p:cNvPr id="411" name="Object 7"/>
              <p:cNvSpPr txBox="1"/>
              <p:nvPr/>
            </p:nvSpPr>
            <p:spPr>
              <a:xfrm>
                <a:off x="3941640" y="4572000"/>
                <a:ext cx="858960" cy="506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12" name="Object 8"/>
              <p:cNvSpPr txBox="1"/>
              <p:nvPr/>
            </p:nvSpPr>
            <p:spPr>
              <a:xfrm>
                <a:off x="6324480" y="1711440"/>
                <a:ext cx="1371600" cy="574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5</m:t>
                    </m:r>
                    <m:r>
                      <m:t xml:space="preserve">(</m:t>
                    </m:r>
                    <m:f>
                      <m:fPr>
                        <m:type m:val="lin"/>
                      </m:fPr>
                      <m:num>
                        <m:r>
                          <m:t xml:space="preserve">m</m:t>
                        </m:r>
                      </m:num>
                      <m:den>
                        <m:r>
                          <m:t xml:space="preserve">s</m:t>
                        </m:r>
                      </m:den>
                    </m:f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412" name="Object 8"/>
              <p:cNvSpPr txBox="1"/>
              <p:nvPr/>
            </p:nvSpPr>
            <p:spPr>
              <a:xfrm>
                <a:off x="6324480" y="1711440"/>
                <a:ext cx="1371600" cy="5745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13" name="Object 9"/>
              <p:cNvSpPr txBox="1"/>
              <p:nvPr/>
            </p:nvSpPr>
            <p:spPr>
              <a:xfrm>
                <a:off x="6224760" y="2320920"/>
                <a:ext cx="1547640" cy="574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17</m:t>
                    </m:r>
                    <m:r>
                      <m:t xml:space="preserve">(</m:t>
                    </m:r>
                    <m:f>
                      <m:fPr>
                        <m:type m:val="lin"/>
                      </m:fPr>
                      <m:num>
                        <m:r>
                          <m:t xml:space="preserve">m</m:t>
                        </m:r>
                      </m:num>
                      <m:den>
                        <m:r>
                          <m:t xml:space="preserve">s</m:t>
                        </m:r>
                      </m:den>
                    </m:f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413" name="Object 9"/>
              <p:cNvSpPr txBox="1"/>
              <p:nvPr/>
            </p:nvSpPr>
            <p:spPr>
              <a:xfrm>
                <a:off x="6224760" y="2320920"/>
                <a:ext cx="1547640" cy="5745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14" name="Object 10"/>
              <p:cNvSpPr txBox="1"/>
              <p:nvPr/>
            </p:nvSpPr>
            <p:spPr>
              <a:xfrm>
                <a:off x="1905120" y="3276720"/>
                <a:ext cx="2246040" cy="577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5</m:t>
                    </m:r>
                    <m:r>
                      <m:t xml:space="preserve">+</m:t>
                    </m:r>
                    <m:r>
                      <m:rPr>
                        <m:lit/>
                        <m:nor/>
                      </m:rPr>
                      <m:t xml:space="preserve">12</m:t>
                    </m:r>
                    <m:r>
                      <m:t xml:space="preserve">t</m:t>
                    </m:r>
                    <m:r>
                      <m:t xml:space="preserve">−</m:t>
                    </m:r>
                    <m:r>
                      <m:t xml:space="preserve">3</m:t>
                    </m:r>
                    <m:sSup>
                      <m:e>
                        <m:r>
                          <m:t xml:space="preserve">t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414" name="Object 10"/>
              <p:cNvSpPr txBox="1"/>
              <p:nvPr/>
            </p:nvSpPr>
            <p:spPr>
              <a:xfrm>
                <a:off x="1905120" y="3276720"/>
                <a:ext cx="2246040" cy="577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15" name="Object 11"/>
              <p:cNvSpPr txBox="1"/>
              <p:nvPr/>
            </p:nvSpPr>
            <p:spPr>
              <a:xfrm>
                <a:off x="762120" y="4214880"/>
                <a:ext cx="1220760" cy="1119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</m:t>
                    </m:r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415" name="Object 11"/>
              <p:cNvSpPr txBox="1"/>
              <p:nvPr/>
            </p:nvSpPr>
            <p:spPr>
              <a:xfrm>
                <a:off x="762120" y="4214880"/>
                <a:ext cx="1220760" cy="11192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16" name="Object 12"/>
              <p:cNvSpPr txBox="1"/>
              <p:nvPr/>
            </p:nvSpPr>
            <p:spPr>
              <a:xfrm>
                <a:off x="1981080" y="4549680"/>
                <a:ext cx="1452600" cy="505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12</m:t>
                    </m:r>
                    <m:r>
                      <m:t xml:space="preserve">−</m:t>
                    </m:r>
                    <m:r>
                      <m:t xml:space="preserve">6</m:t>
                    </m:r>
                    <m:r>
                      <m:t xml:space="preserve">t</m:t>
                    </m:r>
                  </m:oMath>
                </a14:m>
              </a:p>
            </p:txBody>
          </p:sp>
        </mc:Choice>
        <mc:Fallback>
          <p:sp>
            <p:nvSpPr>
              <p:cNvPr id="416" name="Object 12"/>
              <p:cNvSpPr txBox="1"/>
              <p:nvPr/>
            </p:nvSpPr>
            <p:spPr>
              <a:xfrm>
                <a:off x="1981080" y="4549680"/>
                <a:ext cx="1452600" cy="5050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45" dur="indefinite" restart="never" nodeType="tmRoot">
          <p:childTnLst>
            <p:seq>
              <p:cTn id="746" dur="indefinite" nodeType="mainSeq">
                <p:childTnLst>
                  <p:par>
                    <p:cTn id="747" fill="hold" nodeType="clickEffect">
                      <p:stCondLst>
                        <p:cond delay="indefinite"/>
                      </p:stCondLst>
                      <p:childTnLst>
                        <p:par>
                          <p:cTn id="74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4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51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2" fill="hold" nodeType="clickEffect">
                      <p:stCondLst>
                        <p:cond delay="indefinite"/>
                      </p:stCondLst>
                      <p:childTnLst>
                        <p:par>
                          <p:cTn id="75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5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56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7" fill="hold" nodeType="clickEffect">
                      <p:stCondLst>
                        <p:cond delay="indefinite"/>
                      </p:stCondLst>
                      <p:childTnLst>
                        <p:par>
                          <p:cTn id="75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5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61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2" fill="hold" nodeType="clickEffect">
                      <p:stCondLst>
                        <p:cond delay="indefinite"/>
                      </p:stCondLst>
                      <p:childTnLst>
                        <p:par>
                          <p:cTn id="76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6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66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7" fill="hold" nodeType="clickEffect">
                      <p:stCondLst>
                        <p:cond delay="indefinite"/>
                      </p:stCondLst>
                      <p:childTnLst>
                        <p:par>
                          <p:cTn id="76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6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71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2" fill="hold" nodeType="clickEffect">
                      <p:stCondLst>
                        <p:cond delay="indefinite"/>
                      </p:stCondLst>
                      <p:childTnLst>
                        <p:par>
                          <p:cTn id="77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7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76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7" fill="hold" nodeType="clickEffect">
                      <p:stCondLst>
                        <p:cond delay="indefinite"/>
                      </p:stCondLst>
                      <p:childTnLst>
                        <p:par>
                          <p:cTn id="77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7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81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Text Box 2"/>
          <p:cNvSpPr/>
          <p:nvPr/>
        </p:nvSpPr>
        <p:spPr>
          <a:xfrm>
            <a:off x="-210240" y="152280"/>
            <a:ext cx="9473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P17/2.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质点沿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x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轴作直线运动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其加速度</a:t>
            </a:r>
            <a:r>
              <a:rPr lang="en-US" sz="3000" b="0" i="1" u="none" strike="noStrike">
                <a:solidFill>
                  <a:srgbClr val="000000"/>
                </a:solidFill>
                <a:effectLst/>
                <a:uFillTx/>
                <a:latin typeface="Bookman Old Style"/>
              </a:rPr>
              <a:t>a 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=4tm/s</a:t>
            </a:r>
            <a:r>
              <a:rPr lang="en-US" sz="3000" b="1" u="none" strike="noStrike" baseline="30000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在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Text Box 3"/>
          <p:cNvSpPr/>
          <p:nvPr/>
        </p:nvSpPr>
        <p:spPr>
          <a:xfrm>
            <a:off x="-35640" y="669960"/>
            <a:ext cx="1887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t=0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时刻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19" name="Object 4"/>
              <p:cNvSpPr txBox="1"/>
              <p:nvPr/>
            </p:nvSpPr>
            <p:spPr>
              <a:xfrm>
                <a:off x="1714680" y="722160"/>
                <a:ext cx="2361960" cy="497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0</m:t>
                    </m:r>
                    <m:r>
                      <m:t xml:space="preserve">,</m:t>
                    </m:r>
                    <m:r>
                      <m:t xml:space="preserve">x</m:t>
                    </m:r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10</m:t>
                    </m:r>
                    <m:r>
                      <m:t xml:space="preserve">m</m:t>
                    </m:r>
                    <m:r>
                      <m:t xml:space="preserve">,</m:t>
                    </m:r>
                  </m:oMath>
                </a14:m>
              </a:p>
            </p:txBody>
          </p:sp>
        </mc:Choice>
        <mc:Fallback>
          <p:sp>
            <p:nvSpPr>
              <p:cNvPr id="419" name="Object 4"/>
              <p:cNvSpPr txBox="1"/>
              <p:nvPr/>
            </p:nvSpPr>
            <p:spPr>
              <a:xfrm>
                <a:off x="1714680" y="722160"/>
                <a:ext cx="2361960" cy="4971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420" name="Text Box 5"/>
          <p:cNvSpPr/>
          <p:nvPr/>
        </p:nvSpPr>
        <p:spPr>
          <a:xfrm>
            <a:off x="4042800" y="669960"/>
            <a:ext cx="48704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则该质点的运动方程为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x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=__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Text Box 6"/>
          <p:cNvSpPr/>
          <p:nvPr/>
        </p:nvSpPr>
        <p:spPr>
          <a:xfrm>
            <a:off x="33120" y="1676520"/>
            <a:ext cx="389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_________________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22" name="Object 7"/>
              <p:cNvSpPr txBox="1"/>
              <p:nvPr/>
            </p:nvSpPr>
            <p:spPr>
              <a:xfrm>
                <a:off x="304920" y="2492280"/>
                <a:ext cx="1981080" cy="1119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</m:t>
                    </m:r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  <m:r>
                      <m:t xml:space="preserve">=</m:t>
                    </m:r>
                    <m:r>
                      <m:t xml:space="preserve">4</m:t>
                    </m:r>
                    <m:r>
                      <m:t xml:space="preserve">t</m:t>
                    </m:r>
                  </m:oMath>
                </a14:m>
              </a:p>
            </p:txBody>
          </p:sp>
        </mc:Choice>
        <mc:Fallback>
          <p:sp>
            <p:nvSpPr>
              <p:cNvPr id="422" name="Object 7"/>
              <p:cNvSpPr txBox="1"/>
              <p:nvPr/>
            </p:nvSpPr>
            <p:spPr>
              <a:xfrm>
                <a:off x="304920" y="2492280"/>
                <a:ext cx="1981080" cy="11192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23" name="Object 8"/>
              <p:cNvSpPr txBox="1"/>
              <p:nvPr/>
            </p:nvSpPr>
            <p:spPr>
              <a:xfrm>
                <a:off x="3200400" y="2644920"/>
                <a:ext cx="2311560" cy="938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e>
                    </m:nary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t xml:space="preserve">4</m:t>
                        </m:r>
                        <m:r>
                          <m:rPr>
                            <m:lit/>
                            <m:nor/>
                          </m:rPr>
                          <m:t xml:space="preserve">tdt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423" name="Object 8"/>
              <p:cNvSpPr txBox="1"/>
              <p:nvPr/>
            </p:nvSpPr>
            <p:spPr>
              <a:xfrm>
                <a:off x="3200400" y="2644920"/>
                <a:ext cx="2311560" cy="938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24" name="Object 9"/>
              <p:cNvSpPr txBox="1"/>
              <p:nvPr/>
            </p:nvSpPr>
            <p:spPr>
              <a:xfrm>
                <a:off x="6400800" y="2797200"/>
                <a:ext cx="1220760" cy="576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=</m:t>
                    </m:r>
                    <m:r>
                      <m:t xml:space="preserve">2</m:t>
                    </m:r>
                    <m:sSup>
                      <m:e>
                        <m:r>
                          <m:t xml:space="preserve">t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424" name="Object 9"/>
              <p:cNvSpPr txBox="1"/>
              <p:nvPr/>
            </p:nvSpPr>
            <p:spPr>
              <a:xfrm>
                <a:off x="6400800" y="2797200"/>
                <a:ext cx="1220760" cy="5763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25" name="Object 10"/>
              <p:cNvSpPr txBox="1"/>
              <p:nvPr/>
            </p:nvSpPr>
            <p:spPr>
              <a:xfrm>
                <a:off x="7620120" y="2568600"/>
                <a:ext cx="892080" cy="1119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dx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425" name="Object 10"/>
              <p:cNvSpPr txBox="1"/>
              <p:nvPr/>
            </p:nvSpPr>
            <p:spPr>
              <a:xfrm>
                <a:off x="7620120" y="2568600"/>
                <a:ext cx="892080" cy="11192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26" name="Object 11"/>
              <p:cNvSpPr txBox="1"/>
              <p:nvPr/>
            </p:nvSpPr>
            <p:spPr>
              <a:xfrm>
                <a:off x="380880" y="3940200"/>
                <a:ext cx="2475000" cy="936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rPr>
                            <m:lit/>
                            <m:nor/>
                          </m:rPr>
                          <m:t xml:space="preserve">dx</m:t>
                        </m:r>
                      </m:e>
                    </m:nary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t xml:space="preserve">2</m:t>
                        </m:r>
                        <m:sSup>
                          <m:e>
                            <m:r>
                              <m:t xml:space="preserve">t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426" name="Object 11"/>
              <p:cNvSpPr txBox="1"/>
              <p:nvPr/>
            </p:nvSpPr>
            <p:spPr>
              <a:xfrm>
                <a:off x="380880" y="3940200"/>
                <a:ext cx="2475000" cy="936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27" name="Object 12"/>
              <p:cNvSpPr txBox="1"/>
              <p:nvPr/>
            </p:nvSpPr>
            <p:spPr>
              <a:xfrm>
                <a:off x="914400" y="1066680"/>
                <a:ext cx="2079720" cy="1116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x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2</m:t>
                        </m:r>
                      </m:num>
                      <m:den>
                        <m:r>
                          <m:t xml:space="preserve">3</m:t>
                        </m:r>
                      </m:den>
                    </m:f>
                    <m:sSup>
                      <m:e>
                        <m:r>
                          <m:t xml:space="preserve">t</m:t>
                        </m:r>
                      </m:e>
                      <m:sup>
                        <m:r>
                          <m:t xml:space="preserve">3</m:t>
                        </m:r>
                      </m:sup>
                    </m:sSup>
                    <m:r>
                      <m:t xml:space="preserve">+</m:t>
                    </m:r>
                    <m:r>
                      <m:rPr>
                        <m:lit/>
                        <m:nor/>
                      </m:rPr>
                      <m:t xml:space="preserve">10</m:t>
                    </m:r>
                  </m:oMath>
                </a14:m>
              </a:p>
            </p:txBody>
          </p:sp>
        </mc:Choice>
        <mc:Fallback>
          <p:sp>
            <p:nvSpPr>
              <p:cNvPr id="427" name="Object 12"/>
              <p:cNvSpPr txBox="1"/>
              <p:nvPr/>
            </p:nvSpPr>
            <p:spPr>
              <a:xfrm>
                <a:off x="914400" y="1066680"/>
                <a:ext cx="2079720" cy="1116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p:sp>
        <p:nvSpPr>
          <p:cNvPr id="428" name="星形: 五角 14"/>
          <p:cNvSpPr/>
          <p:nvPr/>
        </p:nvSpPr>
        <p:spPr>
          <a:xfrm>
            <a:off x="8066160" y="5985000"/>
            <a:ext cx="431640" cy="406440"/>
          </a:xfrm>
          <a:custGeom>
            <a:avLst/>
            <a:gdLst>
              <a:gd name="GluePoint1X" fmla="*/ 0 w 432048"/>
              <a:gd name="GluePoint1Y" fmla="*/ 154728 h 405085"/>
              <a:gd name="GluePoint2X" fmla="*/ 165029 w 432048"/>
              <a:gd name="GluePoint2Y" fmla="*/ 154729 h 405085"/>
              <a:gd name="GluePoint3X" fmla="*/ 216024 w 432048"/>
              <a:gd name="GluePoint3Y" fmla="*/ 0 h 405085"/>
              <a:gd name="GluePoint4X" fmla="*/ 267019 w 432048"/>
              <a:gd name="GluePoint4Y" fmla="*/ 154729 h 405085"/>
              <a:gd name="GluePoint5X" fmla="*/ 432048 w 432048"/>
              <a:gd name="GluePoint5Y" fmla="*/ 154728 h 405085"/>
              <a:gd name="GluePoint6X" fmla="*/ 298536 w 432048"/>
              <a:gd name="GluePoint6Y" fmla="*/ 250355 h 405085"/>
              <a:gd name="GluePoint7X" fmla="*/ 349534 w 432048"/>
              <a:gd name="GluePoint7Y" fmla="*/ 405084 h 405085"/>
              <a:gd name="GluePoint8X" fmla="*/ 216024 w 432048"/>
              <a:gd name="GluePoint8Y" fmla="*/ 309455 h 405085"/>
              <a:gd name="GluePoint9X" fmla="*/ 82514 w 432048"/>
              <a:gd name="GluePoint9Y" fmla="*/ 405084 h 405085"/>
              <a:gd name="GluePoint10X" fmla="*/ 133512 w 432048"/>
              <a:gd name="GluePoint10Y" fmla="*/ 250355 h 405085"/>
              <a:gd name="GluePoint11X" fmla="*/ 0 w 432048"/>
              <a:gd name="GluePoint11Y" fmla="*/ 154728 h 4050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2048" h="405085">
                <a:moveTo>
                  <a:pt x="0" y="154728"/>
                </a:moveTo>
                <a:lnTo>
                  <a:pt x="165029" y="154729"/>
                </a:lnTo>
                <a:lnTo>
                  <a:pt x="216024" y="0"/>
                </a:lnTo>
                <a:lnTo>
                  <a:pt x="267019" y="154729"/>
                </a:lnTo>
                <a:lnTo>
                  <a:pt x="432048" y="154728"/>
                </a:lnTo>
                <a:lnTo>
                  <a:pt x="298536" y="250355"/>
                </a:lnTo>
                <a:lnTo>
                  <a:pt x="349534" y="405084"/>
                </a:lnTo>
                <a:lnTo>
                  <a:pt x="216024" y="309455"/>
                </a:lnTo>
                <a:lnTo>
                  <a:pt x="82514" y="405084"/>
                </a:lnTo>
                <a:lnTo>
                  <a:pt x="133512" y="250355"/>
                </a:lnTo>
                <a:lnTo>
                  <a:pt x="0" y="154728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82" dur="indefinite" restart="never" nodeType="tmRoot">
          <p:childTnLst>
            <p:seq>
              <p:cTn id="783" dur="indefinite" nodeType="mainSeq">
                <p:childTnLst>
                  <p:par>
                    <p:cTn id="784" fill="hold" nodeType="clickEffect">
                      <p:stCondLst>
                        <p:cond delay="indefinite"/>
                      </p:stCondLst>
                      <p:childTnLst>
                        <p:par>
                          <p:cTn id="78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8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88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9" fill="hold" nodeType="clickEffect">
                      <p:stCondLst>
                        <p:cond delay="indefinite"/>
                      </p:stCondLst>
                      <p:childTnLst>
                        <p:par>
                          <p:cTn id="79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9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93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4" fill="hold" nodeType="clickEffect">
                      <p:stCondLst>
                        <p:cond delay="indefinite"/>
                      </p:stCondLst>
                      <p:childTnLst>
                        <p:par>
                          <p:cTn id="79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9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98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9" fill="hold" nodeType="clickEffect">
                      <p:stCondLst>
                        <p:cond delay="indefinite"/>
                      </p:stCondLst>
                      <p:childTnLst>
                        <p:par>
                          <p:cTn id="80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0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03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4" fill="hold" nodeType="clickEffect">
                      <p:stCondLst>
                        <p:cond delay="indefinite"/>
                      </p:stCondLst>
                      <p:childTnLst>
                        <p:par>
                          <p:cTn id="80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0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08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9" fill="hold" nodeType="clickEffect">
                      <p:stCondLst>
                        <p:cond delay="indefinite"/>
                      </p:stCondLst>
                      <p:childTnLst>
                        <p:par>
                          <p:cTn id="8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1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13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Text Box 2"/>
          <p:cNvSpPr/>
          <p:nvPr/>
        </p:nvSpPr>
        <p:spPr>
          <a:xfrm>
            <a:off x="-202320" y="152280"/>
            <a:ext cx="93819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P17/4.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质点沿半径为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的圆周运动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速率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v=ct</a:t>
            </a:r>
            <a:r>
              <a:rPr lang="en-US" sz="3000" b="1" u="none" strike="noStrike" baseline="30000">
                <a:solidFill>
                  <a:srgbClr val="000000"/>
                </a:solidFill>
                <a:effectLst/>
                <a:uFillTx/>
                <a:latin typeface="宋体"/>
              </a:rPr>
              <a:t>2 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,c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为常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Text Box 3"/>
          <p:cNvSpPr/>
          <p:nvPr/>
        </p:nvSpPr>
        <p:spPr>
          <a:xfrm>
            <a:off x="-51480" y="1050840"/>
            <a:ext cx="92102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数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则质点走过的路程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s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与时间的关系为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Text Box 4"/>
          <p:cNvSpPr/>
          <p:nvPr/>
        </p:nvSpPr>
        <p:spPr>
          <a:xfrm>
            <a:off x="81000" y="1965240"/>
            <a:ext cx="6269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t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时刻的法向加速度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=____________,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Text Box 5"/>
          <p:cNvSpPr/>
          <p:nvPr/>
        </p:nvSpPr>
        <p:spPr>
          <a:xfrm>
            <a:off x="83520" y="2666880"/>
            <a:ext cx="6459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切向加速度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=___________________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33" name="Object 6"/>
              <p:cNvSpPr txBox="1"/>
              <p:nvPr/>
            </p:nvSpPr>
            <p:spPr>
              <a:xfrm>
                <a:off x="304920" y="3581280"/>
                <a:ext cx="990360" cy="1033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ds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433" name="Object 6"/>
              <p:cNvSpPr txBox="1"/>
              <p:nvPr/>
            </p:nvSpPr>
            <p:spPr>
              <a:xfrm>
                <a:off x="304920" y="3581280"/>
                <a:ext cx="990360" cy="10335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34" name="Object 7"/>
              <p:cNvSpPr txBox="1"/>
              <p:nvPr/>
            </p:nvSpPr>
            <p:spPr>
              <a:xfrm>
                <a:off x="2590920" y="3657600"/>
                <a:ext cx="1981080" cy="866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rPr>
                            <m:lit/>
                            <m:nor/>
                          </m:rPr>
                          <m:t xml:space="preserve">ds</m:t>
                        </m:r>
                      </m:e>
                    </m:nary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sSup>
                          <m:e>
                            <m:r>
                              <m:rPr>
                                <m:lit/>
                                <m:nor/>
                              </m:rPr>
                              <m:t xml:space="preserve">ct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434" name="Object 7"/>
              <p:cNvSpPr txBox="1"/>
              <p:nvPr/>
            </p:nvSpPr>
            <p:spPr>
              <a:xfrm>
                <a:off x="2590920" y="3657600"/>
                <a:ext cx="1981080" cy="8668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35" name="Object 8"/>
              <p:cNvSpPr txBox="1"/>
              <p:nvPr/>
            </p:nvSpPr>
            <p:spPr>
              <a:xfrm>
                <a:off x="7162920" y="609480"/>
                <a:ext cx="914400" cy="963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s</m:t>
                    </m:r>
                    <m:r>
                      <m:t xml:space="preserve">=</m:t>
                    </m:r>
                    <m:f>
                      <m:num>
                        <m:sSup>
                          <m:e>
                            <m:r>
                              <m:rPr>
                                <m:lit/>
                                <m:nor/>
                              </m:rPr>
                              <m:t xml:space="preserve">ct</m:t>
                            </m:r>
                          </m:e>
                          <m:sup>
                            <m:r>
                              <m:t xml:space="preserve">3</m:t>
                            </m:r>
                          </m:sup>
                        </m:sSup>
                      </m:num>
                      <m:den>
                        <m:r>
                          <m:t xml:space="preserve">3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435" name="Object 8"/>
              <p:cNvSpPr txBox="1"/>
              <p:nvPr/>
            </p:nvSpPr>
            <p:spPr>
              <a:xfrm>
                <a:off x="7162920" y="609480"/>
                <a:ext cx="914400" cy="9637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36" name="Object 9"/>
              <p:cNvSpPr txBox="1"/>
              <p:nvPr/>
            </p:nvSpPr>
            <p:spPr>
              <a:xfrm>
                <a:off x="290520" y="4724280"/>
                <a:ext cx="1386000" cy="1190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n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sSup>
                          <m:e>
                            <m:r>
                              <m:t xml:space="preserve">v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num>
                      <m:den>
                        <m:r>
                          <m:t xml:space="preserve">r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436" name="Object 9"/>
              <p:cNvSpPr txBox="1"/>
              <p:nvPr/>
            </p:nvSpPr>
            <p:spPr>
              <a:xfrm>
                <a:off x="290520" y="4724280"/>
                <a:ext cx="1386000" cy="11908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37" name="Object 10"/>
              <p:cNvSpPr txBox="1"/>
              <p:nvPr/>
            </p:nvSpPr>
            <p:spPr>
              <a:xfrm>
                <a:off x="4343400" y="1523880"/>
                <a:ext cx="692280" cy="914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sSup>
                          <m:e>
                            <m:r>
                              <m:t xml:space="preserve">c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  <m:sSup>
                          <m:e>
                            <m:r>
                              <m:t xml:space="preserve">t</m:t>
                            </m:r>
                          </m:e>
                          <m:sup>
                            <m:r>
                              <m:t xml:space="preserve">4</m:t>
                            </m:r>
                          </m:sup>
                        </m:sSup>
                      </m:num>
                      <m:den>
                        <m:r>
                          <m:t xml:space="preserve">r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437" name="Object 10"/>
              <p:cNvSpPr txBox="1"/>
              <p:nvPr/>
            </p:nvSpPr>
            <p:spPr>
              <a:xfrm>
                <a:off x="4343400" y="1523880"/>
                <a:ext cx="692280" cy="914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38" name="Object 11"/>
              <p:cNvSpPr txBox="1"/>
              <p:nvPr/>
            </p:nvSpPr>
            <p:spPr>
              <a:xfrm>
                <a:off x="2610000" y="4800600"/>
                <a:ext cx="1352520" cy="1119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τ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438" name="Object 11"/>
              <p:cNvSpPr txBox="1"/>
              <p:nvPr/>
            </p:nvSpPr>
            <p:spPr>
              <a:xfrm>
                <a:off x="2610000" y="4800600"/>
                <a:ext cx="1352520" cy="11192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39" name="Object 12"/>
              <p:cNvSpPr txBox="1"/>
              <p:nvPr/>
            </p:nvSpPr>
            <p:spPr>
              <a:xfrm>
                <a:off x="3352680" y="2714760"/>
                <a:ext cx="609840" cy="409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2</m:t>
                    </m:r>
                    <m:r>
                      <m:rPr>
                        <m:lit/>
                        <m:nor/>
                      </m:rPr>
                      <m:t xml:space="preserve">ct</m:t>
                    </m:r>
                  </m:oMath>
                </a14:m>
              </a:p>
            </p:txBody>
          </p:sp>
        </mc:Choice>
        <mc:Fallback>
          <p:sp>
            <p:nvSpPr>
              <p:cNvPr id="439" name="Object 12"/>
              <p:cNvSpPr txBox="1"/>
              <p:nvPr/>
            </p:nvSpPr>
            <p:spPr>
              <a:xfrm>
                <a:off x="3352680" y="2714760"/>
                <a:ext cx="609840" cy="4093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p:sp>
        <p:nvSpPr>
          <p:cNvPr id="440" name="星形: 五角 14"/>
          <p:cNvSpPr/>
          <p:nvPr/>
        </p:nvSpPr>
        <p:spPr>
          <a:xfrm>
            <a:off x="8077320" y="6021360"/>
            <a:ext cx="431640" cy="405000"/>
          </a:xfrm>
          <a:custGeom>
            <a:avLst/>
            <a:gdLst>
              <a:gd name="GluePoint1X" fmla="*/ 0 w 432048"/>
              <a:gd name="GluePoint1Y" fmla="*/ 154728 h 405085"/>
              <a:gd name="GluePoint2X" fmla="*/ 165029 w 432048"/>
              <a:gd name="GluePoint2Y" fmla="*/ 154729 h 405085"/>
              <a:gd name="GluePoint3X" fmla="*/ 216024 w 432048"/>
              <a:gd name="GluePoint3Y" fmla="*/ 0 h 405085"/>
              <a:gd name="GluePoint4X" fmla="*/ 267019 w 432048"/>
              <a:gd name="GluePoint4Y" fmla="*/ 154729 h 405085"/>
              <a:gd name="GluePoint5X" fmla="*/ 432048 w 432048"/>
              <a:gd name="GluePoint5Y" fmla="*/ 154728 h 405085"/>
              <a:gd name="GluePoint6X" fmla="*/ 298536 w 432048"/>
              <a:gd name="GluePoint6Y" fmla="*/ 250355 h 405085"/>
              <a:gd name="GluePoint7X" fmla="*/ 349534 w 432048"/>
              <a:gd name="GluePoint7Y" fmla="*/ 405084 h 405085"/>
              <a:gd name="GluePoint8X" fmla="*/ 216024 w 432048"/>
              <a:gd name="GluePoint8Y" fmla="*/ 309455 h 405085"/>
              <a:gd name="GluePoint9X" fmla="*/ 82514 w 432048"/>
              <a:gd name="GluePoint9Y" fmla="*/ 405084 h 405085"/>
              <a:gd name="GluePoint10X" fmla="*/ 133512 w 432048"/>
              <a:gd name="GluePoint10Y" fmla="*/ 250355 h 405085"/>
              <a:gd name="GluePoint11X" fmla="*/ 0 w 432048"/>
              <a:gd name="GluePoint11Y" fmla="*/ 154728 h 4050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2048" h="405085">
                <a:moveTo>
                  <a:pt x="0" y="154728"/>
                </a:moveTo>
                <a:lnTo>
                  <a:pt x="165029" y="154729"/>
                </a:lnTo>
                <a:lnTo>
                  <a:pt x="216024" y="0"/>
                </a:lnTo>
                <a:lnTo>
                  <a:pt x="267019" y="154729"/>
                </a:lnTo>
                <a:lnTo>
                  <a:pt x="432048" y="154728"/>
                </a:lnTo>
                <a:lnTo>
                  <a:pt x="298536" y="250355"/>
                </a:lnTo>
                <a:lnTo>
                  <a:pt x="349534" y="405084"/>
                </a:lnTo>
                <a:lnTo>
                  <a:pt x="216024" y="309455"/>
                </a:lnTo>
                <a:lnTo>
                  <a:pt x="82514" y="405084"/>
                </a:lnTo>
                <a:lnTo>
                  <a:pt x="133512" y="250355"/>
                </a:lnTo>
                <a:lnTo>
                  <a:pt x="0" y="154728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14" dur="indefinite" restart="never" nodeType="tmRoot">
          <p:childTnLst>
            <p:seq>
              <p:cTn id="815" dur="indefinite" nodeType="mainSeq">
                <p:childTnLst>
                  <p:par>
                    <p:cTn id="816" fill="hold" nodeType="clickEffect">
                      <p:stCondLst>
                        <p:cond delay="indefinite"/>
                      </p:stCondLst>
                      <p:childTnLst>
                        <p:par>
                          <p:cTn id="81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1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20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1" fill="hold" nodeType="clickEffect">
                      <p:stCondLst>
                        <p:cond delay="indefinite"/>
                      </p:stCondLst>
                      <p:childTnLst>
                        <p:par>
                          <p:cTn id="82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2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25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6" fill="hold" nodeType="clickEffect">
                      <p:stCondLst>
                        <p:cond delay="indefinite"/>
                      </p:stCondLst>
                      <p:childTnLst>
                        <p:par>
                          <p:cTn id="82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2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30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1" fill="hold" nodeType="clickEffect">
                      <p:stCondLst>
                        <p:cond delay="indefinite"/>
                      </p:stCondLst>
                      <p:childTnLst>
                        <p:par>
                          <p:cTn id="83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3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35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6" fill="hold" nodeType="clickEffect">
                      <p:stCondLst>
                        <p:cond delay="indefinite"/>
                      </p:stCondLst>
                      <p:childTnLst>
                        <p:par>
                          <p:cTn id="83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3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40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1" fill="hold" nodeType="clickEffect">
                      <p:stCondLst>
                        <p:cond delay="indefinite"/>
                      </p:stCondLst>
                      <p:childTnLst>
                        <p:par>
                          <p:cTn id="84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4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45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6" fill="hold" nodeType="clickEffect">
                      <p:stCondLst>
                        <p:cond delay="indefinite"/>
                      </p:stCondLst>
                      <p:childTnLst>
                        <p:par>
                          <p:cTn id="84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4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50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ext Box 2"/>
          <p:cNvSpPr/>
          <p:nvPr/>
        </p:nvSpPr>
        <p:spPr>
          <a:xfrm>
            <a:off x="-162360" y="152280"/>
            <a:ext cx="93819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P17/5.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质点沿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x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轴作直线运动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加速度</a:t>
            </a:r>
            <a:r>
              <a:rPr lang="en-US" sz="3000" b="0" i="1" u="none" strike="noStrike">
                <a:solidFill>
                  <a:srgbClr val="000000"/>
                </a:solidFill>
                <a:effectLst/>
                <a:uFillTx/>
                <a:latin typeface="Bookman Old Style"/>
              </a:rPr>
              <a:t>a 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=4t+3(m/s</a:t>
            </a:r>
            <a:r>
              <a:rPr lang="en-US" sz="3000" b="1" u="none" strike="noStrike" baseline="30000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),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Text Box 3"/>
          <p:cNvSpPr/>
          <p:nvPr/>
        </p:nvSpPr>
        <p:spPr>
          <a:xfrm>
            <a:off x="-206280" y="762120"/>
            <a:ext cx="8730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t=0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时刻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,v=3(m/s),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则该质点在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t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时刻的速度为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Text Box 4"/>
          <p:cNvSpPr/>
          <p:nvPr/>
        </p:nvSpPr>
        <p:spPr>
          <a:xfrm>
            <a:off x="175320" y="1371600"/>
            <a:ext cx="4272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v=______</a:t>
            </a:r>
            <a:r>
              <a:rPr lang="en-US" sz="3000" b="1" u="sng" strike="noStrike">
                <a:solidFill>
                  <a:srgbClr val="000000"/>
                </a:solidFill>
                <a:effectLst/>
                <a:uFillTx/>
                <a:latin typeface="宋体"/>
              </a:rPr>
              <a:t>           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44" name="Object 5"/>
              <p:cNvSpPr txBox="1"/>
              <p:nvPr/>
            </p:nvSpPr>
            <p:spPr>
              <a:xfrm>
                <a:off x="684360" y="2492280"/>
                <a:ext cx="1222200" cy="1119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</m:t>
                    </m:r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444" name="Object 5"/>
              <p:cNvSpPr txBox="1"/>
              <p:nvPr/>
            </p:nvSpPr>
            <p:spPr>
              <a:xfrm>
                <a:off x="684360" y="2492280"/>
                <a:ext cx="1222200" cy="111924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45" name="Object 6"/>
              <p:cNvSpPr txBox="1"/>
              <p:nvPr/>
            </p:nvSpPr>
            <p:spPr>
              <a:xfrm>
                <a:off x="2971800" y="2666880"/>
                <a:ext cx="2971800" cy="866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e>
                    </m:nary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t xml:space="preserve">(</m:t>
                        </m:r>
                        <m:r>
                          <m:t xml:space="preserve">4</m:t>
                        </m:r>
                        <m:r>
                          <m:t xml:space="preserve">t</m:t>
                        </m:r>
                        <m:r>
                          <m:t xml:space="preserve">+</m:t>
                        </m:r>
                        <m:r>
                          <m:t xml:space="preserve">3</m:t>
                        </m:r>
                        <m:r>
                          <m:t xml:space="preserve">)</m:t>
                        </m:r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445" name="Object 6"/>
              <p:cNvSpPr txBox="1"/>
              <p:nvPr/>
            </p:nvSpPr>
            <p:spPr>
              <a:xfrm>
                <a:off x="2971800" y="2666880"/>
                <a:ext cx="2971800" cy="8668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446" name="Text Box 7"/>
          <p:cNvSpPr/>
          <p:nvPr/>
        </p:nvSpPr>
        <p:spPr>
          <a:xfrm>
            <a:off x="1212480" y="1355760"/>
            <a:ext cx="25772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2t</a:t>
            </a:r>
            <a:r>
              <a:rPr lang="en-US" sz="3000" b="1" u="none" strike="noStrike" baseline="30000">
                <a:solidFill>
                  <a:srgbClr val="FF0000"/>
                </a:solidFill>
                <a:effectLst/>
                <a:uFillTx/>
                <a:latin typeface="宋体"/>
              </a:rPr>
              <a:t>2</a:t>
            </a: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+3t+3(m/s)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51" dur="indefinite" restart="never" nodeType="tmRoot">
          <p:childTnLst>
            <p:seq>
              <p:cTn id="852" dur="indefinite" nodeType="mainSeq">
                <p:childTnLst>
                  <p:par>
                    <p:cTn id="853" fill="hold" nodeType="clickEffect">
                      <p:stCondLst>
                        <p:cond delay="indefinite"/>
                      </p:stCondLst>
                      <p:childTnLst>
                        <p:par>
                          <p:cTn id="85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5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57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8" fill="hold" nodeType="clickEffect">
                      <p:stCondLst>
                        <p:cond delay="indefinite"/>
                      </p:stCondLst>
                      <p:childTnLst>
                        <p:par>
                          <p:cTn id="85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6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62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3" fill="hold" nodeType="clickEffect">
                      <p:stCondLst>
                        <p:cond delay="indefinite"/>
                      </p:stCondLst>
                      <p:childTnLst>
                        <p:par>
                          <p:cTn id="86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6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67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Text Box 2"/>
          <p:cNvSpPr/>
          <p:nvPr/>
        </p:nvSpPr>
        <p:spPr>
          <a:xfrm>
            <a:off x="41760" y="152280"/>
            <a:ext cx="370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P17/6.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小艇原以速度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Text Box 3"/>
          <p:cNvSpPr/>
          <p:nvPr/>
        </p:nvSpPr>
        <p:spPr>
          <a:xfrm>
            <a:off x="3813840" y="152280"/>
            <a:ext cx="5118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行驶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某时刻关闭发动机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49" name="Object 4"/>
              <p:cNvSpPr txBox="1"/>
              <p:nvPr/>
            </p:nvSpPr>
            <p:spPr>
              <a:xfrm>
                <a:off x="3657600" y="189000"/>
                <a:ext cx="442800" cy="496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449" name="Object 4"/>
              <p:cNvSpPr txBox="1"/>
              <p:nvPr/>
            </p:nvSpPr>
            <p:spPr>
              <a:xfrm>
                <a:off x="3657600" y="189000"/>
                <a:ext cx="442800" cy="49680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450" name="Text Box 5"/>
          <p:cNvSpPr/>
          <p:nvPr/>
        </p:nvSpPr>
        <p:spPr>
          <a:xfrm>
            <a:off x="-178200" y="685800"/>
            <a:ext cx="93628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加速度大小与速率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v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成正比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但方向相反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即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en-US" sz="3000" b="0" i="1" u="none" strike="noStrike">
                <a:solidFill>
                  <a:srgbClr val="000000"/>
                </a:solidFill>
                <a:effectLst/>
                <a:uFillTx/>
                <a:latin typeface="Bookman Old Style"/>
              </a:rPr>
              <a:t>a 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= -kv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Text Box 6"/>
          <p:cNvSpPr/>
          <p:nvPr/>
        </p:nvSpPr>
        <p:spPr>
          <a:xfrm>
            <a:off x="35280" y="1127160"/>
            <a:ext cx="8836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k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为正值常数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则小艇从关闭发动机到静止这段时间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Text Box 7"/>
          <p:cNvSpPr/>
          <p:nvPr/>
        </p:nvSpPr>
        <p:spPr>
          <a:xfrm>
            <a:off x="24120" y="1584360"/>
            <a:ext cx="36018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内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它所经过的路程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Text Box 8"/>
          <p:cNvSpPr/>
          <p:nvPr/>
        </p:nvSpPr>
        <p:spPr>
          <a:xfrm>
            <a:off x="3933000" y="1600200"/>
            <a:ext cx="5034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=_________,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在这段时间内其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54" name="Object 9"/>
              <p:cNvSpPr txBox="1"/>
              <p:nvPr/>
            </p:nvSpPr>
            <p:spPr>
              <a:xfrm>
                <a:off x="3460680" y="1703520"/>
                <a:ext cx="501840" cy="409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ΔS</m:t>
                    </m:r>
                  </m:oMath>
                </a14:m>
              </a:p>
            </p:txBody>
          </p:sp>
        </mc:Choice>
        <mc:Fallback>
          <p:sp>
            <p:nvSpPr>
              <p:cNvPr id="454" name="Object 9"/>
              <p:cNvSpPr txBox="1"/>
              <p:nvPr/>
            </p:nvSpPr>
            <p:spPr>
              <a:xfrm>
                <a:off x="3460680" y="1703520"/>
                <a:ext cx="501840" cy="4093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455" name="Text Box 10"/>
          <p:cNvSpPr/>
          <p:nvPr/>
        </p:nvSpPr>
        <p:spPr>
          <a:xfrm>
            <a:off x="84960" y="2270160"/>
            <a:ext cx="8745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速率与时间的关系为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v=__________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（设关闭发动机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Text Box 11"/>
          <p:cNvSpPr/>
          <p:nvPr/>
        </p:nvSpPr>
        <p:spPr>
          <a:xfrm>
            <a:off x="183240" y="2803680"/>
            <a:ext cx="3609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的时刻为计时零点）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57" name="Object 12"/>
              <p:cNvSpPr txBox="1"/>
              <p:nvPr/>
            </p:nvSpPr>
            <p:spPr>
              <a:xfrm>
                <a:off x="457200" y="3505320"/>
                <a:ext cx="2244600" cy="1119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</m:t>
                    </m:r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  <m:r>
                      <m:t xml:space="preserve">=</m:t>
                    </m:r>
                    <m:r>
                      <m:t xml:space="preserve">−</m:t>
                    </m:r>
                    <m:r>
                      <m:rPr>
                        <m:lit/>
                        <m:nor/>
                      </m:rPr>
                      <m:t xml:space="preserve">kv</m:t>
                    </m:r>
                  </m:oMath>
                </a14:m>
              </a:p>
            </p:txBody>
          </p:sp>
        </mc:Choice>
        <mc:Fallback>
          <p:sp>
            <p:nvSpPr>
              <p:cNvPr id="457" name="Object 12"/>
              <p:cNvSpPr txBox="1"/>
              <p:nvPr/>
            </p:nvSpPr>
            <p:spPr>
              <a:xfrm>
                <a:off x="457200" y="3505320"/>
                <a:ext cx="2244600" cy="11192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58" name="Object 13"/>
              <p:cNvSpPr txBox="1"/>
              <p:nvPr/>
            </p:nvSpPr>
            <p:spPr>
              <a:xfrm>
                <a:off x="3825720" y="3451320"/>
                <a:ext cx="2805120" cy="1119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f>
                          <m:num>
                            <m:r>
                              <m:rPr>
                                <m:lit/>
                                <m:nor/>
                              </m:rPr>
                              <m:t xml:space="preserve">dv</m:t>
                            </m:r>
                          </m:num>
                          <m:den>
                            <m:r>
                              <m:t xml:space="preserve">v</m:t>
                            </m:r>
                          </m:den>
                        </m:f>
                      </m:e>
                    </m:nary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t xml:space="preserve">(</m:t>
                        </m:r>
                        <m:r>
                          <m:t xml:space="preserve">−</m:t>
                        </m:r>
                        <m:r>
                          <m:t xml:space="preserve">k</m:t>
                        </m:r>
                        <m:r>
                          <m:t xml:space="preserve">)</m:t>
                        </m:r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458" name="Object 13"/>
              <p:cNvSpPr txBox="1"/>
              <p:nvPr/>
            </p:nvSpPr>
            <p:spPr>
              <a:xfrm>
                <a:off x="3825720" y="3451320"/>
                <a:ext cx="2805120" cy="11192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59" name="Object 14"/>
              <p:cNvSpPr txBox="1"/>
              <p:nvPr/>
            </p:nvSpPr>
            <p:spPr>
              <a:xfrm>
                <a:off x="4184640" y="2133720"/>
                <a:ext cx="1787400" cy="649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sSup>
                      <m:e>
                        <m:r>
                          <m:t xml:space="preserve">e</m:t>
                        </m:r>
                      </m:e>
                      <m:sup>
                        <m:r>
                          <m:t xml:space="preserve">−</m:t>
                        </m:r>
                        <m:r>
                          <m:rPr>
                            <m:lit/>
                            <m:nor/>
                          </m:rPr>
                          <m:t xml:space="preserve">kt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459" name="Object 14"/>
              <p:cNvSpPr txBox="1"/>
              <p:nvPr/>
            </p:nvSpPr>
            <p:spPr>
              <a:xfrm>
                <a:off x="4184640" y="2133720"/>
                <a:ext cx="1787400" cy="6490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60" name="Object 15"/>
              <p:cNvSpPr txBox="1"/>
              <p:nvPr/>
            </p:nvSpPr>
            <p:spPr>
              <a:xfrm>
                <a:off x="380880" y="4648320"/>
                <a:ext cx="2067120" cy="1117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dx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  <m:r>
                      <m:t xml:space="preserve">=</m:t>
                    </m:r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sSup>
                      <m:e>
                        <m:r>
                          <m:t xml:space="preserve">e</m:t>
                        </m:r>
                      </m:e>
                      <m:sup>
                        <m:r>
                          <m:t xml:space="preserve">−</m:t>
                        </m:r>
                        <m:r>
                          <m:rPr>
                            <m:lit/>
                            <m:nor/>
                          </m:rPr>
                          <m:t xml:space="preserve">kt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460" name="Object 15"/>
              <p:cNvSpPr txBox="1"/>
              <p:nvPr/>
            </p:nvSpPr>
            <p:spPr>
              <a:xfrm>
                <a:off x="380880" y="4648320"/>
                <a:ext cx="2067120" cy="11174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61" name="Object 16"/>
              <p:cNvSpPr txBox="1"/>
              <p:nvPr/>
            </p:nvSpPr>
            <p:spPr>
              <a:xfrm>
                <a:off x="3124080" y="4724280"/>
                <a:ext cx="3187800" cy="936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rPr>
                            <m:lit/>
                            <m:nor/>
                          </m:rPr>
                          <m:t xml:space="preserve">dx</m:t>
                        </m:r>
                      </m:e>
                    </m:nary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sSub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sSup>
                          <m:e>
                            <m:r>
                              <m:t xml:space="preserve">e</m:t>
                            </m:r>
                          </m:e>
                          <m:sup>
                            <m:r>
                              <m:t xml:space="preserve">−</m:t>
                            </m:r>
                            <m:r>
                              <m:rPr>
                                <m:lit/>
                                <m:nor/>
                              </m:rPr>
                              <m:t xml:space="preserve">kt</m:t>
                            </m:r>
                          </m:sup>
                        </m:sSup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461" name="Object 16"/>
              <p:cNvSpPr txBox="1"/>
              <p:nvPr/>
            </p:nvSpPr>
            <p:spPr>
              <a:xfrm>
                <a:off x="3124080" y="4724280"/>
                <a:ext cx="3187800" cy="9367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62" name="Object 17"/>
              <p:cNvSpPr txBox="1"/>
              <p:nvPr/>
            </p:nvSpPr>
            <p:spPr>
              <a:xfrm>
                <a:off x="4495680" y="1523880"/>
                <a:ext cx="1016280" cy="611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fPr>
                        <m:type m:val="lin"/>
                      </m:fPr>
                      <m:num>
                        <m:sSub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</m:num>
                      <m:den>
                        <m:r>
                          <m:t xml:space="preserve">k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462" name="Object 17"/>
              <p:cNvSpPr txBox="1"/>
              <p:nvPr/>
            </p:nvSpPr>
            <p:spPr>
              <a:xfrm>
                <a:off x="4495680" y="1523880"/>
                <a:ext cx="1016280" cy="6112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p:sp>
        <p:nvSpPr>
          <p:cNvPr id="463" name="星形: 五角 19"/>
          <p:cNvSpPr/>
          <p:nvPr/>
        </p:nvSpPr>
        <p:spPr>
          <a:xfrm>
            <a:off x="8101080" y="6021360"/>
            <a:ext cx="431640" cy="405000"/>
          </a:xfrm>
          <a:custGeom>
            <a:avLst/>
            <a:gdLst>
              <a:gd name="GluePoint1X" fmla="*/ 0 w 432048"/>
              <a:gd name="GluePoint1Y" fmla="*/ 154728 h 405085"/>
              <a:gd name="GluePoint2X" fmla="*/ 165029 w 432048"/>
              <a:gd name="GluePoint2Y" fmla="*/ 154729 h 405085"/>
              <a:gd name="GluePoint3X" fmla="*/ 216024 w 432048"/>
              <a:gd name="GluePoint3Y" fmla="*/ 0 h 405085"/>
              <a:gd name="GluePoint4X" fmla="*/ 267019 w 432048"/>
              <a:gd name="GluePoint4Y" fmla="*/ 154729 h 405085"/>
              <a:gd name="GluePoint5X" fmla="*/ 432048 w 432048"/>
              <a:gd name="GluePoint5Y" fmla="*/ 154728 h 405085"/>
              <a:gd name="GluePoint6X" fmla="*/ 298536 w 432048"/>
              <a:gd name="GluePoint6Y" fmla="*/ 250355 h 405085"/>
              <a:gd name="GluePoint7X" fmla="*/ 349534 w 432048"/>
              <a:gd name="GluePoint7Y" fmla="*/ 405084 h 405085"/>
              <a:gd name="GluePoint8X" fmla="*/ 216024 w 432048"/>
              <a:gd name="GluePoint8Y" fmla="*/ 309455 h 405085"/>
              <a:gd name="GluePoint9X" fmla="*/ 82514 w 432048"/>
              <a:gd name="GluePoint9Y" fmla="*/ 405084 h 405085"/>
              <a:gd name="GluePoint10X" fmla="*/ 133512 w 432048"/>
              <a:gd name="GluePoint10Y" fmla="*/ 250355 h 405085"/>
              <a:gd name="GluePoint11X" fmla="*/ 0 w 432048"/>
              <a:gd name="GluePoint11Y" fmla="*/ 154728 h 4050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2048" h="405085">
                <a:moveTo>
                  <a:pt x="0" y="154728"/>
                </a:moveTo>
                <a:lnTo>
                  <a:pt x="165029" y="154729"/>
                </a:lnTo>
                <a:lnTo>
                  <a:pt x="216024" y="0"/>
                </a:lnTo>
                <a:lnTo>
                  <a:pt x="267019" y="154729"/>
                </a:lnTo>
                <a:lnTo>
                  <a:pt x="432048" y="154728"/>
                </a:lnTo>
                <a:lnTo>
                  <a:pt x="298536" y="250355"/>
                </a:lnTo>
                <a:lnTo>
                  <a:pt x="349534" y="405084"/>
                </a:lnTo>
                <a:lnTo>
                  <a:pt x="216024" y="309455"/>
                </a:lnTo>
                <a:lnTo>
                  <a:pt x="82514" y="405084"/>
                </a:lnTo>
                <a:lnTo>
                  <a:pt x="133512" y="250355"/>
                </a:lnTo>
                <a:lnTo>
                  <a:pt x="0" y="154728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68" dur="indefinite" restart="never" nodeType="tmRoot">
          <p:childTnLst>
            <p:seq>
              <p:cTn id="869" dur="indefinite" nodeType="mainSeq">
                <p:childTnLst>
                  <p:par>
                    <p:cTn id="870" fill="hold" nodeType="clickEffect">
                      <p:stCondLst>
                        <p:cond delay="indefinite"/>
                      </p:stCondLst>
                      <p:childTnLst>
                        <p:par>
                          <p:cTn id="87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7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74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5" fill="hold" nodeType="clickEffect">
                      <p:stCondLst>
                        <p:cond delay="indefinite"/>
                      </p:stCondLst>
                      <p:childTnLst>
                        <p:par>
                          <p:cTn id="87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7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79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0" fill="hold" nodeType="clickEffect">
                      <p:stCondLst>
                        <p:cond delay="indefinite"/>
                      </p:stCondLst>
                      <p:childTnLst>
                        <p:par>
                          <p:cTn id="88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8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84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5" fill="hold" nodeType="clickEffect">
                      <p:stCondLst>
                        <p:cond delay="indefinite"/>
                      </p:stCondLst>
                      <p:childTnLst>
                        <p:par>
                          <p:cTn id="88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8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89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0" fill="hold" nodeType="clickEffect">
                      <p:stCondLst>
                        <p:cond delay="indefinite"/>
                      </p:stCondLst>
                      <p:childTnLst>
                        <p:par>
                          <p:cTn id="89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9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94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5" fill="hold" nodeType="clickEffect">
                      <p:stCondLst>
                        <p:cond delay="indefinite"/>
                      </p:stCondLst>
                      <p:childTnLst>
                        <p:par>
                          <p:cTn id="89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9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99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1004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2002-12-02T20:00:18Z</dcterms:created>
  <dc:creator>Love</dc:creator>
  <dc:description/>
  <dc:language>zh-CN</dc:language>
  <cp:lastModifiedBy>Administrator</cp:lastModifiedBy>
  <dcterms:modified xsi:type="dcterms:W3CDTF">2026-04-19T20:03:41Z</dcterms:modified>
  <cp:revision>289</cp:revision>
  <dc:subject/>
  <dc:title>没有幻灯片标题</dc:title>
</cp:coreProperties>
</file>