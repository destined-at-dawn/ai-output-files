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media/image52.emf" ContentType="image/x-emf"/>
  <Override PartName="/ppt/media/image70.emf" ContentType="image/x-emf"/>
  <Override PartName="/ppt/media/image59.emf" ContentType="image/x-emf"/>
  <Override PartName="/ppt/media/image40.emf" ContentType="image/x-emf"/>
  <Override PartName="/ppt/media/image4.emf" ContentType="image/x-emf"/>
  <Override PartName="/ppt/media/image120.emf" ContentType="image/x-emf"/>
  <Override PartName="/ppt/media/image47.emf" ContentType="image/x-emf"/>
  <Override PartName="/ppt/media/image3.emf" ContentType="image/x-emf"/>
  <Override PartName="/ppt/media/image58.emf" ContentType="image/x-emf"/>
  <Override PartName="/ppt/media/image121.emf" ContentType="image/x-emf"/>
  <Override PartName="/ppt/media/image46.emf" ContentType="image/x-emf"/>
  <Override PartName="/ppt/media/image2.emf" ContentType="image/x-emf"/>
  <Override PartName="/ppt/media/image71.emf" ContentType="image/x-emf"/>
  <Override PartName="/ppt/media/image41.emf" ContentType="image/x-emf"/>
  <Override PartName="/ppt/media/image5.emf" ContentType="image/x-emf"/>
  <Override PartName="/ppt/media/image22.emf" ContentType="image/x-emf"/>
  <Override PartName="/ppt/media/image101.emf" ContentType="image/x-emf"/>
  <Override PartName="/ppt/media/image72.emf" ContentType="image/x-emf"/>
  <Override PartName="/ppt/media/image42.emf" ContentType="image/x-emf"/>
  <Override PartName="/ppt/media/image6.emf" ContentType="image/x-emf"/>
  <Override PartName="/ppt/media/image73.emf" ContentType="image/x-emf"/>
  <Override PartName="/ppt/media/image43.emf" ContentType="image/x-emf"/>
  <Override PartName="/ppt/media/image7.emf" ContentType="image/x-emf"/>
  <Override PartName="/ppt/media/image29.emf" ContentType="image/x-emf"/>
  <Override PartName="/ppt/media/image74.emf" ContentType="image/x-emf"/>
  <Override PartName="/ppt/media/image11.emf" ContentType="image/x-emf"/>
  <Override PartName="/ppt/media/image8.emf" ContentType="image/x-emf"/>
  <Override PartName="/ppt/media/image28.emf" ContentType="image/x-emf"/>
  <Override PartName="/ppt/media/image75.emf" ContentType="image/x-emf"/>
  <Override PartName="/ppt/media/image10.emf" ContentType="image/x-emf"/>
  <Override PartName="/ppt/media/image9.emf" ContentType="image/x-emf"/>
  <Override PartName="/ppt/media/image12.emf" ContentType="image/x-emf"/>
  <Override PartName="/ppt/media/image110.emf" ContentType="image/x-emf"/>
  <Override PartName="/ppt/media/image38.emf" ContentType="image/x-emf"/>
  <Override PartName="/ppt/media/image48.emf" ContentType="image/x-emf"/>
  <Override PartName="/ppt/media/image15.emf" ContentType="image/x-emf"/>
  <Override PartName="/ppt/media/image49.emf" ContentType="image/x-emf"/>
  <Override PartName="/ppt/media/image14.emf" ContentType="image/x-emf"/>
  <Override PartName="/ppt/media/image16.emf" ContentType="image/x-emf"/>
  <Override PartName="/ppt/media/image17.emf" ContentType="image/x-emf"/>
  <Override PartName="/ppt/media/image45.emf" ContentType="image/x-emf"/>
  <Override PartName="/ppt/media/image18.emf" ContentType="image/x-emf"/>
  <Override PartName="/ppt/media/image44.emf" ContentType="image/x-emf"/>
  <Override PartName="/ppt/media/image19.emf" ContentType="image/x-emf"/>
  <Override PartName="/ppt/media/image103.emf" ContentType="image/x-emf"/>
  <Override PartName="/ppt/media/image20.emf" ContentType="image/x-emf"/>
  <Override PartName="/ppt/media/image102.emf" ContentType="image/x-emf"/>
  <Override PartName="/ppt/media/image21.emf" ContentType="image/x-emf"/>
  <Override PartName="/ppt/media/image23.emf" ContentType="image/x-emf"/>
  <Override PartName="/ppt/media/image100.emf" ContentType="image/x-emf"/>
  <Override PartName="/ppt/media/image107.emf" ContentType="image/x-emf"/>
  <Override PartName="/ppt/media/image24.emf" ContentType="image/x-emf"/>
  <Override PartName="/ppt/media/image106.emf" ContentType="image/x-emf"/>
  <Override PartName="/ppt/media/image25.emf" ContentType="image/x-emf"/>
  <Override PartName="/ppt/media/image105.emf" ContentType="image/x-emf"/>
  <Override PartName="/ppt/media/image26.emf" ContentType="image/x-emf"/>
  <Override PartName="/ppt/media/image104.emf" ContentType="image/x-emf"/>
  <Override PartName="/ppt/media/image27.emf" ContentType="image/x-emf"/>
  <Override PartName="/ppt/media/image30.emf" ContentType="image/x-emf"/>
  <Override PartName="/ppt/media/image31.emf" ContentType="image/x-emf"/>
  <Override PartName="/ppt/media/image32.emf" ContentType="image/x-emf"/>
  <Override PartName="/ppt/media/image33.emf" ContentType="image/x-emf"/>
  <Override PartName="/ppt/media/image34.emf" ContentType="image/x-emf"/>
  <Override PartName="/ppt/media/image35.emf" ContentType="image/x-emf"/>
  <Override PartName="/ppt/media/image36.emf" ContentType="image/x-emf"/>
  <Override PartName="/ppt/media/image37.emf" ContentType="image/x-emf"/>
  <Override PartName="/ppt/media/image111.emf" ContentType="image/x-emf"/>
  <Override PartName="/ppt/media/image39.emf" ContentType="image/x-emf"/>
  <Override PartName="/ppt/media/image50.emf" ContentType="image/x-emf"/>
  <Override PartName="/ppt/media/image51.emf" ContentType="image/x-emf"/>
  <Override PartName="/ppt/media/image53.emf" ContentType="image/x-emf"/>
  <Override PartName="/ppt/media/image54.emf" ContentType="image/x-emf"/>
  <Override PartName="/ppt/media/image55.emf" ContentType="image/x-emf"/>
  <Override PartName="/ppt/media/image56.emf" ContentType="image/x-emf"/>
  <Override PartName="/ppt/media/image57.emf" ContentType="image/x-emf"/>
  <Override PartName="/ppt/media/image61.emf" ContentType="image/x-emf"/>
  <Override PartName="/ppt/media/image62.emf" ContentType="image/x-emf"/>
  <Override PartName="/ppt/media/image63.emf" ContentType="image/x-emf"/>
  <Override PartName="/ppt/media/image64.emf" ContentType="image/x-emf"/>
  <Override PartName="/ppt/media/image65.emf" ContentType="image/x-emf"/>
  <Override PartName="/ppt/media/image66.emf" ContentType="image/x-emf"/>
  <Override PartName="/ppt/media/image67.emf" ContentType="image/x-emf"/>
  <Override PartName="/ppt/media/image68.emf" ContentType="image/x-emf"/>
  <Override PartName="/ppt/media/image69.emf" ContentType="image/x-emf"/>
  <Override PartName="/ppt/media/image76.emf" ContentType="image/x-emf"/>
  <Override PartName="/ppt/media/image77.emf" ContentType="image/x-emf"/>
  <Override PartName="/ppt/media/image78.emf" ContentType="image/x-emf"/>
  <Override PartName="/ppt/media/image79.emf" ContentType="image/x-emf"/>
  <Override PartName="/ppt/media/image80.emf" ContentType="image/x-emf"/>
  <Override PartName="/ppt/media/image81.emf" ContentType="image/x-emf"/>
  <Override PartName="/ppt/media/image82.emf" ContentType="image/x-emf"/>
  <Override PartName="/ppt/media/image83.emf" ContentType="image/x-emf"/>
  <Override PartName="/ppt/media/image84.emf" ContentType="image/x-emf"/>
  <Override PartName="/ppt/media/image85.emf" ContentType="image/x-emf"/>
  <Override PartName="/ppt/media/image87.emf" ContentType="image/x-emf"/>
  <Override PartName="/ppt/media/image88.emf" ContentType="image/x-emf"/>
  <Override PartName="/ppt/media/image89.emf" ContentType="image/x-emf"/>
  <Override PartName="/ppt/media/image90.emf" ContentType="image/x-emf"/>
  <Override PartName="/ppt/media/image91.emf" ContentType="image/x-emf"/>
  <Override PartName="/ppt/media/image92.emf" ContentType="image/x-emf"/>
  <Override PartName="/ppt/media/image93.emf" ContentType="image/x-emf"/>
  <Override PartName="/ppt/media/image94.emf" ContentType="image/x-emf"/>
  <Override PartName="/ppt/media/image95.emf" ContentType="image/x-emf"/>
  <Override PartName="/ppt/media/image96.emf" ContentType="image/x-emf"/>
  <Override PartName="/ppt/media/image97.emf" ContentType="image/x-emf"/>
  <Override PartName="/ppt/media/image98.emf" ContentType="image/x-emf"/>
  <Override PartName="/ppt/media/image99.emf" ContentType="image/x-emf"/>
  <Override PartName="/ppt/media/image108.emf" ContentType="image/x-emf"/>
  <Override PartName="/ppt/media/image109.emf" ContentType="image/x-emf"/>
  <Override PartName="/ppt/media/image112.emf" ContentType="image/x-emf"/>
  <Override PartName="/ppt/media/image113.emf" ContentType="image/x-emf"/>
  <Override PartName="/ppt/media/image114.emf" ContentType="image/x-emf"/>
  <Override PartName="/ppt/media/image115.emf" ContentType="image/x-emf"/>
  <Override PartName="/ppt/media/image116.emf" ContentType="image/x-emf"/>
  <Override PartName="/ppt/media/image117.emf" ContentType="image/x-emf"/>
  <Override PartName="/ppt/media/image118.emf" ContentType="image/x-emf"/>
  <Override PartName="/ppt/media/image119.emf" ContentType="image/x-emf"/>
  <Override PartName="/ppt/media/image122.emf" ContentType="image/x-emf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BF4145-8837-4FC9-88BC-B79285A875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 lnSpcReduction="9999"/>
          </a:bodyPr>
          <a:lstStyle>
            <a:lvl1pPr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2pPr>
            <a:lvl3pPr lvl="2"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3pPr>
            <a:lvl4pPr lvl="3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4pPr>
            <a:lvl5pPr lvl="4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5pPr>
            <a:lvl6pPr lvl="5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6pPr>
            <a:lvl7pPr lvl="6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743040" lvl="1" indent="-285840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第二提纲级别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143000" lvl="2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第三提纲级别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600200" lvl="3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第四提纲级别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4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第五提纲级别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5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第六提纲级别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057400" lvl="6" indent="-228600" algn="l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第七提纲级别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D35AA23-BAF5-44CF-B227-6A7B72B948C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emf"/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7.emf"/><Relationship Id="rId9" Type="http://schemas.openxmlformats.org/officeDocument/2006/relationships/image" Target="../media/image8.emf"/><Relationship Id="rId10" Type="http://schemas.openxmlformats.org/officeDocument/2006/relationships/image" Target="../media/image9.emf"/><Relationship Id="rId11" Type="http://schemas.openxmlformats.org/officeDocument/2006/relationships/image" Target="../media/image10.emf"/><Relationship Id="rId12" Type="http://schemas.openxmlformats.org/officeDocument/2006/relationships/image" Target="../media/image11.emf"/><Relationship Id="rId13" Type="http://schemas.openxmlformats.org/officeDocument/2006/relationships/image" Target="../media/image12.emf"/><Relationship Id="rId1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emf"/><Relationship Id="rId3" Type="http://schemas.openxmlformats.org/officeDocument/2006/relationships/image" Target="../media/image15.emf"/><Relationship Id="rId4" Type="http://schemas.openxmlformats.org/officeDocument/2006/relationships/image" Target="../media/image16.emf"/><Relationship Id="rId5" Type="http://schemas.openxmlformats.org/officeDocument/2006/relationships/image" Target="../media/image17.emf"/><Relationship Id="rId6" Type="http://schemas.openxmlformats.org/officeDocument/2006/relationships/image" Target="../media/image18.emf"/><Relationship Id="rId7" Type="http://schemas.openxmlformats.org/officeDocument/2006/relationships/image" Target="../media/image19.emf"/><Relationship Id="rId8" Type="http://schemas.openxmlformats.org/officeDocument/2006/relationships/image" Target="../media/image4.emf"/><Relationship Id="rId9" Type="http://schemas.openxmlformats.org/officeDocument/2006/relationships/image" Target="../media/image20.emf"/><Relationship Id="rId10" Type="http://schemas.openxmlformats.org/officeDocument/2006/relationships/image" Target="../media/image21.emf"/><Relationship Id="rId11" Type="http://schemas.openxmlformats.org/officeDocument/2006/relationships/image" Target="../media/image22.emf"/><Relationship Id="rId12" Type="http://schemas.openxmlformats.org/officeDocument/2006/relationships/image" Target="../media/image23.emf"/><Relationship Id="rId13" Type="http://schemas.openxmlformats.org/officeDocument/2006/relationships/image" Target="../media/image24.emf"/><Relationship Id="rId1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5.emf"/><Relationship Id="rId2" Type="http://schemas.openxmlformats.org/officeDocument/2006/relationships/image" Target="../media/image26.emf"/><Relationship Id="rId3" Type="http://schemas.openxmlformats.org/officeDocument/2006/relationships/image" Target="../media/image27.emf"/><Relationship Id="rId4" Type="http://schemas.openxmlformats.org/officeDocument/2006/relationships/image" Target="../media/image28.emf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9.emf"/><Relationship Id="rId2" Type="http://schemas.openxmlformats.org/officeDocument/2006/relationships/image" Target="../media/image30.emf"/><Relationship Id="rId3" Type="http://schemas.openxmlformats.org/officeDocument/2006/relationships/image" Target="../media/image31.emf"/><Relationship Id="rId4" Type="http://schemas.openxmlformats.org/officeDocument/2006/relationships/image" Target="../media/image32.emf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3.emf"/><Relationship Id="rId2" Type="http://schemas.openxmlformats.org/officeDocument/2006/relationships/image" Target="../media/image34.emf"/><Relationship Id="rId3" Type="http://schemas.openxmlformats.org/officeDocument/2006/relationships/image" Target="../media/image35.emf"/><Relationship Id="rId4" Type="http://schemas.openxmlformats.org/officeDocument/2006/relationships/image" Target="../media/image36.emf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7.emf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5.emf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5.emf"/><Relationship Id="rId2" Type="http://schemas.openxmlformats.org/officeDocument/2006/relationships/image" Target="../media/image38.emf"/><Relationship Id="rId3" Type="http://schemas.openxmlformats.org/officeDocument/2006/relationships/image" Target="../media/image39.emf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0.emf"/><Relationship Id="rId2" Type="http://schemas.openxmlformats.org/officeDocument/2006/relationships/image" Target="../media/image41.emf"/><Relationship Id="rId3" Type="http://schemas.openxmlformats.org/officeDocument/2006/relationships/image" Target="../media/image42.emf"/><Relationship Id="rId4" Type="http://schemas.openxmlformats.org/officeDocument/2006/relationships/image" Target="../media/image43.emf"/><Relationship Id="rId5" Type="http://schemas.openxmlformats.org/officeDocument/2006/relationships/image" Target="../media/image44.emf"/><Relationship Id="rId6" Type="http://schemas.openxmlformats.org/officeDocument/2006/relationships/image" Target="../media/image45.emf"/><Relationship Id="rId7" Type="http://schemas.openxmlformats.org/officeDocument/2006/relationships/image" Target="../media/image46.emf"/><Relationship Id="rId8" Type="http://schemas.openxmlformats.org/officeDocument/2006/relationships/image" Target="../media/image47.emf"/><Relationship Id="rId9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8.emf"/><Relationship Id="rId2" Type="http://schemas.openxmlformats.org/officeDocument/2006/relationships/image" Target="../media/image49.emf"/><Relationship Id="rId3" Type="http://schemas.openxmlformats.org/officeDocument/2006/relationships/image" Target="../media/image50.emf"/><Relationship Id="rId4" Type="http://schemas.openxmlformats.org/officeDocument/2006/relationships/image" Target="../media/image51.emf"/><Relationship Id="rId5" Type="http://schemas.openxmlformats.org/officeDocument/2006/relationships/image" Target="../media/image52.emf"/><Relationship Id="rId6" Type="http://schemas.openxmlformats.org/officeDocument/2006/relationships/image" Target="../media/image48.emf"/><Relationship Id="rId7" Type="http://schemas.openxmlformats.org/officeDocument/2006/relationships/image" Target="../media/image53.emf"/><Relationship Id="rId8" Type="http://schemas.openxmlformats.org/officeDocument/2006/relationships/image" Target="../media/image54.emf"/><Relationship Id="rId9" Type="http://schemas.openxmlformats.org/officeDocument/2006/relationships/image" Target="../media/image55.emf"/><Relationship Id="rId10" Type="http://schemas.openxmlformats.org/officeDocument/2006/relationships/image" Target="../media/image41.emf"/><Relationship Id="rId11" Type="http://schemas.openxmlformats.org/officeDocument/2006/relationships/image" Target="../media/image56.emf"/><Relationship Id="rId12" Type="http://schemas.openxmlformats.org/officeDocument/2006/relationships/image" Target="../media/image57.emf"/><Relationship Id="rId1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8.emf"/><Relationship Id="rId2" Type="http://schemas.openxmlformats.org/officeDocument/2006/relationships/image" Target="../media/image59.emf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image" Target="../media/image61.emf"/><Relationship Id="rId3" Type="http://schemas.openxmlformats.org/officeDocument/2006/relationships/image" Target="../media/image58.emf"/><Relationship Id="rId4" Type="http://schemas.openxmlformats.org/officeDocument/2006/relationships/image" Target="../media/image62.emf"/><Relationship Id="rId5" Type="http://schemas.openxmlformats.org/officeDocument/2006/relationships/image" Target="../media/image63.emf"/><Relationship Id="rId6" Type="http://schemas.openxmlformats.org/officeDocument/2006/relationships/image" Target="../media/image64.emf"/><Relationship Id="rId7" Type="http://schemas.openxmlformats.org/officeDocument/2006/relationships/image" Target="../media/image65.emf"/><Relationship Id="rId8" Type="http://schemas.openxmlformats.org/officeDocument/2006/relationships/image" Target="../media/image66.emf"/><Relationship Id="rId9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7.emf"/><Relationship Id="rId2" Type="http://schemas.openxmlformats.org/officeDocument/2006/relationships/image" Target="../media/image68.emf"/><Relationship Id="rId3" Type="http://schemas.openxmlformats.org/officeDocument/2006/relationships/image" Target="../media/image69.emf"/><Relationship Id="rId4" Type="http://schemas.openxmlformats.org/officeDocument/2006/relationships/image" Target="../media/image70.emf"/><Relationship Id="rId5" Type="http://schemas.openxmlformats.org/officeDocument/2006/relationships/image" Target="../media/image71.emf"/><Relationship Id="rId6" Type="http://schemas.openxmlformats.org/officeDocument/2006/relationships/image" Target="../media/image72.emf"/><Relationship Id="rId7" Type="http://schemas.openxmlformats.org/officeDocument/2006/relationships/image" Target="../media/image73.emf"/><Relationship Id="rId8" Type="http://schemas.openxmlformats.org/officeDocument/2006/relationships/image" Target="../media/image20.emf"/><Relationship Id="rId9" Type="http://schemas.openxmlformats.org/officeDocument/2006/relationships/image" Target="../media/image74.emf"/><Relationship Id="rId10" Type="http://schemas.openxmlformats.org/officeDocument/2006/relationships/image" Target="../media/image75.emf"/><Relationship Id="rId1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6.emf"/><Relationship Id="rId2" Type="http://schemas.openxmlformats.org/officeDocument/2006/relationships/image" Target="../media/image77.emf"/><Relationship Id="rId3" Type="http://schemas.openxmlformats.org/officeDocument/2006/relationships/image" Target="../media/image78.emf"/><Relationship Id="rId4" Type="http://schemas.openxmlformats.org/officeDocument/2006/relationships/image" Target="../media/image79.emf"/><Relationship Id="rId5" Type="http://schemas.openxmlformats.org/officeDocument/2006/relationships/image" Target="../media/image80.emf"/><Relationship Id="rId6" Type="http://schemas.openxmlformats.org/officeDocument/2006/relationships/image" Target="../media/image81.emf"/><Relationship Id="rId7" Type="http://schemas.openxmlformats.org/officeDocument/2006/relationships/image" Target="../media/image82.emf"/><Relationship Id="rId8" Type="http://schemas.openxmlformats.org/officeDocument/2006/relationships/image" Target="../media/image77.emf"/><Relationship Id="rId9" Type="http://schemas.openxmlformats.org/officeDocument/2006/relationships/image" Target="../media/image83.emf"/><Relationship Id="rId10" Type="http://schemas.openxmlformats.org/officeDocument/2006/relationships/image" Target="../media/image84.emf"/><Relationship Id="rId11" Type="http://schemas.openxmlformats.org/officeDocument/2006/relationships/image" Target="../media/image85.emf"/><Relationship Id="rId12" Type="http://schemas.openxmlformats.org/officeDocument/2006/relationships/image" Target="../media/image86.jpeg"/><Relationship Id="rId13" Type="http://schemas.openxmlformats.org/officeDocument/2006/relationships/image" Target="../media/image87.emf"/><Relationship Id="rId14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8.emf"/><Relationship Id="rId2" Type="http://schemas.openxmlformats.org/officeDocument/2006/relationships/image" Target="../media/image89.emf"/><Relationship Id="rId3" Type="http://schemas.openxmlformats.org/officeDocument/2006/relationships/image" Target="../media/image90.emf"/><Relationship Id="rId4" Type="http://schemas.openxmlformats.org/officeDocument/2006/relationships/image" Target="../media/image91.emf"/><Relationship Id="rId5" Type="http://schemas.openxmlformats.org/officeDocument/2006/relationships/image" Target="../media/image25.emf"/><Relationship Id="rId6" Type="http://schemas.openxmlformats.org/officeDocument/2006/relationships/image" Target="../media/image92.emf"/><Relationship Id="rId7" Type="http://schemas.openxmlformats.org/officeDocument/2006/relationships/image" Target="../media/image93.emf"/><Relationship Id="rId8" Type="http://schemas.openxmlformats.org/officeDocument/2006/relationships/image" Target="../media/image94.emf"/><Relationship Id="rId9" Type="http://schemas.openxmlformats.org/officeDocument/2006/relationships/image" Target="../media/image95.emf"/><Relationship Id="rId10" Type="http://schemas.openxmlformats.org/officeDocument/2006/relationships/image" Target="../media/image96.emf"/><Relationship Id="rId11" Type="http://schemas.openxmlformats.org/officeDocument/2006/relationships/image" Target="../media/image97.emf"/><Relationship Id="rId1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98.emf"/><Relationship Id="rId3" Type="http://schemas.openxmlformats.org/officeDocument/2006/relationships/image" Target="../media/image99.emf"/><Relationship Id="rId4" Type="http://schemas.openxmlformats.org/officeDocument/2006/relationships/image" Target="../media/image100.emf"/><Relationship Id="rId5" Type="http://schemas.openxmlformats.org/officeDocument/2006/relationships/image" Target="../media/image101.emf"/><Relationship Id="rId6" Type="http://schemas.openxmlformats.org/officeDocument/2006/relationships/image" Target="../media/image102.emf"/><Relationship Id="rId7" Type="http://schemas.openxmlformats.org/officeDocument/2006/relationships/image" Target="../media/image103.emf"/><Relationship Id="rId8" Type="http://schemas.openxmlformats.org/officeDocument/2006/relationships/image" Target="../media/image104.emf"/><Relationship Id="rId9" Type="http://schemas.openxmlformats.org/officeDocument/2006/relationships/image" Target="../media/image105.emf"/><Relationship Id="rId10" Type="http://schemas.openxmlformats.org/officeDocument/2006/relationships/image" Target="../media/image106.emf"/><Relationship Id="rId1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7.emf"/><Relationship Id="rId2" Type="http://schemas.openxmlformats.org/officeDocument/2006/relationships/image" Target="../media/image108.emf"/><Relationship Id="rId3" Type="http://schemas.openxmlformats.org/officeDocument/2006/relationships/image" Target="../media/image109.emf"/><Relationship Id="rId4" Type="http://schemas.openxmlformats.org/officeDocument/2006/relationships/image" Target="../media/image110.emf"/><Relationship Id="rId5" Type="http://schemas.openxmlformats.org/officeDocument/2006/relationships/image" Target="../media/image111.emf"/><Relationship Id="rId6" Type="http://schemas.openxmlformats.org/officeDocument/2006/relationships/image" Target="../media/image112.emf"/><Relationship Id="rId7" Type="http://schemas.openxmlformats.org/officeDocument/2006/relationships/image" Target="../media/image113.emf"/><Relationship Id="rId8" Type="http://schemas.openxmlformats.org/officeDocument/2006/relationships/image" Target="../media/image114.emf"/><Relationship Id="rId9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5.emf"/><Relationship Id="rId2" Type="http://schemas.openxmlformats.org/officeDocument/2006/relationships/image" Target="../media/image116.emf"/><Relationship Id="rId3" Type="http://schemas.openxmlformats.org/officeDocument/2006/relationships/image" Target="../media/image117.emf"/><Relationship Id="rId4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18.emf"/><Relationship Id="rId2" Type="http://schemas.openxmlformats.org/officeDocument/2006/relationships/image" Target="../media/image119.emf"/><Relationship Id="rId3" Type="http://schemas.openxmlformats.org/officeDocument/2006/relationships/image" Target="../media/image58.emf"/><Relationship Id="rId4" Type="http://schemas.openxmlformats.org/officeDocument/2006/relationships/image" Target="../media/image120.emf"/><Relationship Id="rId5" Type="http://schemas.openxmlformats.org/officeDocument/2006/relationships/image" Target="../media/image121.emf"/><Relationship Id="rId6" Type="http://schemas.openxmlformats.org/officeDocument/2006/relationships/image" Target="../media/image122.emf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4"/>
          <p:cNvSpPr/>
          <p:nvPr/>
        </p:nvSpPr>
        <p:spPr>
          <a:xfrm>
            <a:off x="-242640" y="136440"/>
            <a:ext cx="74880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P37/2.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物体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质量相同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两者用轻弹簧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Rectangle 35"/>
          <p:cNvSpPr/>
          <p:nvPr/>
        </p:nvSpPr>
        <p:spPr>
          <a:xfrm>
            <a:off x="7315200" y="152280"/>
            <a:ext cx="1600200" cy="228600"/>
          </a:xfrm>
          <a:prstGeom prst="rect">
            <a:avLst/>
          </a:prstGeom>
          <a:blipFill rotWithShape="0">
            <a:blip r:embed="rId1"/>
            <a:srcRect/>
            <a:tile tx="0" ty="0" sx="100000" sy="100000" algn="ctr"/>
          </a:blip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Line 36"/>
          <p:cNvSpPr/>
          <p:nvPr/>
        </p:nvSpPr>
        <p:spPr>
          <a:xfrm>
            <a:off x="8153280" y="380880"/>
            <a:ext cx="0" cy="45720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Rectangle 37"/>
          <p:cNvSpPr/>
          <p:nvPr/>
        </p:nvSpPr>
        <p:spPr>
          <a:xfrm>
            <a:off x="7848720" y="838080"/>
            <a:ext cx="609480" cy="304920"/>
          </a:xfrm>
          <a:prstGeom prst="rect">
            <a:avLst/>
          </a:prstGeom>
          <a:solidFill>
            <a:srgbClr val="94FE8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Freeform 38"/>
          <p:cNvSpPr/>
          <p:nvPr/>
        </p:nvSpPr>
        <p:spPr>
          <a:xfrm rot="16200000">
            <a:off x="7848720" y="1294920"/>
            <a:ext cx="609480" cy="304920"/>
          </a:xfrm>
          <a:custGeom>
            <a:avLst/>
            <a:gdLst>
              <a:gd name="GluePoint1X" fmla="*/ 0 w 2592"/>
              <a:gd name="GluePoint1Y" fmla="*/ 152400 h 480"/>
              <a:gd name="GluePoint2X" fmla="*/ 79022 w 2592"/>
              <a:gd name="GluePoint2Y" fmla="*/ 152400 h 480"/>
              <a:gd name="GluePoint3X" fmla="*/ 135467 w 2592"/>
              <a:gd name="GluePoint3Y" fmla="*/ 0 h 480"/>
              <a:gd name="GluePoint4X" fmla="*/ 248356 w 2592"/>
              <a:gd name="GluePoint4Y" fmla="*/ 304800 h 480"/>
              <a:gd name="GluePoint5X" fmla="*/ 361244 w 2592"/>
              <a:gd name="GluePoint5Y" fmla="*/ 0 h 480"/>
              <a:gd name="GluePoint6X" fmla="*/ 474133 w 2592"/>
              <a:gd name="GluePoint6Y" fmla="*/ 304800 h 480"/>
              <a:gd name="GluePoint7X" fmla="*/ 530578 w 2592"/>
              <a:gd name="GluePoint7Y" fmla="*/ 152400 h 480"/>
              <a:gd name="GluePoint8X" fmla="*/ 609600 w 2592"/>
              <a:gd name="GluePoint8Y" fmla="*/ 152400 h 4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l" t="t" r="r" b="b"/>
            <a:pathLst>
              <a:path w="2592" h="480">
                <a:moveTo>
                  <a:pt x="0" y="240"/>
                </a:moveTo>
                <a:lnTo>
                  <a:pt x="336" y="240"/>
                </a:lnTo>
                <a:lnTo>
                  <a:pt x="576" y="0"/>
                </a:lnTo>
                <a:lnTo>
                  <a:pt x="1056" y="480"/>
                </a:lnTo>
                <a:lnTo>
                  <a:pt x="1536" y="0"/>
                </a:lnTo>
                <a:lnTo>
                  <a:pt x="2016" y="480"/>
                </a:lnTo>
                <a:lnTo>
                  <a:pt x="2256" y="240"/>
                </a:lnTo>
                <a:lnTo>
                  <a:pt x="2592" y="240"/>
                </a:lnTo>
              </a:path>
            </a:pathLst>
          </a:cu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Rectangle 39"/>
          <p:cNvSpPr/>
          <p:nvPr/>
        </p:nvSpPr>
        <p:spPr>
          <a:xfrm>
            <a:off x="7848720" y="1752480"/>
            <a:ext cx="609480" cy="304920"/>
          </a:xfrm>
          <a:prstGeom prst="rect">
            <a:avLst/>
          </a:prstGeom>
          <a:solidFill>
            <a:srgbClr val="94FE8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Text Box 40"/>
          <p:cNvSpPr/>
          <p:nvPr/>
        </p:nvSpPr>
        <p:spPr>
          <a:xfrm>
            <a:off x="-103320" y="593640"/>
            <a:ext cx="7404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连接后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再用细绳悬挂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如图。当系统平衡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Text Box 41"/>
          <p:cNvSpPr/>
          <p:nvPr/>
        </p:nvSpPr>
        <p:spPr>
          <a:xfrm>
            <a:off x="-190440" y="1066680"/>
            <a:ext cx="75866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后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将细绳突然剪断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则剪断的瞬间有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Text Box 42"/>
          <p:cNvSpPr/>
          <p:nvPr/>
        </p:nvSpPr>
        <p:spPr>
          <a:xfrm>
            <a:off x="30960" y="1676520"/>
            <a:ext cx="4356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 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的加速度均为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Text Box 43"/>
          <p:cNvSpPr/>
          <p:nvPr/>
        </p:nvSpPr>
        <p:spPr>
          <a:xfrm>
            <a:off x="76680" y="2133720"/>
            <a:ext cx="4455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 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、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的加速度均为零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Text Box 44"/>
          <p:cNvSpPr/>
          <p:nvPr/>
        </p:nvSpPr>
        <p:spPr>
          <a:xfrm>
            <a:off x="37080" y="2635200"/>
            <a:ext cx="7214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 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的加速度均为零，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的加速度均为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2g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Text Box 45"/>
          <p:cNvSpPr/>
          <p:nvPr/>
        </p:nvSpPr>
        <p:spPr>
          <a:xfrm>
            <a:off x="-8280" y="3124080"/>
            <a:ext cx="7305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 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的加速度均为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2g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，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的加速度均为零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Text Box 46"/>
          <p:cNvSpPr/>
          <p:nvPr/>
        </p:nvSpPr>
        <p:spPr>
          <a:xfrm>
            <a:off x="6255720" y="105084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Line 47"/>
          <p:cNvSpPr/>
          <p:nvPr/>
        </p:nvSpPr>
        <p:spPr>
          <a:xfrm>
            <a:off x="6684840" y="4994280"/>
            <a:ext cx="0" cy="106668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1" name="Object 48"/>
              <p:cNvSpPr txBox="1"/>
              <p:nvPr/>
            </p:nvSpPr>
            <p:spPr>
              <a:xfrm>
                <a:off x="5715000" y="5791320"/>
                <a:ext cx="879480" cy="522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A</m:t>
                        </m:r>
                      </m:sub>
                    </m:sSub>
                    <m:acc>
                      <m:accPr>
                        <m:chr m:val="⃗"/>
                      </m:accPr>
                      <m:e>
                        <m:r>
                          <m:t xml:space="preserve">g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1" name="Object 48"/>
              <p:cNvSpPr txBox="1"/>
              <p:nvPr/>
            </p:nvSpPr>
            <p:spPr>
              <a:xfrm>
                <a:off x="5715000" y="5791320"/>
                <a:ext cx="879480" cy="52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22" name="Line 49"/>
          <p:cNvSpPr/>
          <p:nvPr/>
        </p:nvSpPr>
        <p:spPr>
          <a:xfrm flipV="1">
            <a:off x="6837480" y="3927240"/>
            <a:ext cx="0" cy="106668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3" name="Object 50"/>
              <p:cNvSpPr txBox="1"/>
              <p:nvPr/>
            </p:nvSpPr>
            <p:spPr>
              <a:xfrm>
                <a:off x="6913440" y="3851280"/>
                <a:ext cx="358920" cy="492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T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3" name="Object 50"/>
              <p:cNvSpPr txBox="1"/>
              <p:nvPr/>
            </p:nvSpPr>
            <p:spPr>
              <a:xfrm>
                <a:off x="6913440" y="3851280"/>
                <a:ext cx="358920" cy="492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24" name="Line 51"/>
          <p:cNvSpPr/>
          <p:nvPr/>
        </p:nvSpPr>
        <p:spPr>
          <a:xfrm>
            <a:off x="6989760" y="4994280"/>
            <a:ext cx="0" cy="106668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5" name="Object 52"/>
              <p:cNvSpPr txBox="1"/>
              <p:nvPr/>
            </p:nvSpPr>
            <p:spPr>
              <a:xfrm>
                <a:off x="7142040" y="5756400"/>
                <a:ext cx="325440" cy="492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5" name="Object 52"/>
              <p:cNvSpPr txBox="1"/>
              <p:nvPr/>
            </p:nvSpPr>
            <p:spPr>
              <a:xfrm>
                <a:off x="7142040" y="5756400"/>
                <a:ext cx="325440" cy="492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26" name="Line 53"/>
          <p:cNvSpPr/>
          <p:nvPr/>
        </p:nvSpPr>
        <p:spPr>
          <a:xfrm flipV="1">
            <a:off x="8458200" y="3927240"/>
            <a:ext cx="0" cy="106668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7" name="Object 54"/>
              <p:cNvSpPr txBox="1"/>
              <p:nvPr/>
            </p:nvSpPr>
            <p:spPr>
              <a:xfrm>
                <a:off x="8534520" y="3774960"/>
                <a:ext cx="326880" cy="492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7" name="Object 54"/>
              <p:cNvSpPr txBox="1"/>
              <p:nvPr/>
            </p:nvSpPr>
            <p:spPr>
              <a:xfrm>
                <a:off x="8534520" y="3774960"/>
                <a:ext cx="326880" cy="4921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28" name="Line 55"/>
          <p:cNvSpPr/>
          <p:nvPr/>
        </p:nvSpPr>
        <p:spPr>
          <a:xfrm>
            <a:off x="8459640" y="5070600"/>
            <a:ext cx="0" cy="106668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9" name="Object 56"/>
              <p:cNvSpPr txBox="1"/>
              <p:nvPr/>
            </p:nvSpPr>
            <p:spPr>
              <a:xfrm>
                <a:off x="8153280" y="6107040"/>
                <a:ext cx="879480" cy="522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B</m:t>
                        </m:r>
                      </m:sub>
                    </m:sSub>
                    <m:acc>
                      <m:accPr>
                        <m:chr m:val="⃗"/>
                      </m:accPr>
                      <m:e>
                        <m:r>
                          <m:t xml:space="preserve">g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9" name="Object 56"/>
              <p:cNvSpPr txBox="1"/>
              <p:nvPr/>
            </p:nvSpPr>
            <p:spPr>
              <a:xfrm>
                <a:off x="8153280" y="6107040"/>
                <a:ext cx="879480" cy="5223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30" name="Rectangle 57"/>
          <p:cNvSpPr/>
          <p:nvPr/>
        </p:nvSpPr>
        <p:spPr>
          <a:xfrm>
            <a:off x="6532560" y="4842000"/>
            <a:ext cx="609480" cy="304560"/>
          </a:xfrm>
          <a:prstGeom prst="rect">
            <a:avLst/>
          </a:prstGeom>
          <a:solidFill>
            <a:srgbClr val="94FE8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Rectangle 58"/>
          <p:cNvSpPr/>
          <p:nvPr/>
        </p:nvSpPr>
        <p:spPr>
          <a:xfrm>
            <a:off x="8153280" y="4842000"/>
            <a:ext cx="609840" cy="304560"/>
          </a:xfrm>
          <a:prstGeom prst="rect">
            <a:avLst/>
          </a:prstGeom>
          <a:solidFill>
            <a:srgbClr val="94FE8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2" name="Object 59"/>
              <p:cNvSpPr txBox="1"/>
              <p:nvPr/>
            </p:nvSpPr>
            <p:spPr>
              <a:xfrm>
                <a:off x="781200" y="4811760"/>
                <a:ext cx="1199880" cy="522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F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B</m:t>
                        </m:r>
                      </m:sub>
                    </m:sSub>
                    <m:r>
                      <m:t xml:space="preserve">g</m:t>
                    </m:r>
                  </m:oMath>
                </a14:m>
              </a:p>
            </p:txBody>
          </p:sp>
        </mc:Choice>
        <mc:Fallback>
          <p:sp>
            <p:nvSpPr>
              <p:cNvPr id="32" name="Object 59"/>
              <p:cNvSpPr txBox="1"/>
              <p:nvPr/>
            </p:nvSpPr>
            <p:spPr>
              <a:xfrm>
                <a:off x="781200" y="4811760"/>
                <a:ext cx="1199880" cy="5223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p:sp>
        <p:nvSpPr>
          <p:cNvPr id="33" name="Text Box 60"/>
          <p:cNvSpPr/>
          <p:nvPr/>
        </p:nvSpPr>
        <p:spPr>
          <a:xfrm>
            <a:off x="351000" y="3794040"/>
            <a:ext cx="2466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6600"/>
                </a:solidFill>
                <a:effectLst/>
                <a:uFillTx/>
                <a:latin typeface="宋体"/>
                <a:ea typeface="Times New Roman"/>
              </a:rPr>
              <a:t>细绳剪断瞬间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4" name="Object 61"/>
              <p:cNvSpPr txBox="1"/>
              <p:nvPr/>
            </p:nvSpPr>
            <p:spPr>
              <a:xfrm>
                <a:off x="3124080" y="3855960"/>
                <a:ext cx="838440" cy="430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T</m:t>
                    </m:r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34" name="Object 61"/>
              <p:cNvSpPr txBox="1"/>
              <p:nvPr/>
            </p:nvSpPr>
            <p:spPr>
              <a:xfrm>
                <a:off x="3124080" y="3855960"/>
                <a:ext cx="838440" cy="430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5" name="Object 62"/>
              <p:cNvSpPr txBox="1"/>
              <p:nvPr/>
            </p:nvSpPr>
            <p:spPr>
              <a:xfrm>
                <a:off x="803160" y="4308480"/>
                <a:ext cx="2320920" cy="522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F</m:t>
                    </m:r>
                    <m:r>
                      <m:t xml:space="preserve">+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A</m:t>
                        </m:r>
                      </m:sub>
                    </m:sSub>
                    <m:r>
                      <m:t xml:space="preserve">g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A</m:t>
                        </m:r>
                      </m:sub>
                    </m:sSub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A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5" name="Object 62"/>
              <p:cNvSpPr txBox="1"/>
              <p:nvPr/>
            </p:nvSpPr>
            <p:spPr>
              <a:xfrm>
                <a:off x="803160" y="4308480"/>
                <a:ext cx="2320920" cy="5223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6" name="Object 63"/>
              <p:cNvSpPr txBox="1"/>
              <p:nvPr/>
            </p:nvSpPr>
            <p:spPr>
              <a:xfrm>
                <a:off x="838080" y="5268960"/>
                <a:ext cx="1968480" cy="522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A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B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m</m:t>
                    </m:r>
                  </m:oMath>
                </a14:m>
              </a:p>
            </p:txBody>
          </p:sp>
        </mc:Choice>
        <mc:Fallback>
          <p:sp>
            <p:nvSpPr>
              <p:cNvPr id="36" name="Object 63"/>
              <p:cNvSpPr txBox="1"/>
              <p:nvPr/>
            </p:nvSpPr>
            <p:spPr>
              <a:xfrm>
                <a:off x="838080" y="5268960"/>
                <a:ext cx="1968480" cy="5223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p:sp>
        <p:nvSpPr>
          <p:cNvPr id="37" name="AutoShape 64"/>
          <p:cNvSpPr/>
          <p:nvPr/>
        </p:nvSpPr>
        <p:spPr>
          <a:xfrm>
            <a:off x="622440" y="4583160"/>
            <a:ext cx="152280" cy="990720"/>
          </a:xfrm>
          <a:custGeom>
            <a:avLst/>
            <a:gdLst>
              <a:gd name="textAreaLeft" fmla="*/ 97200 w 152280"/>
              <a:gd name="textAreaRight" fmla="*/ 152640 w 152280"/>
              <a:gd name="textAreaTop" fmla="*/ 25560 h 990720"/>
              <a:gd name="textAreaBottom" fmla="*/ 965160 h 99072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5400" y="10800"/>
                  <a:pt x="0" y="10800"/>
                </a:cubicBezTo>
                <a:cubicBezTo>
                  <a:pt x="54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16200" y="21600"/>
                  <a:pt x="21600" y="21600"/>
                </a:cubicBezTo>
              </a:path>
            </a:pathLst>
          </a:custGeom>
          <a:noFill/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8" name="Object 65"/>
              <p:cNvSpPr txBox="1"/>
              <p:nvPr/>
            </p:nvSpPr>
            <p:spPr>
              <a:xfrm>
                <a:off x="3657600" y="4811760"/>
                <a:ext cx="1143000" cy="522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A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2</m:t>
                    </m:r>
                    <m:r>
                      <m:t xml:space="preserve">g</m:t>
                    </m:r>
                  </m:oMath>
                </a14:m>
              </a:p>
            </p:txBody>
          </p:sp>
        </mc:Choice>
        <mc:Fallback>
          <p:sp>
            <p:nvSpPr>
              <p:cNvPr id="38" name="Object 65"/>
              <p:cNvSpPr txBox="1"/>
              <p:nvPr/>
            </p:nvSpPr>
            <p:spPr>
              <a:xfrm>
                <a:off x="3657600" y="4811760"/>
                <a:ext cx="1143000" cy="52236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9" name="Object 66"/>
              <p:cNvSpPr txBox="1"/>
              <p:nvPr/>
            </p:nvSpPr>
            <p:spPr>
              <a:xfrm>
                <a:off x="685800" y="5943600"/>
                <a:ext cx="2514600" cy="522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F</m:t>
                    </m:r>
                    <m:r>
                      <m:t xml:space="preserve">−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B</m:t>
                        </m:r>
                      </m:sub>
                    </m:sSub>
                    <m:r>
                      <m:t xml:space="preserve">g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B</m:t>
                        </m:r>
                      </m:sub>
                    </m:sSub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B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9" name="Object 66"/>
              <p:cNvSpPr txBox="1"/>
              <p:nvPr/>
            </p:nvSpPr>
            <p:spPr>
              <a:xfrm>
                <a:off x="685800" y="5943600"/>
                <a:ext cx="2514600" cy="52236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0" name="Object 67"/>
              <p:cNvSpPr txBox="1"/>
              <p:nvPr/>
            </p:nvSpPr>
            <p:spPr>
              <a:xfrm>
                <a:off x="3659040" y="6019920"/>
                <a:ext cx="1141560" cy="522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B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40" name="Object 67"/>
              <p:cNvSpPr txBox="1"/>
              <p:nvPr/>
            </p:nvSpPr>
            <p:spPr>
              <a:xfrm>
                <a:off x="3659040" y="6019920"/>
                <a:ext cx="1141560" cy="522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Effect">
                      <p:stCondLst>
                        <p:cond delay="indefinite"/>
                      </p:stCondLst>
                      <p:childTnLst>
                        <p:par>
                          <p:cTn id="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Effect">
                      <p:stCondLst>
                        <p:cond delay="indefinite"/>
                      </p:stCondLst>
                      <p:childTnLst>
                        <p:par>
                          <p:cTn id="2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Effect">
                      <p:stCondLst>
                        <p:cond delay="indefinite"/>
                      </p:stCondLst>
                      <p:childTnLst>
                        <p:par>
                          <p:cTn id="3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Effect">
                      <p:stCondLst>
                        <p:cond delay="indefinite"/>
                      </p:stCondLst>
                      <p:childTnLst>
                        <p:par>
                          <p:cTn id="4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Effect">
                      <p:stCondLst>
                        <p:cond delay="indefinite"/>
                      </p:stCondLst>
                      <p:childTnLst>
                        <p:par>
                          <p:cTn id="5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Effect">
                      <p:stCondLst>
                        <p:cond delay="indefinite"/>
                      </p:stCondLst>
                      <p:childTnLst>
                        <p:par>
                          <p:cTn id="5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Effect">
                      <p:stCondLst>
                        <p:cond delay="indefinite"/>
                      </p:stCondLst>
                      <p:childTnLst>
                        <p:par>
                          <p:cTn id="6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Effect">
                      <p:stCondLst>
                        <p:cond delay="indefinite"/>
                      </p:stCondLst>
                      <p:childTnLst>
                        <p:par>
                          <p:cTn id="6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Effect">
                      <p:stCondLst>
                        <p:cond delay="indefinite"/>
                      </p:stCondLst>
                      <p:childTnLst>
                        <p:par>
                          <p:cTn id="7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Effect">
                      <p:stCondLst>
                        <p:cond delay="indefinite"/>
                      </p:stCondLst>
                      <p:childTnLst>
                        <p:par>
                          <p:cTn id="7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Effect">
                      <p:stCondLst>
                        <p:cond delay="indefinite"/>
                      </p:stCondLst>
                      <p:childTnLst>
                        <p:par>
                          <p:cTn id="8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fill="hold" nodeType="clickEffect" presetSubtype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 additive="repl"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Effect">
                      <p:stCondLst>
                        <p:cond delay="indefinite"/>
                      </p:stCondLst>
                      <p:childTnLst>
                        <p:par>
                          <p:cTn id="8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Effect">
                      <p:stCondLst>
                        <p:cond delay="indefinite"/>
                      </p:stCondLst>
                      <p:childTnLst>
                        <p:par>
                          <p:cTn id="9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Effect">
                      <p:stCondLst>
                        <p:cond delay="indefinite"/>
                      </p:stCondLst>
                      <p:childTnLst>
                        <p:par>
                          <p:cTn id="9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Effect">
                      <p:stCondLst>
                        <p:cond delay="indefinite"/>
                      </p:stCondLst>
                      <p:childTnLst>
                        <p:par>
                          <p:cTn id="10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0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264"/>
          <p:cNvSpPr/>
          <p:nvPr/>
        </p:nvSpPr>
        <p:spPr>
          <a:xfrm>
            <a:off x="6146640" y="2111400"/>
            <a:ext cx="2819520" cy="152280"/>
          </a:xfrm>
          <a:prstGeom prst="rect">
            <a:avLst/>
          </a:prstGeom>
          <a:blipFill rotWithShape="0">
            <a:blip r:embed="rId1"/>
            <a:srcRect/>
            <a:tile tx="0" ty="0" sx="100000" sy="100000" algn="ctr"/>
          </a:blip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Text Box 265"/>
          <p:cNvSpPr/>
          <p:nvPr/>
        </p:nvSpPr>
        <p:spPr>
          <a:xfrm>
            <a:off x="37080" y="739800"/>
            <a:ext cx="5606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P37/3.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如图车在光滑水平面上运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Text Box 266"/>
          <p:cNvSpPr/>
          <p:nvPr/>
        </p:nvSpPr>
        <p:spPr>
          <a:xfrm>
            <a:off x="-188280" y="1197000"/>
            <a:ext cx="61696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已知物体与车的摩擦系数为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μ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Text Box 267"/>
          <p:cNvSpPr/>
          <p:nvPr/>
        </p:nvSpPr>
        <p:spPr>
          <a:xfrm>
            <a:off x="-195120" y="1714680"/>
            <a:ext cx="61689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车与物体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的质量分别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与要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Text Box 268"/>
          <p:cNvSpPr/>
          <p:nvPr/>
        </p:nvSpPr>
        <p:spPr>
          <a:xfrm>
            <a:off x="-333000" y="298440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Text Box 269"/>
          <p:cNvSpPr/>
          <p:nvPr/>
        </p:nvSpPr>
        <p:spPr>
          <a:xfrm>
            <a:off x="2041920" y="300024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Text Box 270"/>
          <p:cNvSpPr/>
          <p:nvPr/>
        </p:nvSpPr>
        <p:spPr>
          <a:xfrm>
            <a:off x="4543560" y="296856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Text Box 271"/>
          <p:cNvSpPr/>
          <p:nvPr/>
        </p:nvSpPr>
        <p:spPr>
          <a:xfrm>
            <a:off x="6899400" y="2984400"/>
            <a:ext cx="151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Rectangle 272"/>
          <p:cNvSpPr/>
          <p:nvPr/>
        </p:nvSpPr>
        <p:spPr>
          <a:xfrm>
            <a:off x="6375240" y="1120680"/>
            <a:ext cx="1447920" cy="685800"/>
          </a:xfrm>
          <a:prstGeom prst="rect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Oval 273"/>
          <p:cNvSpPr/>
          <p:nvPr/>
        </p:nvSpPr>
        <p:spPr>
          <a:xfrm>
            <a:off x="6527880" y="1806480"/>
            <a:ext cx="304560" cy="304920"/>
          </a:xfrm>
          <a:prstGeom prst="ellipse">
            <a:avLst/>
          </a:prstGeom>
          <a:solidFill>
            <a:srgbClr val="CC6600"/>
          </a:solidFill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Oval 274"/>
          <p:cNvSpPr/>
          <p:nvPr/>
        </p:nvSpPr>
        <p:spPr>
          <a:xfrm>
            <a:off x="7365960" y="1806480"/>
            <a:ext cx="304920" cy="304920"/>
          </a:xfrm>
          <a:prstGeom prst="ellipse">
            <a:avLst/>
          </a:prstGeom>
          <a:solidFill>
            <a:srgbClr val="CC6600"/>
          </a:solidFill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Rectangle 275"/>
          <p:cNvSpPr/>
          <p:nvPr/>
        </p:nvSpPr>
        <p:spPr>
          <a:xfrm>
            <a:off x="7823160" y="1273320"/>
            <a:ext cx="304920" cy="380880"/>
          </a:xfrm>
          <a:prstGeom prst="rect">
            <a:avLst/>
          </a:prstGeom>
          <a:solidFill>
            <a:srgbClr val="94FE8C"/>
          </a:solidFill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Line 276"/>
          <p:cNvSpPr/>
          <p:nvPr/>
        </p:nvSpPr>
        <p:spPr>
          <a:xfrm>
            <a:off x="6756480" y="1703520"/>
            <a:ext cx="66024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4" name="Object 277"/>
              <p:cNvSpPr txBox="1"/>
              <p:nvPr/>
            </p:nvSpPr>
            <p:spPr>
              <a:xfrm>
                <a:off x="6858000" y="1273320"/>
                <a:ext cx="355680" cy="430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a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54" name="Object 277"/>
              <p:cNvSpPr txBox="1"/>
              <p:nvPr/>
            </p:nvSpPr>
            <p:spPr>
              <a:xfrm>
                <a:off x="6858000" y="1273320"/>
                <a:ext cx="355680" cy="430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5" name="Object 278"/>
              <p:cNvSpPr txBox="1"/>
              <p:nvPr/>
            </p:nvSpPr>
            <p:spPr>
              <a:xfrm>
                <a:off x="685800" y="3076560"/>
                <a:ext cx="554040" cy="399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gμ</m:t>
                    </m:r>
                  </m:oMath>
                </a14:m>
              </a:p>
            </p:txBody>
          </p:sp>
        </mc:Choice>
        <mc:Fallback>
          <p:sp>
            <p:nvSpPr>
              <p:cNvPr id="55" name="Object 278"/>
              <p:cNvSpPr txBox="1"/>
              <p:nvPr/>
            </p:nvSpPr>
            <p:spPr>
              <a:xfrm>
                <a:off x="685800" y="3076560"/>
                <a:ext cx="554040" cy="399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56" name="Text Box 279"/>
          <p:cNvSpPr/>
          <p:nvPr/>
        </p:nvSpPr>
        <p:spPr>
          <a:xfrm>
            <a:off x="-100080" y="2247840"/>
            <a:ext cx="91188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使物体不落下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车的水平加速度的大小至少为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7" name="Object 280"/>
              <p:cNvSpPr txBox="1"/>
              <p:nvPr/>
            </p:nvSpPr>
            <p:spPr>
              <a:xfrm>
                <a:off x="2930400" y="2771640"/>
                <a:ext cx="879480" cy="954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gμ</m:t>
                    </m:r>
                  </m:oMath>
                </a14:m>
              </a:p>
            </p:txBody>
          </p:sp>
        </mc:Choice>
        <mc:Fallback>
          <p:sp>
            <p:nvSpPr>
              <p:cNvPr id="57" name="Object 280"/>
              <p:cNvSpPr txBox="1"/>
              <p:nvPr/>
            </p:nvSpPr>
            <p:spPr>
              <a:xfrm>
                <a:off x="2930400" y="2771640"/>
                <a:ext cx="879480" cy="9543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8" name="Object 281"/>
              <p:cNvSpPr txBox="1"/>
              <p:nvPr/>
            </p:nvSpPr>
            <p:spPr>
              <a:xfrm>
                <a:off x="5510160" y="2847960"/>
                <a:ext cx="1042920" cy="954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M</m:t>
                        </m:r>
                      </m:num>
                      <m:den>
                        <m:r>
                          <m:t xml:space="preserve">m</m:t>
                        </m:r>
                      </m:den>
                    </m:f>
                    <m:r>
                      <m:t xml:space="preserve">gμ</m:t>
                    </m:r>
                  </m:oMath>
                </a14:m>
              </a:p>
            </p:txBody>
          </p:sp>
        </mc:Choice>
        <mc:Fallback>
          <p:sp>
            <p:nvSpPr>
              <p:cNvPr id="58" name="Object 281"/>
              <p:cNvSpPr txBox="1"/>
              <p:nvPr/>
            </p:nvSpPr>
            <p:spPr>
              <a:xfrm>
                <a:off x="5510160" y="2847960"/>
                <a:ext cx="1042920" cy="954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9" name="Object 282"/>
              <p:cNvSpPr txBox="1"/>
              <p:nvPr/>
            </p:nvSpPr>
            <p:spPr>
              <a:xfrm>
                <a:off x="7883640" y="2847960"/>
                <a:ext cx="422280" cy="1015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g</m:t>
                        </m:r>
                      </m:num>
                      <m:den>
                        <m:r>
                          <m:t xml:space="preserve">μ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59" name="Object 282"/>
              <p:cNvSpPr txBox="1"/>
              <p:nvPr/>
            </p:nvSpPr>
            <p:spPr>
              <a:xfrm>
                <a:off x="7883640" y="2847960"/>
                <a:ext cx="422280" cy="10159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60" name="Text Box 283"/>
          <p:cNvSpPr/>
          <p:nvPr/>
        </p:nvSpPr>
        <p:spPr>
          <a:xfrm>
            <a:off x="7855920" y="218772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Line 284"/>
          <p:cNvSpPr/>
          <p:nvPr/>
        </p:nvSpPr>
        <p:spPr>
          <a:xfrm>
            <a:off x="8001000" y="1425600"/>
            <a:ext cx="0" cy="53352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2" name="Object 285"/>
              <p:cNvSpPr txBox="1"/>
              <p:nvPr/>
            </p:nvSpPr>
            <p:spPr>
              <a:xfrm>
                <a:off x="8001000" y="1730520"/>
                <a:ext cx="684360" cy="399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mg</m:t>
                    </m:r>
                  </m:oMath>
                </a14:m>
              </a:p>
            </p:txBody>
          </p:sp>
        </mc:Choice>
        <mc:Fallback>
          <p:sp>
            <p:nvSpPr>
              <p:cNvPr id="62" name="Object 285"/>
              <p:cNvSpPr txBox="1"/>
              <p:nvPr/>
            </p:nvSpPr>
            <p:spPr>
              <a:xfrm>
                <a:off x="8001000" y="1730520"/>
                <a:ext cx="684360" cy="3999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p:sp>
        <p:nvSpPr>
          <p:cNvPr id="63" name="Line 286"/>
          <p:cNvSpPr/>
          <p:nvPr/>
        </p:nvSpPr>
        <p:spPr>
          <a:xfrm flipV="1">
            <a:off x="7810560" y="892080"/>
            <a:ext cx="0" cy="53352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4" name="Object 287"/>
              <p:cNvSpPr txBox="1"/>
              <p:nvPr/>
            </p:nvSpPr>
            <p:spPr>
              <a:xfrm>
                <a:off x="8534520" y="1120680"/>
                <a:ext cx="325440" cy="492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64" name="Object 287"/>
              <p:cNvSpPr txBox="1"/>
              <p:nvPr/>
            </p:nvSpPr>
            <p:spPr>
              <a:xfrm>
                <a:off x="8534520" y="1120680"/>
                <a:ext cx="325440" cy="4921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p:sp>
        <p:nvSpPr>
          <p:cNvPr id="65" name="Line 288"/>
          <p:cNvSpPr/>
          <p:nvPr/>
        </p:nvSpPr>
        <p:spPr>
          <a:xfrm>
            <a:off x="8001000" y="1425600"/>
            <a:ext cx="533520" cy="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6" name="Object 289"/>
              <p:cNvSpPr txBox="1"/>
              <p:nvPr/>
            </p:nvSpPr>
            <p:spPr>
              <a:xfrm>
                <a:off x="7940520" y="739800"/>
                <a:ext cx="292320" cy="492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66" name="Object 289"/>
              <p:cNvSpPr txBox="1"/>
              <p:nvPr/>
            </p:nvSpPr>
            <p:spPr>
              <a:xfrm>
                <a:off x="7940520" y="739800"/>
                <a:ext cx="292320" cy="4921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7" name="Object 290"/>
              <p:cNvSpPr txBox="1"/>
              <p:nvPr/>
            </p:nvSpPr>
            <p:spPr>
              <a:xfrm>
                <a:off x="525600" y="4657680"/>
                <a:ext cx="1311120" cy="546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f</m:t>
                    </m:r>
                    <m:r>
                      <m:t xml:space="preserve">=</m:t>
                    </m:r>
                    <m:r>
                      <m:t xml:space="preserve">μF</m:t>
                    </m:r>
                  </m:oMath>
                </a14:m>
              </a:p>
            </p:txBody>
          </p:sp>
        </mc:Choice>
        <mc:Fallback>
          <p:sp>
            <p:nvSpPr>
              <p:cNvPr id="67" name="Object 290"/>
              <p:cNvSpPr txBox="1"/>
              <p:nvPr/>
            </p:nvSpPr>
            <p:spPr>
              <a:xfrm>
                <a:off x="525600" y="4657680"/>
                <a:ext cx="1311120" cy="5461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8" name="Object 291"/>
              <p:cNvSpPr txBox="1"/>
              <p:nvPr/>
            </p:nvSpPr>
            <p:spPr>
              <a:xfrm>
                <a:off x="533520" y="3962520"/>
                <a:ext cx="1242720" cy="577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f</m:t>
                    </m:r>
                    <m:r>
                      <m:t xml:space="preserve">=</m:t>
                    </m:r>
                    <m:r>
                      <m:t xml:space="preserve">mg</m:t>
                    </m:r>
                  </m:oMath>
                </a14:m>
              </a:p>
            </p:txBody>
          </p:sp>
        </mc:Choice>
        <mc:Fallback>
          <p:sp>
            <p:nvSpPr>
              <p:cNvPr id="68" name="Object 291"/>
              <p:cNvSpPr txBox="1"/>
              <p:nvPr/>
            </p:nvSpPr>
            <p:spPr>
              <a:xfrm>
                <a:off x="533520" y="3962520"/>
                <a:ext cx="1242720" cy="5778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9" name="Object 292"/>
              <p:cNvSpPr txBox="1"/>
              <p:nvPr/>
            </p:nvSpPr>
            <p:spPr>
              <a:xfrm>
                <a:off x="468360" y="5311800"/>
                <a:ext cx="1512720" cy="479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F</m:t>
                    </m:r>
                    <m:r>
                      <m:t xml:space="preserve">=</m:t>
                    </m:r>
                    <m:r>
                      <m:t xml:space="preserve">ma</m:t>
                    </m:r>
                  </m:oMath>
                </a14:m>
              </a:p>
            </p:txBody>
          </p:sp>
        </mc:Choice>
        <mc:Fallback>
          <p:sp>
            <p:nvSpPr>
              <p:cNvPr id="69" name="Object 292"/>
              <p:cNvSpPr txBox="1"/>
              <p:nvPr/>
            </p:nvSpPr>
            <p:spPr>
              <a:xfrm>
                <a:off x="468360" y="5311800"/>
                <a:ext cx="1512720" cy="4795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</p:sp>
        </mc:Fallback>
      </mc:AlternateContent>
      <p:sp>
        <p:nvSpPr>
          <p:cNvPr id="70" name="AutoShape 293"/>
          <p:cNvSpPr/>
          <p:nvPr/>
        </p:nvSpPr>
        <p:spPr>
          <a:xfrm>
            <a:off x="2286000" y="4191120"/>
            <a:ext cx="152280" cy="1371600"/>
          </a:xfrm>
          <a:custGeom>
            <a:avLst/>
            <a:gdLst>
              <a:gd name="textAreaLeft" fmla="*/ 0 w 152280"/>
              <a:gd name="textAreaRight" fmla="*/ 55080 w 152280"/>
              <a:gd name="textAreaTop" fmla="*/ 35640 h 1371600"/>
              <a:gd name="textAreaBottom" fmla="*/ 1335960 h 1371600"/>
              <a:gd name="GluePoint1X" fmla="*/ 0 w 21600"/>
              <a:gd name="GluePoint1Y" fmla="*/ 0 h 21600"/>
              <a:gd name="GluePoint2X" fmla="*/ 0 w 21600"/>
              <a:gd name="GluePoint2Y" fmla="*/ 21600 h 21600"/>
              <a:gd name="GluePoint3X" fmla="*/ 21600 w 21600"/>
              <a:gd name="GluePoint3Y" fmla="*/ 108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16200" y="10800"/>
                  <a:pt x="21600" y="10800"/>
                </a:cubicBezTo>
                <a:cubicBezTo>
                  <a:pt x="162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5400" y="21600"/>
                  <a:pt x="0" y="21600"/>
                </a:cubicBezTo>
              </a:path>
            </a:pathLst>
          </a:custGeom>
          <a:noFill/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71" name="Object 294"/>
              <p:cNvSpPr txBox="1"/>
              <p:nvPr/>
            </p:nvSpPr>
            <p:spPr>
              <a:xfrm>
                <a:off x="2590920" y="4495680"/>
                <a:ext cx="1825560" cy="648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mg</m:t>
                    </m:r>
                    <m:r>
                      <m:t xml:space="preserve">=</m:t>
                    </m:r>
                    <m:r>
                      <m:t xml:space="preserve">μma</m:t>
                    </m:r>
                  </m:oMath>
                </a14:m>
              </a:p>
            </p:txBody>
          </p:sp>
        </mc:Choice>
        <mc:Fallback>
          <p:sp>
            <p:nvSpPr>
              <p:cNvPr id="71" name="Object 294"/>
              <p:cNvSpPr txBox="1"/>
              <p:nvPr/>
            </p:nvSpPr>
            <p:spPr>
              <a:xfrm>
                <a:off x="2590920" y="4495680"/>
                <a:ext cx="1825560" cy="648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8" dur="indefinite" restart="never" nodeType="tmRoot">
          <p:childTnLst>
            <p:seq>
              <p:cTn id="109" dur="indefinite" nodeType="mainSeq">
                <p:childTnLst>
                  <p:par>
                    <p:cTn id="110" fill="hold" nodeType="clickEffect">
                      <p:stCondLst>
                        <p:cond delay="indefinite"/>
                      </p:stCondLst>
                      <p:childTnLst>
                        <p:par>
                          <p:cTn id="11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Effect">
                      <p:stCondLst>
                        <p:cond delay="indefinite"/>
                      </p:stCondLst>
                      <p:childTnLst>
                        <p:par>
                          <p:cTn id="1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Effect">
                      <p:stCondLst>
                        <p:cond delay="indefinite"/>
                      </p:stCondLst>
                      <p:childTnLst>
                        <p:par>
                          <p:cTn id="12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Effect">
                      <p:stCondLst>
                        <p:cond delay="indefinite"/>
                      </p:stCondLst>
                      <p:childTnLst>
                        <p:par>
                          <p:cTn id="13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4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Effect">
                      <p:stCondLst>
                        <p:cond delay="indefinite"/>
                      </p:stCondLst>
                      <p:childTnLst>
                        <p:par>
                          <p:cTn id="14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4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Effect">
                      <p:stCondLst>
                        <p:cond delay="indefinite"/>
                      </p:stCondLst>
                      <p:childTnLst>
                        <p:par>
                          <p:cTn id="14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Effect">
                      <p:stCondLst>
                        <p:cond delay="indefinite"/>
                      </p:stCondLst>
                      <p:childTnLst>
                        <p:par>
                          <p:cTn id="15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4" presetID="16" presetClass="entr" fill="hold" nodeType="clickEffect" presetSubtype="2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 additive="repl">
                                        <p:cTn id="15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Effect">
                      <p:stCondLst>
                        <p:cond delay="indefinite"/>
                      </p:stCondLst>
                      <p:childTnLst>
                        <p:par>
                          <p:cTn id="16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Box 45"/>
          <p:cNvSpPr/>
          <p:nvPr/>
        </p:nvSpPr>
        <p:spPr>
          <a:xfrm>
            <a:off x="-231480" y="136440"/>
            <a:ext cx="9393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P37/5.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质点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(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质量不变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在外力作用下运动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下述说法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Text Box 46"/>
          <p:cNvSpPr/>
          <p:nvPr/>
        </p:nvSpPr>
        <p:spPr>
          <a:xfrm>
            <a:off x="33840" y="1157400"/>
            <a:ext cx="7511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质点动量改变时，质点的动能也一定改变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Text Box 47"/>
          <p:cNvSpPr/>
          <p:nvPr/>
        </p:nvSpPr>
        <p:spPr>
          <a:xfrm>
            <a:off x="33840" y="2514600"/>
            <a:ext cx="7511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质点动能不变时，质点的动量也一定不变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Text Box 48"/>
          <p:cNvSpPr/>
          <p:nvPr/>
        </p:nvSpPr>
        <p:spPr>
          <a:xfrm>
            <a:off x="34200" y="3489480"/>
            <a:ext cx="6748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外力的冲量为零，外力的功一定为零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Text Box 49"/>
          <p:cNvSpPr/>
          <p:nvPr/>
        </p:nvSpPr>
        <p:spPr>
          <a:xfrm>
            <a:off x="75240" y="5394240"/>
            <a:ext cx="6748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外力的功为零，外力的冲量一定为零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Text Box 50"/>
          <p:cNvSpPr/>
          <p:nvPr/>
        </p:nvSpPr>
        <p:spPr>
          <a:xfrm>
            <a:off x="2750400" y="60948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Text Box 51"/>
          <p:cNvSpPr/>
          <p:nvPr/>
        </p:nvSpPr>
        <p:spPr>
          <a:xfrm>
            <a:off x="786960" y="1600200"/>
            <a:ext cx="46458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6600"/>
                </a:solidFill>
                <a:effectLst/>
                <a:uFillTx/>
                <a:latin typeface="宋体"/>
                <a:ea typeface="Times New Roman"/>
              </a:rPr>
              <a:t>动量</a:t>
            </a:r>
            <a:r>
              <a:rPr lang="zh-CN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大小改变</a:t>
            </a:r>
            <a:r>
              <a:rPr lang="en-US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方向不变</a:t>
            </a:r>
            <a:r>
              <a:rPr lang="en-US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Text Box 52"/>
          <p:cNvSpPr/>
          <p:nvPr/>
        </p:nvSpPr>
        <p:spPr>
          <a:xfrm>
            <a:off x="438120" y="2987640"/>
            <a:ext cx="2847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速度</a:t>
            </a:r>
            <a:r>
              <a:rPr lang="zh-CN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大小不变</a:t>
            </a:r>
            <a:r>
              <a:rPr lang="zh-CN" sz="3000" b="1" u="none" strike="noStrike">
                <a:solidFill>
                  <a:srgbClr val="006600"/>
                </a:solidFill>
                <a:effectLst/>
                <a:uFillTx/>
                <a:latin typeface="宋体"/>
                <a:ea typeface="Times New Roman"/>
              </a:rPr>
              <a:t>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80" name="Object 53"/>
              <p:cNvSpPr txBox="1"/>
              <p:nvPr/>
            </p:nvSpPr>
            <p:spPr>
              <a:xfrm>
                <a:off x="228600" y="4019400"/>
                <a:ext cx="1295280" cy="704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F</m:t>
                            </m:r>
                          </m:e>
                        </m:acc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80" name="Object 53"/>
              <p:cNvSpPr txBox="1"/>
              <p:nvPr/>
            </p:nvSpPr>
            <p:spPr>
              <a:xfrm>
                <a:off x="228600" y="4019400"/>
                <a:ext cx="1295280" cy="7048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81" name="Text Box 54"/>
          <p:cNvSpPr/>
          <p:nvPr/>
        </p:nvSpPr>
        <p:spPr>
          <a:xfrm>
            <a:off x="5408280" y="4038480"/>
            <a:ext cx="1986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速度不变</a:t>
            </a:r>
            <a:r>
              <a:rPr lang="en-US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Text Box 55"/>
          <p:cNvSpPr/>
          <p:nvPr/>
        </p:nvSpPr>
        <p:spPr>
          <a:xfrm>
            <a:off x="36360" y="4664160"/>
            <a:ext cx="1986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动能定理</a:t>
            </a:r>
            <a:r>
              <a:rPr lang="en-US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: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Text Box 56"/>
          <p:cNvSpPr/>
          <p:nvPr/>
        </p:nvSpPr>
        <p:spPr>
          <a:xfrm>
            <a:off x="1860840" y="4648320"/>
            <a:ext cx="6276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合力对物体作的功等于其动能的增量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Text Box 57"/>
          <p:cNvSpPr/>
          <p:nvPr/>
        </p:nvSpPr>
        <p:spPr>
          <a:xfrm>
            <a:off x="3070800" y="2971800"/>
            <a:ext cx="3129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但</a:t>
            </a:r>
            <a:r>
              <a:rPr lang="zh-CN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方向可能变化</a:t>
            </a:r>
            <a:r>
              <a:rPr lang="en-US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Text Box 58"/>
          <p:cNvSpPr/>
          <p:nvPr/>
        </p:nvSpPr>
        <p:spPr>
          <a:xfrm>
            <a:off x="5985000" y="2971800"/>
            <a:ext cx="2466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动量可能变化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Text Box 59"/>
          <p:cNvSpPr/>
          <p:nvPr/>
        </p:nvSpPr>
        <p:spPr>
          <a:xfrm>
            <a:off x="786240" y="2057400"/>
            <a:ext cx="4264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6600"/>
                </a:solidFill>
                <a:effectLst/>
                <a:uFillTx/>
                <a:latin typeface="宋体"/>
                <a:ea typeface="Times New Roman"/>
              </a:rPr>
              <a:t>动量</a:t>
            </a:r>
            <a:r>
              <a:rPr lang="zh-CN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大小不变</a:t>
            </a:r>
            <a:r>
              <a:rPr lang="en-US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方向变</a:t>
            </a:r>
            <a:r>
              <a:rPr lang="en-US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Text Box 60"/>
          <p:cNvSpPr/>
          <p:nvPr/>
        </p:nvSpPr>
        <p:spPr>
          <a:xfrm>
            <a:off x="5109480" y="1584360"/>
            <a:ext cx="1323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动能</a:t>
            </a:r>
            <a:r>
              <a:rPr lang="zh-CN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变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Text Box 61"/>
          <p:cNvSpPr/>
          <p:nvPr/>
        </p:nvSpPr>
        <p:spPr>
          <a:xfrm>
            <a:off x="4767120" y="2041560"/>
            <a:ext cx="17049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动能</a:t>
            </a:r>
            <a:r>
              <a:rPr lang="zh-CN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不变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89" name="Object 62"/>
              <p:cNvSpPr txBox="1"/>
              <p:nvPr/>
            </p:nvSpPr>
            <p:spPr>
              <a:xfrm>
                <a:off x="1600200" y="4084560"/>
                <a:ext cx="1523880" cy="544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m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  <m:r>
                      <m:t xml:space="preserve">−</m:t>
                    </m:r>
                    <m:r>
                      <m:t xml:space="preserve">m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89" name="Object 62"/>
              <p:cNvSpPr txBox="1"/>
              <p:nvPr/>
            </p:nvSpPr>
            <p:spPr>
              <a:xfrm>
                <a:off x="1600200" y="4084560"/>
                <a:ext cx="1523880" cy="544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90" name="Text Box 63"/>
          <p:cNvSpPr/>
          <p:nvPr/>
        </p:nvSpPr>
        <p:spPr>
          <a:xfrm>
            <a:off x="7282080" y="4054320"/>
            <a:ext cx="1704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动能不变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91" name="Object 64"/>
              <p:cNvSpPr txBox="1"/>
              <p:nvPr/>
            </p:nvSpPr>
            <p:spPr>
              <a:xfrm>
                <a:off x="3962520" y="609480"/>
                <a:ext cx="1295280" cy="601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p</m:t>
                        </m:r>
                      </m:e>
                    </m:acc>
                    <m:r>
                      <m:t xml:space="preserve">=</m:t>
                    </m:r>
                    <m:r>
                      <m:t xml:space="preserve">m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91" name="Object 64"/>
              <p:cNvSpPr txBox="1"/>
              <p:nvPr/>
            </p:nvSpPr>
            <p:spPr>
              <a:xfrm>
                <a:off x="3962520" y="609480"/>
                <a:ext cx="1295280" cy="601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92" name="Text Box 65"/>
          <p:cNvSpPr/>
          <p:nvPr/>
        </p:nvSpPr>
        <p:spPr>
          <a:xfrm>
            <a:off x="1132560" y="669960"/>
            <a:ext cx="2840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正确是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93" name="Object 66"/>
              <p:cNvSpPr txBox="1"/>
              <p:nvPr/>
            </p:nvSpPr>
            <p:spPr>
              <a:xfrm>
                <a:off x="3124080" y="4105440"/>
                <a:ext cx="533520" cy="447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93" name="Object 66"/>
              <p:cNvSpPr txBox="1"/>
              <p:nvPr/>
            </p:nvSpPr>
            <p:spPr>
              <a:xfrm>
                <a:off x="3124080" y="4105440"/>
                <a:ext cx="533520" cy="4474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94" name="Text Box 67"/>
          <p:cNvSpPr/>
          <p:nvPr/>
        </p:nvSpPr>
        <p:spPr>
          <a:xfrm>
            <a:off x="3617640" y="4054320"/>
            <a:ext cx="1986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动量不变</a:t>
            </a:r>
            <a:r>
              <a:rPr lang="en-US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Text Box 68"/>
          <p:cNvSpPr/>
          <p:nvPr/>
        </p:nvSpPr>
        <p:spPr>
          <a:xfrm>
            <a:off x="7660800" y="114300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错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Text Box 69"/>
          <p:cNvSpPr/>
          <p:nvPr/>
        </p:nvSpPr>
        <p:spPr>
          <a:xfrm>
            <a:off x="7741440" y="249876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错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Text Box 70"/>
          <p:cNvSpPr/>
          <p:nvPr/>
        </p:nvSpPr>
        <p:spPr>
          <a:xfrm>
            <a:off x="6936840" y="342900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Text Box 71"/>
          <p:cNvSpPr/>
          <p:nvPr/>
        </p:nvSpPr>
        <p:spPr>
          <a:xfrm>
            <a:off x="6903360" y="533412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错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6" dur="indefinite" restart="never" nodeType="tmRoot">
          <p:childTnLst>
            <p:seq>
              <p:cTn id="167" dur="indefinite" nodeType="mainSeq">
                <p:childTnLst>
                  <p:par>
                    <p:cTn id="168" fill="hold" nodeType="clickEffect">
                      <p:stCondLst>
                        <p:cond delay="indefinite"/>
                      </p:stCondLst>
                      <p:childTnLst>
                        <p:par>
                          <p:cTn id="16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Effect">
                      <p:stCondLst>
                        <p:cond delay="indefinite"/>
                      </p:stCondLst>
                      <p:childTnLst>
                        <p:par>
                          <p:cTn id="17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7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Effect">
                      <p:stCondLst>
                        <p:cond delay="indefinite"/>
                      </p:stCondLst>
                      <p:childTnLst>
                        <p:par>
                          <p:cTn id="17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8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Effect">
                      <p:stCondLst>
                        <p:cond delay="indefinite"/>
                      </p:stCondLst>
                      <p:childTnLst>
                        <p:par>
                          <p:cTn id="18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8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Effect">
                      <p:stCondLst>
                        <p:cond delay="indefinite"/>
                      </p:stCondLst>
                      <p:childTnLst>
                        <p:par>
                          <p:cTn id="18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Effect">
                      <p:stCondLst>
                        <p:cond delay="indefinite"/>
                      </p:stCondLst>
                      <p:childTnLst>
                        <p:par>
                          <p:cTn id="19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19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Effect">
                      <p:stCondLst>
                        <p:cond delay="indefinite"/>
                      </p:stCondLst>
                      <p:childTnLst>
                        <p:par>
                          <p:cTn id="19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0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Effect">
                      <p:stCondLst>
                        <p:cond delay="indefinite"/>
                      </p:stCondLst>
                      <p:childTnLst>
                        <p:par>
                          <p:cTn id="20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0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Effect">
                      <p:stCondLst>
                        <p:cond delay="indefinite"/>
                      </p:stCondLst>
                      <p:childTnLst>
                        <p:par>
                          <p:cTn id="20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Effect">
                      <p:stCondLst>
                        <p:cond delay="indefinite"/>
                      </p:stCondLst>
                      <p:childTnLst>
                        <p:par>
                          <p:cTn id="2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Effect">
                      <p:stCondLst>
                        <p:cond delay="indefinite"/>
                      </p:stCondLst>
                      <p:childTnLst>
                        <p:par>
                          <p:cTn id="21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Effect">
                      <p:stCondLst>
                        <p:cond delay="indefinite"/>
                      </p:stCondLst>
                      <p:childTnLst>
                        <p:par>
                          <p:cTn id="2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Effect">
                      <p:stCondLst>
                        <p:cond delay="indefinite"/>
                      </p:stCondLst>
                      <p:childTnLst>
                        <p:par>
                          <p:cTn id="22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Effect">
                      <p:stCondLst>
                        <p:cond delay="indefinite"/>
                      </p:stCondLst>
                      <p:childTnLst>
                        <p:par>
                          <p:cTn id="23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3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Effect">
                      <p:stCondLst>
                        <p:cond delay="indefinite"/>
                      </p:stCondLst>
                      <p:childTnLst>
                        <p:par>
                          <p:cTn id="23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Effect">
                      <p:stCondLst>
                        <p:cond delay="indefinite"/>
                      </p:stCondLst>
                      <p:childTnLst>
                        <p:par>
                          <p:cTn id="24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Effect">
                      <p:stCondLst>
                        <p:cond delay="indefinite"/>
                      </p:stCondLst>
                      <p:childTnLst>
                        <p:par>
                          <p:cTn id="24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5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254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5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 nodeType="clickEffect">
                      <p:stCondLst>
                        <p:cond delay="indefinite"/>
                      </p:stCondLst>
                      <p:childTnLst>
                        <p:par>
                          <p:cTn id="25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6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Effect">
                      <p:stCondLst>
                        <p:cond delay="indefinite"/>
                      </p:stCondLst>
                      <p:childTnLst>
                        <p:par>
                          <p:cTn id="26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6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 nodeType="clickEffect">
                      <p:stCondLst>
                        <p:cond delay="indefinite"/>
                      </p:stCondLst>
                      <p:childTnLst>
                        <p:par>
                          <p:cTn id="26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6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Box 2"/>
          <p:cNvSpPr/>
          <p:nvPr/>
        </p:nvSpPr>
        <p:spPr>
          <a:xfrm>
            <a:off x="-218880" y="914400"/>
            <a:ext cx="9583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P37/6.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机关枪每分钟可射出质量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20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克子弹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900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颗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子弹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Text Box 3"/>
          <p:cNvSpPr/>
          <p:nvPr/>
        </p:nvSpPr>
        <p:spPr>
          <a:xfrm>
            <a:off x="-129960" y="1447920"/>
            <a:ext cx="9210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射出速度为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800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米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/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秒，则射击时的平均反冲力为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Text Box 4"/>
          <p:cNvSpPr/>
          <p:nvPr/>
        </p:nvSpPr>
        <p:spPr>
          <a:xfrm>
            <a:off x="8308440" y="144792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Text Box 5"/>
          <p:cNvSpPr/>
          <p:nvPr/>
        </p:nvSpPr>
        <p:spPr>
          <a:xfrm>
            <a:off x="-207720" y="2193840"/>
            <a:ext cx="2657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A.0.267N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Text Box 6"/>
          <p:cNvSpPr/>
          <p:nvPr/>
        </p:nvSpPr>
        <p:spPr>
          <a:xfrm>
            <a:off x="2347200" y="2209680"/>
            <a:ext cx="2085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B.16N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Text Box 7"/>
          <p:cNvSpPr/>
          <p:nvPr/>
        </p:nvSpPr>
        <p:spPr>
          <a:xfrm>
            <a:off x="4546800" y="2178000"/>
            <a:ext cx="2276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C.240N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Text Box 8"/>
          <p:cNvSpPr/>
          <p:nvPr/>
        </p:nvSpPr>
        <p:spPr>
          <a:xfrm>
            <a:off x="6694920" y="2193840"/>
            <a:ext cx="2657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D.14400N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06" name="Object 9"/>
              <p:cNvSpPr txBox="1"/>
              <p:nvPr/>
            </p:nvSpPr>
            <p:spPr>
              <a:xfrm>
                <a:off x="533520" y="3373560"/>
                <a:ext cx="1546200" cy="969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F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d</m:t>
                        </m:r>
                        <m:r>
                          <m:t xml:space="preserve">(</m:t>
                        </m:r>
                        <m:r>
                          <m:rPr>
                            <m:lit/>
                            <m:nor/>
                          </m:rPr>
                          <m:t xml:space="preserve">mv</m:t>
                        </m:r>
                        <m:r>
                          <m:t xml:space="preserve">)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06" name="Object 9"/>
              <p:cNvSpPr txBox="1"/>
              <p:nvPr/>
            </p:nvSpPr>
            <p:spPr>
              <a:xfrm>
                <a:off x="533520" y="3373560"/>
                <a:ext cx="1546200" cy="9698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07" name="Object 10"/>
              <p:cNvSpPr txBox="1"/>
              <p:nvPr/>
            </p:nvSpPr>
            <p:spPr>
              <a:xfrm>
                <a:off x="2079720" y="3344760"/>
                <a:ext cx="2117520" cy="970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dm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  <m:r>
                      <m:t xml:space="preserve">v</m:t>
                    </m:r>
                    <m:r>
                      <m:t xml:space="preserve">+</m:t>
                    </m:r>
                    <m:r>
                      <m:t xml:space="preserve">m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07" name="Object 10"/>
              <p:cNvSpPr txBox="1"/>
              <p:nvPr/>
            </p:nvSpPr>
            <p:spPr>
              <a:xfrm>
                <a:off x="2079720" y="3344760"/>
                <a:ext cx="2117520" cy="970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08" name="Object 11"/>
              <p:cNvSpPr txBox="1"/>
              <p:nvPr/>
            </p:nvSpPr>
            <p:spPr>
              <a:xfrm>
                <a:off x="4192560" y="3344760"/>
                <a:ext cx="1087560" cy="970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v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dm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08" name="Object 11"/>
              <p:cNvSpPr txBox="1"/>
              <p:nvPr/>
            </p:nvSpPr>
            <p:spPr>
              <a:xfrm>
                <a:off x="4192560" y="3344760"/>
                <a:ext cx="1087560" cy="970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09" name="Object 12"/>
              <p:cNvSpPr txBox="1"/>
              <p:nvPr/>
            </p:nvSpPr>
            <p:spPr>
              <a:xfrm>
                <a:off x="5280120" y="3281400"/>
                <a:ext cx="3147840" cy="1033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800</m:t>
                    </m:r>
                    <m:r>
                      <m:t xml:space="preserve">×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20</m:t>
                        </m:r>
                        <m:r>
                          <m:t xml:space="preserve">×</m:t>
                        </m:r>
                        <m:sSup>
                          <m:e>
                            <m:r>
                              <m:rPr>
                                <m:lit/>
                                <m:nor/>
                              </m:rPr>
                              <m:t xml:space="preserve">10</m:t>
                            </m:r>
                          </m:e>
                          <m:sup>
                            <m:r>
                              <m:t xml:space="preserve">−</m:t>
                            </m:r>
                            <m:r>
                              <m:t xml:space="preserve">3</m:t>
                            </m:r>
                          </m:sup>
                        </m:sSup>
                        <m:r>
                          <m:t xml:space="preserve">×</m:t>
                        </m:r>
                        <m:r>
                          <m:rPr>
                            <m:lit/>
                            <m:nor/>
                          </m:rPr>
                          <m:t xml:space="preserve">900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60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09" name="Object 12"/>
              <p:cNvSpPr txBox="1"/>
              <p:nvPr/>
            </p:nvSpPr>
            <p:spPr>
              <a:xfrm>
                <a:off x="5280120" y="3281400"/>
                <a:ext cx="3147840" cy="10335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110" name="星形: 五角 14"/>
          <p:cNvSpPr/>
          <p:nvPr/>
        </p:nvSpPr>
        <p:spPr>
          <a:xfrm>
            <a:off x="8277120" y="6165720"/>
            <a:ext cx="433440" cy="40500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2" dur="indefinite" restart="never" nodeType="tmRoot">
          <p:childTnLst>
            <p:seq>
              <p:cTn id="273" dur="indefinite" nodeType="mainSeq">
                <p:childTnLst>
                  <p:par>
                    <p:cTn id="274" fill="hold" nodeType="clickEffect">
                      <p:stCondLst>
                        <p:cond delay="indefinite"/>
                      </p:stCondLst>
                      <p:childTnLst>
                        <p:par>
                          <p:cTn id="27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7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 nodeType="clickEffect">
                      <p:stCondLst>
                        <p:cond delay="indefinite"/>
                      </p:stCondLst>
                      <p:childTnLst>
                        <p:par>
                          <p:cTn id="28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8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 nodeType="clickEffect">
                      <p:stCondLst>
                        <p:cond delay="indefinite"/>
                      </p:stCondLst>
                      <p:childTnLst>
                        <p:par>
                          <p:cTn id="28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8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8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 nodeType="clickEffect">
                      <p:stCondLst>
                        <p:cond delay="indefinite"/>
                      </p:stCondLst>
                      <p:childTnLst>
                        <p:par>
                          <p:cTn id="29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9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 nodeType="clickEffect">
                      <p:stCondLst>
                        <p:cond delay="indefinite"/>
                      </p:stCondLst>
                      <p:childTnLst>
                        <p:par>
                          <p:cTn id="29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9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9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Box 10"/>
          <p:cNvSpPr/>
          <p:nvPr/>
        </p:nvSpPr>
        <p:spPr>
          <a:xfrm>
            <a:off x="-54360" y="822240"/>
            <a:ext cx="7122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P37/7.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对质点系有以下说法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Text Box 11"/>
          <p:cNvSpPr/>
          <p:nvPr/>
        </p:nvSpPr>
        <p:spPr>
          <a:xfrm>
            <a:off x="264240" y="1371600"/>
            <a:ext cx="5895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①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质点系总动量的改变与内力无关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Text Box 12"/>
          <p:cNvSpPr/>
          <p:nvPr/>
        </p:nvSpPr>
        <p:spPr>
          <a:xfrm>
            <a:off x="153720" y="3505320"/>
            <a:ext cx="3319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只有①是正确的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Text Box 13"/>
          <p:cNvSpPr/>
          <p:nvPr/>
        </p:nvSpPr>
        <p:spPr>
          <a:xfrm>
            <a:off x="151200" y="4098960"/>
            <a:ext cx="2177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B.①③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正确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Text Box 14"/>
          <p:cNvSpPr/>
          <p:nvPr/>
        </p:nvSpPr>
        <p:spPr>
          <a:xfrm>
            <a:off x="151200" y="4724280"/>
            <a:ext cx="2177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C.①②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正确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Text Box 15"/>
          <p:cNvSpPr/>
          <p:nvPr/>
        </p:nvSpPr>
        <p:spPr>
          <a:xfrm>
            <a:off x="151920" y="5334120"/>
            <a:ext cx="2367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D.②③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正确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Text Box 16"/>
          <p:cNvSpPr/>
          <p:nvPr/>
        </p:nvSpPr>
        <p:spPr>
          <a:xfrm>
            <a:off x="242280" y="1828800"/>
            <a:ext cx="5895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②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质点系总动能的改变与内力无关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Text Box 17"/>
          <p:cNvSpPr/>
          <p:nvPr/>
        </p:nvSpPr>
        <p:spPr>
          <a:xfrm>
            <a:off x="243720" y="2286000"/>
            <a:ext cx="6657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③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质点系机械能的改变与保守内力无关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Text Box 18"/>
          <p:cNvSpPr/>
          <p:nvPr/>
        </p:nvSpPr>
        <p:spPr>
          <a:xfrm>
            <a:off x="158040" y="2803680"/>
            <a:ext cx="2085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上述说法中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Text Box 19"/>
          <p:cNvSpPr/>
          <p:nvPr/>
        </p:nvSpPr>
        <p:spPr>
          <a:xfrm>
            <a:off x="5412600" y="76212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B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Text Box 20"/>
          <p:cNvSpPr/>
          <p:nvPr/>
        </p:nvSpPr>
        <p:spPr>
          <a:xfrm>
            <a:off x="6065280" y="137160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Text Box 21"/>
          <p:cNvSpPr/>
          <p:nvPr/>
        </p:nvSpPr>
        <p:spPr>
          <a:xfrm>
            <a:off x="6098400" y="181296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错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Text Box 22"/>
          <p:cNvSpPr/>
          <p:nvPr/>
        </p:nvSpPr>
        <p:spPr>
          <a:xfrm>
            <a:off x="6827040" y="228600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24" name="Object 23"/>
              <p:cNvSpPr txBox="1"/>
              <p:nvPr/>
            </p:nvSpPr>
            <p:spPr>
              <a:xfrm>
                <a:off x="4267080" y="3124080"/>
                <a:ext cx="2973600" cy="1030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F</m:t>
                            </m:r>
                          </m:e>
                        </m:acc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合外力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d</m:t>
                        </m:r>
                        <m:r>
                          <m:t xml:space="preserve">(</m:t>
                        </m:r>
                        <m:nary>
                          <m:naryPr>
                            <m:chr m:val="∑"/>
                            <m:subHide m:val="1"/>
                            <m:supHide m:val="1"/>
                          </m:naryPr>
                          <m:sub/>
                          <m:sup/>
                          <m:e>
                            <m:sSub>
                              <m:e>
                                <m:r>
                                  <m:t xml:space="preserve">m</m:t>
                                </m:r>
                              </m:e>
                              <m:sub>
                                <m:r>
                                  <m:t xml:space="preserve">i</m:t>
                                </m:r>
                              </m:sub>
                            </m:sSub>
                            <m:sSub>
                              <m:e>
                                <m:acc>
                                  <m:accPr>
                                    <m:chr m:val="⃗"/>
                                  </m:accPr>
                                  <m:e>
                                    <m:r>
                                      <m:t xml:space="preserve">v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t xml:space="preserve">i</m:t>
                                </m:r>
                              </m:sub>
                            </m:sSub>
                          </m:e>
                        </m:nary>
                        <m:r>
                          <m:t xml:space="preserve">)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24" name="Object 23"/>
              <p:cNvSpPr txBox="1"/>
              <p:nvPr/>
            </p:nvSpPr>
            <p:spPr>
              <a:xfrm>
                <a:off x="4267080" y="3124080"/>
                <a:ext cx="2973600" cy="10303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25" name="Object 24"/>
              <p:cNvSpPr txBox="1"/>
              <p:nvPr/>
            </p:nvSpPr>
            <p:spPr>
              <a:xfrm>
                <a:off x="4267080" y="4114800"/>
                <a:ext cx="2752920" cy="647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外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内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ΔE</m:t>
                        </m:r>
                      </m:e>
                      <m:sub>
                        <m:r>
                          <m:t xml:space="preserve">k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25" name="Object 24"/>
              <p:cNvSpPr txBox="1"/>
              <p:nvPr/>
            </p:nvSpPr>
            <p:spPr>
              <a:xfrm>
                <a:off x="4267080" y="4114800"/>
                <a:ext cx="2752920" cy="6476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26" name="Object 25"/>
              <p:cNvSpPr txBox="1"/>
              <p:nvPr/>
            </p:nvSpPr>
            <p:spPr>
              <a:xfrm>
                <a:off x="4724280" y="4876920"/>
                <a:ext cx="2787840" cy="642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外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非保内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126" name="Object 25"/>
              <p:cNvSpPr txBox="1"/>
              <p:nvPr/>
            </p:nvSpPr>
            <p:spPr>
              <a:xfrm>
                <a:off x="4724280" y="4876920"/>
                <a:ext cx="2787840" cy="642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127" name="Text Box 26"/>
          <p:cNvSpPr/>
          <p:nvPr/>
        </p:nvSpPr>
        <p:spPr>
          <a:xfrm>
            <a:off x="4149000" y="487044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若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28" name="Object 29"/>
              <p:cNvSpPr txBox="1"/>
              <p:nvPr/>
            </p:nvSpPr>
            <p:spPr>
              <a:xfrm>
                <a:off x="4572000" y="5486400"/>
                <a:ext cx="2651040" cy="576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E</m:t>
                        </m:r>
                      </m:e>
                      <m:sub>
                        <m:r>
                          <m:t xml:space="preserve">K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E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恒量</m:t>
                    </m:r>
                  </m:oMath>
                </a14:m>
              </a:p>
            </p:txBody>
          </p:sp>
        </mc:Choice>
        <mc:Fallback>
          <p:sp>
            <p:nvSpPr>
              <p:cNvPr id="128" name="Object 29"/>
              <p:cNvSpPr txBox="1"/>
              <p:nvPr/>
            </p:nvSpPr>
            <p:spPr>
              <a:xfrm>
                <a:off x="4572000" y="5486400"/>
                <a:ext cx="2651040" cy="5763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129" name="星形: 五角 21"/>
          <p:cNvSpPr/>
          <p:nvPr/>
        </p:nvSpPr>
        <p:spPr>
          <a:xfrm>
            <a:off x="8277120" y="6165720"/>
            <a:ext cx="433440" cy="40500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9" dur="indefinite" restart="never" nodeType="tmRoot">
          <p:childTnLst>
            <p:seq>
              <p:cTn id="300" dur="indefinite" nodeType="mainSeq">
                <p:childTnLst>
                  <p:par>
                    <p:cTn id="301" fill="hold" nodeType="clickEffect">
                      <p:stCondLst>
                        <p:cond delay="indefinite"/>
                      </p:stCondLst>
                      <p:childTnLst>
                        <p:par>
                          <p:cTn id="30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0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0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 nodeType="clickEffect">
                      <p:stCondLst>
                        <p:cond delay="indefinite"/>
                      </p:stCondLst>
                      <p:childTnLst>
                        <p:par>
                          <p:cTn id="30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0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1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 nodeType="clickEffect">
                      <p:stCondLst>
                        <p:cond delay="indefinite"/>
                      </p:stCondLst>
                      <p:childTnLst>
                        <p:par>
                          <p:cTn id="3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1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 nodeType="clickEffect">
                      <p:stCondLst>
                        <p:cond delay="indefinite"/>
                      </p:stCondLst>
                      <p:childTnLst>
                        <p:par>
                          <p:cTn id="31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1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2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 nodeType="clickEffect">
                      <p:stCondLst>
                        <p:cond delay="indefinite"/>
                      </p:stCondLst>
                      <p:childTnLst>
                        <p:par>
                          <p:cTn id="3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2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2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327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2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 nodeType="afterEffect">
                            <p:stCondLst>
                              <p:cond delay="1000"/>
                            </p:stCondLst>
                            <p:childTnLst>
                              <p:par>
                                <p:cTn id="331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3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 nodeType="clickEffect">
                      <p:stCondLst>
                        <p:cond delay="indefinite"/>
                      </p:stCondLst>
                      <p:childTnLst>
                        <p:par>
                          <p:cTn id="33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3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3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 nodeType="clickEffect">
                      <p:stCondLst>
                        <p:cond delay="indefinite"/>
                      </p:stCondLst>
                      <p:childTnLst>
                        <p:par>
                          <p:cTn id="34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4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4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Box 26"/>
          <p:cNvSpPr/>
          <p:nvPr/>
        </p:nvSpPr>
        <p:spPr>
          <a:xfrm>
            <a:off x="-136440" y="1523880"/>
            <a:ext cx="9401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P38/8.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若一质点系动量守恒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则下面说法正确是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Text Box 27"/>
          <p:cNvSpPr/>
          <p:nvPr/>
        </p:nvSpPr>
        <p:spPr>
          <a:xfrm>
            <a:off x="51480" y="2209680"/>
            <a:ext cx="9034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系统中某些质点的速度值增加，必然有另一些质点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Text Box 28"/>
          <p:cNvSpPr/>
          <p:nvPr/>
        </p:nvSpPr>
        <p:spPr>
          <a:xfrm>
            <a:off x="44280" y="3139920"/>
            <a:ext cx="5605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系统沿任一方向的动量都守恒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Text Box 29"/>
          <p:cNvSpPr/>
          <p:nvPr/>
        </p:nvSpPr>
        <p:spPr>
          <a:xfrm>
            <a:off x="47520" y="3641760"/>
            <a:ext cx="7130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系统可能沿某一特定的方向动量不守恒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Text Box 30"/>
          <p:cNvSpPr/>
          <p:nvPr/>
        </p:nvSpPr>
        <p:spPr>
          <a:xfrm>
            <a:off x="47520" y="4130640"/>
            <a:ext cx="7130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系统中每一质点的动量一定都保持不变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Text Box 31"/>
          <p:cNvSpPr/>
          <p:nvPr/>
        </p:nvSpPr>
        <p:spPr>
          <a:xfrm>
            <a:off x="463680" y="2666880"/>
            <a:ext cx="2466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的速度值减少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Text Box 32"/>
          <p:cNvSpPr/>
          <p:nvPr/>
        </p:nvSpPr>
        <p:spPr>
          <a:xfrm>
            <a:off x="8084520" y="152388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B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Text Box 33"/>
          <p:cNvSpPr/>
          <p:nvPr/>
        </p:nvSpPr>
        <p:spPr>
          <a:xfrm>
            <a:off x="2894040" y="2682720"/>
            <a:ext cx="61740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两质点速度值增大相同</a:t>
            </a: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,</a:t>
            </a: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但方向相反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Text Box 34"/>
          <p:cNvSpPr/>
          <p:nvPr/>
        </p:nvSpPr>
        <p:spPr>
          <a:xfrm>
            <a:off x="5946120" y="312408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Text Box 35"/>
          <p:cNvSpPr/>
          <p:nvPr/>
        </p:nvSpPr>
        <p:spPr>
          <a:xfrm>
            <a:off x="7208280" y="365760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错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Text Box 36"/>
          <p:cNvSpPr/>
          <p:nvPr/>
        </p:nvSpPr>
        <p:spPr>
          <a:xfrm>
            <a:off x="7241400" y="411480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错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4" dur="indefinite" restart="never" nodeType="tmRoot">
          <p:childTnLst>
            <p:seq>
              <p:cTn id="345" dur="indefinite" nodeType="mainSeq">
                <p:childTnLst>
                  <p:par>
                    <p:cTn id="346" fill="hold" nodeType="clickEffect">
                      <p:stCondLst>
                        <p:cond delay="indefinite"/>
                      </p:stCondLst>
                      <p:childTnLst>
                        <p:par>
                          <p:cTn id="34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4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5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 nodeType="clickEffect">
                      <p:stCondLst>
                        <p:cond delay="indefinite"/>
                      </p:stCondLst>
                      <p:childTnLst>
                        <p:par>
                          <p:cTn id="35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5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5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 nodeType="clickEffect">
                      <p:stCondLst>
                        <p:cond delay="indefinite"/>
                      </p:stCondLst>
                      <p:childTnLst>
                        <p:par>
                          <p:cTn id="35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5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6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 nodeType="clickEffect">
                      <p:stCondLst>
                        <p:cond delay="indefinite"/>
                      </p:stCondLst>
                      <p:childTnLst>
                        <p:par>
                          <p:cTn id="36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6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6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 nodeType="clickEffect">
                      <p:stCondLst>
                        <p:cond delay="indefinite"/>
                      </p:stCondLst>
                      <p:childTnLst>
                        <p:par>
                          <p:cTn id="36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6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7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Box 11"/>
          <p:cNvSpPr/>
          <p:nvPr/>
        </p:nvSpPr>
        <p:spPr>
          <a:xfrm>
            <a:off x="-54360" y="136440"/>
            <a:ext cx="7503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P40/1.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对功的概念有以下说法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Text Box 12"/>
          <p:cNvSpPr/>
          <p:nvPr/>
        </p:nvSpPr>
        <p:spPr>
          <a:xfrm>
            <a:off x="267480" y="685800"/>
            <a:ext cx="7419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①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保守力作正功时，系统内相应的势能增加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Text Box 13"/>
          <p:cNvSpPr/>
          <p:nvPr/>
        </p:nvSpPr>
        <p:spPr>
          <a:xfrm>
            <a:off x="151200" y="4127400"/>
            <a:ext cx="2177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A.①②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正确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Text Box 14"/>
          <p:cNvSpPr/>
          <p:nvPr/>
        </p:nvSpPr>
        <p:spPr>
          <a:xfrm>
            <a:off x="151200" y="4524480"/>
            <a:ext cx="2177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B.②③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正确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Text Box 15"/>
          <p:cNvSpPr/>
          <p:nvPr/>
        </p:nvSpPr>
        <p:spPr>
          <a:xfrm>
            <a:off x="150480" y="5013360"/>
            <a:ext cx="1796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C.②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正确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Text Box 16"/>
          <p:cNvSpPr/>
          <p:nvPr/>
        </p:nvSpPr>
        <p:spPr>
          <a:xfrm>
            <a:off x="151200" y="5470560"/>
            <a:ext cx="1986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D.③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正确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Text Box 17"/>
          <p:cNvSpPr/>
          <p:nvPr/>
        </p:nvSpPr>
        <p:spPr>
          <a:xfrm>
            <a:off x="157320" y="1704960"/>
            <a:ext cx="8935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②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质点沿任一闭合路径运动一周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保守力对质点作功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Text Box 18"/>
          <p:cNvSpPr/>
          <p:nvPr/>
        </p:nvSpPr>
        <p:spPr>
          <a:xfrm>
            <a:off x="157320" y="2543040"/>
            <a:ext cx="8935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③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作用力和反作用力大小相等方向相反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所以两者所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Text Box 19"/>
          <p:cNvSpPr/>
          <p:nvPr/>
        </p:nvSpPr>
        <p:spPr>
          <a:xfrm>
            <a:off x="160200" y="3517920"/>
            <a:ext cx="3228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上述说法正确的是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Text Box 20"/>
          <p:cNvSpPr/>
          <p:nvPr/>
        </p:nvSpPr>
        <p:spPr>
          <a:xfrm>
            <a:off x="579600" y="2146320"/>
            <a:ext cx="942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为零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Text Box 21"/>
          <p:cNvSpPr/>
          <p:nvPr/>
        </p:nvSpPr>
        <p:spPr>
          <a:xfrm>
            <a:off x="534240" y="2984400"/>
            <a:ext cx="3609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作功的代数和必为零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Text Box 22"/>
          <p:cNvSpPr/>
          <p:nvPr/>
        </p:nvSpPr>
        <p:spPr>
          <a:xfrm>
            <a:off x="5793840" y="7632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Text Box 23"/>
          <p:cNvSpPr/>
          <p:nvPr/>
        </p:nvSpPr>
        <p:spPr>
          <a:xfrm>
            <a:off x="4141080" y="3000240"/>
            <a:ext cx="4745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不对</a:t>
            </a: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两者位移不一定相同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Text Box 24"/>
          <p:cNvSpPr/>
          <p:nvPr/>
        </p:nvSpPr>
        <p:spPr>
          <a:xfrm>
            <a:off x="592920" y="1219320"/>
            <a:ext cx="5133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保守力作功等于系统势能减少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Text Box 25"/>
          <p:cNvSpPr/>
          <p:nvPr/>
        </p:nvSpPr>
        <p:spPr>
          <a:xfrm>
            <a:off x="6168960" y="1249200"/>
            <a:ext cx="1599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A= -ΔEp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Text Box 26"/>
          <p:cNvSpPr/>
          <p:nvPr/>
        </p:nvSpPr>
        <p:spPr>
          <a:xfrm>
            <a:off x="4465080" y="2087640"/>
            <a:ext cx="56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57" name="Object 27"/>
              <p:cNvSpPr txBox="1"/>
              <p:nvPr/>
            </p:nvSpPr>
            <p:spPr>
              <a:xfrm>
                <a:off x="2362320" y="2057400"/>
                <a:ext cx="1706400" cy="728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∮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F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r</m:t>
                            </m:r>
                          </m:e>
                        </m:acc>
                        <m:r>
                          <m:t xml:space="preserve">=</m:t>
                        </m:r>
                        <m:r>
                          <m:t xml:space="preserve">0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157" name="Object 27"/>
              <p:cNvSpPr txBox="1"/>
              <p:nvPr/>
            </p:nvSpPr>
            <p:spPr>
              <a:xfrm>
                <a:off x="2362320" y="2057400"/>
                <a:ext cx="1706400" cy="7286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158" name="星形: 五角 20"/>
          <p:cNvSpPr/>
          <p:nvPr/>
        </p:nvSpPr>
        <p:spPr>
          <a:xfrm>
            <a:off x="8277120" y="6165720"/>
            <a:ext cx="433440" cy="40500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1" dur="indefinite" restart="never" nodeType="tmRoot">
          <p:childTnLst>
            <p:seq>
              <p:cTn id="372" dur="indefinite" nodeType="mainSeq">
                <p:childTnLst>
                  <p:par>
                    <p:cTn id="373" fill="hold" nodeType="clickEffect">
                      <p:stCondLst>
                        <p:cond delay="indefinite"/>
                      </p:stCondLst>
                      <p:childTnLst>
                        <p:par>
                          <p:cTn id="37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7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7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379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8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 nodeType="clickEffect">
                      <p:stCondLst>
                        <p:cond delay="indefinite"/>
                      </p:stCondLst>
                      <p:childTnLst>
                        <p:par>
                          <p:cTn id="38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8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8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 nodeType="clickEffect">
                      <p:stCondLst>
                        <p:cond delay="indefinite"/>
                      </p:stCondLst>
                      <p:childTnLst>
                        <p:par>
                          <p:cTn id="38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8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9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 nodeType="clickEffect">
                      <p:stCondLst>
                        <p:cond delay="indefinite"/>
                      </p:stCondLst>
                      <p:childTnLst>
                        <p:par>
                          <p:cTn id="39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9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9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 nodeType="clickEffect">
                      <p:stCondLst>
                        <p:cond delay="indefinite"/>
                      </p:stCondLst>
                      <p:childTnLst>
                        <p:par>
                          <p:cTn id="39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9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0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Box 21"/>
          <p:cNvSpPr/>
          <p:nvPr/>
        </p:nvSpPr>
        <p:spPr>
          <a:xfrm>
            <a:off x="-137880" y="1219320"/>
            <a:ext cx="90198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P40/2.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对一个质点系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在下列条件下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哪种情况质点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Text Box 22"/>
          <p:cNvSpPr/>
          <p:nvPr/>
        </p:nvSpPr>
        <p:spPr>
          <a:xfrm>
            <a:off x="18720" y="1736640"/>
            <a:ext cx="49352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系的机械能守恒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Text Box 23"/>
          <p:cNvSpPr/>
          <p:nvPr/>
        </p:nvSpPr>
        <p:spPr>
          <a:xfrm>
            <a:off x="190080" y="2286000"/>
            <a:ext cx="2558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合外力为零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Text Box 24"/>
          <p:cNvSpPr/>
          <p:nvPr/>
        </p:nvSpPr>
        <p:spPr>
          <a:xfrm>
            <a:off x="164160" y="3200400"/>
            <a:ext cx="5225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外力和非保守内力都不作功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Text Box 25"/>
          <p:cNvSpPr/>
          <p:nvPr/>
        </p:nvSpPr>
        <p:spPr>
          <a:xfrm>
            <a:off x="180000" y="3641760"/>
            <a:ext cx="5034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D.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外力和保守内力都不作功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Text Box 26"/>
          <p:cNvSpPr/>
          <p:nvPr/>
        </p:nvSpPr>
        <p:spPr>
          <a:xfrm>
            <a:off x="191160" y="2727360"/>
            <a:ext cx="2939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合外力不作功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Text Box 27"/>
          <p:cNvSpPr/>
          <p:nvPr/>
        </p:nvSpPr>
        <p:spPr>
          <a:xfrm>
            <a:off x="3283920" y="173664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6" name="Object 28"/>
              <p:cNvSpPr txBox="1"/>
              <p:nvPr/>
            </p:nvSpPr>
            <p:spPr>
              <a:xfrm>
                <a:off x="3809880" y="4486320"/>
                <a:ext cx="3008520" cy="695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外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非保内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166" name="Object 28"/>
              <p:cNvSpPr txBox="1"/>
              <p:nvPr/>
            </p:nvSpPr>
            <p:spPr>
              <a:xfrm>
                <a:off x="3809880" y="4486320"/>
                <a:ext cx="3008520" cy="6951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167" name="Text Box 29"/>
          <p:cNvSpPr/>
          <p:nvPr/>
        </p:nvSpPr>
        <p:spPr>
          <a:xfrm>
            <a:off x="497880" y="4486320"/>
            <a:ext cx="2847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机械能守恒条件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2" dur="indefinite" restart="never" nodeType="tmRoot">
          <p:childTnLst>
            <p:seq>
              <p:cTn id="403" dur="indefinite" nodeType="mainSeq">
                <p:childTnLst>
                  <p:par>
                    <p:cTn id="404" fill="hold" nodeType="clickEffect">
                      <p:stCondLst>
                        <p:cond delay="indefinite"/>
                      </p:stCondLst>
                      <p:childTnLst>
                        <p:par>
                          <p:cTn id="40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0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0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 nodeType="clickEffect">
                      <p:stCondLst>
                        <p:cond delay="indefinite"/>
                      </p:stCondLst>
                      <p:childTnLst>
                        <p:par>
                          <p:cTn id="4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1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1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 nodeType="clickEffect">
                      <p:stCondLst>
                        <p:cond delay="indefinite"/>
                      </p:stCondLst>
                      <p:childTnLst>
                        <p:par>
                          <p:cTn id="41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1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1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Box 8"/>
          <p:cNvSpPr/>
          <p:nvPr/>
        </p:nvSpPr>
        <p:spPr>
          <a:xfrm>
            <a:off x="-136800" y="838080"/>
            <a:ext cx="94006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P40/3.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一质点系在运动过程中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系统的动量守恒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则在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Text Box 9"/>
          <p:cNvSpPr/>
          <p:nvPr/>
        </p:nvSpPr>
        <p:spPr>
          <a:xfrm>
            <a:off x="376560" y="1371600"/>
            <a:ext cx="3411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此过程中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Text Box 10"/>
          <p:cNvSpPr/>
          <p:nvPr/>
        </p:nvSpPr>
        <p:spPr>
          <a:xfrm>
            <a:off x="194400" y="1905120"/>
            <a:ext cx="4462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系统的机械能一定守恒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Text Box 11"/>
          <p:cNvSpPr/>
          <p:nvPr/>
        </p:nvSpPr>
        <p:spPr>
          <a:xfrm>
            <a:off x="161640" y="2819520"/>
            <a:ext cx="4082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C.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二者没有必然的联系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Text Box 12"/>
          <p:cNvSpPr/>
          <p:nvPr/>
        </p:nvSpPr>
        <p:spPr>
          <a:xfrm>
            <a:off x="195120" y="2346480"/>
            <a:ext cx="4844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系统的机械能一定不守恒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Text Box 13"/>
          <p:cNvSpPr/>
          <p:nvPr/>
        </p:nvSpPr>
        <p:spPr>
          <a:xfrm>
            <a:off x="560520" y="3478320"/>
            <a:ext cx="2466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动量守恒条件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Text Box 14"/>
          <p:cNvSpPr/>
          <p:nvPr/>
        </p:nvSpPr>
        <p:spPr>
          <a:xfrm>
            <a:off x="3648960" y="3494160"/>
            <a:ext cx="2085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合外力为零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75" name="Object 15"/>
              <p:cNvSpPr txBox="1"/>
              <p:nvPr/>
            </p:nvSpPr>
            <p:spPr>
              <a:xfrm>
                <a:off x="3621240" y="4191120"/>
                <a:ext cx="3008160" cy="695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外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非保内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175" name="Object 15"/>
              <p:cNvSpPr txBox="1"/>
              <p:nvPr/>
            </p:nvSpPr>
            <p:spPr>
              <a:xfrm>
                <a:off x="3621240" y="4191120"/>
                <a:ext cx="3008160" cy="6951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176" name="Text Box 16"/>
          <p:cNvSpPr/>
          <p:nvPr/>
        </p:nvSpPr>
        <p:spPr>
          <a:xfrm>
            <a:off x="464400" y="4267080"/>
            <a:ext cx="2847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机械能守恒条件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Text Box 17"/>
          <p:cNvSpPr/>
          <p:nvPr/>
        </p:nvSpPr>
        <p:spPr>
          <a:xfrm>
            <a:off x="2517120" y="1371600"/>
            <a:ext cx="37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C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78" name="Object 18"/>
              <p:cNvSpPr txBox="1"/>
              <p:nvPr/>
            </p:nvSpPr>
            <p:spPr>
              <a:xfrm>
                <a:off x="6629400" y="3505320"/>
                <a:ext cx="1503360" cy="636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1"/>
                        <m:supHide m:val="1"/>
                      </m:naryPr>
                      <m:sub/>
                      <m:sup/>
                      <m:e>
                        <m:sSub>
                          <m:e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m:t xml:space="preserve">F</m:t>
                                </m:r>
                              </m:e>
                            </m:acc>
                          </m:e>
                          <m:sub>
                            <m:r>
                              <m:t xml:space="preserve">外</m:t>
                            </m:r>
                          </m:sub>
                        </m:sSub>
                      </m:e>
                    </m:nary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178" name="Object 18"/>
              <p:cNvSpPr txBox="1"/>
              <p:nvPr/>
            </p:nvSpPr>
            <p:spPr>
              <a:xfrm>
                <a:off x="6629400" y="3505320"/>
                <a:ext cx="1503360" cy="6364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79" name="Object 19"/>
              <p:cNvSpPr txBox="1"/>
              <p:nvPr/>
            </p:nvSpPr>
            <p:spPr>
              <a:xfrm>
                <a:off x="2400480" y="4948200"/>
                <a:ext cx="3713040" cy="666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sSub>
                          <m:e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m:t xml:space="preserve">F</m:t>
                                </m:r>
                              </m:e>
                            </m:acc>
                          </m:e>
                          <m:sub>
                            <m:r>
                              <m:t xml:space="preserve">外</m:t>
                            </m:r>
                          </m:sub>
                        </m:sSub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r</m:t>
                            </m:r>
                          </m:e>
                        </m:acc>
                      </m:e>
                    </m:nary>
                    <m:r>
                      <m:t xml:space="preserve">+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sSub>
                          <m:e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m:t xml:space="preserve">F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lit/>
                                <m:nor/>
                              </m:rPr>
                              <m:t xml:space="preserve">非保内</m:t>
                            </m:r>
                          </m:sub>
                        </m:sSub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r</m:t>
                            </m:r>
                          </m:e>
                        </m:acc>
                      </m:e>
                    </m:nary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179" name="Object 19"/>
              <p:cNvSpPr txBox="1"/>
              <p:nvPr/>
            </p:nvSpPr>
            <p:spPr>
              <a:xfrm>
                <a:off x="2400480" y="4948200"/>
                <a:ext cx="3713040" cy="666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180" name="星形: 五角 15"/>
          <p:cNvSpPr/>
          <p:nvPr/>
        </p:nvSpPr>
        <p:spPr>
          <a:xfrm>
            <a:off x="8277120" y="6165720"/>
            <a:ext cx="433440" cy="40500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9" dur="indefinite" restart="never" nodeType="tmRoot">
          <p:childTnLst>
            <p:seq>
              <p:cTn id="420" dur="indefinite" nodeType="mainSeq">
                <p:childTnLst>
                  <p:par>
                    <p:cTn id="421" fill="hold" nodeType="clickEffect">
                      <p:stCondLst>
                        <p:cond delay="indefinite"/>
                      </p:stCondLst>
                      <p:childTnLst>
                        <p:par>
                          <p:cTn id="4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2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2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 nodeType="clickEffect">
                      <p:stCondLst>
                        <p:cond delay="indefinite"/>
                      </p:stCondLst>
                      <p:childTnLst>
                        <p:par>
                          <p:cTn id="42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2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3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 nodeType="clickEffect">
                      <p:stCondLst>
                        <p:cond delay="indefinite"/>
                      </p:stCondLst>
                      <p:childTnLst>
                        <p:par>
                          <p:cTn id="43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3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3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 nodeType="clickEffect">
                      <p:stCondLst>
                        <p:cond delay="indefinite"/>
                      </p:stCondLst>
                      <p:childTnLst>
                        <p:par>
                          <p:cTn id="43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3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4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 nodeType="clickEffect">
                      <p:stCondLst>
                        <p:cond delay="indefinite"/>
                      </p:stCondLst>
                      <p:childTnLst>
                        <p:par>
                          <p:cTn id="44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4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45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 nodeType="clickEffect">
                      <p:stCondLst>
                        <p:cond delay="indefinite"/>
                      </p:stCondLst>
                      <p:childTnLst>
                        <p:par>
                          <p:cTn id="44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4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5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 nodeType="clickEffect">
                      <p:stCondLst>
                        <p:cond delay="indefinite"/>
                      </p:stCondLst>
                      <p:childTnLst>
                        <p:par>
                          <p:cTn id="45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5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5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Box 2"/>
          <p:cNvSpPr/>
          <p:nvPr/>
        </p:nvSpPr>
        <p:spPr>
          <a:xfrm>
            <a:off x="-48600" y="609480"/>
            <a:ext cx="4074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P38/1.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质点在力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Text Box 3"/>
          <p:cNvSpPr/>
          <p:nvPr/>
        </p:nvSpPr>
        <p:spPr>
          <a:xfrm>
            <a:off x="-39240" y="1219320"/>
            <a:ext cx="9218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t=0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时刻，质点静止于位置坐标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，质点任意时刻的坐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83" name="Object 4"/>
              <p:cNvSpPr txBox="1"/>
              <p:nvPr/>
            </p:nvSpPr>
            <p:spPr>
              <a:xfrm>
                <a:off x="3781440" y="609480"/>
                <a:ext cx="2162160" cy="547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F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F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cos</m:t>
                    </m:r>
                    <m:r>
                      <m:t xml:space="preserve">ωt</m:t>
                    </m:r>
                    <m:r>
                      <m:t xml:space="preserve">i</m:t>
                    </m:r>
                  </m:oMath>
                </a14:m>
              </a:p>
            </p:txBody>
          </p:sp>
        </mc:Choice>
        <mc:Fallback>
          <p:sp>
            <p:nvSpPr>
              <p:cNvPr id="183" name="Object 4"/>
              <p:cNvSpPr txBox="1"/>
              <p:nvPr/>
            </p:nvSpPr>
            <p:spPr>
              <a:xfrm>
                <a:off x="3781440" y="609480"/>
                <a:ext cx="2162160" cy="5479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184" name="Text Box 5"/>
          <p:cNvSpPr/>
          <p:nvPr/>
        </p:nvSpPr>
        <p:spPr>
          <a:xfrm>
            <a:off x="5880960" y="609480"/>
            <a:ext cx="3220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沿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轴方向运动。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Text Box 6"/>
          <p:cNvSpPr/>
          <p:nvPr/>
        </p:nvSpPr>
        <p:spPr>
          <a:xfrm>
            <a:off x="-19440" y="2270160"/>
            <a:ext cx="56973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标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x=______________________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86" name="Object 7"/>
              <p:cNvSpPr txBox="1"/>
              <p:nvPr/>
            </p:nvSpPr>
            <p:spPr>
              <a:xfrm>
                <a:off x="609480" y="3306600"/>
                <a:ext cx="1303560" cy="595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  <m:r>
                      <m:t xml:space="preserve">=</m:t>
                    </m:r>
                    <m:r>
                      <m:t xml:space="preserve">m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a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86" name="Object 7"/>
              <p:cNvSpPr txBox="1"/>
              <p:nvPr/>
            </p:nvSpPr>
            <p:spPr>
              <a:xfrm>
                <a:off x="609480" y="3306600"/>
                <a:ext cx="1303560" cy="5954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87" name="Object 8"/>
              <p:cNvSpPr txBox="1"/>
              <p:nvPr/>
            </p:nvSpPr>
            <p:spPr>
              <a:xfrm>
                <a:off x="2819520" y="3192480"/>
                <a:ext cx="2174760" cy="998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F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</m:num>
                      <m:den>
                        <m:r>
                          <m:t xml:space="preserve">m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cos</m:t>
                    </m:r>
                    <m:r>
                      <m:t xml:space="preserve">ωt</m:t>
                    </m:r>
                  </m:oMath>
                </a14:m>
              </a:p>
            </p:txBody>
          </p:sp>
        </mc:Choice>
        <mc:Fallback>
          <p:sp>
            <p:nvSpPr>
              <p:cNvPr id="187" name="Object 8"/>
              <p:cNvSpPr txBox="1"/>
              <p:nvPr/>
            </p:nvSpPr>
            <p:spPr>
              <a:xfrm>
                <a:off x="2819520" y="3192480"/>
                <a:ext cx="2174760" cy="9986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88" name="Object 9"/>
              <p:cNvSpPr txBox="1"/>
              <p:nvPr/>
            </p:nvSpPr>
            <p:spPr>
              <a:xfrm>
                <a:off x="457200" y="4297320"/>
                <a:ext cx="2322360" cy="1066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F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</m:num>
                      <m:den>
                        <m:r>
                          <m:t xml:space="preserve">mω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sin</m:t>
                    </m:r>
                    <m:r>
                      <m:t xml:space="preserve">ωt</m:t>
                    </m:r>
                  </m:oMath>
                </a14:m>
              </a:p>
            </p:txBody>
          </p:sp>
        </mc:Choice>
        <mc:Fallback>
          <p:sp>
            <p:nvSpPr>
              <p:cNvPr id="188" name="Object 9"/>
              <p:cNvSpPr txBox="1"/>
              <p:nvPr/>
            </p:nvSpPr>
            <p:spPr>
              <a:xfrm>
                <a:off x="457200" y="4297320"/>
                <a:ext cx="2322360" cy="10666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89" name="Object 10"/>
              <p:cNvSpPr txBox="1"/>
              <p:nvPr/>
            </p:nvSpPr>
            <p:spPr>
              <a:xfrm>
                <a:off x="3124080" y="4419720"/>
                <a:ext cx="2465640" cy="960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dx</m:t>
                    </m:r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F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</m:num>
                      <m:den>
                        <m:r>
                          <m:t xml:space="preserve">mω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sin</m:t>
                    </m:r>
                    <m:r>
                      <m:t xml:space="preserve">ω</m:t>
                    </m:r>
                    <m:r>
                      <m:rPr>
                        <m:lit/>
                        <m:nor/>
                      </m:rPr>
                      <m:t xml:space="preserve">tdt</m:t>
                    </m:r>
                  </m:oMath>
                </a14:m>
              </a:p>
            </p:txBody>
          </p:sp>
        </mc:Choice>
        <mc:Fallback>
          <p:sp>
            <p:nvSpPr>
              <p:cNvPr id="189" name="Object 10"/>
              <p:cNvSpPr txBox="1"/>
              <p:nvPr/>
            </p:nvSpPr>
            <p:spPr>
              <a:xfrm>
                <a:off x="3124080" y="4419720"/>
                <a:ext cx="2465640" cy="9604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90" name="Object 11"/>
              <p:cNvSpPr txBox="1"/>
              <p:nvPr/>
            </p:nvSpPr>
            <p:spPr>
              <a:xfrm>
                <a:off x="1676520" y="1676520"/>
                <a:ext cx="3251160" cy="1066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b</m:t>
                    </m:r>
                    <m:r>
                      <m:t xml:space="preserve">+</m:t>
                    </m:r>
                    <m:f>
                      <m:num>
                        <m:sSub>
                          <m:e>
                            <m:r>
                              <m:t xml:space="preserve">F</m:t>
                            </m:r>
                          </m:e>
                          <m:sub>
                            <m:r>
                              <m:t xml:space="preserve">o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m:t xml:space="preserve">mω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den>
                    </m:f>
                    <m:r>
                      <m:t xml:space="preserve">(</m:t>
                    </m:r>
                    <m:r>
                      <m:t xml:space="preserve">1</m:t>
                    </m:r>
                    <m:r>
                      <m:t xml:space="preserve">−</m:t>
                    </m:r>
                    <m:r>
                      <m:rPr>
                        <m:lit/>
                        <m:nor/>
                      </m:rPr>
                      <m:t xml:space="preserve">cos</m:t>
                    </m:r>
                    <m:r>
                      <m:t xml:space="preserve">ωt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190" name="Object 11"/>
              <p:cNvSpPr txBox="1"/>
              <p:nvPr/>
            </p:nvSpPr>
            <p:spPr>
              <a:xfrm>
                <a:off x="1676520" y="1676520"/>
                <a:ext cx="3251160" cy="10666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91" name="Object 12"/>
              <p:cNvSpPr txBox="1"/>
              <p:nvPr/>
            </p:nvSpPr>
            <p:spPr>
              <a:xfrm>
                <a:off x="5638680" y="3179880"/>
                <a:ext cx="3076560" cy="1011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e>
                    </m:nary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f>
                          <m:num>
                            <m:sSub>
                              <m:e>
                                <m:r>
                                  <m:t xml:space="preserve">F</m:t>
                                </m:r>
                              </m:e>
                              <m:sub>
                                <m:r>
                                  <m:t xml:space="preserve">o</m:t>
                                </m:r>
                              </m:sub>
                            </m:sSub>
                          </m:num>
                          <m:den>
                            <m:r>
                              <m:t xml:space="preserve">m</m:t>
                            </m:r>
                          </m:den>
                        </m:f>
                        <m:r>
                          <m:rPr>
                            <m:lit/>
                            <m:nor/>
                          </m:rPr>
                          <m:t xml:space="preserve">cos</m:t>
                        </m:r>
                        <m:r>
                          <m:t xml:space="preserve">ω</m:t>
                        </m:r>
                        <m:r>
                          <m:rPr>
                            <m:lit/>
                            <m:nor/>
                          </m:rPr>
                          <m:t xml:space="preserve">tdt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191" name="Object 12"/>
              <p:cNvSpPr txBox="1"/>
              <p:nvPr/>
            </p:nvSpPr>
            <p:spPr>
              <a:xfrm>
                <a:off x="5638680" y="3179880"/>
                <a:ext cx="3076560" cy="10112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92" name="Object 13"/>
              <p:cNvSpPr txBox="1"/>
              <p:nvPr/>
            </p:nvSpPr>
            <p:spPr>
              <a:xfrm>
                <a:off x="5943600" y="4449600"/>
                <a:ext cx="3068640" cy="960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rPr>
                            <m:lit/>
                            <m:nor/>
                          </m:rPr>
                          <m:t xml:space="preserve">dx</m:t>
                        </m:r>
                      </m:e>
                    </m:nary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f>
                          <m:num>
                            <m:sSub>
                              <m:e>
                                <m:r>
                                  <m:t xml:space="preserve">F</m:t>
                                </m:r>
                              </m:e>
                              <m:sub>
                                <m:r>
                                  <m:t xml:space="preserve">o</m:t>
                                </m:r>
                              </m:sub>
                            </m:sSub>
                          </m:num>
                          <m:den>
                            <m:r>
                              <m:t xml:space="preserve">mω</m:t>
                            </m:r>
                          </m:den>
                        </m:f>
                        <m:r>
                          <m:rPr>
                            <m:lit/>
                            <m:nor/>
                          </m:rPr>
                          <m:t xml:space="preserve">sin</m:t>
                        </m:r>
                        <m:r>
                          <m:t xml:space="preserve">ω</m:t>
                        </m:r>
                        <m:r>
                          <m:rPr>
                            <m:lit/>
                            <m:nor/>
                          </m:rPr>
                          <m:t xml:space="preserve">tdt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192" name="Object 13"/>
              <p:cNvSpPr txBox="1"/>
              <p:nvPr/>
            </p:nvSpPr>
            <p:spPr>
              <a:xfrm>
                <a:off x="5943600" y="4449600"/>
                <a:ext cx="3068640" cy="9604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p:sp>
        <p:nvSpPr>
          <p:cNvPr id="193" name="星形: 五角 15"/>
          <p:cNvSpPr/>
          <p:nvPr/>
        </p:nvSpPr>
        <p:spPr>
          <a:xfrm>
            <a:off x="8277120" y="6165720"/>
            <a:ext cx="433440" cy="40500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6" dur="indefinite" restart="never" nodeType="tmRoot">
          <p:childTnLst>
            <p:seq>
              <p:cTn id="457" dur="indefinite" nodeType="mainSeq">
                <p:childTnLst>
                  <p:par>
                    <p:cTn id="458" fill="hold" nodeType="clickEffect">
                      <p:stCondLst>
                        <p:cond delay="indefinite"/>
                      </p:stCondLst>
                      <p:childTnLst>
                        <p:par>
                          <p:cTn id="45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6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6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 nodeType="clickEffect">
                      <p:stCondLst>
                        <p:cond delay="indefinite"/>
                      </p:stCondLst>
                      <p:childTnLst>
                        <p:par>
                          <p:cTn id="46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6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6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 nodeType="clickEffect">
                      <p:stCondLst>
                        <p:cond delay="indefinite"/>
                      </p:stCondLst>
                      <p:childTnLst>
                        <p:par>
                          <p:cTn id="46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7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72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 nodeType="clickEffect">
                      <p:stCondLst>
                        <p:cond delay="indefinite"/>
                      </p:stCondLst>
                      <p:childTnLst>
                        <p:par>
                          <p:cTn id="47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7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7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8" fill="hold" nodeType="clickEffect">
                      <p:stCondLst>
                        <p:cond delay="indefinite"/>
                      </p:stCondLst>
                      <p:childTnLst>
                        <p:par>
                          <p:cTn id="47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8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82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 nodeType="clickEffect">
                      <p:stCondLst>
                        <p:cond delay="indefinite"/>
                      </p:stCondLst>
                      <p:childTnLst>
                        <p:par>
                          <p:cTn id="48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8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8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 nodeType="clickEffect">
                      <p:stCondLst>
                        <p:cond delay="indefinite"/>
                      </p:stCondLst>
                      <p:childTnLst>
                        <p:par>
                          <p:cTn id="48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9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92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Box 3"/>
          <p:cNvSpPr/>
          <p:nvPr/>
        </p:nvSpPr>
        <p:spPr>
          <a:xfrm>
            <a:off x="-311040" y="365040"/>
            <a:ext cx="97664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P38/2.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的物体沿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轴正方向运动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在坐标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处速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Text Box 4"/>
          <p:cNvSpPr/>
          <p:nvPr/>
        </p:nvSpPr>
        <p:spPr>
          <a:xfrm>
            <a:off x="-99360" y="838080"/>
            <a:ext cx="91188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度大小为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kx(k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为正常数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)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，则此时物体所受力的大小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Text Box 5"/>
          <p:cNvSpPr/>
          <p:nvPr/>
        </p:nvSpPr>
        <p:spPr>
          <a:xfrm>
            <a:off x="-150840" y="1432080"/>
            <a:ext cx="914148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F=_____________________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；物体从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1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运动到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所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Text Box 6"/>
          <p:cNvSpPr/>
          <p:nvPr/>
        </p:nvSpPr>
        <p:spPr>
          <a:xfrm>
            <a:off x="15120" y="2651040"/>
            <a:ext cx="6078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需的时间为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98" name="Object 7"/>
              <p:cNvSpPr txBox="1"/>
              <p:nvPr/>
            </p:nvSpPr>
            <p:spPr>
              <a:xfrm>
                <a:off x="609480" y="4038480"/>
                <a:ext cx="1140120" cy="490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kx</m:t>
                    </m:r>
                  </m:oMath>
                </a14:m>
              </a:p>
            </p:txBody>
          </p:sp>
        </mc:Choice>
        <mc:Fallback>
          <p:sp>
            <p:nvSpPr>
              <p:cNvPr id="198" name="Object 7"/>
              <p:cNvSpPr txBox="1"/>
              <p:nvPr/>
            </p:nvSpPr>
            <p:spPr>
              <a:xfrm>
                <a:off x="609480" y="4038480"/>
                <a:ext cx="1140120" cy="4906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99" name="Object 8"/>
              <p:cNvSpPr txBox="1"/>
              <p:nvPr/>
            </p:nvSpPr>
            <p:spPr>
              <a:xfrm>
                <a:off x="2286000" y="3733920"/>
                <a:ext cx="1206360" cy="1085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  <m:r>
                      <m:t xml:space="preserve">=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99" name="Object 8"/>
              <p:cNvSpPr txBox="1"/>
              <p:nvPr/>
            </p:nvSpPr>
            <p:spPr>
              <a:xfrm>
                <a:off x="2286000" y="3733920"/>
                <a:ext cx="1206360" cy="10857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0" name="Object 9"/>
              <p:cNvSpPr txBox="1"/>
              <p:nvPr/>
            </p:nvSpPr>
            <p:spPr>
              <a:xfrm>
                <a:off x="3489480" y="3733920"/>
                <a:ext cx="1172880" cy="1085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k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dx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00" name="Object 9"/>
              <p:cNvSpPr txBox="1"/>
              <p:nvPr/>
            </p:nvSpPr>
            <p:spPr>
              <a:xfrm>
                <a:off x="3489480" y="3733920"/>
                <a:ext cx="1172880" cy="1085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1" name="Object 10"/>
              <p:cNvSpPr txBox="1"/>
              <p:nvPr/>
            </p:nvSpPr>
            <p:spPr>
              <a:xfrm>
                <a:off x="4632480" y="4030560"/>
                <a:ext cx="814320" cy="490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kv</m:t>
                    </m:r>
                  </m:oMath>
                </a14:m>
              </a:p>
            </p:txBody>
          </p:sp>
        </mc:Choice>
        <mc:Fallback>
          <p:sp>
            <p:nvSpPr>
              <p:cNvPr id="201" name="Object 10"/>
              <p:cNvSpPr txBox="1"/>
              <p:nvPr/>
            </p:nvSpPr>
            <p:spPr>
              <a:xfrm>
                <a:off x="4632480" y="4030560"/>
                <a:ext cx="814320" cy="4906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2" name="Object 11"/>
              <p:cNvSpPr txBox="1"/>
              <p:nvPr/>
            </p:nvSpPr>
            <p:spPr>
              <a:xfrm>
                <a:off x="2428920" y="1371600"/>
                <a:ext cx="1009440" cy="525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mk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x</m:t>
                    </m:r>
                  </m:oMath>
                </a14:m>
              </a:p>
            </p:txBody>
          </p:sp>
        </mc:Choice>
        <mc:Fallback>
          <p:sp>
            <p:nvSpPr>
              <p:cNvPr id="202" name="Object 11"/>
              <p:cNvSpPr txBox="1"/>
              <p:nvPr/>
            </p:nvSpPr>
            <p:spPr>
              <a:xfrm>
                <a:off x="2428920" y="1371600"/>
                <a:ext cx="1009440" cy="525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3" name="Object 13"/>
              <p:cNvSpPr txBox="1"/>
              <p:nvPr/>
            </p:nvSpPr>
            <p:spPr>
              <a:xfrm>
                <a:off x="611280" y="5334120"/>
                <a:ext cx="1141200" cy="490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kx</m:t>
                    </m:r>
                  </m:oMath>
                </a14:m>
              </a:p>
            </p:txBody>
          </p:sp>
        </mc:Choice>
        <mc:Fallback>
          <p:sp>
            <p:nvSpPr>
              <p:cNvPr id="203" name="Object 13"/>
              <p:cNvSpPr txBox="1"/>
              <p:nvPr/>
            </p:nvSpPr>
            <p:spPr>
              <a:xfrm>
                <a:off x="611280" y="5334120"/>
                <a:ext cx="1141200" cy="4903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4" name="Object 14"/>
              <p:cNvSpPr txBox="1"/>
              <p:nvPr/>
            </p:nvSpPr>
            <p:spPr>
              <a:xfrm>
                <a:off x="4114800" y="5086440"/>
                <a:ext cx="1498680" cy="1085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dx</m:t>
                        </m:r>
                      </m:num>
                      <m:den>
                        <m:r>
                          <m:t xml:space="preserve">x</m:t>
                        </m:r>
                      </m:den>
                    </m:f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kdt</m:t>
                    </m:r>
                  </m:oMath>
                </a14:m>
              </a:p>
            </p:txBody>
          </p:sp>
        </mc:Choice>
        <mc:Fallback>
          <p:sp>
            <p:nvSpPr>
              <p:cNvPr id="204" name="Object 14"/>
              <p:cNvSpPr txBox="1"/>
              <p:nvPr/>
            </p:nvSpPr>
            <p:spPr>
              <a:xfrm>
                <a:off x="4114800" y="5086440"/>
                <a:ext cx="1498680" cy="10857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5" name="Object 15"/>
              <p:cNvSpPr txBox="1"/>
              <p:nvPr/>
            </p:nvSpPr>
            <p:spPr>
              <a:xfrm>
                <a:off x="3352680" y="1981080"/>
                <a:ext cx="1270080" cy="1121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k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ln</m:t>
                    </m:r>
                    <m:f>
                      <m:num>
                        <m:sSub>
                          <m:e>
                            <m:r>
                              <m:t xml:space="preserve">x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x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05" name="Object 15"/>
              <p:cNvSpPr txBox="1"/>
              <p:nvPr/>
            </p:nvSpPr>
            <p:spPr>
              <a:xfrm>
                <a:off x="3352680" y="1981080"/>
                <a:ext cx="1270080" cy="11210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6" name="Object 16"/>
              <p:cNvSpPr txBox="1"/>
              <p:nvPr/>
            </p:nvSpPr>
            <p:spPr>
              <a:xfrm>
                <a:off x="5410080" y="3962520"/>
                <a:ext cx="1067040" cy="555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sSup>
                      <m:e>
                        <m:r>
                          <m:t xml:space="preserve">k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x</m:t>
                    </m:r>
                  </m:oMath>
                </a14:m>
              </a:p>
            </p:txBody>
          </p:sp>
        </mc:Choice>
        <mc:Fallback>
          <p:sp>
            <p:nvSpPr>
              <p:cNvPr id="206" name="Object 16"/>
              <p:cNvSpPr txBox="1"/>
              <p:nvPr/>
            </p:nvSpPr>
            <p:spPr>
              <a:xfrm>
                <a:off x="5410080" y="3962520"/>
                <a:ext cx="1067040" cy="5554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7" name="Object 17"/>
              <p:cNvSpPr txBox="1"/>
              <p:nvPr/>
            </p:nvSpPr>
            <p:spPr>
              <a:xfrm>
                <a:off x="6934320" y="3976560"/>
                <a:ext cx="1303200" cy="595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  <m:r>
                      <m:t xml:space="preserve">=</m:t>
                    </m:r>
                    <m:r>
                      <m:t xml:space="preserve">m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a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07" name="Object 17"/>
              <p:cNvSpPr txBox="1"/>
              <p:nvPr/>
            </p:nvSpPr>
            <p:spPr>
              <a:xfrm>
                <a:off x="6934320" y="3976560"/>
                <a:ext cx="1303200" cy="5954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8" name="Object 18"/>
              <p:cNvSpPr txBox="1"/>
              <p:nvPr/>
            </p:nvSpPr>
            <p:spPr>
              <a:xfrm>
                <a:off x="6400800" y="5029200"/>
                <a:ext cx="2313000" cy="1085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f>
                          <m:num>
                            <m:r>
                              <m:rPr>
                                <m:lit/>
                                <m:nor/>
                              </m:rPr>
                              <m:t xml:space="preserve">dx</m:t>
                            </m:r>
                          </m:num>
                          <m:den>
                            <m:r>
                              <m:t xml:space="preserve">x</m:t>
                            </m:r>
                          </m:den>
                        </m:f>
                      </m:e>
                    </m:nary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rPr>
                            <m:lit/>
                            <m:nor/>
                          </m:rPr>
                          <m:t xml:space="preserve">kdt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208" name="Object 18"/>
              <p:cNvSpPr txBox="1"/>
              <p:nvPr/>
            </p:nvSpPr>
            <p:spPr>
              <a:xfrm>
                <a:off x="6400800" y="5029200"/>
                <a:ext cx="2313000" cy="108576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09" name="Object 19"/>
              <p:cNvSpPr txBox="1"/>
              <p:nvPr/>
            </p:nvSpPr>
            <p:spPr>
              <a:xfrm>
                <a:off x="2179800" y="5086440"/>
                <a:ext cx="1401480" cy="1085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dx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den>
                    </m:f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kx</m:t>
                    </m:r>
                  </m:oMath>
                </a14:m>
              </a:p>
            </p:txBody>
          </p:sp>
        </mc:Choice>
        <mc:Fallback>
          <p:sp>
            <p:nvSpPr>
              <p:cNvPr id="209" name="Object 19"/>
              <p:cNvSpPr txBox="1"/>
              <p:nvPr/>
            </p:nvSpPr>
            <p:spPr>
              <a:xfrm>
                <a:off x="2179800" y="5086440"/>
                <a:ext cx="1401480" cy="108576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</p:sp>
        </mc:Fallback>
      </mc:AlternateContent>
      <p:sp>
        <p:nvSpPr>
          <p:cNvPr id="210" name="星形: 五角 19"/>
          <p:cNvSpPr/>
          <p:nvPr/>
        </p:nvSpPr>
        <p:spPr>
          <a:xfrm>
            <a:off x="8277120" y="6165720"/>
            <a:ext cx="433440" cy="40500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3" dur="indefinite" restart="never" nodeType="tmRoot">
          <p:childTnLst>
            <p:seq>
              <p:cTn id="494" dur="indefinite" nodeType="mainSeq">
                <p:childTnLst>
                  <p:par>
                    <p:cTn id="495" fill="hold" nodeType="clickEffect">
                      <p:stCondLst>
                        <p:cond delay="indefinite"/>
                      </p:stCondLst>
                      <p:childTnLst>
                        <p:par>
                          <p:cTn id="49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9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9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0" fill="hold" nodeType="clickEffect">
                      <p:stCondLst>
                        <p:cond delay="indefinite"/>
                      </p:stCondLst>
                      <p:childTnLst>
                        <p:par>
                          <p:cTn id="50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0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04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5" fill="hold" nodeType="clickEffect">
                      <p:stCondLst>
                        <p:cond delay="indefinite"/>
                      </p:stCondLst>
                      <p:childTnLst>
                        <p:par>
                          <p:cTn id="50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0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09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0" fill="hold" nodeType="clickEffect">
                      <p:stCondLst>
                        <p:cond delay="indefinite"/>
                      </p:stCondLst>
                      <p:childTnLst>
                        <p:par>
                          <p:cTn id="51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1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1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fill="hold" nodeType="clickEffect">
                      <p:stCondLst>
                        <p:cond delay="indefinite"/>
                      </p:stCondLst>
                      <p:childTnLst>
                        <p:par>
                          <p:cTn id="5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1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1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0" fill="hold" nodeType="clickEffect">
                      <p:stCondLst>
                        <p:cond delay="indefinite"/>
                      </p:stCondLst>
                      <p:childTnLst>
                        <p:par>
                          <p:cTn id="52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2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24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 nodeType="clickEffect">
                      <p:stCondLst>
                        <p:cond delay="indefinite"/>
                      </p:stCondLst>
                      <p:childTnLst>
                        <p:par>
                          <p:cTn id="52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2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2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0" fill="hold" nodeType="clickEffect">
                      <p:stCondLst>
                        <p:cond delay="indefinite"/>
                      </p:stCondLst>
                      <p:childTnLst>
                        <p:par>
                          <p:cTn id="53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3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34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fill="hold" nodeType="clickEffect">
                      <p:stCondLst>
                        <p:cond delay="indefinite"/>
                      </p:stCondLst>
                      <p:childTnLst>
                        <p:par>
                          <p:cTn id="53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3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3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0" fill="hold" nodeType="clickEffect">
                      <p:stCondLst>
                        <p:cond delay="indefinite"/>
                      </p:stCondLst>
                      <p:childTnLst>
                        <p:par>
                          <p:cTn id="54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4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4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5" fill="hold" nodeType="clickEffect">
                      <p:stCondLst>
                        <p:cond delay="indefinite"/>
                      </p:stCondLst>
                      <p:childTnLst>
                        <p:par>
                          <p:cTn id="54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4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49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 nodeType="clickEffect">
                      <p:stCondLst>
                        <p:cond delay="indefinite"/>
                      </p:stCondLst>
                      <p:childTnLst>
                        <p:par>
                          <p:cTn id="55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5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54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Box 16"/>
          <p:cNvSpPr/>
          <p:nvPr/>
        </p:nvSpPr>
        <p:spPr>
          <a:xfrm>
            <a:off x="-527040" y="1981080"/>
            <a:ext cx="101430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P38/5.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F=-6x</a:t>
            </a:r>
            <a:r>
              <a:rPr lang="en-US" sz="3000" b="1" u="none" strike="noStrike" baseline="30000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力作用下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式中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以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计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,F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以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N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计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),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Text Box 17"/>
          <p:cNvSpPr/>
          <p:nvPr/>
        </p:nvSpPr>
        <p:spPr>
          <a:xfrm>
            <a:off x="-265320" y="2498760"/>
            <a:ext cx="96750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则质点从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x=1m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沿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轴运动到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x=2m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时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该力对质点所作功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Text Box 18"/>
          <p:cNvSpPr/>
          <p:nvPr/>
        </p:nvSpPr>
        <p:spPr>
          <a:xfrm>
            <a:off x="95040" y="3048120"/>
            <a:ext cx="39866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_________________ 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14" name="Object 19"/>
              <p:cNvSpPr txBox="1"/>
              <p:nvPr/>
            </p:nvSpPr>
            <p:spPr>
              <a:xfrm>
                <a:off x="609480" y="3664080"/>
                <a:ext cx="1752840" cy="761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F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r</m:t>
                            </m:r>
                          </m:e>
                        </m:acc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214" name="Object 19"/>
              <p:cNvSpPr txBox="1"/>
              <p:nvPr/>
            </p:nvSpPr>
            <p:spPr>
              <a:xfrm>
                <a:off x="609480" y="3664080"/>
                <a:ext cx="1752840" cy="7617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15" name="Object 20"/>
              <p:cNvSpPr txBox="1"/>
              <p:nvPr/>
            </p:nvSpPr>
            <p:spPr>
              <a:xfrm>
                <a:off x="2371680" y="3595680"/>
                <a:ext cx="2190960" cy="900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(</m:t>
                        </m:r>
                        <m:r>
                          <m:t xml:space="preserve">−</m:t>
                        </m:r>
                        <m:r>
                          <m:t xml:space="preserve">6</m:t>
                        </m:r>
                        <m:sSup>
                          <m:e>
                            <m:r>
                              <m:t xml:space="preserve">x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r>
                          <m:t xml:space="preserve">)</m:t>
                        </m:r>
                        <m:r>
                          <m:rPr>
                            <m:lit/>
                            <m:nor/>
                          </m:rPr>
                          <m:t xml:space="preserve">dx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215" name="Object 20"/>
              <p:cNvSpPr txBox="1"/>
              <p:nvPr/>
            </p:nvSpPr>
            <p:spPr>
              <a:xfrm>
                <a:off x="2371680" y="3595680"/>
                <a:ext cx="2190960" cy="90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216" name="Text Box 21"/>
          <p:cNvSpPr/>
          <p:nvPr/>
        </p:nvSpPr>
        <p:spPr>
          <a:xfrm>
            <a:off x="1146960" y="2971800"/>
            <a:ext cx="879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-</a:t>
            </a: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14J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5" dur="indefinite" restart="never" nodeType="tmRoot">
          <p:childTnLst>
            <p:seq>
              <p:cTn id="556" dur="indefinite" nodeType="mainSeq">
                <p:childTnLst>
                  <p:par>
                    <p:cTn id="557" fill="hold" nodeType="clickEffect">
                      <p:stCondLst>
                        <p:cond delay="indefinite"/>
                      </p:stCondLst>
                      <p:childTnLst>
                        <p:par>
                          <p:cTn id="55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5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6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2" fill="hold" nodeType="clickEffect">
                      <p:stCondLst>
                        <p:cond delay="indefinite"/>
                      </p:stCondLst>
                      <p:childTnLst>
                        <p:par>
                          <p:cTn id="56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6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66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7" fill="hold" nodeType="clickEffect">
                      <p:stCondLst>
                        <p:cond delay="indefinite"/>
                      </p:stCondLst>
                      <p:childTnLst>
                        <p:par>
                          <p:cTn id="56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6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7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Box 3"/>
          <p:cNvSpPr/>
          <p:nvPr/>
        </p:nvSpPr>
        <p:spPr>
          <a:xfrm>
            <a:off x="-133920" y="76320"/>
            <a:ext cx="7115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P38/6.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倔强系数为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k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的轻质弹簧下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Freeform 4"/>
          <p:cNvSpPr/>
          <p:nvPr/>
        </p:nvSpPr>
        <p:spPr>
          <a:xfrm rot="16200000">
            <a:off x="7657920" y="1257120"/>
            <a:ext cx="838080" cy="304920"/>
          </a:xfrm>
          <a:custGeom>
            <a:avLst/>
            <a:gdLst>
              <a:gd name="GluePoint1X" fmla="*/ 0 w 2592"/>
              <a:gd name="GluePoint1Y" fmla="*/ 152400 h 480"/>
              <a:gd name="GluePoint2X" fmla="*/ 108656 w 2592"/>
              <a:gd name="GluePoint2Y" fmla="*/ 152400 h 480"/>
              <a:gd name="GluePoint3X" fmla="*/ 186267 w 2592"/>
              <a:gd name="GluePoint3Y" fmla="*/ 0 h 480"/>
              <a:gd name="GluePoint4X" fmla="*/ 341489 w 2592"/>
              <a:gd name="GluePoint4Y" fmla="*/ 304800 h 480"/>
              <a:gd name="GluePoint5X" fmla="*/ 496711 w 2592"/>
              <a:gd name="GluePoint5Y" fmla="*/ 0 h 480"/>
              <a:gd name="GluePoint6X" fmla="*/ 651933 w 2592"/>
              <a:gd name="GluePoint6Y" fmla="*/ 304800 h 480"/>
              <a:gd name="GluePoint7X" fmla="*/ 729544 w 2592"/>
              <a:gd name="GluePoint7Y" fmla="*/ 152400 h 480"/>
              <a:gd name="GluePoint8X" fmla="*/ 838200 w 2592"/>
              <a:gd name="GluePoint8Y" fmla="*/ 152400 h 48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l" t="t" r="r" b="b"/>
            <a:pathLst>
              <a:path w="2592" h="480">
                <a:moveTo>
                  <a:pt x="0" y="240"/>
                </a:moveTo>
                <a:lnTo>
                  <a:pt x="336" y="240"/>
                </a:lnTo>
                <a:lnTo>
                  <a:pt x="576" y="0"/>
                </a:lnTo>
                <a:lnTo>
                  <a:pt x="1056" y="480"/>
                </a:lnTo>
                <a:lnTo>
                  <a:pt x="1536" y="0"/>
                </a:lnTo>
                <a:lnTo>
                  <a:pt x="2016" y="480"/>
                </a:lnTo>
                <a:lnTo>
                  <a:pt x="2256" y="240"/>
                </a:lnTo>
                <a:lnTo>
                  <a:pt x="2592" y="240"/>
                </a:lnTo>
              </a:path>
            </a:pathLst>
          </a:custGeom>
          <a:noFill/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Rectangle 5"/>
          <p:cNvSpPr/>
          <p:nvPr/>
        </p:nvSpPr>
        <p:spPr>
          <a:xfrm>
            <a:off x="7162920" y="2209680"/>
            <a:ext cx="1752480" cy="228600"/>
          </a:xfrm>
          <a:prstGeom prst="rect">
            <a:avLst/>
          </a:prstGeom>
          <a:blipFill rotWithShape="0">
            <a:blip r:embed="rId1"/>
            <a:srcRect/>
            <a:tile tx="0" ty="0" sx="100000" sy="100000" algn="ctr"/>
          </a:blip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Oval 6"/>
          <p:cNvSpPr/>
          <p:nvPr/>
        </p:nvSpPr>
        <p:spPr>
          <a:xfrm>
            <a:off x="7848720" y="1828800"/>
            <a:ext cx="380880" cy="38088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00CC99"/>
              </a:gs>
            </a:gsLst>
            <a:path path="rect">
              <a:fillToRect l="50000" t="50000" r="50000" b="50000"/>
            </a:path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Line 7"/>
          <p:cNvSpPr/>
          <p:nvPr/>
        </p:nvSpPr>
        <p:spPr>
          <a:xfrm flipV="1">
            <a:off x="8077320" y="304560"/>
            <a:ext cx="0" cy="68580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Text Box 8"/>
          <p:cNvSpPr/>
          <p:nvPr/>
        </p:nvSpPr>
        <p:spPr>
          <a:xfrm>
            <a:off x="7639920" y="152280"/>
            <a:ext cx="3582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74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F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Text Box 9"/>
          <p:cNvSpPr/>
          <p:nvPr/>
        </p:nvSpPr>
        <p:spPr>
          <a:xfrm>
            <a:off x="-90360" y="593640"/>
            <a:ext cx="70232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挂质量为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的球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现使弹簧为原长而球与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Text Box 10"/>
          <p:cNvSpPr/>
          <p:nvPr/>
        </p:nvSpPr>
        <p:spPr>
          <a:xfrm>
            <a:off x="-95400" y="1066680"/>
            <a:ext cx="70232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地接触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簧上端在外力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F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作用下慢慢被提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Text Box 11"/>
          <p:cNvSpPr/>
          <p:nvPr/>
        </p:nvSpPr>
        <p:spPr>
          <a:xfrm>
            <a:off x="-90360" y="1600200"/>
            <a:ext cx="70232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起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直到球刚脱离地面为止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此过程中外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Text Box 12"/>
          <p:cNvSpPr/>
          <p:nvPr/>
        </p:nvSpPr>
        <p:spPr>
          <a:xfrm>
            <a:off x="-89640" y="2057400"/>
            <a:ext cx="51181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力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F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作功为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27" name="Object 13"/>
              <p:cNvSpPr txBox="1"/>
              <p:nvPr/>
            </p:nvSpPr>
            <p:spPr>
              <a:xfrm>
                <a:off x="5257800" y="3824280"/>
                <a:ext cx="488880" cy="595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x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227" name="Object 13"/>
              <p:cNvSpPr txBox="1"/>
              <p:nvPr/>
            </p:nvSpPr>
            <p:spPr>
              <a:xfrm>
                <a:off x="5257800" y="3824280"/>
                <a:ext cx="488880" cy="5954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28" name="Object 14"/>
              <p:cNvSpPr txBox="1"/>
              <p:nvPr/>
            </p:nvSpPr>
            <p:spPr>
              <a:xfrm>
                <a:off x="533520" y="5181480"/>
                <a:ext cx="1752480" cy="762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F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r</m:t>
                            </m:r>
                          </m:e>
                        </m:acc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228" name="Object 14"/>
              <p:cNvSpPr txBox="1"/>
              <p:nvPr/>
            </p:nvSpPr>
            <p:spPr>
              <a:xfrm>
                <a:off x="533520" y="5181480"/>
                <a:ext cx="1752480" cy="762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29" name="Object 15"/>
              <p:cNvSpPr txBox="1"/>
              <p:nvPr/>
            </p:nvSpPr>
            <p:spPr>
              <a:xfrm>
                <a:off x="2362320" y="5167440"/>
                <a:ext cx="1117440" cy="680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rPr>
                            <m:lit/>
                            <m:nor/>
                          </m:rPr>
                          <m:t xml:space="preserve">Fdx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229" name="Object 15"/>
              <p:cNvSpPr txBox="1"/>
              <p:nvPr/>
            </p:nvSpPr>
            <p:spPr>
              <a:xfrm>
                <a:off x="2362320" y="5167440"/>
                <a:ext cx="1117440" cy="680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30" name="Object 16"/>
              <p:cNvSpPr txBox="1"/>
              <p:nvPr/>
            </p:nvSpPr>
            <p:spPr>
              <a:xfrm>
                <a:off x="3124080" y="1981080"/>
                <a:ext cx="1041480" cy="1155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sSup>
                          <m:e>
                            <m:r>
                              <m:t xml:space="preserve">m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sSup>
                          <m:e>
                            <m:r>
                              <m:t xml:space="preserve">g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num>
                      <m:den>
                        <m:r>
                          <m:t xml:space="preserve">2</m:t>
                        </m:r>
                        <m:r>
                          <m:t xml:space="preserve">k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30" name="Object 16"/>
              <p:cNvSpPr txBox="1"/>
              <p:nvPr/>
            </p:nvSpPr>
            <p:spPr>
              <a:xfrm>
                <a:off x="3124080" y="1981080"/>
                <a:ext cx="1041480" cy="11559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231" name="Text Box 17"/>
          <p:cNvSpPr/>
          <p:nvPr/>
        </p:nvSpPr>
        <p:spPr>
          <a:xfrm>
            <a:off x="387360" y="3200400"/>
            <a:ext cx="2466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球刚脱离地面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32" name="Object 18"/>
              <p:cNvSpPr txBox="1"/>
              <p:nvPr/>
            </p:nvSpPr>
            <p:spPr>
              <a:xfrm>
                <a:off x="3429000" y="3276720"/>
                <a:ext cx="1270080" cy="560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F</m:t>
                    </m:r>
                    <m:r>
                      <m:t xml:space="preserve">=</m:t>
                    </m:r>
                    <m:r>
                      <m:t xml:space="preserve">mg</m:t>
                    </m:r>
                  </m:oMath>
                </a14:m>
              </a:p>
            </p:txBody>
          </p:sp>
        </mc:Choice>
        <mc:Fallback>
          <p:sp>
            <p:nvSpPr>
              <p:cNvPr id="232" name="Object 18"/>
              <p:cNvSpPr txBox="1"/>
              <p:nvPr/>
            </p:nvSpPr>
            <p:spPr>
              <a:xfrm>
                <a:off x="3429000" y="3276720"/>
                <a:ext cx="1270080" cy="5601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233" name="Text Box 19"/>
          <p:cNvSpPr/>
          <p:nvPr/>
        </p:nvSpPr>
        <p:spPr>
          <a:xfrm>
            <a:off x="301680" y="3809880"/>
            <a:ext cx="51256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设</a:t>
            </a:r>
            <a:r>
              <a:rPr lang="zh-CN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球刚脱离地面时</a:t>
            </a:r>
            <a:r>
              <a:rPr lang="en-US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弹簧伸长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34" name="Object 20"/>
              <p:cNvSpPr txBox="1"/>
              <p:nvPr/>
            </p:nvSpPr>
            <p:spPr>
              <a:xfrm>
                <a:off x="762120" y="4419720"/>
                <a:ext cx="1596960" cy="595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mg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kx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234" name="Object 20"/>
              <p:cNvSpPr txBox="1"/>
              <p:nvPr/>
            </p:nvSpPr>
            <p:spPr>
              <a:xfrm>
                <a:off x="762120" y="4419720"/>
                <a:ext cx="1596960" cy="5950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35" name="Object 21"/>
              <p:cNvSpPr txBox="1"/>
              <p:nvPr/>
            </p:nvSpPr>
            <p:spPr>
              <a:xfrm>
                <a:off x="3581280" y="5105520"/>
                <a:ext cx="1490760" cy="804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rPr>
                            <m:lit/>
                            <m:nor/>
                          </m:rPr>
                          <m:t xml:space="preserve">kxdx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235" name="Object 21"/>
              <p:cNvSpPr txBox="1"/>
              <p:nvPr/>
            </p:nvSpPr>
            <p:spPr>
              <a:xfrm>
                <a:off x="3581280" y="5105520"/>
                <a:ext cx="1490760" cy="8046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p:sp>
        <p:nvSpPr>
          <p:cNvPr id="236" name="星形: 五角 22"/>
          <p:cNvSpPr/>
          <p:nvPr/>
        </p:nvSpPr>
        <p:spPr>
          <a:xfrm>
            <a:off x="8277120" y="6165720"/>
            <a:ext cx="433440" cy="40500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2" dur="indefinite" restart="never" nodeType="tmRoot">
          <p:childTnLst>
            <p:seq>
              <p:cTn id="573" dur="indefinite" nodeType="mainSeq">
                <p:childTnLst>
                  <p:par>
                    <p:cTn id="574" fill="hold" nodeType="clickEffect">
                      <p:stCondLst>
                        <p:cond delay="indefinite"/>
                      </p:stCondLst>
                      <p:childTnLst>
                        <p:par>
                          <p:cTn id="57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7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7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9" fill="hold" nodeType="clickEffect">
                      <p:stCondLst>
                        <p:cond delay="indefinite"/>
                      </p:stCondLst>
                      <p:childTnLst>
                        <p:par>
                          <p:cTn id="58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8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83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4" fill="hold" nodeType="clickEffect">
                      <p:stCondLst>
                        <p:cond delay="indefinite"/>
                      </p:stCondLst>
                      <p:childTnLst>
                        <p:par>
                          <p:cTn id="58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8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88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9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590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92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fill="hold" nodeType="clickEffect">
                      <p:stCondLst>
                        <p:cond delay="indefinite"/>
                      </p:stCondLst>
                      <p:childTnLst>
                        <p:par>
                          <p:cTn id="59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9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59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8" fill="hold" nodeType="clickEffect">
                      <p:stCondLst>
                        <p:cond delay="indefinite"/>
                      </p:stCondLst>
                      <p:childTnLst>
                        <p:par>
                          <p:cTn id="59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0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0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fill="hold" nodeType="clickEffect">
                      <p:stCondLst>
                        <p:cond delay="indefinite"/>
                      </p:stCondLst>
                      <p:childTnLst>
                        <p:par>
                          <p:cTn id="60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0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0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8" fill="hold" nodeType="clickEffect">
                      <p:stCondLst>
                        <p:cond delay="indefinite"/>
                      </p:stCondLst>
                      <p:childTnLst>
                        <p:par>
                          <p:cTn id="60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1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1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 nodeType="clickEffect">
                      <p:stCondLst>
                        <p:cond delay="indefinite"/>
                      </p:stCondLst>
                      <p:childTnLst>
                        <p:par>
                          <p:cTn id="6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1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1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Arc 44"/>
          <p:cNvSpPr/>
          <p:nvPr/>
        </p:nvSpPr>
        <p:spPr>
          <a:xfrm>
            <a:off x="7162920" y="838080"/>
            <a:ext cx="1828800" cy="1828800"/>
          </a:xfrm>
          <a:custGeom>
            <a:avLst/>
            <a:gdLst>
              <a:gd name="GluePoint1X" fmla="*/ 1807972 w 21600"/>
              <a:gd name="GluePoint1Y" fmla="*/ 1828800 h 22022"/>
              <a:gd name="GluePoint2X" fmla="*/ 339 w 21600"/>
              <a:gd name="GluePoint2Y" fmla="*/ 0 h 22022"/>
              <a:gd name="GluePoint3X" fmla="*/ 1828800 w 21600"/>
              <a:gd name="GluePoint3Y" fmla="*/ 35128 h 220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2022">
                <a:moveTo>
                  <a:pt x="21354" y="22021"/>
                </a:moveTo>
                <a:cubicBezTo>
                  <a:pt x="9521" y="21886"/>
                  <a:pt x="0" y="12256"/>
                  <a:pt x="0" y="423"/>
                </a:cubicBezTo>
                <a:cubicBezTo>
                  <a:pt x="0" y="281"/>
                  <a:pt x="1" y="140"/>
                  <a:pt x="4" y="0"/>
                </a:cubicBezTo>
              </a:path>
              <a:path stroke="0" w="21600" h="22022">
                <a:moveTo>
                  <a:pt x="21354" y="22021"/>
                </a:moveTo>
                <a:cubicBezTo>
                  <a:pt x="9521" y="21886"/>
                  <a:pt x="0" y="12256"/>
                  <a:pt x="0" y="423"/>
                </a:cubicBezTo>
                <a:cubicBezTo>
                  <a:pt x="0" y="281"/>
                  <a:pt x="1" y="140"/>
                  <a:pt x="4" y="0"/>
                </a:cubicBezTo>
                <a:lnTo>
                  <a:pt x="21600" y="423"/>
                </a:lnTo>
                <a:lnTo>
                  <a:pt x="21354" y="22021"/>
                </a:lnTo>
                <a:close/>
              </a:path>
            </a:pathLst>
          </a:custGeom>
          <a:noFill/>
          <a:ln w="763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Line 45"/>
          <p:cNvSpPr/>
          <p:nvPr/>
        </p:nvSpPr>
        <p:spPr>
          <a:xfrm>
            <a:off x="7162920" y="838080"/>
            <a:ext cx="1828800" cy="0"/>
          </a:xfrm>
          <a:prstGeom prst="line">
            <a:avLst/>
          </a:prstGeom>
          <a:ln w="2844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Line 46"/>
          <p:cNvSpPr/>
          <p:nvPr/>
        </p:nvSpPr>
        <p:spPr>
          <a:xfrm flipV="1">
            <a:off x="8991720" y="838080"/>
            <a:ext cx="0" cy="1828800"/>
          </a:xfrm>
          <a:prstGeom prst="line">
            <a:avLst/>
          </a:prstGeom>
          <a:ln w="2844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40" name="Object 47"/>
              <p:cNvSpPr txBox="1"/>
              <p:nvPr/>
            </p:nvSpPr>
            <p:spPr>
              <a:xfrm>
                <a:off x="7696080" y="914400"/>
                <a:ext cx="250920" cy="255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R</m:t>
                    </m:r>
                  </m:oMath>
                </a14:m>
              </a:p>
            </p:txBody>
          </p:sp>
        </mc:Choice>
        <mc:Fallback>
          <p:sp>
            <p:nvSpPr>
              <p:cNvPr id="240" name="Object 47"/>
              <p:cNvSpPr txBox="1"/>
              <p:nvPr/>
            </p:nvSpPr>
            <p:spPr>
              <a:xfrm>
                <a:off x="7696080" y="914400"/>
                <a:ext cx="250920" cy="25560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241" name="Text Box 48"/>
          <p:cNvSpPr/>
          <p:nvPr/>
        </p:nvSpPr>
        <p:spPr>
          <a:xfrm>
            <a:off x="-314640" y="762120"/>
            <a:ext cx="7481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P38/7.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如图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,AB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是一个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1/4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圆弧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2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千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42" name="Object 49"/>
              <p:cNvSpPr txBox="1"/>
              <p:nvPr/>
            </p:nvSpPr>
            <p:spPr>
              <a:xfrm>
                <a:off x="6858000" y="838080"/>
                <a:ext cx="250920" cy="255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</m:oMath>
                </a14:m>
              </a:p>
            </p:txBody>
          </p:sp>
        </mc:Choice>
        <mc:Fallback>
          <p:sp>
            <p:nvSpPr>
              <p:cNvPr id="242" name="Object 49"/>
              <p:cNvSpPr txBox="1"/>
              <p:nvPr/>
            </p:nvSpPr>
            <p:spPr>
              <a:xfrm>
                <a:off x="6858000" y="838080"/>
                <a:ext cx="250920" cy="255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43" name="Object 50"/>
              <p:cNvSpPr txBox="1"/>
              <p:nvPr/>
            </p:nvSpPr>
            <p:spPr>
              <a:xfrm>
                <a:off x="8759880" y="2666880"/>
                <a:ext cx="231840" cy="255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B</m:t>
                    </m:r>
                  </m:oMath>
                </a14:m>
              </a:p>
            </p:txBody>
          </p:sp>
        </mc:Choice>
        <mc:Fallback>
          <p:sp>
            <p:nvSpPr>
              <p:cNvPr id="243" name="Object 50"/>
              <p:cNvSpPr txBox="1"/>
              <p:nvPr/>
            </p:nvSpPr>
            <p:spPr>
              <a:xfrm>
                <a:off x="8759880" y="2666880"/>
                <a:ext cx="231840" cy="255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244" name="Text Box 51"/>
          <p:cNvSpPr/>
          <p:nvPr/>
        </p:nvSpPr>
        <p:spPr>
          <a:xfrm>
            <a:off x="-264600" y="1203480"/>
            <a:ext cx="73890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克物体静止于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处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开始滑动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到达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位置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Text Box 52"/>
          <p:cNvSpPr/>
          <p:nvPr/>
        </p:nvSpPr>
        <p:spPr>
          <a:xfrm>
            <a:off x="-81000" y="1660680"/>
            <a:ext cx="70232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的速度大小为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6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米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/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秒，已知圆弧的半径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Text Box 53"/>
          <p:cNvSpPr/>
          <p:nvPr/>
        </p:nvSpPr>
        <p:spPr>
          <a:xfrm>
            <a:off x="-181080" y="2057400"/>
            <a:ext cx="73965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4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米，则物体从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到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过程中摩擦力对它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Text Box 54"/>
          <p:cNvSpPr/>
          <p:nvPr/>
        </p:nvSpPr>
        <p:spPr>
          <a:xfrm>
            <a:off x="5760" y="2514600"/>
            <a:ext cx="6459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所作功的大小为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Oval 55"/>
          <p:cNvSpPr/>
          <p:nvPr/>
        </p:nvSpPr>
        <p:spPr>
          <a:xfrm>
            <a:off x="8763120" y="2438280"/>
            <a:ext cx="228600" cy="228600"/>
          </a:xfrm>
          <a:prstGeom prst="ellipse">
            <a:avLst/>
          </a:prstGeom>
          <a:solidFill>
            <a:srgbClr val="00CC99"/>
          </a:solidFill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49" name="Object 56"/>
              <p:cNvSpPr txBox="1"/>
              <p:nvPr/>
            </p:nvSpPr>
            <p:spPr>
              <a:xfrm>
                <a:off x="304920" y="4705200"/>
                <a:ext cx="3030480" cy="1086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f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mv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−</m:t>
                    </m:r>
                    <m:r>
                      <m:rPr>
                        <m:lit/>
                        <m:nor/>
                      </m:rPr>
                      <m:t xml:space="preserve">mgh</m:t>
                    </m:r>
                  </m:oMath>
                </a14:m>
              </a:p>
            </p:txBody>
          </p:sp>
        </mc:Choice>
        <mc:Fallback>
          <p:sp>
            <p:nvSpPr>
              <p:cNvPr id="249" name="Object 56"/>
              <p:cNvSpPr txBox="1"/>
              <p:nvPr/>
            </p:nvSpPr>
            <p:spPr>
              <a:xfrm>
                <a:off x="304920" y="4705200"/>
                <a:ext cx="3030480" cy="1086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50" name="Object 57"/>
              <p:cNvSpPr txBox="1"/>
              <p:nvPr/>
            </p:nvSpPr>
            <p:spPr>
              <a:xfrm>
                <a:off x="3276720" y="4724280"/>
                <a:ext cx="3682800" cy="1086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×</m:t>
                    </m:r>
                    <m:r>
                      <m:t xml:space="preserve">2</m:t>
                    </m:r>
                    <m:r>
                      <m:t xml:space="preserve">×</m:t>
                    </m:r>
                    <m:sSup>
                      <m:e>
                        <m:r>
                          <m:t xml:space="preserve">6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−</m:t>
                    </m:r>
                    <m:r>
                      <m:t xml:space="preserve">2</m:t>
                    </m:r>
                    <m:r>
                      <m:t xml:space="preserve">×</m:t>
                    </m:r>
                    <m:r>
                      <m:t xml:space="preserve">9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  <m:r>
                      <m:t xml:space="preserve">8</m:t>
                    </m:r>
                    <m:r>
                      <m:t xml:space="preserve">×</m:t>
                    </m:r>
                    <m:r>
                      <m:t xml:space="preserve">4</m:t>
                    </m:r>
                  </m:oMath>
                </a14:m>
              </a:p>
            </p:txBody>
          </p:sp>
        </mc:Choice>
        <mc:Fallback>
          <p:sp>
            <p:nvSpPr>
              <p:cNvPr id="250" name="Object 57"/>
              <p:cNvSpPr txBox="1"/>
              <p:nvPr/>
            </p:nvSpPr>
            <p:spPr>
              <a:xfrm>
                <a:off x="3276720" y="4724280"/>
                <a:ext cx="3682800" cy="10861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251" name="Rectangle 58"/>
          <p:cNvSpPr/>
          <p:nvPr/>
        </p:nvSpPr>
        <p:spPr>
          <a:xfrm>
            <a:off x="3610800" y="2514600"/>
            <a:ext cx="12600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-</a:t>
            </a: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42.4J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Oval 59"/>
          <p:cNvSpPr/>
          <p:nvPr/>
        </p:nvSpPr>
        <p:spPr>
          <a:xfrm>
            <a:off x="7162920" y="838080"/>
            <a:ext cx="228600" cy="228600"/>
          </a:xfrm>
          <a:prstGeom prst="ellipse">
            <a:avLst/>
          </a:prstGeom>
          <a:solidFill>
            <a:srgbClr val="00CC99"/>
          </a:solidFill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Oval 60"/>
          <p:cNvSpPr/>
          <p:nvPr/>
        </p:nvSpPr>
        <p:spPr>
          <a:xfrm>
            <a:off x="7658280" y="1955880"/>
            <a:ext cx="228600" cy="228600"/>
          </a:xfrm>
          <a:prstGeom prst="ellipse">
            <a:avLst/>
          </a:prstGeom>
          <a:solidFill>
            <a:srgbClr val="00CC99"/>
          </a:solidFill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Line 61"/>
          <p:cNvSpPr/>
          <p:nvPr/>
        </p:nvSpPr>
        <p:spPr>
          <a:xfrm>
            <a:off x="7772400" y="2057400"/>
            <a:ext cx="0" cy="91440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55" name="Object 62"/>
              <p:cNvSpPr txBox="1"/>
              <p:nvPr/>
            </p:nvSpPr>
            <p:spPr>
              <a:xfrm>
                <a:off x="7848720" y="2743200"/>
                <a:ext cx="684000" cy="560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m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g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55" name="Object 62"/>
              <p:cNvSpPr txBox="1"/>
              <p:nvPr/>
            </p:nvSpPr>
            <p:spPr>
              <a:xfrm>
                <a:off x="7848720" y="2743200"/>
                <a:ext cx="684000" cy="560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256" name="Line 63"/>
          <p:cNvSpPr/>
          <p:nvPr/>
        </p:nvSpPr>
        <p:spPr>
          <a:xfrm flipV="1">
            <a:off x="7772400" y="1523880"/>
            <a:ext cx="609480" cy="53352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Line 64"/>
          <p:cNvSpPr/>
          <p:nvPr/>
        </p:nvSpPr>
        <p:spPr>
          <a:xfrm flipH="1" flipV="1">
            <a:off x="7391520" y="1447560"/>
            <a:ext cx="380880" cy="60948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58" name="Object 65"/>
              <p:cNvSpPr txBox="1"/>
              <p:nvPr/>
            </p:nvSpPr>
            <p:spPr>
              <a:xfrm>
                <a:off x="8381880" y="1219320"/>
                <a:ext cx="424080" cy="595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N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58" name="Object 65"/>
              <p:cNvSpPr txBox="1"/>
              <p:nvPr/>
            </p:nvSpPr>
            <p:spPr>
              <a:xfrm>
                <a:off x="8381880" y="1219320"/>
                <a:ext cx="424080" cy="5950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59" name="Object 66"/>
              <p:cNvSpPr txBox="1"/>
              <p:nvPr/>
            </p:nvSpPr>
            <p:spPr>
              <a:xfrm>
                <a:off x="7554960" y="1039680"/>
                <a:ext cx="293760" cy="560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59" name="Object 66"/>
              <p:cNvSpPr txBox="1"/>
              <p:nvPr/>
            </p:nvSpPr>
            <p:spPr>
              <a:xfrm>
                <a:off x="7554960" y="1039680"/>
                <a:ext cx="293760" cy="560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60" name="Object 67"/>
              <p:cNvSpPr txBox="1"/>
              <p:nvPr/>
            </p:nvSpPr>
            <p:spPr>
              <a:xfrm>
                <a:off x="2286000" y="3352680"/>
                <a:ext cx="3233880" cy="642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外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非保内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ΔE</m:t>
                    </m:r>
                  </m:oMath>
                </a14:m>
              </a:p>
            </p:txBody>
          </p:sp>
        </mc:Choice>
        <mc:Fallback>
          <p:sp>
            <p:nvSpPr>
              <p:cNvPr id="260" name="Object 67"/>
              <p:cNvSpPr txBox="1"/>
              <p:nvPr/>
            </p:nvSpPr>
            <p:spPr>
              <a:xfrm>
                <a:off x="2286000" y="3352680"/>
                <a:ext cx="3233880" cy="6429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p:sp>
        <p:nvSpPr>
          <p:cNvPr id="261" name="Text Box 68"/>
          <p:cNvSpPr/>
          <p:nvPr/>
        </p:nvSpPr>
        <p:spPr>
          <a:xfrm>
            <a:off x="309600" y="3370320"/>
            <a:ext cx="1704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FF"/>
                </a:solidFill>
                <a:effectLst/>
                <a:uFillTx/>
                <a:latin typeface="宋体"/>
              </a:rPr>
              <a:t>功能原理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62" name="Object 69"/>
              <p:cNvSpPr txBox="1"/>
              <p:nvPr/>
            </p:nvSpPr>
            <p:spPr>
              <a:xfrm>
                <a:off x="2362320" y="4038480"/>
                <a:ext cx="1515960" cy="574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t xml:space="preserve">f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ΔE</m:t>
                    </m:r>
                  </m:oMath>
                </a14:m>
              </a:p>
            </p:txBody>
          </p:sp>
        </mc:Choice>
        <mc:Fallback>
          <p:sp>
            <p:nvSpPr>
              <p:cNvPr id="262" name="Object 69"/>
              <p:cNvSpPr txBox="1"/>
              <p:nvPr/>
            </p:nvSpPr>
            <p:spPr>
              <a:xfrm>
                <a:off x="2362320" y="4038480"/>
                <a:ext cx="1515960" cy="5749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p:sp>
        <p:nvSpPr>
          <p:cNvPr id="263" name="Line 70"/>
          <p:cNvSpPr/>
          <p:nvPr/>
        </p:nvSpPr>
        <p:spPr>
          <a:xfrm>
            <a:off x="6934320" y="2666880"/>
            <a:ext cx="1981080" cy="0"/>
          </a:xfrm>
          <a:prstGeom prst="line">
            <a:avLst/>
          </a:prstGeom>
          <a:ln w="38160">
            <a:solidFill>
              <a:srgbClr val="0066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Text Box 71"/>
          <p:cNvSpPr/>
          <p:nvPr/>
        </p:nvSpPr>
        <p:spPr>
          <a:xfrm>
            <a:off x="6481080" y="2743200"/>
            <a:ext cx="10951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1" u="none" strike="noStrike">
                <a:solidFill>
                  <a:srgbClr val="006600"/>
                </a:solidFill>
                <a:effectLst/>
                <a:uFillTx/>
                <a:latin typeface="宋体"/>
              </a:rPr>
              <a:t>零势能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8" dur="indefinite" restart="never" nodeType="tmRoot">
          <p:childTnLst>
            <p:seq>
              <p:cTn id="619" dur="indefinite" nodeType="mainSeq">
                <p:childTnLst>
                  <p:par>
                    <p:cTn id="620" fill="hold" nodeType="clickEffect">
                      <p:stCondLst>
                        <p:cond delay="indefinite"/>
                      </p:stCondLst>
                      <p:childTnLst>
                        <p:par>
                          <p:cTn id="62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22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624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5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626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2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9" fill="hold" nodeType="clickEffect">
                      <p:stCondLst>
                        <p:cond delay="indefinite"/>
                      </p:stCondLst>
                      <p:childTnLst>
                        <p:par>
                          <p:cTn id="63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3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33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4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635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3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8" fill="hold" nodeType="clickEffect">
                      <p:stCondLst>
                        <p:cond delay="indefinite"/>
                      </p:stCondLst>
                      <p:childTnLst>
                        <p:par>
                          <p:cTn id="63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40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642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3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644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46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7" fill="hold" nodeType="clickEffect">
                      <p:stCondLst>
                        <p:cond delay="indefinite"/>
                      </p:stCondLst>
                      <p:childTnLst>
                        <p:par>
                          <p:cTn id="64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4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51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2" fill="hold" nodeType="clickEffect">
                      <p:stCondLst>
                        <p:cond delay="indefinite"/>
                      </p:stCondLst>
                      <p:childTnLst>
                        <p:par>
                          <p:cTn id="65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5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56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fill="hold" nodeType="clickEffect">
                      <p:stCondLst>
                        <p:cond delay="indefinite"/>
                      </p:stCondLst>
                      <p:childTnLst>
                        <p:par>
                          <p:cTn id="65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5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61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2" fill="hold" nodeType="clickEffect">
                      <p:stCondLst>
                        <p:cond delay="indefinite"/>
                      </p:stCondLst>
                      <p:childTnLst>
                        <p:par>
                          <p:cTn id="66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64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666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7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668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70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1" fill="hold" nodeType="clickEffect">
                      <p:stCondLst>
                        <p:cond delay="indefinite"/>
                      </p:stCondLst>
                      <p:childTnLst>
                        <p:par>
                          <p:cTn id="67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7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75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6" fill="hold" nodeType="clickEffect">
                      <p:stCondLst>
                        <p:cond delay="indefinite"/>
                      </p:stCondLst>
                      <p:childTnLst>
                        <p:par>
                          <p:cTn id="67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7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80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1" fill="hold" nodeType="clickEffect">
                      <p:stCondLst>
                        <p:cond delay="indefinite"/>
                      </p:stCondLst>
                      <p:childTnLst>
                        <p:par>
                          <p:cTn id="68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8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685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Freeform 24"/>
          <p:cNvSpPr/>
          <p:nvPr/>
        </p:nvSpPr>
        <p:spPr>
          <a:xfrm>
            <a:off x="6400800" y="3581280"/>
            <a:ext cx="1676520" cy="609840"/>
          </a:xfrm>
          <a:custGeom>
            <a:avLst/>
            <a:gdLst>
              <a:gd name="GluePoint1X" fmla="*/ 0 w 1056"/>
              <a:gd name="GluePoint1Y" fmla="*/ 609600 h 384"/>
              <a:gd name="GluePoint2X" fmla="*/ 914400 w 1056"/>
              <a:gd name="GluePoint2Y" fmla="*/ 0 h 384"/>
              <a:gd name="GluePoint3X" fmla="*/ 1676400 w 1056"/>
              <a:gd name="GluePoint3Y" fmla="*/ 609600 h 38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1056" h="384">
                <a:moveTo>
                  <a:pt x="0" y="384"/>
                </a:moveTo>
                <a:cubicBezTo>
                  <a:pt x="200" y="192"/>
                  <a:pt x="400" y="0"/>
                  <a:pt x="576" y="0"/>
                </a:cubicBezTo>
                <a:cubicBezTo>
                  <a:pt x="752" y="0"/>
                  <a:pt x="976" y="320"/>
                  <a:pt x="1056" y="384"/>
                </a:cubicBezTo>
              </a:path>
            </a:pathLst>
          </a:custGeom>
          <a:noFill/>
          <a:ln w="1908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Text Box 25"/>
          <p:cNvSpPr/>
          <p:nvPr/>
        </p:nvSpPr>
        <p:spPr>
          <a:xfrm>
            <a:off x="-293040" y="76320"/>
            <a:ext cx="979740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P38/8.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初速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v</a:t>
            </a:r>
            <a:r>
              <a:rPr lang="en-US" sz="3000" b="1" u="none" strike="noStrike" baseline="-10000">
                <a:solidFill>
                  <a:srgbClr val="000000"/>
                </a:solidFill>
                <a:effectLst/>
                <a:uFillTx/>
                <a:latin typeface="宋体"/>
              </a:rPr>
              <a:t>o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物体以与地面夹角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30</a:t>
            </a:r>
            <a:r>
              <a:rPr lang="en-US" sz="3000" b="1" u="none" strike="noStrike" baseline="30000">
                <a:solidFill>
                  <a:srgbClr val="000000"/>
                </a:solidFill>
                <a:effectLst/>
                <a:uFillTx/>
                <a:latin typeface="宋体"/>
              </a:rPr>
              <a:t>0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抛出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不计空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Text Box 26"/>
          <p:cNvSpPr/>
          <p:nvPr/>
        </p:nvSpPr>
        <p:spPr>
          <a:xfrm>
            <a:off x="-85680" y="593640"/>
            <a:ext cx="9309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气阻力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物体从被抛出到回到地面的整个过程中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其动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Text Box 27"/>
          <p:cNvSpPr/>
          <p:nvPr/>
        </p:nvSpPr>
        <p:spPr>
          <a:xfrm>
            <a:off x="52200" y="1143000"/>
            <a:ext cx="6177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量增量的大小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__________________,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Text Box 28"/>
          <p:cNvSpPr/>
          <p:nvPr/>
        </p:nvSpPr>
        <p:spPr>
          <a:xfrm>
            <a:off x="45360" y="1660680"/>
            <a:ext cx="72212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动量增量的方向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70" name="Object 29"/>
              <p:cNvSpPr txBox="1"/>
              <p:nvPr/>
            </p:nvSpPr>
            <p:spPr>
              <a:xfrm>
                <a:off x="3276720" y="1143000"/>
                <a:ext cx="749160" cy="560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mv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270" name="Object 29"/>
              <p:cNvSpPr txBox="1"/>
              <p:nvPr/>
            </p:nvSpPr>
            <p:spPr>
              <a:xfrm>
                <a:off x="3276720" y="1143000"/>
                <a:ext cx="749160" cy="5605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271" name="Text Box 30"/>
          <p:cNvSpPr/>
          <p:nvPr/>
        </p:nvSpPr>
        <p:spPr>
          <a:xfrm>
            <a:off x="4005360" y="1600200"/>
            <a:ext cx="1704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垂直向下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Line 31"/>
          <p:cNvSpPr/>
          <p:nvPr/>
        </p:nvSpPr>
        <p:spPr>
          <a:xfrm>
            <a:off x="8077320" y="4191120"/>
            <a:ext cx="609480" cy="53316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73" name="Object 32"/>
              <p:cNvSpPr txBox="1"/>
              <p:nvPr/>
            </p:nvSpPr>
            <p:spPr>
              <a:xfrm>
                <a:off x="8458200" y="4267080"/>
                <a:ext cx="304920" cy="249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30</m:t>
                        </m:r>
                      </m:e>
                      <m:sup>
                        <m:r>
                          <m:t xml:space="preserve">o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273" name="Object 32"/>
              <p:cNvSpPr txBox="1"/>
              <p:nvPr/>
            </p:nvSpPr>
            <p:spPr>
              <a:xfrm>
                <a:off x="8458200" y="4267080"/>
                <a:ext cx="304920" cy="2494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74" name="Object 33"/>
              <p:cNvSpPr txBox="1"/>
              <p:nvPr/>
            </p:nvSpPr>
            <p:spPr>
              <a:xfrm>
                <a:off x="228600" y="2819520"/>
                <a:ext cx="1981080" cy="685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P</m:t>
                        </m:r>
                      </m:e>
                    </m:acc>
                    <m:r>
                      <m:t xml:space="preserve">=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P</m:t>
                            </m:r>
                          </m:e>
                        </m:acc>
                      </m:e>
                      <m:sub>
                        <m:r>
                          <m:t xml:space="preserve">t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P</m:t>
                            </m:r>
                          </m:e>
                        </m:acc>
                      </m:e>
                      <m:sub>
                        <m:r>
                          <m:t xml:space="preserve">0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274" name="Object 33"/>
              <p:cNvSpPr txBox="1"/>
              <p:nvPr/>
            </p:nvSpPr>
            <p:spPr>
              <a:xfrm>
                <a:off x="228600" y="2819520"/>
                <a:ext cx="198108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75" name="Object 34"/>
              <p:cNvSpPr txBox="1"/>
              <p:nvPr/>
            </p:nvSpPr>
            <p:spPr>
              <a:xfrm>
                <a:off x="762120" y="4191120"/>
                <a:ext cx="4782960" cy="609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(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mv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tx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mv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ox</m:t>
                        </m:r>
                      </m:sub>
                    </m:sSub>
                    <m:r>
                      <m:t xml:space="preserve">)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+</m:t>
                    </m:r>
                    <m:r>
                      <m:t xml:space="preserve">(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mv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ty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mv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oy</m:t>
                        </m:r>
                      </m:sub>
                    </m:sSub>
                    <m:r>
                      <m:t xml:space="preserve">)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75" name="Object 34"/>
              <p:cNvSpPr txBox="1"/>
              <p:nvPr/>
            </p:nvSpPr>
            <p:spPr>
              <a:xfrm>
                <a:off x="762120" y="4191120"/>
                <a:ext cx="4782960" cy="6094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76" name="Object 35"/>
              <p:cNvSpPr txBox="1"/>
              <p:nvPr/>
            </p:nvSpPr>
            <p:spPr>
              <a:xfrm>
                <a:off x="762120" y="4800600"/>
                <a:ext cx="4782960" cy="609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0</m:t>
                    </m:r>
                    <m:r>
                      <m:t xml:space="preserve">+</m:t>
                    </m:r>
                    <m:r>
                      <m:t xml:space="preserve">(</m:t>
                    </m:r>
                    <m:r>
                      <m:t xml:space="preserve">−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mv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sin</m:t>
                    </m:r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30</m:t>
                        </m:r>
                      </m:e>
                      <m:sup>
                        <m:r>
                          <m:t xml:space="preserve">o</m:t>
                        </m:r>
                      </m:sup>
                    </m:sSup>
                    <m:r>
                      <m:t xml:space="preserve">−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mv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sin</m:t>
                    </m:r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30</m:t>
                        </m:r>
                      </m:e>
                      <m:sup>
                        <m:r>
                          <m:t xml:space="preserve">o</m:t>
                        </m:r>
                      </m:sup>
                    </m:sSup>
                    <m:r>
                      <m:t xml:space="preserve">)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76" name="Object 35"/>
              <p:cNvSpPr txBox="1"/>
              <p:nvPr/>
            </p:nvSpPr>
            <p:spPr>
              <a:xfrm>
                <a:off x="762120" y="4800600"/>
                <a:ext cx="4782960" cy="6094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277" name="Object 36"/>
              <p:cNvSpPr txBox="1"/>
              <p:nvPr/>
            </p:nvSpPr>
            <p:spPr>
              <a:xfrm>
                <a:off x="725400" y="3505320"/>
                <a:ext cx="5008680" cy="609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(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mv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tx</m:t>
                        </m:r>
                      </m:sub>
                    </m:sSub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+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mv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ty</m:t>
                        </m:r>
                      </m:sub>
                    </m:sSub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  <m:r>
                      <m:t xml:space="preserve">)</m:t>
                    </m:r>
                    <m:r>
                      <m:t xml:space="preserve">−</m:t>
                    </m:r>
                    <m:r>
                      <m:t xml:space="preserve">(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mv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ox</m:t>
                        </m:r>
                      </m:sub>
                    </m:sSub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+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mv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oy</m:t>
                        </m:r>
                      </m:sub>
                    </m:sSub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277" name="Object 36"/>
              <p:cNvSpPr txBox="1"/>
              <p:nvPr/>
            </p:nvSpPr>
            <p:spPr>
              <a:xfrm>
                <a:off x="725400" y="3505320"/>
                <a:ext cx="5008680" cy="6094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grpSp>
        <p:nvGrpSpPr>
          <p:cNvPr id="278" name="Group 37"/>
          <p:cNvGrpSpPr/>
          <p:nvPr/>
        </p:nvGrpSpPr>
        <p:grpSpPr>
          <a:xfrm>
            <a:off x="6400800" y="3352680"/>
            <a:ext cx="990720" cy="838440"/>
            <a:chOff x="6400800" y="3352680"/>
            <a:chExt cx="990720" cy="838440"/>
          </a:xfrm>
        </p:grpSpPr>
        <p:sp>
          <p:nvSpPr>
            <p:cNvPr id="279" name="Line 38"/>
            <p:cNvSpPr/>
            <p:nvPr/>
          </p:nvSpPr>
          <p:spPr>
            <a:xfrm flipV="1">
              <a:off x="6400800" y="3655800"/>
              <a:ext cx="609840" cy="533160"/>
            </a:xfrm>
            <a:prstGeom prst="line">
              <a:avLst/>
            </a:prstGeom>
            <a:ln w="38160">
              <a:solidFill>
                <a:srgbClr val="0000FF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0" name="Line 39"/>
            <p:cNvSpPr/>
            <p:nvPr/>
          </p:nvSpPr>
          <p:spPr>
            <a:xfrm>
              <a:off x="6400800" y="4189320"/>
              <a:ext cx="83844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1" name="Arc 40"/>
            <p:cNvSpPr/>
            <p:nvPr/>
          </p:nvSpPr>
          <p:spPr>
            <a:xfrm>
              <a:off x="6553440" y="3965400"/>
              <a:ext cx="228600" cy="225720"/>
            </a:xfrm>
            <a:custGeom>
              <a:avLst/>
              <a:gdLst>
                <a:gd name="GluePoint1X" fmla="*/ 97 w 21600"/>
                <a:gd name="GluePoint1Y" fmla="*/ 0 h 15957"/>
                <a:gd name="GluePoint2X" fmla="*/ 144 w 21600"/>
                <a:gd name="GluePoint2Y" fmla="*/ 142 h 15957"/>
                <a:gd name="GluePoint3X" fmla="*/ 0 w 21600"/>
                <a:gd name="GluePoint3Y" fmla="*/ 142 h 1595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l" t="t" r="r" b="b"/>
              <a:pathLst>
                <a:path fill="none" w="21600" h="15957">
                  <a:moveTo>
                    <a:pt x="14557" y="0"/>
                  </a:moveTo>
                  <a:cubicBezTo>
                    <a:pt x="19043" y="4092"/>
                    <a:pt x="21600" y="9884"/>
                    <a:pt x="21600" y="15957"/>
                  </a:cubicBezTo>
                </a:path>
                <a:path stroke="0" w="21600" h="15957">
                  <a:moveTo>
                    <a:pt x="14557" y="0"/>
                  </a:moveTo>
                  <a:cubicBezTo>
                    <a:pt x="19043" y="4092"/>
                    <a:pt x="21600" y="9884"/>
                    <a:pt x="21600" y="15957"/>
                  </a:cubicBezTo>
                  <a:lnTo>
                    <a:pt x="0" y="15957"/>
                  </a:lnTo>
                  <a:lnTo>
                    <a:pt x="14557" y="0"/>
                  </a:lnTo>
                  <a:close/>
                </a:path>
              </a:pathLst>
            </a:custGeom>
            <a:noFill/>
            <a:ln w="284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mc:AlternateContent>
          <mc:Choice xmlns:a14="http://schemas.microsoft.com/office/drawing/2010/main" Requires="a14">
            <p:sp>
              <p:nvSpPr>
                <p:cNvPr id="282" name="Object 41"/>
                <p:cNvSpPr txBox="1"/>
                <p:nvPr/>
              </p:nvSpPr>
              <p:spPr>
                <a:xfrm>
                  <a:off x="6416640" y="3352680"/>
                  <a:ext cx="365400" cy="45720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sSub>
                        <m:e>
                          <m:r>
                            <m:t xml:space="preserve">v</m:t>
                          </m:r>
                        </m:e>
                        <m:sub>
                          <m:r>
                            <m:t xml:space="preserve">o</m:t>
                          </m:r>
                        </m:sub>
                      </m:sSub>
                    </m:oMath>
                  </a14:m>
                </a:p>
              </p:txBody>
            </p:sp>
          </mc:Choice>
          <mc:Fallback>
            <p:sp>
              <p:nvSpPr>
                <p:cNvPr id="282" name="Object 41"/>
                <p:cNvSpPr txBox="1"/>
                <p:nvPr/>
              </p:nvSpPr>
              <p:spPr>
                <a:xfrm>
                  <a:off x="6416640" y="3352680"/>
                  <a:ext cx="365400" cy="4572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</p:sp>
          </mc:Fallback>
        </mc:AlternateContent>
        <mc:AlternateContent>
          <mc:Choice xmlns:a14="http://schemas.microsoft.com/office/drawing/2010/main" Requires="a14">
            <p:sp>
              <p:nvSpPr>
                <p:cNvPr id="283" name="Object 42"/>
                <p:cNvSpPr txBox="1"/>
                <p:nvPr/>
              </p:nvSpPr>
              <p:spPr>
                <a:xfrm>
                  <a:off x="6853320" y="3814920"/>
                  <a:ext cx="538200" cy="37440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sSup>
                        <m:e>
                          <m:r>
                            <m:rPr>
                              <m:lit/>
                              <m:nor/>
                            </m:rPr>
                            <m:t xml:space="preserve">30</m:t>
                          </m:r>
                        </m:e>
                        <m:sup>
                          <m:r>
                            <m:t xml:space="preserve">o</m:t>
                          </m:r>
                        </m:sup>
                      </m:sSup>
                    </m:oMath>
                  </a14:m>
                </a:p>
              </p:txBody>
            </p:sp>
          </mc:Choice>
          <mc:Fallback>
            <p:sp>
              <p:nvSpPr>
                <p:cNvPr id="283" name="Object 42"/>
                <p:cNvSpPr txBox="1"/>
                <p:nvPr/>
              </p:nvSpPr>
              <p:spPr>
                <a:xfrm>
                  <a:off x="6853320" y="3814920"/>
                  <a:ext cx="538200" cy="3744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</p:sp>
          </mc:Fallback>
        </mc:AlternateContent>
      </p:grpSp>
      <p:grpSp>
        <p:nvGrpSpPr>
          <p:cNvPr id="284" name="Group 43"/>
          <p:cNvGrpSpPr/>
          <p:nvPr/>
        </p:nvGrpSpPr>
        <p:grpSpPr>
          <a:xfrm>
            <a:off x="6095880" y="2666880"/>
            <a:ext cx="2917800" cy="1600200"/>
            <a:chOff x="6095880" y="2666880"/>
            <a:chExt cx="2917800" cy="1600200"/>
          </a:xfrm>
        </p:grpSpPr>
        <mc:AlternateContent>
          <mc:Choice xmlns:a14="http://schemas.microsoft.com/office/drawing/2010/main" Requires="a14">
            <p:sp>
              <p:nvSpPr>
                <p:cNvPr id="285" name="Object 44"/>
                <p:cNvSpPr txBox="1"/>
                <p:nvPr/>
              </p:nvSpPr>
              <p:spPr>
                <a:xfrm>
                  <a:off x="8763120" y="4038480"/>
                  <a:ext cx="250560" cy="22860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t xml:space="preserve">x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285" name="Object 44"/>
                <p:cNvSpPr txBox="1"/>
                <p:nvPr/>
              </p:nvSpPr>
              <p:spPr>
                <a:xfrm>
                  <a:off x="8763120" y="4038480"/>
                  <a:ext cx="250560" cy="2286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286" name="Line 45"/>
            <p:cNvSpPr/>
            <p:nvPr/>
          </p:nvSpPr>
          <p:spPr>
            <a:xfrm>
              <a:off x="6423120" y="4191120"/>
              <a:ext cx="2286000" cy="0"/>
            </a:xfrm>
            <a:prstGeom prst="line">
              <a:avLst/>
            </a:prstGeom>
            <a:ln w="28440">
              <a:solidFill>
                <a:srgbClr val="FF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7" name="Line 46"/>
            <p:cNvSpPr/>
            <p:nvPr/>
          </p:nvSpPr>
          <p:spPr>
            <a:xfrm flipV="1">
              <a:off x="6400800" y="2743200"/>
              <a:ext cx="0" cy="1447920"/>
            </a:xfrm>
            <a:prstGeom prst="line">
              <a:avLst/>
            </a:prstGeom>
            <a:ln w="28440">
              <a:solidFill>
                <a:srgbClr val="FF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mc:AlternateContent>
          <mc:Choice xmlns:a14="http://schemas.microsoft.com/office/drawing/2010/main" Requires="a14">
            <p:sp>
              <p:nvSpPr>
                <p:cNvPr id="288" name="Object 47"/>
                <p:cNvSpPr txBox="1"/>
                <p:nvPr/>
              </p:nvSpPr>
              <p:spPr>
                <a:xfrm>
                  <a:off x="6095880" y="2666880"/>
                  <a:ext cx="250920" cy="29232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t xml:space="preserve">y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288" name="Object 47"/>
                <p:cNvSpPr txBox="1"/>
                <p:nvPr/>
              </p:nvSpPr>
              <p:spPr>
                <a:xfrm>
                  <a:off x="6095880" y="2666880"/>
                  <a:ext cx="250920" cy="2923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</p:sp>
          </mc:Fallback>
        </mc:AlternateContent>
      </p:grpSp>
      <mc:AlternateContent>
        <mc:Choice xmlns:a14="http://schemas.microsoft.com/office/drawing/2010/main" Requires="a14">
          <p:sp>
            <p:nvSpPr>
              <p:cNvPr id="289" name="Object 48"/>
              <p:cNvSpPr txBox="1"/>
              <p:nvPr/>
            </p:nvSpPr>
            <p:spPr>
              <a:xfrm>
                <a:off x="8305920" y="4572000"/>
                <a:ext cx="279360" cy="374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t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289" name="Object 48"/>
              <p:cNvSpPr txBox="1"/>
              <p:nvPr/>
            </p:nvSpPr>
            <p:spPr>
              <a:xfrm>
                <a:off x="8305920" y="4572000"/>
                <a:ext cx="279360" cy="37476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p:sp>
        <p:nvSpPr>
          <p:cNvPr id="290" name="Arc 49"/>
          <p:cNvSpPr/>
          <p:nvPr/>
        </p:nvSpPr>
        <p:spPr>
          <a:xfrm>
            <a:off x="8305920" y="4191120"/>
            <a:ext cx="152280" cy="228600"/>
          </a:xfrm>
          <a:custGeom>
            <a:avLst/>
            <a:gdLst>
              <a:gd name="GluePoint1X" fmla="*/ 146883 w 21600"/>
              <a:gd name="GluePoint1Y" fmla="*/ 0 h 27295"/>
              <a:gd name="GluePoint2X" fmla="*/ 11832 w 21600"/>
              <a:gd name="GluePoint2Y" fmla="*/ 228600 h 27295"/>
              <a:gd name="GluePoint3X" fmla="*/ 0 w 21600"/>
              <a:gd name="GluePoint3Y" fmla="*/ 48241 h 2729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7295">
                <a:moveTo>
                  <a:pt x="20817" y="0"/>
                </a:moveTo>
                <a:cubicBezTo>
                  <a:pt x="21336" y="1876"/>
                  <a:pt x="21600" y="3813"/>
                  <a:pt x="21600" y="5760"/>
                </a:cubicBezTo>
                <a:cubicBezTo>
                  <a:pt x="21600" y="17038"/>
                  <a:pt x="12921" y="26419"/>
                  <a:pt x="1676" y="27294"/>
                </a:cubicBezTo>
              </a:path>
              <a:path stroke="0" w="21600" h="27295">
                <a:moveTo>
                  <a:pt x="20817" y="0"/>
                </a:moveTo>
                <a:cubicBezTo>
                  <a:pt x="21336" y="1876"/>
                  <a:pt x="21600" y="3813"/>
                  <a:pt x="21600" y="5760"/>
                </a:cubicBezTo>
                <a:cubicBezTo>
                  <a:pt x="21600" y="17038"/>
                  <a:pt x="12921" y="26419"/>
                  <a:pt x="1676" y="27294"/>
                </a:cubicBezTo>
                <a:lnTo>
                  <a:pt x="0" y="5760"/>
                </a:lnTo>
                <a:lnTo>
                  <a:pt x="20817" y="0"/>
                </a:lnTo>
                <a:close/>
              </a:path>
            </a:pathLst>
          </a:custGeom>
          <a:noFill/>
          <a:ln w="1908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Oval 50"/>
          <p:cNvSpPr/>
          <p:nvPr/>
        </p:nvSpPr>
        <p:spPr>
          <a:xfrm>
            <a:off x="6324480" y="4114800"/>
            <a:ext cx="152640" cy="152280"/>
          </a:xfrm>
          <a:prstGeom prst="ellipse">
            <a:avLst/>
          </a:prstGeom>
          <a:blipFill rotWithShape="0">
            <a:blip r:embed="rId12"/>
            <a:srcRect/>
            <a:tile tx="0" ty="0" sx="100000" sy="100000" algn="ctr"/>
          </a:blip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92" name="Object 51"/>
              <p:cNvSpPr txBox="1"/>
              <p:nvPr/>
            </p:nvSpPr>
            <p:spPr>
              <a:xfrm>
                <a:off x="762120" y="5334120"/>
                <a:ext cx="1447560" cy="682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−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mv</m:t>
                        </m:r>
                      </m:e>
                      <m:sub>
                        <m:r>
                          <m:t xml:space="preserve">o</m:t>
                        </m:r>
                      </m:sub>
                    </m:sSub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92" name="Object 51"/>
              <p:cNvSpPr txBox="1"/>
              <p:nvPr/>
            </p:nvSpPr>
            <p:spPr>
              <a:xfrm>
                <a:off x="762120" y="5334120"/>
                <a:ext cx="1447560" cy="68256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86" dur="indefinite" restart="never" nodeType="tmRoot">
          <p:childTnLst>
            <p:seq>
              <p:cTn id="687" dur="indefinite" nodeType="mainSeq">
                <p:childTnLst>
                  <p:par>
                    <p:cTn id="688" fill="hold" nodeType="clickEffect">
                      <p:stCondLst>
                        <p:cond delay="indefinite"/>
                      </p:stCondLst>
                      <p:childTnLst>
                        <p:par>
                          <p:cTn id="68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9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2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693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695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6" fill="hold" nodeType="clickEffect">
                      <p:stCondLst>
                        <p:cond delay="indefinite"/>
                      </p:stCondLst>
                      <p:childTnLst>
                        <p:par>
                          <p:cTn id="69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98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00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1" fill="hold" nodeType="clickEffect">
                      <p:stCondLst>
                        <p:cond delay="indefinite"/>
                      </p:stCondLst>
                      <p:childTnLst>
                        <p:par>
                          <p:cTn id="70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0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05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6" fill="hold" nodeType="clickEffect">
                      <p:stCondLst>
                        <p:cond delay="indefinite"/>
                      </p:stCondLst>
                      <p:childTnLst>
                        <p:par>
                          <p:cTn id="70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08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710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1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712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14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5" fill="hold" nodeType="clickEffect">
                      <p:stCondLst>
                        <p:cond delay="indefinite"/>
                      </p:stCondLst>
                      <p:childTnLst>
                        <p:par>
                          <p:cTn id="7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17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719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0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721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23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4" fill="hold" nodeType="clickEffect">
                      <p:stCondLst>
                        <p:cond delay="indefinite"/>
                      </p:stCondLst>
                      <p:childTnLst>
                        <p:par>
                          <p:cTn id="72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2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28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9" fill="hold" nodeType="clickEffect">
                      <p:stCondLst>
                        <p:cond delay="indefinite"/>
                      </p:stCondLst>
                      <p:childTnLst>
                        <p:par>
                          <p:cTn id="73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3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33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4" fill="hold" nodeType="clickEffect">
                      <p:stCondLst>
                        <p:cond delay="indefinite"/>
                      </p:stCondLst>
                      <p:childTnLst>
                        <p:par>
                          <p:cTn id="73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3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38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9" fill="hold" nodeType="clickEffect">
                      <p:stCondLst>
                        <p:cond delay="indefinite"/>
                      </p:stCondLst>
                      <p:childTnLst>
                        <p:par>
                          <p:cTn id="74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4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43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4" fill="hold" nodeType="clickEffect">
                      <p:stCondLst>
                        <p:cond delay="indefinite"/>
                      </p:stCondLst>
                      <p:childTnLst>
                        <p:par>
                          <p:cTn id="74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4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48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9" fill="hold" nodeType="clickEffect">
                      <p:stCondLst>
                        <p:cond delay="indefinite"/>
                      </p:stCondLst>
                      <p:childTnLst>
                        <p:par>
                          <p:cTn id="75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5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53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4" fill="hold" nodeType="clickEffect">
                      <p:stCondLst>
                        <p:cond delay="indefinite"/>
                      </p:stCondLst>
                      <p:childTnLst>
                        <p:par>
                          <p:cTn id="75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5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58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 Box 45"/>
          <p:cNvSpPr/>
          <p:nvPr/>
        </p:nvSpPr>
        <p:spPr>
          <a:xfrm>
            <a:off x="-48960" y="1371600"/>
            <a:ext cx="5217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P41/1.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m=2kg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的质点在力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94" name="Object 46"/>
              <p:cNvSpPr txBox="1"/>
              <p:nvPr/>
            </p:nvSpPr>
            <p:spPr>
              <a:xfrm>
                <a:off x="4952880" y="1401840"/>
                <a:ext cx="3068640" cy="555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  <m:r>
                      <m:t xml:space="preserve">=</m:t>
                    </m:r>
                    <m:r>
                      <m:t xml:space="preserve">4</m:t>
                    </m:r>
                    <m:r>
                      <m:t xml:space="preserve">t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+</m:t>
                    </m:r>
                    <m:r>
                      <m:t xml:space="preserve">(</m:t>
                    </m:r>
                    <m:r>
                      <m:t xml:space="preserve">2</m:t>
                    </m:r>
                    <m:r>
                      <m:t xml:space="preserve">+</m:t>
                    </m:r>
                    <m:r>
                      <m:t xml:space="preserve">3</m:t>
                    </m:r>
                    <m:r>
                      <m:t xml:space="preserve">t</m:t>
                    </m:r>
                    <m:r>
                      <m:t xml:space="preserve">)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  <m:r>
                      <m:t xml:space="preserve">(</m:t>
                    </m:r>
                    <m:r>
                      <m:t xml:space="preserve">N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294" name="Object 46"/>
              <p:cNvSpPr txBox="1"/>
              <p:nvPr/>
            </p:nvSpPr>
            <p:spPr>
              <a:xfrm>
                <a:off x="4952880" y="1401840"/>
                <a:ext cx="3068640" cy="5554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295" name="Text Box 47"/>
          <p:cNvSpPr/>
          <p:nvPr/>
        </p:nvSpPr>
        <p:spPr>
          <a:xfrm>
            <a:off x="8002440" y="1407960"/>
            <a:ext cx="942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作用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Text Box 48"/>
          <p:cNvSpPr/>
          <p:nvPr/>
        </p:nvSpPr>
        <p:spPr>
          <a:xfrm>
            <a:off x="77760" y="1978200"/>
            <a:ext cx="2085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下以初速度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Text Box 49"/>
          <p:cNvSpPr/>
          <p:nvPr/>
        </p:nvSpPr>
        <p:spPr>
          <a:xfrm>
            <a:off x="3797280" y="2017800"/>
            <a:ext cx="5126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若此力作用在质点上的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98" name="Object 50"/>
              <p:cNvSpPr txBox="1"/>
              <p:nvPr/>
            </p:nvSpPr>
            <p:spPr>
              <a:xfrm>
                <a:off x="2057400" y="1957320"/>
                <a:ext cx="1887480" cy="554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o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1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  <m:r>
                      <m:t xml:space="preserve">(</m:t>
                    </m:r>
                    <m:f>
                      <m:fPr>
                        <m:type m:val="lin"/>
                      </m:fPr>
                      <m:num>
                        <m:r>
                          <m:t xml:space="preserve">m</m:t>
                        </m:r>
                      </m:num>
                      <m:den>
                        <m:r>
                          <m:t xml:space="preserve">s</m:t>
                        </m:r>
                      </m:den>
                    </m:f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298" name="Object 50"/>
              <p:cNvSpPr txBox="1"/>
              <p:nvPr/>
            </p:nvSpPr>
            <p:spPr>
              <a:xfrm>
                <a:off x="2057400" y="1957320"/>
                <a:ext cx="1887480" cy="5540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299" name="Text Box 51"/>
          <p:cNvSpPr/>
          <p:nvPr/>
        </p:nvSpPr>
        <p:spPr>
          <a:xfrm>
            <a:off x="-100800" y="2550960"/>
            <a:ext cx="6071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时间为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2s,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则该力在这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2s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内的冲量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Text Box 52"/>
          <p:cNvSpPr/>
          <p:nvPr/>
        </p:nvSpPr>
        <p:spPr>
          <a:xfrm>
            <a:off x="5957280" y="2550960"/>
            <a:ext cx="3038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=_____________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01" name="Object 53"/>
              <p:cNvSpPr txBox="1"/>
              <p:nvPr/>
            </p:nvSpPr>
            <p:spPr>
              <a:xfrm>
                <a:off x="5715000" y="2550960"/>
                <a:ext cx="254160" cy="466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01" name="Object 53"/>
              <p:cNvSpPr txBox="1"/>
              <p:nvPr/>
            </p:nvSpPr>
            <p:spPr>
              <a:xfrm>
                <a:off x="5715000" y="2550960"/>
                <a:ext cx="254160" cy="466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302" name="Text Box 54"/>
          <p:cNvSpPr/>
          <p:nvPr/>
        </p:nvSpPr>
        <p:spPr>
          <a:xfrm>
            <a:off x="-11520" y="3100320"/>
            <a:ext cx="37922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质点在第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2s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末的动量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Text Box 55"/>
          <p:cNvSpPr/>
          <p:nvPr/>
        </p:nvSpPr>
        <p:spPr>
          <a:xfrm>
            <a:off x="3857400" y="3100320"/>
            <a:ext cx="4272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=__________________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  <a:ea typeface="Times New Roman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04" name="Object 56"/>
              <p:cNvSpPr txBox="1"/>
              <p:nvPr/>
            </p:nvSpPr>
            <p:spPr>
              <a:xfrm>
                <a:off x="3657600" y="3100320"/>
                <a:ext cx="314280" cy="466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P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04" name="Object 56"/>
              <p:cNvSpPr txBox="1"/>
              <p:nvPr/>
            </p:nvSpPr>
            <p:spPr>
              <a:xfrm>
                <a:off x="3657600" y="3100320"/>
                <a:ext cx="314280" cy="466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05" name="Object 57"/>
              <p:cNvSpPr txBox="1"/>
              <p:nvPr/>
            </p:nvSpPr>
            <p:spPr>
              <a:xfrm>
                <a:off x="228600" y="3862440"/>
                <a:ext cx="1268280" cy="685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F</m:t>
                            </m:r>
                          </m:e>
                        </m:acc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305" name="Object 57"/>
              <p:cNvSpPr txBox="1"/>
              <p:nvPr/>
            </p:nvSpPr>
            <p:spPr>
              <a:xfrm>
                <a:off x="228600" y="3862440"/>
                <a:ext cx="1268280" cy="685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06" name="Object 58"/>
              <p:cNvSpPr txBox="1"/>
              <p:nvPr/>
            </p:nvSpPr>
            <p:spPr>
              <a:xfrm>
                <a:off x="1463760" y="3710160"/>
                <a:ext cx="3717720" cy="838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d>
                          <m:dPr>
                            <m:begChr m:val="["/>
                            <m:endChr m:val="]"/>
                          </m:dPr>
                          <m:e>
                            <m:r>
                              <m:t xml:space="preserve">4</m:t>
                            </m:r>
                            <m:r>
                              <m:t xml:space="preserve">t</m:t>
                            </m:r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m:t xml:space="preserve">i</m:t>
                                </m:r>
                              </m:e>
                            </m:acc>
                            <m:r>
                              <m:t xml:space="preserve">+</m:t>
                            </m:r>
                            <m:r>
                              <m:t xml:space="preserve">(</m:t>
                            </m:r>
                            <m:r>
                              <m:t xml:space="preserve">2</m:t>
                            </m:r>
                            <m:r>
                              <m:t xml:space="preserve">+</m:t>
                            </m:r>
                            <m:r>
                              <m:t xml:space="preserve">3</m:t>
                            </m:r>
                            <m:r>
                              <m:t xml:space="preserve">t</m:t>
                            </m:r>
                            <m:r>
                              <m:t xml:space="preserve">)</m:t>
                            </m:r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m:t xml:space="preserve">j</m:t>
                                </m:r>
                              </m:e>
                            </m:acc>
                          </m:e>
                        </m:d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306" name="Object 58"/>
              <p:cNvSpPr txBox="1"/>
              <p:nvPr/>
            </p:nvSpPr>
            <p:spPr>
              <a:xfrm>
                <a:off x="1463760" y="3710160"/>
                <a:ext cx="3717720" cy="838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07" name="Object 59"/>
              <p:cNvSpPr txBox="1"/>
              <p:nvPr/>
            </p:nvSpPr>
            <p:spPr>
              <a:xfrm>
                <a:off x="6400800" y="2490840"/>
                <a:ext cx="2133720" cy="555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8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10 {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  <m:r>
                      <m:t xml:space="preserve">(</m:t>
                    </m:r>
                    <m:r>
                      <m:t xml:space="preserve">N</m:t>
                    </m:r>
                    <m:r>
                      <m:t xml:space="preserve">⋅</m:t>
                    </m:r>
                    <m:r>
                      <m:t xml:space="preserve">s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307" name="Object 59"/>
              <p:cNvSpPr txBox="1"/>
              <p:nvPr/>
            </p:nvSpPr>
            <p:spPr>
              <a:xfrm>
                <a:off x="6400800" y="2490840"/>
                <a:ext cx="2133720" cy="5554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08" name="Object 60"/>
              <p:cNvSpPr txBox="1"/>
              <p:nvPr/>
            </p:nvSpPr>
            <p:spPr>
              <a:xfrm>
                <a:off x="325440" y="4648320"/>
                <a:ext cx="1380960" cy="591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=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P</m:t>
                        </m:r>
                      </m:e>
                    </m:acc>
                    <m:r>
                      <m:t xml:space="preserve">−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P</m:t>
                            </m:r>
                          </m:e>
                        </m:acc>
                      </m:e>
                      <m:sub>
                        <m:r>
                          <m:t xml:space="preserve">0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08" name="Object 60"/>
              <p:cNvSpPr txBox="1"/>
              <p:nvPr/>
            </p:nvSpPr>
            <p:spPr>
              <a:xfrm>
                <a:off x="325440" y="4648320"/>
                <a:ext cx="1380960" cy="5918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09" name="Object 61"/>
              <p:cNvSpPr txBox="1"/>
              <p:nvPr/>
            </p:nvSpPr>
            <p:spPr>
              <a:xfrm>
                <a:off x="2209680" y="4678200"/>
                <a:ext cx="1381320" cy="592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P</m:t>
                        </m:r>
                      </m:e>
                    </m:acc>
                    <m:r>
                      <m:t xml:space="preserve">=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+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P</m:t>
                            </m:r>
                          </m:e>
                        </m:acc>
                      </m:e>
                      <m:sub>
                        <m:r>
                          <m:t xml:space="preserve">0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09" name="Object 61"/>
              <p:cNvSpPr txBox="1"/>
              <p:nvPr/>
            </p:nvSpPr>
            <p:spPr>
              <a:xfrm>
                <a:off x="2209680" y="4678200"/>
                <a:ext cx="1381320" cy="592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10" name="Object 62"/>
              <p:cNvSpPr txBox="1"/>
              <p:nvPr/>
            </p:nvSpPr>
            <p:spPr>
              <a:xfrm>
                <a:off x="4019400" y="4678200"/>
                <a:ext cx="2305080" cy="592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P</m:t>
                            </m:r>
                          </m:e>
                        </m:acc>
                      </m:e>
                      <m:sub>
                        <m:r>
                          <m:t xml:space="preserve">0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m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0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2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10" name="Object 62"/>
              <p:cNvSpPr txBox="1"/>
              <p:nvPr/>
            </p:nvSpPr>
            <p:spPr>
              <a:xfrm>
                <a:off x="4019400" y="4678200"/>
                <a:ext cx="2305080" cy="592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11" name="Object 63"/>
              <p:cNvSpPr txBox="1"/>
              <p:nvPr/>
            </p:nvSpPr>
            <p:spPr>
              <a:xfrm>
                <a:off x="4419720" y="3024360"/>
                <a:ext cx="2743200" cy="555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8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12 {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  <m:r>
                      <m:t xml:space="preserve">(</m:t>
                    </m:r>
                    <m:f>
                      <m:fPr>
                        <m:type m:val="lin"/>
                      </m:fPr>
                      <m:num>
                        <m:r>
                          <m:rPr>
                            <m:lit/>
                            <m:nor/>
                          </m:rPr>
                          <m:t xml:space="preserve">kg</m:t>
                        </m:r>
                        <m:r>
                          <m:t xml:space="preserve">⋅</m:t>
                        </m:r>
                        <m:r>
                          <m:t xml:space="preserve">m</m:t>
                        </m:r>
                      </m:num>
                      <m:den>
                        <m:r>
                          <m:t xml:space="preserve">s</m:t>
                        </m:r>
                      </m:den>
                    </m:f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311" name="Object 63"/>
              <p:cNvSpPr txBox="1"/>
              <p:nvPr/>
            </p:nvSpPr>
            <p:spPr>
              <a:xfrm>
                <a:off x="4419720" y="3024360"/>
                <a:ext cx="2743200" cy="55548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p:sp>
        <p:nvSpPr>
          <p:cNvPr id="312" name="星形: 五角 22"/>
          <p:cNvSpPr/>
          <p:nvPr/>
        </p:nvSpPr>
        <p:spPr>
          <a:xfrm>
            <a:off x="8277120" y="6165720"/>
            <a:ext cx="433440" cy="40500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9" dur="indefinite" restart="never" nodeType="tmRoot">
          <p:childTnLst>
            <p:seq>
              <p:cTn id="760" dur="indefinite" nodeType="mainSeq">
                <p:childTnLst>
                  <p:par>
                    <p:cTn id="761" fill="hold" nodeType="clickEffect">
                      <p:stCondLst>
                        <p:cond delay="indefinite"/>
                      </p:stCondLst>
                      <p:childTnLst>
                        <p:par>
                          <p:cTn id="76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6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65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6" fill="hold" nodeType="clickEffect">
                      <p:stCondLst>
                        <p:cond delay="indefinite"/>
                      </p:stCondLst>
                      <p:childTnLst>
                        <p:par>
                          <p:cTn id="76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6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70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1" fill="hold" nodeType="clickEffect">
                      <p:stCondLst>
                        <p:cond delay="indefinite"/>
                      </p:stCondLst>
                      <p:childTnLst>
                        <p:par>
                          <p:cTn id="77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7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75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6" fill="hold" nodeType="clickEffect">
                      <p:stCondLst>
                        <p:cond delay="indefinite"/>
                      </p:stCondLst>
                      <p:childTnLst>
                        <p:par>
                          <p:cTn id="77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7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80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1" fill="hold" nodeType="clickEffect">
                      <p:stCondLst>
                        <p:cond delay="indefinite"/>
                      </p:stCondLst>
                      <p:childTnLst>
                        <p:par>
                          <p:cTn id="78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8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85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6" fill="hold" nodeType="clickEffect">
                      <p:stCondLst>
                        <p:cond delay="indefinite"/>
                      </p:stCondLst>
                      <p:childTnLst>
                        <p:par>
                          <p:cTn id="78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8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90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1" fill="hold" nodeType="clickEffect">
                      <p:stCondLst>
                        <p:cond delay="indefinite"/>
                      </p:stCondLst>
                      <p:childTnLst>
                        <p:par>
                          <p:cTn id="79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9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795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 Box 2"/>
          <p:cNvSpPr/>
          <p:nvPr/>
        </p:nvSpPr>
        <p:spPr>
          <a:xfrm>
            <a:off x="-206640" y="136440"/>
            <a:ext cx="9393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P41/2.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m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小球从高为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H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处自由下落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与地碰撞后回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Text Box 3"/>
          <p:cNvSpPr/>
          <p:nvPr/>
        </p:nvSpPr>
        <p:spPr>
          <a:xfrm>
            <a:off x="-132480" y="669960"/>
            <a:ext cx="9210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跳到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3H/4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高度处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则地面给予小球的冲量大小为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____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Text Box 4"/>
          <p:cNvSpPr/>
          <p:nvPr/>
        </p:nvSpPr>
        <p:spPr>
          <a:xfrm>
            <a:off x="33120" y="1736640"/>
            <a:ext cx="3891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_________________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Rectangle 5"/>
          <p:cNvSpPr/>
          <p:nvPr/>
        </p:nvSpPr>
        <p:spPr>
          <a:xfrm>
            <a:off x="5410080" y="4038480"/>
            <a:ext cx="2438640" cy="152640"/>
          </a:xfrm>
          <a:prstGeom prst="rect">
            <a:avLst/>
          </a:prstGeom>
          <a:blipFill rotWithShape="0">
            <a:blip r:embed="rId1"/>
            <a:srcRect/>
            <a:tile tx="0" ty="0" sx="100000" sy="100000" algn="ctr"/>
          </a:blip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Line 6"/>
          <p:cNvSpPr/>
          <p:nvPr/>
        </p:nvSpPr>
        <p:spPr>
          <a:xfrm flipH="1">
            <a:off x="5791320" y="2057400"/>
            <a:ext cx="838080" cy="0"/>
          </a:xfrm>
          <a:prstGeom prst="line">
            <a:avLst/>
          </a:prstGeom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Line 7"/>
          <p:cNvSpPr/>
          <p:nvPr/>
        </p:nvSpPr>
        <p:spPr>
          <a:xfrm>
            <a:off x="5943600" y="2057400"/>
            <a:ext cx="0" cy="1981080"/>
          </a:xfrm>
          <a:prstGeom prst="line">
            <a:avLst/>
          </a:prstGeom>
          <a:ln w="28440">
            <a:solidFill>
              <a:srgbClr val="000000"/>
            </a:solidFill>
            <a:miter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19" name="Object 8"/>
              <p:cNvSpPr txBox="1"/>
              <p:nvPr/>
            </p:nvSpPr>
            <p:spPr>
              <a:xfrm>
                <a:off x="5486400" y="2895480"/>
                <a:ext cx="415800" cy="405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H</m:t>
                    </m:r>
                  </m:oMath>
                </a14:m>
              </a:p>
            </p:txBody>
          </p:sp>
        </mc:Choice>
        <mc:Fallback>
          <p:sp>
            <p:nvSpPr>
              <p:cNvPr id="319" name="Object 8"/>
              <p:cNvSpPr txBox="1"/>
              <p:nvPr/>
            </p:nvSpPr>
            <p:spPr>
              <a:xfrm>
                <a:off x="5486400" y="2895480"/>
                <a:ext cx="415800" cy="4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320" name="Oval 9"/>
          <p:cNvSpPr/>
          <p:nvPr/>
        </p:nvSpPr>
        <p:spPr>
          <a:xfrm>
            <a:off x="6553080" y="1905120"/>
            <a:ext cx="304920" cy="30456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00CC99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Oval 10"/>
          <p:cNvSpPr/>
          <p:nvPr/>
        </p:nvSpPr>
        <p:spPr>
          <a:xfrm>
            <a:off x="6553080" y="2514600"/>
            <a:ext cx="304920" cy="30492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00CC99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Oval 11"/>
          <p:cNvSpPr/>
          <p:nvPr/>
        </p:nvSpPr>
        <p:spPr>
          <a:xfrm>
            <a:off x="6553080" y="3124080"/>
            <a:ext cx="304920" cy="30492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00CC99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Oval 12"/>
          <p:cNvSpPr/>
          <p:nvPr/>
        </p:nvSpPr>
        <p:spPr>
          <a:xfrm>
            <a:off x="6553080" y="3733920"/>
            <a:ext cx="304920" cy="30456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00CC99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Line 13"/>
          <p:cNvSpPr/>
          <p:nvPr/>
        </p:nvSpPr>
        <p:spPr>
          <a:xfrm>
            <a:off x="7516800" y="2666880"/>
            <a:ext cx="0" cy="1371600"/>
          </a:xfrm>
          <a:prstGeom prst="line">
            <a:avLst/>
          </a:prstGeom>
          <a:ln w="28440">
            <a:solidFill>
              <a:srgbClr val="000000"/>
            </a:solidFill>
            <a:miter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25" name="Object 14"/>
              <p:cNvSpPr txBox="1"/>
              <p:nvPr/>
            </p:nvSpPr>
            <p:spPr>
              <a:xfrm>
                <a:off x="7526160" y="2921040"/>
                <a:ext cx="703440" cy="965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3</m:t>
                        </m:r>
                      </m:num>
                      <m:den>
                        <m:r>
                          <m:t xml:space="preserve">4</m:t>
                        </m:r>
                      </m:den>
                    </m:f>
                    <m:r>
                      <m:t xml:space="preserve">H</m:t>
                    </m:r>
                  </m:oMath>
                </a14:m>
              </a:p>
            </p:txBody>
          </p:sp>
        </mc:Choice>
        <mc:Fallback>
          <p:sp>
            <p:nvSpPr>
              <p:cNvPr id="325" name="Object 14"/>
              <p:cNvSpPr txBox="1"/>
              <p:nvPr/>
            </p:nvSpPr>
            <p:spPr>
              <a:xfrm>
                <a:off x="7526160" y="2921040"/>
                <a:ext cx="703440" cy="96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326" name="Line 15"/>
          <p:cNvSpPr/>
          <p:nvPr/>
        </p:nvSpPr>
        <p:spPr>
          <a:xfrm>
            <a:off x="6400800" y="3886200"/>
            <a:ext cx="0" cy="68580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27" name="Object 16"/>
              <p:cNvSpPr txBox="1"/>
              <p:nvPr/>
            </p:nvSpPr>
            <p:spPr>
              <a:xfrm>
                <a:off x="6172200" y="4495680"/>
                <a:ext cx="447840" cy="528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27" name="Object 16"/>
              <p:cNvSpPr txBox="1"/>
              <p:nvPr/>
            </p:nvSpPr>
            <p:spPr>
              <a:xfrm>
                <a:off x="6172200" y="4495680"/>
                <a:ext cx="447840" cy="5288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328" name="Line 17"/>
          <p:cNvSpPr/>
          <p:nvPr/>
        </p:nvSpPr>
        <p:spPr>
          <a:xfrm flipV="1">
            <a:off x="6934320" y="3276720"/>
            <a:ext cx="0" cy="761760"/>
          </a:xfrm>
          <a:prstGeom prst="line">
            <a:avLst/>
          </a:prstGeom>
          <a:ln w="38160">
            <a:solidFill>
              <a:srgbClr val="0000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29" name="Object 18"/>
              <p:cNvSpPr txBox="1"/>
              <p:nvPr/>
            </p:nvSpPr>
            <p:spPr>
              <a:xfrm>
                <a:off x="7020000" y="3276720"/>
                <a:ext cx="447480" cy="528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2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29" name="Object 18"/>
              <p:cNvSpPr txBox="1"/>
              <p:nvPr/>
            </p:nvSpPr>
            <p:spPr>
              <a:xfrm>
                <a:off x="7020000" y="3276720"/>
                <a:ext cx="447480" cy="5284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330" name="Line 19"/>
          <p:cNvSpPr/>
          <p:nvPr/>
        </p:nvSpPr>
        <p:spPr>
          <a:xfrm flipV="1">
            <a:off x="8534520" y="3047760"/>
            <a:ext cx="0" cy="1066680"/>
          </a:xfrm>
          <a:prstGeom prst="line">
            <a:avLst/>
          </a:prstGeom>
          <a:ln w="38160">
            <a:solidFill>
              <a:srgbClr val="FF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31" name="Group 20"/>
          <p:cNvGrpSpPr/>
          <p:nvPr/>
        </p:nvGrpSpPr>
        <p:grpSpPr>
          <a:xfrm>
            <a:off x="8458200" y="2590920"/>
            <a:ext cx="304920" cy="304560"/>
            <a:chOff x="8458200" y="2590920"/>
            <a:chExt cx="304920" cy="304560"/>
          </a:xfrm>
        </p:grpSpPr>
        <p:sp>
          <p:nvSpPr>
            <p:cNvPr id="332" name="Line 21"/>
            <p:cNvSpPr/>
            <p:nvPr/>
          </p:nvSpPr>
          <p:spPr>
            <a:xfrm>
              <a:off x="8458200" y="2743200"/>
              <a:ext cx="304920" cy="0"/>
            </a:xfrm>
            <a:prstGeom prst="line">
              <a:avLst/>
            </a:prstGeom>
            <a:ln w="381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3" name="Line 22"/>
            <p:cNvSpPr/>
            <p:nvPr/>
          </p:nvSpPr>
          <p:spPr>
            <a:xfrm>
              <a:off x="8610480" y="2590920"/>
              <a:ext cx="0" cy="304560"/>
            </a:xfrm>
            <a:prstGeom prst="line">
              <a:avLst/>
            </a:prstGeom>
            <a:ln w="381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mc:AlternateContent>
        <mc:Choice xmlns:a14="http://schemas.microsoft.com/office/drawing/2010/main" Requires="a14">
          <p:sp>
            <p:nvSpPr>
              <p:cNvPr id="334" name="Object 23"/>
              <p:cNvSpPr txBox="1"/>
              <p:nvPr/>
            </p:nvSpPr>
            <p:spPr>
              <a:xfrm>
                <a:off x="457200" y="2406600"/>
                <a:ext cx="2228760" cy="592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=</m:t>
                    </m:r>
                    <m:r>
                      <m:t xml:space="preserve">m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−</m:t>
                    </m:r>
                    <m:r>
                      <m:t xml:space="preserve">m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34" name="Object 23"/>
              <p:cNvSpPr txBox="1"/>
              <p:nvPr/>
            </p:nvSpPr>
            <p:spPr>
              <a:xfrm>
                <a:off x="457200" y="2406600"/>
                <a:ext cx="2228760" cy="592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35" name="Object 24"/>
              <p:cNvSpPr txBox="1"/>
              <p:nvPr/>
            </p:nvSpPr>
            <p:spPr>
              <a:xfrm>
                <a:off x="457200" y="3168720"/>
                <a:ext cx="2693880" cy="530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I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mv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−</m:t>
                    </m:r>
                    <m:r>
                      <m:t xml:space="preserve">m</m:t>
                    </m:r>
                    <m:r>
                      <m:t xml:space="preserve">(</m:t>
                    </m:r>
                    <m:r>
                      <m:t xml:space="preserve">−</m:t>
                    </m:r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335" name="Object 24"/>
              <p:cNvSpPr txBox="1"/>
              <p:nvPr/>
            </p:nvSpPr>
            <p:spPr>
              <a:xfrm>
                <a:off x="457200" y="3168720"/>
                <a:ext cx="2693880" cy="5302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36" name="Object 25"/>
              <p:cNvSpPr txBox="1"/>
              <p:nvPr/>
            </p:nvSpPr>
            <p:spPr>
              <a:xfrm>
                <a:off x="457200" y="3930480"/>
                <a:ext cx="1631880" cy="584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=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m:t xml:space="preserve">2</m:t>
                        </m:r>
                        <m:r>
                          <m:t xml:space="preserve">gH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336" name="Object 25"/>
              <p:cNvSpPr txBox="1"/>
              <p:nvPr/>
            </p:nvSpPr>
            <p:spPr>
              <a:xfrm>
                <a:off x="457200" y="3930480"/>
                <a:ext cx="1631880" cy="5842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37" name="Object 26"/>
              <p:cNvSpPr txBox="1"/>
              <p:nvPr/>
            </p:nvSpPr>
            <p:spPr>
              <a:xfrm>
                <a:off x="457200" y="4692600"/>
                <a:ext cx="1996920" cy="1022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=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m:t xml:space="preserve">2</m:t>
                        </m:r>
                        <m:r>
                          <m:t xml:space="preserve">g</m:t>
                        </m:r>
                        <m:f>
                          <m:num>
                            <m:r>
                              <m:t xml:space="preserve">3</m:t>
                            </m:r>
                          </m:num>
                          <m:den>
                            <m:r>
                              <m:t xml:space="preserve">4</m:t>
                            </m:r>
                          </m:den>
                        </m:f>
                        <m:r>
                          <m:t xml:space="preserve">H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337" name="Object 26"/>
              <p:cNvSpPr txBox="1"/>
              <p:nvPr/>
            </p:nvSpPr>
            <p:spPr>
              <a:xfrm>
                <a:off x="457200" y="4692600"/>
                <a:ext cx="1996920" cy="10224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38" name="Object 27"/>
              <p:cNvSpPr txBox="1"/>
              <p:nvPr/>
            </p:nvSpPr>
            <p:spPr>
              <a:xfrm>
                <a:off x="609480" y="1219320"/>
                <a:ext cx="2446560" cy="993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m</m:t>
                        </m:r>
                        <m:rad>
                          <m:radPr>
                            <m:degHide m:val="1"/>
                          </m:radPr>
                          <m:deg/>
                          <m:e>
                            <m:r>
                              <m:t xml:space="preserve">2</m:t>
                            </m:r>
                            <m:r>
                              <m:t xml:space="preserve">gH</m:t>
                            </m:r>
                          </m:e>
                        </m:rad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(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m:t xml:space="preserve">3</m:t>
                        </m:r>
                      </m:e>
                    </m:rad>
                    <m:r>
                      <m:t xml:space="preserve">+</m:t>
                    </m:r>
                    <m:r>
                      <m:t xml:space="preserve">2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338" name="Object 27"/>
              <p:cNvSpPr txBox="1"/>
              <p:nvPr/>
            </p:nvSpPr>
            <p:spPr>
              <a:xfrm>
                <a:off x="609480" y="1219320"/>
                <a:ext cx="2446560" cy="9936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p:sp>
        <p:nvSpPr>
          <p:cNvPr id="339" name="Oval 28"/>
          <p:cNvSpPr/>
          <p:nvPr/>
        </p:nvSpPr>
        <p:spPr>
          <a:xfrm>
            <a:off x="6553080" y="2514600"/>
            <a:ext cx="304920" cy="30492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00CC99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Oval 29"/>
          <p:cNvSpPr/>
          <p:nvPr/>
        </p:nvSpPr>
        <p:spPr>
          <a:xfrm>
            <a:off x="6553080" y="3124080"/>
            <a:ext cx="304920" cy="30492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00CC99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Line 30"/>
          <p:cNvSpPr/>
          <p:nvPr/>
        </p:nvSpPr>
        <p:spPr>
          <a:xfrm>
            <a:off x="6705720" y="2666880"/>
            <a:ext cx="914400" cy="0"/>
          </a:xfrm>
          <a:prstGeom prst="line">
            <a:avLst/>
          </a:prstGeom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星形: 五角 32"/>
          <p:cNvSpPr/>
          <p:nvPr/>
        </p:nvSpPr>
        <p:spPr>
          <a:xfrm>
            <a:off x="8277120" y="6165720"/>
            <a:ext cx="433440" cy="40500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6" dur="indefinite" restart="never" nodeType="tmRoot">
          <p:childTnLst>
            <p:seq>
              <p:cTn id="797" dur="indefinite" nodeType="mainSeq">
                <p:childTnLst>
                  <p:par>
                    <p:cTn id="798" fill="hold" nodeType="clickEffect">
                      <p:stCondLst>
                        <p:cond delay="indefinite"/>
                      </p:stCondLst>
                      <p:childTnLst>
                        <p:par>
                          <p:cTn id="79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0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802" dur="1" fill="hold">
                                    <p:stCondLst>
                                      <p:cond evt="end">
                                        <p:tn val="800"/>
                                      </p:cond>
                                    </p:stCondLst>
                                  </p:cTn>
                                  <p:tgtEl>
                                    <p:spTgt spid="3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803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804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806" dur="1" fill="hold">
                                    <p:stCondLst>
                                      <p:cond evt="end">
                                        <p:tn val="804"/>
                                      </p:cond>
                                    </p:stCondLst>
                                  </p:cTn>
                                  <p:tgtEl>
                                    <p:spTgt spid="3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807" fill="hold" nodeType="afterEffect">
                            <p:stCondLst>
                              <p:cond delay="1000"/>
                            </p:stCondLst>
                            <p:childTnLst>
                              <p:par>
                                <p:cTn id="808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0" fill="hold" nodeType="clickEffect">
                      <p:stCondLst>
                        <p:cond delay="indefinite"/>
                      </p:stCondLst>
                      <p:childTnLst>
                        <p:par>
                          <p:cTn id="81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12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814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5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816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18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9" fill="hold" nodeType="clickEffect">
                      <p:stCondLst>
                        <p:cond delay="indefinite"/>
                      </p:stCondLst>
                      <p:childTnLst>
                        <p:par>
                          <p:cTn id="8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21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823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4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825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27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8" fill="hold" nodeType="clickEffect">
                      <p:stCondLst>
                        <p:cond delay="indefinite"/>
                      </p:stCondLst>
                      <p:childTnLst>
                        <p:par>
                          <p:cTn id="82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3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set>
                                <p:cBhvr>
                                  <p:cTn id="832" dur="1" fill="hold">
                                    <p:stCondLst>
                                      <p:cond evt="end">
                                        <p:tn val="830"/>
                                      </p:cond>
                                    </p:stCondLst>
                                  </p:cTn>
                                  <p:tgtEl>
                                    <p:spTgt spid="3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833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834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6" fill="hold" nodeType="clickEffect">
                      <p:stCondLst>
                        <p:cond delay="indefinite"/>
                      </p:stCondLst>
                      <p:childTnLst>
                        <p:par>
                          <p:cTn id="83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38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40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1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842" presetID="16" presetClass="entr" fill="hold" nodeType="afterEffect" presetSubtype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 additive="repl">
                                        <p:cTn id="844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5" fill="hold" nodeType="afterEffect">
                            <p:stCondLst>
                              <p:cond delay="1000"/>
                            </p:stCondLst>
                            <p:childTnLst>
                              <p:par>
                                <p:cTn id="846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48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9" fill="hold" nodeType="clickEffect">
                      <p:stCondLst>
                        <p:cond delay="indefinite"/>
                      </p:stCondLst>
                      <p:childTnLst>
                        <p:par>
                          <p:cTn id="85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5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53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4" fill="hold" nodeType="clickEffect">
                      <p:stCondLst>
                        <p:cond delay="indefinite"/>
                      </p:stCondLst>
                      <p:childTnLst>
                        <p:par>
                          <p:cTn id="85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56" presetID="2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858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9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860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62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3" fill="hold" nodeType="clickEffect">
                      <p:stCondLst>
                        <p:cond delay="indefinite"/>
                      </p:stCondLst>
                      <p:childTnLst>
                        <p:par>
                          <p:cTn id="86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6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67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8" fill="hold" nodeType="clickEffect">
                      <p:stCondLst>
                        <p:cond delay="indefinite"/>
                      </p:stCondLst>
                      <p:childTnLst>
                        <p:par>
                          <p:cTn id="86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7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72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3" fill="hold" nodeType="clickEffect">
                      <p:stCondLst>
                        <p:cond delay="indefinite"/>
                      </p:stCondLst>
                      <p:childTnLst>
                        <p:par>
                          <p:cTn id="87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7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77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8" fill="hold" nodeType="clickEffect">
                      <p:stCondLst>
                        <p:cond delay="indefinite"/>
                      </p:stCondLst>
                      <p:childTnLst>
                        <p:par>
                          <p:cTn id="87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80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82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Box 2"/>
          <p:cNvSpPr/>
          <p:nvPr/>
        </p:nvSpPr>
        <p:spPr>
          <a:xfrm>
            <a:off x="-795240" y="762120"/>
            <a:ext cx="105285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P41/4.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粒子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质量是粒子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A4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倍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开始时粒子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的速度为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Text Box 3"/>
          <p:cNvSpPr/>
          <p:nvPr/>
        </p:nvSpPr>
        <p:spPr>
          <a:xfrm>
            <a:off x="963360" y="1295280"/>
            <a:ext cx="4074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粒子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的速度为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Text Box 4"/>
          <p:cNvSpPr/>
          <p:nvPr/>
        </p:nvSpPr>
        <p:spPr>
          <a:xfrm>
            <a:off x="4426200" y="1828800"/>
            <a:ext cx="52174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则粒子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B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的速度在碰撞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46" name="Object 5"/>
              <p:cNvSpPr txBox="1"/>
              <p:nvPr/>
            </p:nvSpPr>
            <p:spPr>
              <a:xfrm>
                <a:off x="152280" y="1295280"/>
                <a:ext cx="1381320" cy="609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3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+</m:t>
                    </m:r>
                    <m:r>
                      <m:t xml:space="preserve">4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46" name="Object 5"/>
              <p:cNvSpPr txBox="1"/>
              <p:nvPr/>
            </p:nvSpPr>
            <p:spPr>
              <a:xfrm>
                <a:off x="152280" y="1295280"/>
                <a:ext cx="1381320" cy="6098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347" name="Text Box 6"/>
          <p:cNvSpPr/>
          <p:nvPr/>
        </p:nvSpPr>
        <p:spPr>
          <a:xfrm>
            <a:off x="5246640" y="1295280"/>
            <a:ext cx="4181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。由于两者相互碰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48" name="Object 7"/>
              <p:cNvSpPr txBox="1"/>
              <p:nvPr/>
            </p:nvSpPr>
            <p:spPr>
              <a:xfrm>
                <a:off x="4410000" y="1295280"/>
                <a:ext cx="1381320" cy="609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2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−</m:t>
                    </m:r>
                    <m:r>
                      <m:t xml:space="preserve">7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48" name="Object 7"/>
              <p:cNvSpPr txBox="1"/>
              <p:nvPr/>
            </p:nvSpPr>
            <p:spPr>
              <a:xfrm>
                <a:off x="4410000" y="1295280"/>
                <a:ext cx="1381320" cy="6098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349" name="Text Box 8"/>
          <p:cNvSpPr/>
          <p:nvPr/>
        </p:nvSpPr>
        <p:spPr>
          <a:xfrm>
            <a:off x="-497160" y="1828800"/>
            <a:ext cx="49280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撞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粒子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A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的速度变为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50" name="Object 9"/>
              <p:cNvSpPr txBox="1"/>
              <p:nvPr/>
            </p:nvSpPr>
            <p:spPr>
              <a:xfrm>
                <a:off x="3657600" y="1828800"/>
                <a:ext cx="1380960" cy="609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7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−</m:t>
                    </m:r>
                    <m:r>
                      <m:t xml:space="preserve">4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50" name="Object 9"/>
              <p:cNvSpPr txBox="1"/>
              <p:nvPr/>
            </p:nvSpPr>
            <p:spPr>
              <a:xfrm>
                <a:off x="3657600" y="1828800"/>
                <a:ext cx="1380960" cy="6094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351" name="Text Box 10"/>
          <p:cNvSpPr/>
          <p:nvPr/>
        </p:nvSpPr>
        <p:spPr>
          <a:xfrm>
            <a:off x="-402480" y="2362320"/>
            <a:ext cx="47451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后变为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52" name="Object 11"/>
              <p:cNvSpPr txBox="1"/>
              <p:nvPr/>
            </p:nvSpPr>
            <p:spPr>
              <a:xfrm>
                <a:off x="838080" y="3276720"/>
                <a:ext cx="4988160" cy="542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A</m:t>
                        </m:r>
                      </m:sub>
                    </m:sSub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Ao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B</m:t>
                        </m:r>
                      </m:sub>
                    </m:sSub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Bo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A</m:t>
                        </m:r>
                      </m:sub>
                    </m:sSub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A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B</m:t>
                        </m:r>
                      </m:sub>
                    </m:sSub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B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52" name="Object 11"/>
              <p:cNvSpPr txBox="1"/>
              <p:nvPr/>
            </p:nvSpPr>
            <p:spPr>
              <a:xfrm>
                <a:off x="838080" y="3276720"/>
                <a:ext cx="4988160" cy="5428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53" name="Object 12"/>
              <p:cNvSpPr txBox="1"/>
              <p:nvPr/>
            </p:nvSpPr>
            <p:spPr>
              <a:xfrm>
                <a:off x="838080" y="4038480"/>
                <a:ext cx="5411880" cy="542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A</m:t>
                        </m:r>
                      </m:sub>
                    </m:sSub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Ao</m:t>
                        </m:r>
                      </m:sub>
                    </m:sSub>
                    <m:r>
                      <m:t xml:space="preserve">+</m:t>
                    </m:r>
                    <m:r>
                      <m:t xml:space="preserve">4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A</m:t>
                        </m:r>
                      </m:sub>
                    </m:sSub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Bo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A</m:t>
                        </m:r>
                      </m:sub>
                    </m:sSub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A</m:t>
                        </m:r>
                      </m:sub>
                    </m:sSub>
                    <m:r>
                      <m:t xml:space="preserve">+</m:t>
                    </m:r>
                    <m:r>
                      <m:t xml:space="preserve">4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t xml:space="preserve">A</m:t>
                        </m:r>
                      </m:sub>
                    </m:sSub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B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53" name="Object 12"/>
              <p:cNvSpPr txBox="1"/>
              <p:nvPr/>
            </p:nvSpPr>
            <p:spPr>
              <a:xfrm>
                <a:off x="838080" y="4038480"/>
                <a:ext cx="5411880" cy="5428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54" name="Object 13"/>
              <p:cNvSpPr txBox="1"/>
              <p:nvPr/>
            </p:nvSpPr>
            <p:spPr>
              <a:xfrm>
                <a:off x="914400" y="4724280"/>
                <a:ext cx="3456000" cy="542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Ao</m:t>
                        </m:r>
                      </m:sub>
                    </m:sSub>
                    <m:r>
                      <m:t xml:space="preserve">+</m:t>
                    </m:r>
                    <m:r>
                      <m:t xml:space="preserve">4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Bo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A</m:t>
                        </m:r>
                      </m:sub>
                    </m:sSub>
                    <m:r>
                      <m:t xml:space="preserve">+</m:t>
                    </m:r>
                    <m:r>
                      <m:t xml:space="preserve">4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B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54" name="Object 13"/>
              <p:cNvSpPr txBox="1"/>
              <p:nvPr/>
            </p:nvSpPr>
            <p:spPr>
              <a:xfrm>
                <a:off x="914400" y="4724280"/>
                <a:ext cx="3456000" cy="5428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55" name="Object 14"/>
              <p:cNvSpPr txBox="1"/>
              <p:nvPr/>
            </p:nvSpPr>
            <p:spPr>
              <a:xfrm>
                <a:off x="762120" y="5410080"/>
                <a:ext cx="6799320" cy="609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(</m:t>
                    </m:r>
                    <m:r>
                      <m:t xml:space="preserve">3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+</m:t>
                    </m:r>
                    <m:r>
                      <m:t xml:space="preserve">4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  <m:r>
                      <m:t xml:space="preserve">)</m:t>
                    </m:r>
                    <m:r>
                      <m:t xml:space="preserve">+</m:t>
                    </m:r>
                    <m:r>
                      <m:t xml:space="preserve">4</m:t>
                    </m:r>
                    <m:r>
                      <m:t xml:space="preserve">(</m:t>
                    </m:r>
                    <m:r>
                      <m:t xml:space="preserve">2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−</m:t>
                    </m:r>
                    <m:r>
                      <m:t xml:space="preserve">7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  <m:r>
                      <m:t xml:space="preserve">)</m:t>
                    </m:r>
                    <m:r>
                      <m:t xml:space="preserve">=</m:t>
                    </m:r>
                    <m:r>
                      <m:t xml:space="preserve">(</m:t>
                    </m:r>
                    <m:r>
                      <m:t xml:space="preserve">7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−</m:t>
                    </m:r>
                    <m:r>
                      <m:t xml:space="preserve">4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  <m:r>
                      <m:t xml:space="preserve">)</m:t>
                    </m:r>
                    <m:r>
                      <m:t xml:space="preserve">+</m:t>
                    </m:r>
                    <m:r>
                      <m:t xml:space="preserve">4</m:t>
                    </m:r>
                    <m:sSub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v</m:t>
                            </m:r>
                          </m:e>
                        </m:acc>
                      </m:e>
                      <m:sub>
                        <m:r>
                          <m:t xml:space="preserve">B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355" name="Object 14"/>
              <p:cNvSpPr txBox="1"/>
              <p:nvPr/>
            </p:nvSpPr>
            <p:spPr>
              <a:xfrm>
                <a:off x="762120" y="5410080"/>
                <a:ext cx="6799320" cy="6098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56" name="Object 15"/>
              <p:cNvSpPr txBox="1"/>
              <p:nvPr/>
            </p:nvSpPr>
            <p:spPr>
              <a:xfrm>
                <a:off x="1752480" y="2362320"/>
                <a:ext cx="1133640" cy="609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−</m:t>
                    </m:r>
                    <m:r>
                      <m:t xml:space="preserve">5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56" name="Object 15"/>
              <p:cNvSpPr txBox="1"/>
              <p:nvPr/>
            </p:nvSpPr>
            <p:spPr>
              <a:xfrm>
                <a:off x="1752480" y="2362320"/>
                <a:ext cx="1133640" cy="6094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83" dur="indefinite" restart="never" nodeType="tmRoot">
          <p:childTnLst>
            <p:seq>
              <p:cTn id="884" dur="indefinite" nodeType="mainSeq">
                <p:childTnLst>
                  <p:par>
                    <p:cTn id="885" fill="hold" nodeType="clickEffect">
                      <p:stCondLst>
                        <p:cond delay="indefinite"/>
                      </p:stCondLst>
                      <p:childTnLst>
                        <p:par>
                          <p:cTn id="88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8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89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0" fill="hold" nodeType="clickEffect">
                      <p:stCondLst>
                        <p:cond delay="indefinite"/>
                      </p:stCondLst>
                      <p:childTnLst>
                        <p:par>
                          <p:cTn id="89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9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94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5" fill="hold" nodeType="clickEffect">
                      <p:stCondLst>
                        <p:cond delay="indefinite"/>
                      </p:stCondLst>
                      <p:childTnLst>
                        <p:par>
                          <p:cTn id="89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9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899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0" fill="hold" nodeType="clickEffect">
                      <p:stCondLst>
                        <p:cond delay="indefinite"/>
                      </p:stCondLst>
                      <p:childTnLst>
                        <p:par>
                          <p:cTn id="90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02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04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5" fill="hold" nodeType="clickEffect">
                      <p:stCondLst>
                        <p:cond delay="indefinite"/>
                      </p:stCondLst>
                      <p:childTnLst>
                        <p:par>
                          <p:cTn id="90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07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09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 Box 1027"/>
          <p:cNvSpPr/>
          <p:nvPr/>
        </p:nvSpPr>
        <p:spPr>
          <a:xfrm>
            <a:off x="-711000" y="76320"/>
            <a:ext cx="729756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P41/5.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质量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5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千克物体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它受到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x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轴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Line 1028"/>
          <p:cNvSpPr/>
          <p:nvPr/>
        </p:nvSpPr>
        <p:spPr>
          <a:xfrm>
            <a:off x="6400800" y="1371600"/>
            <a:ext cx="243828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Line 1029"/>
          <p:cNvSpPr/>
          <p:nvPr/>
        </p:nvSpPr>
        <p:spPr>
          <a:xfrm flipV="1">
            <a:off x="6400800" y="151920"/>
            <a:ext cx="0" cy="205740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Line 1030"/>
          <p:cNvSpPr/>
          <p:nvPr/>
        </p:nvSpPr>
        <p:spPr>
          <a:xfrm>
            <a:off x="6400800" y="990720"/>
            <a:ext cx="76320" cy="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Line 1031"/>
          <p:cNvSpPr/>
          <p:nvPr/>
        </p:nvSpPr>
        <p:spPr>
          <a:xfrm>
            <a:off x="6400800" y="533520"/>
            <a:ext cx="76320" cy="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Line 1032"/>
          <p:cNvSpPr/>
          <p:nvPr/>
        </p:nvSpPr>
        <p:spPr>
          <a:xfrm>
            <a:off x="6400800" y="1752480"/>
            <a:ext cx="76320" cy="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Line 1033"/>
          <p:cNvSpPr/>
          <p:nvPr/>
        </p:nvSpPr>
        <p:spPr>
          <a:xfrm>
            <a:off x="7238880" y="1295280"/>
            <a:ext cx="0" cy="7632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9520" rIns="90000" bIns="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Line 1034"/>
          <p:cNvSpPr/>
          <p:nvPr/>
        </p:nvSpPr>
        <p:spPr>
          <a:xfrm>
            <a:off x="8077320" y="1295280"/>
            <a:ext cx="0" cy="7632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29520" rIns="90000" bIns="29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Line 1035"/>
          <p:cNvSpPr/>
          <p:nvPr/>
        </p:nvSpPr>
        <p:spPr>
          <a:xfrm>
            <a:off x="6400800" y="533520"/>
            <a:ext cx="838080" cy="83808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Line 1036"/>
          <p:cNvSpPr/>
          <p:nvPr/>
        </p:nvSpPr>
        <p:spPr>
          <a:xfrm>
            <a:off x="7238880" y="1371600"/>
            <a:ext cx="838440" cy="53352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Line 1037"/>
          <p:cNvSpPr/>
          <p:nvPr/>
        </p:nvSpPr>
        <p:spPr>
          <a:xfrm>
            <a:off x="8077320" y="1371600"/>
            <a:ext cx="0" cy="533520"/>
          </a:xfrm>
          <a:prstGeom prst="line">
            <a:avLst/>
          </a:prstGeom>
          <a:ln w="1908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Text Box 1038"/>
          <p:cNvSpPr/>
          <p:nvPr/>
        </p:nvSpPr>
        <p:spPr>
          <a:xfrm>
            <a:off x="6005880" y="76320"/>
            <a:ext cx="17427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F(N)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Text Box 1039"/>
          <p:cNvSpPr/>
          <p:nvPr/>
        </p:nvSpPr>
        <p:spPr>
          <a:xfrm>
            <a:off x="7796520" y="1371600"/>
            <a:ext cx="17427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t(s)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Text Box 1040"/>
          <p:cNvSpPr/>
          <p:nvPr/>
        </p:nvSpPr>
        <p:spPr>
          <a:xfrm>
            <a:off x="-457200" y="517680"/>
            <a:ext cx="68407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方向力的作用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该力随时间的变化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Text Box 1041"/>
          <p:cNvSpPr/>
          <p:nvPr/>
        </p:nvSpPr>
        <p:spPr>
          <a:xfrm>
            <a:off x="-386280" y="974880"/>
            <a:ext cx="6848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关系如图所示。若物体从静止开始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Text Box 1042"/>
          <p:cNvSpPr/>
          <p:nvPr/>
        </p:nvSpPr>
        <p:spPr>
          <a:xfrm>
            <a:off x="-568440" y="1447920"/>
            <a:ext cx="70236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运动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则在第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20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秒末物体运动的速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Text Box 1043"/>
          <p:cNvSpPr/>
          <p:nvPr/>
        </p:nvSpPr>
        <p:spPr>
          <a:xfrm>
            <a:off x="-475560" y="1965240"/>
            <a:ext cx="5126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度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。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74" name="Object 1044"/>
              <p:cNvSpPr txBox="1"/>
              <p:nvPr/>
            </p:nvSpPr>
            <p:spPr>
              <a:xfrm>
                <a:off x="557280" y="2819520"/>
                <a:ext cx="3643200" cy="706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F</m:t>
                            </m:r>
                          </m:e>
                        </m:acc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e>
                    </m:nary>
                    <m:r>
                      <m:t xml:space="preserve">=</m:t>
                    </m:r>
                    <m:r>
                      <m:t xml:space="preserve">m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  <m:r>
                      <m:t xml:space="preserve">−</m:t>
                    </m:r>
                    <m:r>
                      <m:t xml:space="preserve">m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v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74" name="Object 1044"/>
              <p:cNvSpPr txBox="1"/>
              <p:nvPr/>
            </p:nvSpPr>
            <p:spPr>
              <a:xfrm>
                <a:off x="557280" y="2819520"/>
                <a:ext cx="3643200" cy="7063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375" name="Text Box 1045"/>
          <p:cNvSpPr/>
          <p:nvPr/>
        </p:nvSpPr>
        <p:spPr>
          <a:xfrm>
            <a:off x="5511960" y="1523880"/>
            <a:ext cx="1387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-5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Text Box 1046"/>
          <p:cNvSpPr/>
          <p:nvPr/>
        </p:nvSpPr>
        <p:spPr>
          <a:xfrm>
            <a:off x="5622120" y="762120"/>
            <a:ext cx="12603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Text Box 1047"/>
          <p:cNvSpPr/>
          <p:nvPr/>
        </p:nvSpPr>
        <p:spPr>
          <a:xfrm>
            <a:off x="5546880" y="304920"/>
            <a:ext cx="1387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Text Box 1048"/>
          <p:cNvSpPr/>
          <p:nvPr/>
        </p:nvSpPr>
        <p:spPr>
          <a:xfrm>
            <a:off x="6537240" y="1355760"/>
            <a:ext cx="1387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10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Text Box 1049"/>
          <p:cNvSpPr/>
          <p:nvPr/>
        </p:nvSpPr>
        <p:spPr>
          <a:xfrm>
            <a:off x="7238880" y="1355760"/>
            <a:ext cx="1387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2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20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80" name="Object 1050"/>
              <p:cNvSpPr txBox="1"/>
              <p:nvPr/>
            </p:nvSpPr>
            <p:spPr>
              <a:xfrm>
                <a:off x="609480" y="3809880"/>
                <a:ext cx="3006720" cy="706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rPr>
                            <m:lit/>
                            <m:nor/>
                          </m:rPr>
                          <m:t xml:space="preserve">Fdt</m:t>
                        </m:r>
                      </m:e>
                    </m:nary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mv</m:t>
                    </m:r>
                    <m:r>
                      <m:t xml:space="preserve">−</m:t>
                    </m:r>
                    <m:r>
                      <m:rPr>
                        <m:lit/>
                        <m:nor/>
                      </m:rPr>
                      <m:t xml:space="preserve">mv</m:t>
                    </m:r>
                  </m:oMath>
                </a14:m>
              </a:p>
            </p:txBody>
          </p:sp>
        </mc:Choice>
        <mc:Fallback>
          <p:sp>
            <p:nvSpPr>
              <p:cNvPr id="380" name="Object 1050"/>
              <p:cNvSpPr txBox="1"/>
              <p:nvPr/>
            </p:nvSpPr>
            <p:spPr>
              <a:xfrm>
                <a:off x="609480" y="3809880"/>
                <a:ext cx="3006720" cy="7066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81" name="Object 1051"/>
              <p:cNvSpPr txBox="1"/>
              <p:nvPr/>
            </p:nvSpPr>
            <p:spPr>
              <a:xfrm>
                <a:off x="380880" y="4800600"/>
                <a:ext cx="5166000" cy="995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×</m:t>
                    </m:r>
                    <m:r>
                      <m:rPr>
                        <m:lit/>
                        <m:nor/>
                      </m:rPr>
                      <m:t xml:space="preserve">10</m:t>
                    </m:r>
                    <m:r>
                      <m:t xml:space="preserve">×</m:t>
                    </m:r>
                    <m:r>
                      <m:rPr>
                        <m:lit/>
                        <m:nor/>
                      </m:rPr>
                      <m:t xml:space="preserve">10</m:t>
                    </m:r>
                    <m:r>
                      <m:t xml:space="preserve">−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×</m:t>
                    </m:r>
                    <m:r>
                      <m:rPr>
                        <m:lit/>
                        <m:nor/>
                      </m:rPr>
                      <m:t xml:space="preserve">10</m:t>
                    </m:r>
                    <m:r>
                      <m:t xml:space="preserve">×</m:t>
                    </m:r>
                    <m:r>
                      <m:t xml:space="preserve">5</m:t>
                    </m:r>
                    <m:r>
                      <m:t xml:space="preserve">=</m:t>
                    </m:r>
                    <m:r>
                      <m:t xml:space="preserve">5</m:t>
                    </m:r>
                    <m:r>
                      <m:t xml:space="preserve">v</m:t>
                    </m:r>
                    <m:r>
                      <m:t xml:space="preserve">−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381" name="Object 1051"/>
              <p:cNvSpPr txBox="1"/>
              <p:nvPr/>
            </p:nvSpPr>
            <p:spPr>
              <a:xfrm>
                <a:off x="380880" y="4800600"/>
                <a:ext cx="5166000" cy="995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382" name="Text Box 1052"/>
          <p:cNvSpPr/>
          <p:nvPr/>
        </p:nvSpPr>
        <p:spPr>
          <a:xfrm>
            <a:off x="708120" y="1889280"/>
            <a:ext cx="2276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476280" indent="-476280"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宋体"/>
              </a:rPr>
              <a:t>5(m/s)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10" dur="indefinite" restart="never" nodeType="tmRoot">
          <p:childTnLst>
            <p:seq>
              <p:cTn id="911" dur="indefinite" nodeType="mainSeq">
                <p:childTnLst>
                  <p:par>
                    <p:cTn id="912" fill="hold" nodeType="clickEffect">
                      <p:stCondLst>
                        <p:cond delay="indefinite"/>
                      </p:stCondLst>
                      <p:childTnLst>
                        <p:par>
                          <p:cTn id="91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1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16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7" fill="hold" nodeType="clickEffect">
                      <p:stCondLst>
                        <p:cond delay="indefinite"/>
                      </p:stCondLst>
                      <p:childTnLst>
                        <p:par>
                          <p:cTn id="9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1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21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2" fill="hold" nodeType="clickEffect">
                      <p:stCondLst>
                        <p:cond delay="indefinite"/>
                      </p:stCondLst>
                      <p:childTnLst>
                        <p:par>
                          <p:cTn id="92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24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26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7" fill="hold" nodeType="clickEffect">
                      <p:stCondLst>
                        <p:cond delay="indefinite"/>
                      </p:stCondLst>
                      <p:childTnLst>
                        <p:par>
                          <p:cTn id="92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29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31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Text Box 3"/>
          <p:cNvSpPr/>
          <p:nvPr/>
        </p:nvSpPr>
        <p:spPr>
          <a:xfrm>
            <a:off x="48240" y="76320"/>
            <a:ext cx="674928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P42/7.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质点在几个力同时作用下位移为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84" name="Object 4"/>
              <p:cNvSpPr txBox="1"/>
              <p:nvPr/>
            </p:nvSpPr>
            <p:spPr>
              <a:xfrm>
                <a:off x="6172200" y="685800"/>
                <a:ext cx="2895480" cy="609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  <m:r>
                      <m:t xml:space="preserve">=</m:t>
                    </m:r>
                    <m:r>
                      <m:t xml:space="preserve">(</m:t>
                    </m:r>
                    <m:r>
                      <m:t xml:space="preserve">−</m:t>
                    </m:r>
                    <m:r>
                      <m:t xml:space="preserve">3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−</m:t>
                    </m:r>
                    <m:r>
                      <m:t xml:space="preserve">5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  <m:r>
                      <m:t xml:space="preserve">)</m:t>
                    </m:r>
                    <m:r>
                      <m:t xml:space="preserve">(</m:t>
                    </m:r>
                    <m:r>
                      <m:t xml:space="preserve">N</m:t>
                    </m:r>
                    <m:r>
                      <m:t xml:space="preserve">)</m:t>
                    </m:r>
                    <m:r>
                      <m:t xml:space="preserve">,</m:t>
                    </m:r>
                  </m:oMath>
                </a14:m>
              </a:p>
            </p:txBody>
          </p:sp>
        </mc:Choice>
        <mc:Fallback>
          <p:sp>
            <p:nvSpPr>
              <p:cNvPr id="384" name="Object 4"/>
              <p:cNvSpPr txBox="1"/>
              <p:nvPr/>
            </p:nvSpPr>
            <p:spPr>
              <a:xfrm>
                <a:off x="6172200" y="685800"/>
                <a:ext cx="2895480" cy="6094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85" name="Object 5"/>
              <p:cNvSpPr txBox="1"/>
              <p:nvPr/>
            </p:nvSpPr>
            <p:spPr>
              <a:xfrm>
                <a:off x="6705720" y="76320"/>
                <a:ext cx="2182680" cy="609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r</m:t>
                        </m:r>
                      </m:e>
                    </m:acc>
                    <m:r>
                      <m:t xml:space="preserve">=</m:t>
                    </m:r>
                    <m:r>
                      <m:t xml:space="preserve">(</m:t>
                    </m:r>
                    <m:r>
                      <m:t xml:space="preserve">4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−</m:t>
                    </m:r>
                    <m:r>
                      <m:t xml:space="preserve">5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385" name="Object 5"/>
              <p:cNvSpPr txBox="1"/>
              <p:nvPr/>
            </p:nvSpPr>
            <p:spPr>
              <a:xfrm>
                <a:off x="6705720" y="76320"/>
                <a:ext cx="2182680" cy="6094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386" name="Text Box 6"/>
          <p:cNvSpPr/>
          <p:nvPr/>
        </p:nvSpPr>
        <p:spPr>
          <a:xfrm>
            <a:off x="-45000" y="669960"/>
            <a:ext cx="636084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(m),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其中一个力为恒力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,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宋体"/>
              </a:rPr>
              <a:t>其表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达式为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Text Box 7"/>
          <p:cNvSpPr/>
          <p:nvPr/>
        </p:nvSpPr>
        <p:spPr>
          <a:xfrm>
            <a:off x="-2160" y="1279440"/>
            <a:ext cx="893592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则该恒力在这过程中所作的功</a:t>
            </a:r>
            <a:r>
              <a:rPr lang="en-US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_________________</a:t>
            </a:r>
            <a:r>
              <a:rPr lang="zh-CN" sz="3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。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88" name="Object 8"/>
              <p:cNvSpPr txBox="1"/>
              <p:nvPr/>
            </p:nvSpPr>
            <p:spPr>
              <a:xfrm>
                <a:off x="609480" y="2514600"/>
                <a:ext cx="1579680" cy="685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m:t xml:space="preserve">F</m:t>
                            </m:r>
                          </m:e>
                        </m:acc>
                        <m:r>
                          <m:t xml:space="preserve">⋅</m:t>
                        </m:r>
                        <m:r>
                          <m:t xml:space="preserve">d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m:t xml:space="preserve">r</m:t>
                            </m:r>
                          </m:e>
                        </m:acc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388" name="Object 8"/>
              <p:cNvSpPr txBox="1"/>
              <p:nvPr/>
            </p:nvSpPr>
            <p:spPr>
              <a:xfrm>
                <a:off x="609480" y="2514600"/>
                <a:ext cx="157968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89" name="Object 9"/>
              <p:cNvSpPr txBox="1"/>
              <p:nvPr/>
            </p:nvSpPr>
            <p:spPr>
              <a:xfrm>
                <a:off x="2133720" y="2514600"/>
                <a:ext cx="1071360" cy="498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F</m:t>
                        </m:r>
                      </m:e>
                    </m:acc>
                    <m:r>
                      <m:t xml:space="preserve">⋅</m:t>
                    </m:r>
                    <m:r>
                      <m:t xml:space="preserve">Δ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r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89" name="Object 9"/>
              <p:cNvSpPr txBox="1"/>
              <p:nvPr/>
            </p:nvSpPr>
            <p:spPr>
              <a:xfrm>
                <a:off x="2133720" y="2514600"/>
                <a:ext cx="1071360" cy="498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90" name="Object 10"/>
              <p:cNvSpPr txBox="1"/>
              <p:nvPr/>
            </p:nvSpPr>
            <p:spPr>
              <a:xfrm>
                <a:off x="3135240" y="2514600"/>
                <a:ext cx="3494160" cy="609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(</m:t>
                    </m:r>
                    <m:r>
                      <m:t xml:space="preserve">−</m:t>
                    </m:r>
                    <m:r>
                      <m:t xml:space="preserve">3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−</m:t>
                    </m:r>
                    <m:r>
                      <m:t xml:space="preserve">5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  <m:r>
                      <m:t xml:space="preserve">)</m:t>
                    </m:r>
                    <m:r>
                      <m:t xml:space="preserve">⋅</m:t>
                    </m:r>
                    <m:r>
                      <m:t xml:space="preserve">(</m:t>
                    </m:r>
                    <m:r>
                      <m:t xml:space="preserve">4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i</m:t>
                        </m:r>
                      </m:e>
                    </m:acc>
                    <m:r>
                      <m:t xml:space="preserve">−</m:t>
                    </m:r>
                    <m:r>
                      <m:t xml:space="preserve">5</m:t>
                    </m:r>
                    <m:acc>
                      <m:accPr>
                        <m:chr m:val="⃗"/>
                      </m:accPr>
                      <m:e>
                        <m:r>
                          <m:t xml:space="preserve">j</m:t>
                        </m:r>
                      </m:e>
                    </m:acc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390" name="Object 10"/>
              <p:cNvSpPr txBox="1"/>
              <p:nvPr/>
            </p:nvSpPr>
            <p:spPr>
              <a:xfrm>
                <a:off x="3135240" y="2514600"/>
                <a:ext cx="3494160" cy="6094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91" name="Object 11"/>
              <p:cNvSpPr txBox="1"/>
              <p:nvPr/>
            </p:nvSpPr>
            <p:spPr>
              <a:xfrm>
                <a:off x="6629400" y="2590920"/>
                <a:ext cx="1700280" cy="449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−</m:t>
                    </m:r>
                    <m:r>
                      <m:rPr>
                        <m:lit/>
                        <m:nor/>
                      </m:rPr>
                      <m:t xml:space="preserve">12</m:t>
                    </m:r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25</m:t>
                    </m:r>
                  </m:oMath>
                </a14:m>
              </a:p>
            </p:txBody>
          </p:sp>
        </mc:Choice>
        <mc:Fallback>
          <p:sp>
            <p:nvSpPr>
              <p:cNvPr id="391" name="Object 11"/>
              <p:cNvSpPr txBox="1"/>
              <p:nvPr/>
            </p:nvSpPr>
            <p:spPr>
              <a:xfrm>
                <a:off x="6629400" y="2590920"/>
                <a:ext cx="1700280" cy="4492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392" name="Text Box 12"/>
          <p:cNvSpPr/>
          <p:nvPr/>
        </p:nvSpPr>
        <p:spPr>
          <a:xfrm>
            <a:off x="5487840" y="1219320"/>
            <a:ext cx="752400" cy="5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spcBef>
                <a:spcPts val="187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13J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星形: 五角 13"/>
          <p:cNvSpPr/>
          <p:nvPr/>
        </p:nvSpPr>
        <p:spPr>
          <a:xfrm>
            <a:off x="8277120" y="6165720"/>
            <a:ext cx="433440" cy="405000"/>
          </a:xfrm>
          <a:custGeom>
            <a:avLst/>
            <a:gdLst>
              <a:gd name="GluePoint1X" fmla="*/ 0 w 432048"/>
              <a:gd name="GluePoint1Y" fmla="*/ 154728 h 405085"/>
              <a:gd name="GluePoint2X" fmla="*/ 165029 w 432048"/>
              <a:gd name="GluePoint2Y" fmla="*/ 154729 h 405085"/>
              <a:gd name="GluePoint3X" fmla="*/ 216024 w 432048"/>
              <a:gd name="GluePoint3Y" fmla="*/ 0 h 405085"/>
              <a:gd name="GluePoint4X" fmla="*/ 267019 w 432048"/>
              <a:gd name="GluePoint4Y" fmla="*/ 154729 h 405085"/>
              <a:gd name="GluePoint5X" fmla="*/ 432048 w 432048"/>
              <a:gd name="GluePoint5Y" fmla="*/ 154728 h 405085"/>
              <a:gd name="GluePoint6X" fmla="*/ 298536 w 432048"/>
              <a:gd name="GluePoint6Y" fmla="*/ 250355 h 405085"/>
              <a:gd name="GluePoint7X" fmla="*/ 349534 w 432048"/>
              <a:gd name="GluePoint7Y" fmla="*/ 405084 h 405085"/>
              <a:gd name="GluePoint8X" fmla="*/ 216024 w 432048"/>
              <a:gd name="GluePoint8Y" fmla="*/ 309455 h 405085"/>
              <a:gd name="GluePoint9X" fmla="*/ 82514 w 432048"/>
              <a:gd name="GluePoint9Y" fmla="*/ 405084 h 405085"/>
              <a:gd name="GluePoint10X" fmla="*/ 133512 w 432048"/>
              <a:gd name="GluePoint10Y" fmla="*/ 250355 h 405085"/>
              <a:gd name="GluePoint11X" fmla="*/ 0 w 432048"/>
              <a:gd name="GluePoint11Y" fmla="*/ 154728 h 4050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432048" h="405085">
                <a:moveTo>
                  <a:pt x="0" y="154728"/>
                </a:moveTo>
                <a:lnTo>
                  <a:pt x="165029" y="154729"/>
                </a:lnTo>
                <a:lnTo>
                  <a:pt x="216024" y="0"/>
                </a:lnTo>
                <a:lnTo>
                  <a:pt x="267019" y="154729"/>
                </a:lnTo>
                <a:lnTo>
                  <a:pt x="432048" y="154728"/>
                </a:lnTo>
                <a:lnTo>
                  <a:pt x="298536" y="250355"/>
                </a:lnTo>
                <a:lnTo>
                  <a:pt x="349534" y="405084"/>
                </a:lnTo>
                <a:lnTo>
                  <a:pt x="216024" y="309455"/>
                </a:lnTo>
                <a:lnTo>
                  <a:pt x="82514" y="405084"/>
                </a:lnTo>
                <a:lnTo>
                  <a:pt x="133512" y="250355"/>
                </a:lnTo>
                <a:lnTo>
                  <a:pt x="0" y="154728"/>
                </a:lnTo>
                <a:close/>
              </a:path>
            </a:pathLst>
          </a:custGeom>
          <a:solidFill>
            <a:srgbClr val="FFC000"/>
          </a:solidFill>
          <a:ln w="93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32" dur="indefinite" restart="never" nodeType="tmRoot">
          <p:childTnLst>
            <p:seq>
              <p:cTn id="933" dur="indefinite" nodeType="mainSeq">
                <p:childTnLst>
                  <p:par>
                    <p:cTn id="934" fill="hold" nodeType="clickEffect">
                      <p:stCondLst>
                        <p:cond delay="indefinite"/>
                      </p:stCondLst>
                      <p:childTnLst>
                        <p:par>
                          <p:cTn id="93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3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38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9" fill="hold" nodeType="clickEffect">
                      <p:stCondLst>
                        <p:cond delay="indefinite"/>
                      </p:stCondLst>
                      <p:childTnLst>
                        <p:par>
                          <p:cTn id="94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4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43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4" fill="hold" nodeType="clickEffect">
                      <p:stCondLst>
                        <p:cond delay="indefinite"/>
                      </p:stCondLst>
                      <p:childTnLst>
                        <p:par>
                          <p:cTn id="94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4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48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9" fill="hold" nodeType="clickEffect">
                      <p:stCondLst>
                        <p:cond delay="indefinite"/>
                      </p:stCondLst>
                      <p:childTnLst>
                        <p:par>
                          <p:cTn id="95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5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53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4" fill="hold" nodeType="clickEffect">
                      <p:stCondLst>
                        <p:cond delay="indefinite"/>
                      </p:stCondLst>
                      <p:childTnLst>
                        <p:par>
                          <p:cTn id="95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5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958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1082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2002-12-02T20:00:18Z</dcterms:created>
  <dc:creator>Love</dc:creator>
  <dc:description/>
  <dc:language>zh-CN</dc:language>
  <cp:lastModifiedBy>Administrator</cp:lastModifiedBy>
  <dcterms:modified xsi:type="dcterms:W3CDTF">2026-04-19T20:23:02Z</dcterms:modified>
  <cp:revision>291</cp:revision>
  <dc:subject/>
  <dc:title>没有幻灯片标题</dc:title>
</cp:coreProperties>
</file>