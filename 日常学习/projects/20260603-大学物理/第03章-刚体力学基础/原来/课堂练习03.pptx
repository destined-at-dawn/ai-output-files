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media/image52.emf" ContentType="image/x-emf"/>
  <Override PartName="/ppt/media/image70.emf" ContentType="image/x-emf"/>
  <Override PartName="/ppt/media/image59.emf" ContentType="image/x-emf"/>
  <Override PartName="/ppt/media/image40.emf" ContentType="image/x-emf"/>
  <Override PartName="/ppt/media/image4.emf" ContentType="image/x-emf"/>
  <Override PartName="/ppt/media/image47.emf" ContentType="image/x-emf"/>
  <Override PartName="/ppt/media/image3.emf" ContentType="image/x-emf"/>
  <Override PartName="/ppt/media/image57.emf" ContentType="image/x-emf"/>
  <Override PartName="/ppt/media/image71.emf" ContentType="image/x-emf"/>
  <Override PartName="/ppt/media/image41.emf" ContentType="image/x-emf"/>
  <Override PartName="/ppt/media/image5.emf" ContentType="image/x-emf"/>
  <Override PartName="/ppt/media/image72.emf" ContentType="image/x-emf"/>
  <Override PartName="/ppt/media/image42.emf" ContentType="image/x-emf"/>
  <Override PartName="/ppt/media/image6.emf" ContentType="image/x-emf"/>
  <Override PartName="/ppt/media/image73.emf" ContentType="image/x-emf"/>
  <Override PartName="/ppt/media/image43.emf" ContentType="image/x-emf"/>
  <Override PartName="/ppt/media/image7.emf" ContentType="image/x-emf"/>
  <Override PartName="/ppt/media/image29.emf" ContentType="image/x-emf"/>
  <Override PartName="/ppt/media/image74.emf" ContentType="image/x-emf"/>
  <Override PartName="/ppt/media/image11.emf" ContentType="image/x-emf"/>
  <Override PartName="/ppt/media/image8.emf" ContentType="image/x-emf"/>
  <Override PartName="/ppt/media/image28.emf" ContentType="image/x-emf"/>
  <Override PartName="/ppt/media/image75.emf" ContentType="image/x-emf"/>
  <Override PartName="/ppt/media/image10.emf" ContentType="image/x-emf"/>
  <Override PartName="/ppt/media/image9.emf" ContentType="image/x-emf"/>
  <Override PartName="/ppt/media/image12.emf" ContentType="image/x-emf"/>
  <Override PartName="/ppt/media/image13.emf" ContentType="image/x-emf"/>
  <Override PartName="/ppt/media/image49.emf" ContentType="image/x-emf"/>
  <Override PartName="/ppt/media/image14.emf" ContentType="image/x-emf"/>
  <Override PartName="/ppt/media/image48.emf" ContentType="image/x-emf"/>
  <Override PartName="/ppt/media/image15.emf" ContentType="image/x-emf"/>
  <Override PartName="/ppt/media/image16.emf" ContentType="image/x-emf"/>
  <Override PartName="/ppt/media/image17.emf" ContentType="image/x-emf"/>
  <Override PartName="/ppt/media/image18.emf" ContentType="image/x-emf"/>
  <Override PartName="/ppt/media/image38.emf" ContentType="image/x-emf"/>
  <Override PartName="/ppt/media/image34.emf" ContentType="image/x-emf"/>
  <Override PartName="/ppt/media/image20.emf" ContentType="image/x-emf"/>
  <Override PartName="/ppt/media/image21.emf" ContentType="image/x-emf"/>
  <Override PartName="/ppt/media/image22.emf" ContentType="image/x-emf"/>
  <Override PartName="/ppt/media/image23.emf" ContentType="image/x-emf"/>
  <Override PartName="/ppt/media/image24.emf" ContentType="image/x-emf"/>
  <Override PartName="/ppt/media/image25.emf" ContentType="image/x-emf"/>
  <Override PartName="/ppt/media/image26.emf" ContentType="image/x-emf"/>
  <Override PartName="/ppt/media/image27.emf" ContentType="image/x-emf"/>
  <Override PartName="/ppt/media/image30.emf" ContentType="image/x-emf"/>
  <Override PartName="/ppt/media/image31.emf" ContentType="image/x-emf"/>
  <Override PartName="/ppt/media/image32.emf" ContentType="image/x-emf"/>
  <Override PartName="/ppt/media/image33.emf" ContentType="image/x-emf"/>
  <Override PartName="/ppt/media/image35.emf" ContentType="image/x-emf"/>
  <Override PartName="/ppt/media/image36.emf" ContentType="image/x-emf"/>
  <Override PartName="/ppt/media/image37.emf" ContentType="image/x-emf"/>
  <Override PartName="/ppt/media/image64.emf" ContentType="image/x-emf"/>
  <Override PartName="/ppt/media/image39.emf" ContentType="image/x-emf"/>
  <Override PartName="/ppt/media/image53.emf" ContentType="image/x-emf"/>
  <Override PartName="/ppt/media/image46.emf" ContentType="image/x-emf"/>
  <Override PartName="/ppt/media/image50.emf" ContentType="image/x-emf"/>
  <Override PartName="/ppt/media/image51.emf" ContentType="image/x-emf"/>
  <Override PartName="/ppt/media/image54.emf" ContentType="image/x-emf"/>
  <Override PartName="/ppt/media/image55.emf" ContentType="image/x-emf"/>
  <Override PartName="/ppt/media/image56.emf" ContentType="image/x-emf"/>
  <Override PartName="/ppt/media/image58.emf" ContentType="image/x-emf"/>
  <Override PartName="/ppt/media/image60.emf" ContentType="image/x-emf"/>
  <Override PartName="/ppt/media/image61.emf" ContentType="image/x-emf"/>
  <Override PartName="/ppt/media/image62.emf" ContentType="image/x-emf"/>
  <Override PartName="/ppt/media/image63.emf" ContentType="image/x-emf"/>
  <Override PartName="/ppt/media/image65.emf" ContentType="image/x-emf"/>
  <Override PartName="/ppt/media/image66.emf" ContentType="image/x-emf"/>
  <Override PartName="/ppt/media/image67.emf" ContentType="image/x-emf"/>
  <Override PartName="/ppt/media/image68.emf" ContentType="image/x-emf"/>
  <Override PartName="/ppt/media/image69.emf" ContentType="image/x-emf"/>
  <Override PartName="/ppt/media/image76.emf" ContentType="image/x-emf"/>
  <Override PartName="/ppt/media/image77.emf" ContentType="image/x-emf"/>
  <Override PartName="/ppt/media/image78.emf" ContentType="image/x-emf"/>
  <Override PartName="/ppt/media/image79.emf" ContentType="image/x-emf"/>
  <Override PartName="/ppt/media/image80.emf" ContentType="image/x-emf"/>
  <Override PartName="/ppt/media/image81.emf" ContentType="image/x-emf"/>
  <Override PartName="/ppt/media/image82.emf" ContentType="image/x-emf"/>
  <Override PartName="/ppt/media/image83.emf" ContentType="image/x-emf"/>
  <Override PartName="/ppt/media/image84.emf" ContentType="image/x-emf"/>
  <Override PartName="/ppt/media/image85.emf" ContentType="image/x-emf"/>
  <Override PartName="/ppt/media/image86.emf" ContentType="image/x-emf"/>
  <Override PartName="/ppt/media/image87.emf" ContentType="image/x-emf"/>
  <Override PartName="/ppt/media/image88.emf" ContentType="image/x-emf"/>
  <Override PartName="/ppt/media/image89.emf" ContentType="image/x-emf"/>
  <Override PartName="/ppt/media/image90.emf" ContentType="image/x-emf"/>
  <Override PartName="/ppt/media/image91.emf" ContentType="image/x-emf"/>
  <Override PartName="/ppt/media/image92.emf" ContentType="image/x-emf"/>
  <Override PartName="/ppt/media/image93.emf" ContentType="image/x-emf"/>
  <Override PartName="/ppt/media/image94.emf" ContentType="image/x-emf"/>
  <Override PartName="/ppt/media/image95.emf" ContentType="image/x-emf"/>
  <Override PartName="/ppt/media/image96.emf" ContentType="image/x-emf"/>
  <Override PartName="/ppt/media/image97.emf" ContentType="image/x-emf"/>
  <Override PartName="/ppt/media/image98.emf" ContentType="image/x-e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oleObject1.bin" ContentType="application/vnd.openxmlformats-officedocument.oleObject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E7482-B53D-4758-A258-125209DCA2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lnSpcReduction="9999"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A2E8442-6817-43E2-93BF-CA9270307B5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emf"/><Relationship Id="rId6" Type="http://schemas.openxmlformats.org/officeDocument/2006/relationships/image" Target="../media/image4.emf"/><Relationship Id="rId7" Type="http://schemas.openxmlformats.org/officeDocument/2006/relationships/image" Target="../media/image5.emf"/><Relationship Id="rId8" Type="http://schemas.openxmlformats.org/officeDocument/2006/relationships/image" Target="../media/image6.emf"/><Relationship Id="rId9" Type="http://schemas.openxmlformats.org/officeDocument/2006/relationships/image" Target="../media/image7.emf"/><Relationship Id="rId10" Type="http://schemas.openxmlformats.org/officeDocument/2006/relationships/image" Target="../media/image8.emf"/><Relationship Id="rId11" Type="http://schemas.openxmlformats.org/officeDocument/2006/relationships/image" Target="../media/image5.emf"/><Relationship Id="rId12" Type="http://schemas.openxmlformats.org/officeDocument/2006/relationships/image" Target="../media/image9.emf"/><Relationship Id="rId13" Type="http://schemas.openxmlformats.org/officeDocument/2006/relationships/image" Target="../media/image10.emf"/><Relationship Id="rId1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emf"/><Relationship Id="rId2" Type="http://schemas.openxmlformats.org/officeDocument/2006/relationships/image" Target="../media/image12.emf"/><Relationship Id="rId3" Type="http://schemas.openxmlformats.org/officeDocument/2006/relationships/image" Target="../media/image13.emf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6" Type="http://schemas.openxmlformats.org/officeDocument/2006/relationships/image" Target="../media/image16.emf"/><Relationship Id="rId7" Type="http://schemas.openxmlformats.org/officeDocument/2006/relationships/image" Target="../media/image11.emf"/><Relationship Id="rId8" Type="http://schemas.openxmlformats.org/officeDocument/2006/relationships/image" Target="../media/image17.emf"/><Relationship Id="rId9" Type="http://schemas.openxmlformats.org/officeDocument/2006/relationships/image" Target="../media/image18.emf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9.png"/><Relationship Id="rId12" Type="http://schemas.openxmlformats.org/officeDocument/2006/relationships/image" Target="../media/image4.emf"/><Relationship Id="rId13" Type="http://schemas.openxmlformats.org/officeDocument/2006/relationships/image" Target="../media/image20.emf"/><Relationship Id="rId14" Type="http://schemas.openxmlformats.org/officeDocument/2006/relationships/image" Target="../media/image21.emf"/><Relationship Id="rId1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2.emf"/><Relationship Id="rId3" Type="http://schemas.openxmlformats.org/officeDocument/2006/relationships/image" Target="../media/image23.emf"/><Relationship Id="rId4" Type="http://schemas.openxmlformats.org/officeDocument/2006/relationships/image" Target="../media/image24.emf"/><Relationship Id="rId5" Type="http://schemas.openxmlformats.org/officeDocument/2006/relationships/image" Target="../media/image25.emf"/><Relationship Id="rId6" Type="http://schemas.openxmlformats.org/officeDocument/2006/relationships/image" Target="../media/image26.emf"/><Relationship Id="rId7" Type="http://schemas.openxmlformats.org/officeDocument/2006/relationships/image" Target="../media/image27.emf"/><Relationship Id="rId8" Type="http://schemas.openxmlformats.org/officeDocument/2006/relationships/image" Target="../media/image28.emf"/><Relationship Id="rId9" Type="http://schemas.openxmlformats.org/officeDocument/2006/relationships/image" Target="../media/image29.emf"/><Relationship Id="rId10" Type="http://schemas.openxmlformats.org/officeDocument/2006/relationships/image" Target="../media/image30.emf"/><Relationship Id="rId11" Type="http://schemas.openxmlformats.org/officeDocument/2006/relationships/image" Target="../media/image31.emf"/><Relationship Id="rId1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emf"/><Relationship Id="rId2" Type="http://schemas.openxmlformats.org/officeDocument/2006/relationships/image" Target="../media/image32.emf"/><Relationship Id="rId3" Type="http://schemas.openxmlformats.org/officeDocument/2006/relationships/image" Target="../media/image33.emf"/><Relationship Id="rId4" Type="http://schemas.openxmlformats.org/officeDocument/2006/relationships/image" Target="../media/image34.emf"/><Relationship Id="rId5" Type="http://schemas.openxmlformats.org/officeDocument/2006/relationships/image" Target="../media/image35.emf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6.emf"/><Relationship Id="rId2" Type="http://schemas.openxmlformats.org/officeDocument/2006/relationships/image" Target="../media/image37.emf"/><Relationship Id="rId3" Type="http://schemas.openxmlformats.org/officeDocument/2006/relationships/image" Target="../media/image38.emf"/><Relationship Id="rId4" Type="http://schemas.openxmlformats.org/officeDocument/2006/relationships/image" Target="../media/image39.emf"/><Relationship Id="rId5" Type="http://schemas.openxmlformats.org/officeDocument/2006/relationships/image" Target="../media/image40.emf"/><Relationship Id="rId6" Type="http://schemas.openxmlformats.org/officeDocument/2006/relationships/image" Target="../media/image41.emf"/><Relationship Id="rId7" Type="http://schemas.openxmlformats.org/officeDocument/2006/relationships/image" Target="../media/image42.emf"/><Relationship Id="rId8" Type="http://schemas.openxmlformats.org/officeDocument/2006/relationships/image" Target="../media/image43.emf"/><Relationship Id="rId9" Type="http://schemas.openxmlformats.org/officeDocument/2006/relationships/image" Target="../media/image44.jpeg"/><Relationship Id="rId10" Type="http://schemas.openxmlformats.org/officeDocument/2006/relationships/image" Target="../media/image45.png"/><Relationship Id="rId11" Type="http://schemas.openxmlformats.org/officeDocument/2006/relationships/image" Target="../media/image4.emf"/><Relationship Id="rId12" Type="http://schemas.openxmlformats.org/officeDocument/2006/relationships/image" Target="../media/image20.emf"/><Relationship Id="rId1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image" Target="../media/image46.emf"/><Relationship Id="rId3" Type="http://schemas.openxmlformats.org/officeDocument/2006/relationships/image" Target="../media/image47.emf"/><Relationship Id="rId4" Type="http://schemas.openxmlformats.org/officeDocument/2006/relationships/image" Target="../media/image48.emf"/><Relationship Id="rId5" Type="http://schemas.openxmlformats.org/officeDocument/2006/relationships/image" Target="../media/image49.emf"/><Relationship Id="rId6" Type="http://schemas.openxmlformats.org/officeDocument/2006/relationships/image" Target="../media/image50.emf"/><Relationship Id="rId7" Type="http://schemas.openxmlformats.org/officeDocument/2006/relationships/image" Target="../media/image51.emf"/><Relationship Id="rId8" Type="http://schemas.openxmlformats.org/officeDocument/2006/relationships/image" Target="../media/image52.emf"/><Relationship Id="rId9" Type="http://schemas.openxmlformats.org/officeDocument/2006/relationships/image" Target="../media/image53.emf"/><Relationship Id="rId10" Type="http://schemas.openxmlformats.org/officeDocument/2006/relationships/image" Target="../media/image54.emf"/><Relationship Id="rId1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55.emf"/><Relationship Id="rId3" Type="http://schemas.openxmlformats.org/officeDocument/2006/relationships/image" Target="../media/image56.emf"/><Relationship Id="rId4" Type="http://schemas.openxmlformats.org/officeDocument/2006/relationships/image" Target="../media/image57.emf"/><Relationship Id="rId5" Type="http://schemas.openxmlformats.org/officeDocument/2006/relationships/image" Target="../media/image58.emf"/><Relationship Id="rId6" Type="http://schemas.openxmlformats.org/officeDocument/2006/relationships/image" Target="../media/image59.emf"/><Relationship Id="rId7" Type="http://schemas.openxmlformats.org/officeDocument/2006/relationships/image" Target="../media/image8.emf"/><Relationship Id="rId8" Type="http://schemas.openxmlformats.org/officeDocument/2006/relationships/image" Target="../media/image60.emf"/><Relationship Id="rId9" Type="http://schemas.openxmlformats.org/officeDocument/2006/relationships/image" Target="../media/image61.emf"/><Relationship Id="rId10" Type="http://schemas.openxmlformats.org/officeDocument/2006/relationships/image" Target="../media/image4.emf"/><Relationship Id="rId11" Type="http://schemas.openxmlformats.org/officeDocument/2006/relationships/image" Target="../media/image53.emf"/><Relationship Id="rId1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8.emf"/><Relationship Id="rId3" Type="http://schemas.openxmlformats.org/officeDocument/2006/relationships/image" Target="../media/image62.emf"/><Relationship Id="rId4" Type="http://schemas.openxmlformats.org/officeDocument/2006/relationships/image" Target="../media/image63.emf"/><Relationship Id="rId5" Type="http://schemas.openxmlformats.org/officeDocument/2006/relationships/image" Target="../media/image64.emf"/><Relationship Id="rId6" Type="http://schemas.openxmlformats.org/officeDocument/2006/relationships/image" Target="../media/image65.emf"/><Relationship Id="rId7" Type="http://schemas.openxmlformats.org/officeDocument/2006/relationships/image" Target="../media/image66.emf"/><Relationship Id="rId8" Type="http://schemas.openxmlformats.org/officeDocument/2006/relationships/image" Target="../media/image67.emf"/><Relationship Id="rId9" Type="http://schemas.openxmlformats.org/officeDocument/2006/relationships/image" Target="../media/image68.emf"/><Relationship Id="rId10" Type="http://schemas.openxmlformats.org/officeDocument/2006/relationships/image" Target="../media/image69.emf"/><Relationship Id="rId11" Type="http://schemas.openxmlformats.org/officeDocument/2006/relationships/image" Target="../media/image70.emf"/><Relationship Id="rId12" Type="http://schemas.openxmlformats.org/officeDocument/2006/relationships/image" Target="../media/image71.emf"/><Relationship Id="rId1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2.emf"/><Relationship Id="rId2" Type="http://schemas.openxmlformats.org/officeDocument/2006/relationships/image" Target="../media/image73.emf"/><Relationship Id="rId3" Type="http://schemas.openxmlformats.org/officeDocument/2006/relationships/image" Target="../media/image74.emf"/><Relationship Id="rId4" Type="http://schemas.openxmlformats.org/officeDocument/2006/relationships/image" Target="../media/image50.emf"/><Relationship Id="rId5" Type="http://schemas.openxmlformats.org/officeDocument/2006/relationships/image" Target="../media/image75.emf"/><Relationship Id="rId6" Type="http://schemas.openxmlformats.org/officeDocument/2006/relationships/image" Target="../media/image76.emf"/><Relationship Id="rId7" Type="http://schemas.openxmlformats.org/officeDocument/2006/relationships/image" Target="../media/image77.emf"/><Relationship Id="rId8" Type="http://schemas.openxmlformats.org/officeDocument/2006/relationships/image" Target="../media/image78.emf"/><Relationship Id="rId9" Type="http://schemas.openxmlformats.org/officeDocument/2006/relationships/image" Target="../media/image79.emf"/><Relationship Id="rId10" Type="http://schemas.openxmlformats.org/officeDocument/2006/relationships/image" Target="../media/image80.emf"/><Relationship Id="rId11" Type="http://schemas.openxmlformats.org/officeDocument/2006/relationships/image" Target="../media/image81.emf"/><Relationship Id="rId1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2.emf"/><Relationship Id="rId2" Type="http://schemas.openxmlformats.org/officeDocument/2006/relationships/image" Target="../media/image72.emf"/><Relationship Id="rId3" Type="http://schemas.openxmlformats.org/officeDocument/2006/relationships/image" Target="../media/image81.emf"/><Relationship Id="rId4" Type="http://schemas.openxmlformats.org/officeDocument/2006/relationships/image" Target="../media/image80.emf"/><Relationship Id="rId5" Type="http://schemas.openxmlformats.org/officeDocument/2006/relationships/image" Target="../media/image83.emf"/><Relationship Id="rId6" Type="http://schemas.openxmlformats.org/officeDocument/2006/relationships/image" Target="../media/image74.emf"/><Relationship Id="rId7" Type="http://schemas.openxmlformats.org/officeDocument/2006/relationships/image" Target="../media/image78.emf"/><Relationship Id="rId8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4.emf"/><Relationship Id="rId3" Type="http://schemas.openxmlformats.org/officeDocument/2006/relationships/image" Target="../media/image28.emf"/><Relationship Id="rId4" Type="http://schemas.openxmlformats.org/officeDocument/2006/relationships/image" Target="../media/image29.emf"/><Relationship Id="rId5" Type="http://schemas.openxmlformats.org/officeDocument/2006/relationships/image" Target="../media/image30.emf"/><Relationship Id="rId6" Type="http://schemas.openxmlformats.org/officeDocument/2006/relationships/image" Target="../media/image85.emf"/><Relationship Id="rId7" Type="http://schemas.openxmlformats.org/officeDocument/2006/relationships/image" Target="../media/image86.emf"/><Relationship Id="rId8" Type="http://schemas.openxmlformats.org/officeDocument/2006/relationships/image" Target="../media/image87.emf"/><Relationship Id="rId9" Type="http://schemas.openxmlformats.org/officeDocument/2006/relationships/image" Target="../media/image1.jpeg"/><Relationship Id="rId10" Type="http://schemas.openxmlformats.org/officeDocument/2006/relationships/image" Target="../media/image23.emf"/><Relationship Id="rId11" Type="http://schemas.openxmlformats.org/officeDocument/2006/relationships/image" Target="../media/image28.emf"/><Relationship Id="rId12" Type="http://schemas.openxmlformats.org/officeDocument/2006/relationships/image" Target="../media/image22.emf"/><Relationship Id="rId1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emf"/><Relationship Id="rId3" Type="http://schemas.openxmlformats.org/officeDocument/2006/relationships/image" Target="../media/image20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8.emf"/><Relationship Id="rId7" Type="http://schemas.openxmlformats.org/officeDocument/2006/relationships/image" Target="../media/image90.emf"/><Relationship Id="rId8" Type="http://schemas.openxmlformats.org/officeDocument/2006/relationships/image" Target="../media/image91.emf"/><Relationship Id="rId9" Type="http://schemas.openxmlformats.org/officeDocument/2006/relationships/image" Target="../media/image92.emf"/><Relationship Id="rId10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emf"/><Relationship Id="rId6" Type="http://schemas.openxmlformats.org/officeDocument/2006/relationships/image" Target="../media/image4.emf"/><Relationship Id="rId7" Type="http://schemas.openxmlformats.org/officeDocument/2006/relationships/image" Target="../media/image5.emf"/><Relationship Id="rId8" Type="http://schemas.openxmlformats.org/officeDocument/2006/relationships/image" Target="../media/image93.emf"/><Relationship Id="rId9" Type="http://schemas.openxmlformats.org/officeDocument/2006/relationships/image" Target="../media/image94.emf"/><Relationship Id="rId10" Type="http://schemas.openxmlformats.org/officeDocument/2006/relationships/image" Target="../media/image10.emf"/><Relationship Id="rId11" Type="http://schemas.openxmlformats.org/officeDocument/2006/relationships/image" Target="../media/image95.emf"/><Relationship Id="rId12" Type="http://schemas.openxmlformats.org/officeDocument/2006/relationships/image" Target="../media/image96.emf"/><Relationship Id="rId13" Type="http://schemas.openxmlformats.org/officeDocument/2006/relationships/image" Target="../media/image97.emf"/><Relationship Id="rId14" Type="http://schemas.openxmlformats.org/officeDocument/2006/relationships/image" Target="../media/image98.emf"/><Relationship Id="rId15" Type="http://schemas.openxmlformats.org/officeDocument/2006/relationships/image" Target="../media/image97.emf"/><Relationship Id="rId16" Type="http://schemas.openxmlformats.org/officeDocument/2006/relationships/image" Target="../media/image5.emf"/><Relationship Id="rId1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29"/>
          <p:cNvSpPr/>
          <p:nvPr/>
        </p:nvSpPr>
        <p:spPr>
          <a:xfrm>
            <a:off x="24120" y="136440"/>
            <a:ext cx="902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P56/2.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一轻绳绕在具有水平轴定滑轮上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绳下悬挂质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Text Box 330"/>
          <p:cNvSpPr/>
          <p:nvPr/>
        </p:nvSpPr>
        <p:spPr>
          <a:xfrm>
            <a:off x="-321480" y="609480"/>
            <a:ext cx="9583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物体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此时滑轮的角加速度为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α,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若将物体卸掉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Text Box 331"/>
          <p:cNvSpPr/>
          <p:nvPr/>
        </p:nvSpPr>
        <p:spPr>
          <a:xfrm>
            <a:off x="160920" y="2193840"/>
            <a:ext cx="141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Text Box 332"/>
          <p:cNvSpPr/>
          <p:nvPr/>
        </p:nvSpPr>
        <p:spPr>
          <a:xfrm>
            <a:off x="2359800" y="2209680"/>
            <a:ext cx="141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Text Box 333"/>
          <p:cNvSpPr/>
          <p:nvPr/>
        </p:nvSpPr>
        <p:spPr>
          <a:xfrm>
            <a:off x="4493160" y="2193840"/>
            <a:ext cx="141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 Box 334"/>
          <p:cNvSpPr/>
          <p:nvPr/>
        </p:nvSpPr>
        <p:spPr>
          <a:xfrm>
            <a:off x="6625440" y="2193840"/>
            <a:ext cx="2176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无法确定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 Box 335"/>
          <p:cNvSpPr/>
          <p:nvPr/>
        </p:nvSpPr>
        <p:spPr>
          <a:xfrm>
            <a:off x="2445840" y="16002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 Box 336"/>
          <p:cNvSpPr/>
          <p:nvPr/>
        </p:nvSpPr>
        <p:spPr>
          <a:xfrm>
            <a:off x="64440" y="1127160"/>
            <a:ext cx="8745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而用等于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mg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，方向向下的力拉绳子，则滑轮的角加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 Box 337"/>
          <p:cNvSpPr/>
          <p:nvPr/>
        </p:nvSpPr>
        <p:spPr>
          <a:xfrm>
            <a:off x="74880" y="1660680"/>
            <a:ext cx="4554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速度将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Line 338"/>
          <p:cNvSpPr/>
          <p:nvPr/>
        </p:nvSpPr>
        <p:spPr>
          <a:xfrm>
            <a:off x="1295280" y="3962520"/>
            <a:ext cx="0" cy="160020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Line 339"/>
          <p:cNvSpPr/>
          <p:nvPr/>
        </p:nvSpPr>
        <p:spPr>
          <a:xfrm>
            <a:off x="6267600" y="3886200"/>
            <a:ext cx="0" cy="10666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" name="Group 340"/>
          <p:cNvGrpSpPr/>
          <p:nvPr/>
        </p:nvGrpSpPr>
        <p:grpSpPr>
          <a:xfrm>
            <a:off x="5200560" y="3048120"/>
            <a:ext cx="1447920" cy="1295280"/>
            <a:chOff x="5200560" y="3048120"/>
            <a:chExt cx="1447920" cy="1295280"/>
          </a:xfrm>
        </p:grpSpPr>
        <p:sp>
          <p:nvSpPr>
            <p:cNvPr id="19" name="Rectangle 341"/>
            <p:cNvSpPr/>
            <p:nvPr/>
          </p:nvSpPr>
          <p:spPr>
            <a:xfrm>
              <a:off x="5200560" y="3048120"/>
              <a:ext cx="1447920" cy="15228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" name="Oval 342"/>
            <p:cNvSpPr/>
            <p:nvPr/>
          </p:nvSpPr>
          <p:spPr>
            <a:xfrm>
              <a:off x="5505480" y="3581280"/>
              <a:ext cx="762120" cy="762120"/>
            </a:xfrm>
            <a:prstGeom prst="ellipse">
              <a:avLst/>
            </a:prstGeom>
            <a:blipFill rotWithShape="0">
              <a:blip r:embed="rId2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" name="Line 343"/>
            <p:cNvSpPr/>
            <p:nvPr/>
          </p:nvSpPr>
          <p:spPr>
            <a:xfrm>
              <a:off x="5886360" y="3200400"/>
              <a:ext cx="0" cy="762120"/>
            </a:xfrm>
            <a:prstGeom prst="line">
              <a:avLst/>
            </a:prstGeom>
            <a:ln w="763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2" name="Group 344"/>
          <p:cNvGrpSpPr/>
          <p:nvPr/>
        </p:nvGrpSpPr>
        <p:grpSpPr>
          <a:xfrm>
            <a:off x="228600" y="3048120"/>
            <a:ext cx="1447920" cy="1295280"/>
            <a:chOff x="228600" y="3048120"/>
            <a:chExt cx="1447920" cy="1295280"/>
          </a:xfrm>
        </p:grpSpPr>
        <p:sp>
          <p:nvSpPr>
            <p:cNvPr id="23" name="Rectangle 345"/>
            <p:cNvSpPr/>
            <p:nvPr/>
          </p:nvSpPr>
          <p:spPr>
            <a:xfrm>
              <a:off x="228600" y="3048120"/>
              <a:ext cx="1447920" cy="152280"/>
            </a:xfrm>
            <a:prstGeom prst="rect">
              <a:avLst/>
            </a:prstGeom>
            <a:blipFill rotWithShape="0">
              <a:blip r:embed="rId3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" name="Oval 346"/>
            <p:cNvSpPr/>
            <p:nvPr/>
          </p:nvSpPr>
          <p:spPr>
            <a:xfrm>
              <a:off x="533520" y="3581280"/>
              <a:ext cx="761760" cy="762120"/>
            </a:xfrm>
            <a:prstGeom prst="ellipse">
              <a:avLst/>
            </a:prstGeom>
            <a:blipFill rotWithShape="0">
              <a:blip r:embed="rId4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Line 347"/>
            <p:cNvSpPr/>
            <p:nvPr/>
          </p:nvSpPr>
          <p:spPr>
            <a:xfrm>
              <a:off x="914400" y="3200400"/>
              <a:ext cx="0" cy="762120"/>
            </a:xfrm>
            <a:prstGeom prst="line">
              <a:avLst/>
            </a:prstGeom>
            <a:ln w="763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" name="Rectangle 348"/>
          <p:cNvSpPr/>
          <p:nvPr/>
        </p:nvSpPr>
        <p:spPr>
          <a:xfrm>
            <a:off x="1066680" y="5429160"/>
            <a:ext cx="381240" cy="304920"/>
          </a:xfrm>
          <a:prstGeom prst="rect">
            <a:avLst/>
          </a:prstGeom>
          <a:solidFill>
            <a:srgbClr val="9B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7" name="Object 349"/>
              <p:cNvSpPr txBox="1"/>
              <p:nvPr/>
            </p:nvSpPr>
            <p:spPr>
              <a:xfrm>
                <a:off x="5638680" y="4952880"/>
                <a:ext cx="1114560" cy="554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7" name="Object 349"/>
              <p:cNvSpPr txBox="1"/>
              <p:nvPr/>
            </p:nvSpPr>
            <p:spPr>
              <a:xfrm>
                <a:off x="5638680" y="4952880"/>
                <a:ext cx="1114560" cy="554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8" name="Line 350"/>
          <p:cNvSpPr/>
          <p:nvPr/>
        </p:nvSpPr>
        <p:spPr>
          <a:xfrm>
            <a:off x="1295280" y="5638680"/>
            <a:ext cx="0" cy="60984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" name="Object 351"/>
              <p:cNvSpPr txBox="1"/>
              <p:nvPr/>
            </p:nvSpPr>
            <p:spPr>
              <a:xfrm>
                <a:off x="1371600" y="5943600"/>
                <a:ext cx="743040" cy="514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" name="Object 351"/>
              <p:cNvSpPr txBox="1"/>
              <p:nvPr/>
            </p:nvSpPr>
            <p:spPr>
              <a:xfrm>
                <a:off x="1371600" y="5943600"/>
                <a:ext cx="743040" cy="514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30" name="Line 352"/>
          <p:cNvSpPr/>
          <p:nvPr/>
        </p:nvSpPr>
        <p:spPr>
          <a:xfrm flipV="1">
            <a:off x="1295280" y="5028840"/>
            <a:ext cx="0" cy="6094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1" name="Object 353"/>
              <p:cNvSpPr txBox="1"/>
              <p:nvPr/>
            </p:nvSpPr>
            <p:spPr>
              <a:xfrm>
                <a:off x="1371600" y="4819680"/>
                <a:ext cx="387360" cy="512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T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1" name="Object 353"/>
              <p:cNvSpPr txBox="1"/>
              <p:nvPr/>
            </p:nvSpPr>
            <p:spPr>
              <a:xfrm>
                <a:off x="1371600" y="4819680"/>
                <a:ext cx="387360" cy="512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2" name="Object 354"/>
              <p:cNvSpPr txBox="1"/>
              <p:nvPr/>
            </p:nvSpPr>
            <p:spPr>
              <a:xfrm>
                <a:off x="7238880" y="3505320"/>
                <a:ext cx="1449360" cy="419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RF</m:t>
                    </m:r>
                  </m:oMath>
                </a14:m>
              </a:p>
            </p:txBody>
          </p:sp>
        </mc:Choice>
        <mc:Fallback>
          <p:sp>
            <p:nvSpPr>
              <p:cNvPr id="32" name="Object 354"/>
              <p:cNvSpPr txBox="1"/>
              <p:nvPr/>
            </p:nvSpPr>
            <p:spPr>
              <a:xfrm>
                <a:off x="7238880" y="3505320"/>
                <a:ext cx="1449360" cy="4190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" name="Object 356"/>
              <p:cNvSpPr txBox="1"/>
              <p:nvPr/>
            </p:nvSpPr>
            <p:spPr>
              <a:xfrm>
                <a:off x="2438280" y="3621240"/>
                <a:ext cx="1524240" cy="417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RT</m:t>
                    </m:r>
                  </m:oMath>
                </a14:m>
              </a:p>
            </p:txBody>
          </p:sp>
        </mc:Choice>
        <mc:Fallback>
          <p:sp>
            <p:nvSpPr>
              <p:cNvPr id="33" name="Object 356"/>
              <p:cNvSpPr txBox="1"/>
              <p:nvPr/>
            </p:nvSpPr>
            <p:spPr>
              <a:xfrm>
                <a:off x="2438280" y="3621240"/>
                <a:ext cx="1524240" cy="4172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4" name="Object 357"/>
              <p:cNvSpPr txBox="1"/>
              <p:nvPr/>
            </p:nvSpPr>
            <p:spPr>
              <a:xfrm>
                <a:off x="2438280" y="3124080"/>
                <a:ext cx="1379520" cy="45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Jα</m:t>
                    </m:r>
                  </m:oMath>
                </a14:m>
              </a:p>
            </p:txBody>
          </p:sp>
        </mc:Choice>
        <mc:Fallback>
          <p:sp>
            <p:nvSpPr>
              <p:cNvPr id="34" name="Object 357"/>
              <p:cNvSpPr txBox="1"/>
              <p:nvPr/>
            </p:nvSpPr>
            <p:spPr>
              <a:xfrm>
                <a:off x="2438280" y="3124080"/>
                <a:ext cx="1379520" cy="4510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35" name="Line 364"/>
          <p:cNvSpPr/>
          <p:nvPr/>
        </p:nvSpPr>
        <p:spPr>
          <a:xfrm flipV="1">
            <a:off x="1295280" y="3885840"/>
            <a:ext cx="0" cy="609480"/>
          </a:xfrm>
          <a:prstGeom prst="line">
            <a:avLst/>
          </a:prstGeom>
          <a:ln w="38160">
            <a:solidFill>
              <a:srgbClr val="0000FF"/>
            </a:solidFill>
            <a:miter/>
            <a:head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6" name="Object 365"/>
              <p:cNvSpPr txBox="1"/>
              <p:nvPr/>
            </p:nvSpPr>
            <p:spPr>
              <a:xfrm>
                <a:off x="1447920" y="4191120"/>
                <a:ext cx="387360" cy="512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T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6" name="Object 365"/>
              <p:cNvSpPr txBox="1"/>
              <p:nvPr/>
            </p:nvSpPr>
            <p:spPr>
              <a:xfrm>
                <a:off x="1447920" y="4191120"/>
                <a:ext cx="387360" cy="5126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7" name="Object 366"/>
              <p:cNvSpPr txBox="1"/>
              <p:nvPr/>
            </p:nvSpPr>
            <p:spPr>
              <a:xfrm>
                <a:off x="2514600" y="4838760"/>
                <a:ext cx="1060560" cy="419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&gt;</m:t>
                    </m:r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37" name="Object 366"/>
              <p:cNvSpPr txBox="1"/>
              <p:nvPr/>
            </p:nvSpPr>
            <p:spPr>
              <a:xfrm>
                <a:off x="2514600" y="4838760"/>
                <a:ext cx="1060560" cy="4190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8" name="Object 367"/>
              <p:cNvSpPr txBox="1"/>
              <p:nvPr/>
            </p:nvSpPr>
            <p:spPr>
              <a:xfrm>
                <a:off x="2438280" y="4267080"/>
                <a:ext cx="1897200" cy="514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mg</m:t>
                    </m:r>
                    <m:r>
                      <m:t xml:space="preserve">−</m:t>
                    </m:r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ma</m:t>
                    </m:r>
                  </m:oMath>
                </a14:m>
              </a:p>
            </p:txBody>
          </p:sp>
        </mc:Choice>
        <mc:Fallback>
          <p:sp>
            <p:nvSpPr>
              <p:cNvPr id="38" name="Object 367"/>
              <p:cNvSpPr txBox="1"/>
              <p:nvPr/>
            </p:nvSpPr>
            <p:spPr>
              <a:xfrm>
                <a:off x="2438280" y="4267080"/>
                <a:ext cx="1897200" cy="5144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Effect">
                      <p:stCondLst>
                        <p:cond delay="indefinite"/>
                      </p:stCondLst>
                      <p:childTnLst>
                        <p:par>
                          <p:cTn id="1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Effect">
                      <p:stCondLst>
                        <p:cond delay="indefinite"/>
                      </p:stCondLst>
                      <p:childTnLst>
                        <p:par>
                          <p:cTn id="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Effect">
                      <p:stCondLst>
                        <p:cond delay="indefinite"/>
                      </p:stCondLst>
                      <p:childTnLst>
                        <p:par>
                          <p:cTn id="3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Effect">
                      <p:stCondLst>
                        <p:cond delay="indefinite"/>
                      </p:stCondLst>
                      <p:childTnLst>
                        <p:par>
                          <p:cTn id="4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Effect">
                      <p:stCondLst>
                        <p:cond delay="indefinite"/>
                      </p:stCondLst>
                      <p:childTnLst>
                        <p:par>
                          <p:cTn id="5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Effect">
                      <p:stCondLst>
                        <p:cond delay="indefinite"/>
                      </p:stCondLst>
                      <p:childTnLst>
                        <p:par>
                          <p:cTn id="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Effect">
                      <p:stCondLst>
                        <p:cond delay="indefinite"/>
                      </p:stCondLst>
                      <p:childTnLst>
                        <p:par>
                          <p:cTn id="6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Effect">
                      <p:stCondLst>
                        <p:cond delay="indefinite"/>
                      </p:stCondLst>
                      <p:childTnLst>
                        <p:par>
                          <p:cTn id="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Effect">
                      <p:stCondLst>
                        <p:cond delay="indefinite"/>
                      </p:stCondLst>
                      <p:childTnLst>
                        <p:par>
                          <p:cTn id="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Effect">
                      <p:stCondLst>
                        <p:cond delay="indefinite"/>
                      </p:stCondLst>
                      <p:childTnLst>
                        <p:par>
                          <p:cTn id="8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"/>
          <p:cNvSpPr/>
          <p:nvPr/>
        </p:nvSpPr>
        <p:spPr>
          <a:xfrm>
            <a:off x="-53640" y="1574640"/>
            <a:ext cx="902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P56/3.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绕定轴转动的刚体转动时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如果它的角加速度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Text Box 4"/>
          <p:cNvSpPr/>
          <p:nvPr/>
        </p:nvSpPr>
        <p:spPr>
          <a:xfrm>
            <a:off x="-91800" y="2092320"/>
            <a:ext cx="4927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很大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则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Text Box 5"/>
          <p:cNvSpPr/>
          <p:nvPr/>
        </p:nvSpPr>
        <p:spPr>
          <a:xfrm>
            <a:off x="2445840" y="203184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Text Box 6"/>
          <p:cNvSpPr/>
          <p:nvPr/>
        </p:nvSpPr>
        <p:spPr>
          <a:xfrm>
            <a:off x="148320" y="2717640"/>
            <a:ext cx="5225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作用在刚体上的力一定很大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 Box 7"/>
          <p:cNvSpPr/>
          <p:nvPr/>
        </p:nvSpPr>
        <p:spPr>
          <a:xfrm>
            <a:off x="149040" y="3235320"/>
            <a:ext cx="6177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作用在刚体上的外力矩一定很大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Text Box 8"/>
          <p:cNvSpPr/>
          <p:nvPr/>
        </p:nvSpPr>
        <p:spPr>
          <a:xfrm>
            <a:off x="148320" y="3708360"/>
            <a:ext cx="6368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作用在刚体上的力和外力矩都很大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Text Box 9"/>
          <p:cNvSpPr/>
          <p:nvPr/>
        </p:nvSpPr>
        <p:spPr>
          <a:xfrm>
            <a:off x="148320" y="4165560"/>
            <a:ext cx="2176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难以判断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6" name="Object 10"/>
              <p:cNvSpPr txBox="1"/>
              <p:nvPr/>
            </p:nvSpPr>
            <p:spPr>
              <a:xfrm>
                <a:off x="1735200" y="4959360"/>
                <a:ext cx="1380960" cy="450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Jα</m:t>
                    </m:r>
                  </m:oMath>
                </a14:m>
              </a:p>
            </p:txBody>
          </p:sp>
        </mc:Choice>
        <mc:Fallback>
          <p:sp>
            <p:nvSpPr>
              <p:cNvPr id="46" name="Object 10"/>
              <p:cNvSpPr txBox="1"/>
              <p:nvPr/>
            </p:nvSpPr>
            <p:spPr>
              <a:xfrm>
                <a:off x="1735200" y="4959360"/>
                <a:ext cx="1380960" cy="4507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fill="hold" nodeType="clickEffect">
                      <p:stCondLst>
                        <p:cond delay="indefinite"/>
                      </p:stCondLst>
                      <p:childTnLst>
                        <p:par>
                          <p:cTn id="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Effect">
                      <p:stCondLst>
                        <p:cond delay="indefinite"/>
                      </p:stCondLst>
                      <p:childTnLst>
                        <p:par>
                          <p:cTn id="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2"/>
          <p:cNvSpPr/>
          <p:nvPr/>
        </p:nvSpPr>
        <p:spPr>
          <a:xfrm>
            <a:off x="-437400" y="136440"/>
            <a:ext cx="7320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P56/4.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一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滑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冰者开始自转时角速度为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 Box 3"/>
          <p:cNvSpPr/>
          <p:nvPr/>
        </p:nvSpPr>
        <p:spPr>
          <a:xfrm>
            <a:off x="-447840" y="746280"/>
            <a:ext cx="760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当他将手臂收缩时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其转动惯量减少为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9" name="Object 4"/>
              <p:cNvSpPr txBox="1"/>
              <p:nvPr/>
            </p:nvSpPr>
            <p:spPr>
              <a:xfrm>
                <a:off x="6324480" y="196920"/>
                <a:ext cx="463680" cy="453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49" name="Object 4"/>
              <p:cNvSpPr txBox="1"/>
              <p:nvPr/>
            </p:nvSpPr>
            <p:spPr>
              <a:xfrm>
                <a:off x="6324480" y="196920"/>
                <a:ext cx="463680" cy="4539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50" name="Text Box 5"/>
          <p:cNvSpPr/>
          <p:nvPr/>
        </p:nvSpPr>
        <p:spPr>
          <a:xfrm>
            <a:off x="6307200" y="13644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转动惯量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1" name="Object 6"/>
              <p:cNvSpPr txBox="1"/>
              <p:nvPr/>
            </p:nvSpPr>
            <p:spPr>
              <a:xfrm>
                <a:off x="6496200" y="609480"/>
                <a:ext cx="753840" cy="827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sSub>
                      <m:e>
                        <m:r>
                          <m:t xml:space="preserve">J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,</m:t>
                    </m:r>
                  </m:oMath>
                </a14:m>
              </a:p>
            </p:txBody>
          </p:sp>
        </mc:Choice>
        <mc:Fallback>
          <p:sp>
            <p:nvSpPr>
              <p:cNvPr id="51" name="Object 6"/>
              <p:cNvSpPr txBox="1"/>
              <p:nvPr/>
            </p:nvSpPr>
            <p:spPr>
              <a:xfrm>
                <a:off x="6496200" y="609480"/>
                <a:ext cx="753840" cy="827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2" name="Object 7"/>
              <p:cNvSpPr txBox="1"/>
              <p:nvPr/>
            </p:nvSpPr>
            <p:spPr>
              <a:xfrm>
                <a:off x="8423280" y="185760"/>
                <a:ext cx="492120" cy="453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J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,</m:t>
                    </m:r>
                  </m:oMath>
                </a14:m>
              </a:p>
            </p:txBody>
          </p:sp>
        </mc:Choice>
        <mc:Fallback>
          <p:sp>
            <p:nvSpPr>
              <p:cNvPr id="52" name="Object 7"/>
              <p:cNvSpPr txBox="1"/>
              <p:nvPr/>
            </p:nvSpPr>
            <p:spPr>
              <a:xfrm>
                <a:off x="8423280" y="185760"/>
                <a:ext cx="492120" cy="453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53" name="Text Box 8"/>
          <p:cNvSpPr/>
          <p:nvPr/>
        </p:nvSpPr>
        <p:spPr>
          <a:xfrm>
            <a:off x="-402480" y="1447920"/>
            <a:ext cx="6078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速度将变为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Text Box 9"/>
          <p:cNvSpPr/>
          <p:nvPr/>
        </p:nvSpPr>
        <p:spPr>
          <a:xfrm>
            <a:off x="6732720" y="74628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则他的角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Text Box 10"/>
          <p:cNvSpPr/>
          <p:nvPr/>
        </p:nvSpPr>
        <p:spPr>
          <a:xfrm>
            <a:off x="-257040" y="275904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Text Box 11"/>
          <p:cNvSpPr/>
          <p:nvPr/>
        </p:nvSpPr>
        <p:spPr>
          <a:xfrm>
            <a:off x="2117880" y="277488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Text Box 12"/>
          <p:cNvSpPr/>
          <p:nvPr/>
        </p:nvSpPr>
        <p:spPr>
          <a:xfrm>
            <a:off x="4619880" y="27432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 Box 13"/>
          <p:cNvSpPr/>
          <p:nvPr/>
        </p:nvSpPr>
        <p:spPr>
          <a:xfrm>
            <a:off x="6975720" y="275904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9" name="Object 14"/>
              <p:cNvSpPr txBox="1"/>
              <p:nvPr/>
            </p:nvSpPr>
            <p:spPr>
              <a:xfrm>
                <a:off x="733320" y="2666880"/>
                <a:ext cx="695520" cy="827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59" name="Object 14"/>
              <p:cNvSpPr txBox="1"/>
              <p:nvPr/>
            </p:nvSpPr>
            <p:spPr>
              <a:xfrm>
                <a:off x="733320" y="2666880"/>
                <a:ext cx="695520" cy="827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0" name="Object 15"/>
              <p:cNvSpPr txBox="1"/>
              <p:nvPr/>
            </p:nvSpPr>
            <p:spPr>
              <a:xfrm>
                <a:off x="3019320" y="2666880"/>
                <a:ext cx="955800" cy="881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ad>
                          <m:radPr>
                            <m:degHide m:val="1"/>
                          </m:radPr>
                          <m:deg/>
                          <m:e>
                            <m:r>
                              <m:t xml:space="preserve">3</m:t>
                            </m:r>
                          </m:e>
                        </m:rad>
                      </m:den>
                    </m:f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0" name="Object 15"/>
              <p:cNvSpPr txBox="1"/>
              <p:nvPr/>
            </p:nvSpPr>
            <p:spPr>
              <a:xfrm>
                <a:off x="3019320" y="2666880"/>
                <a:ext cx="955800" cy="881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1" name="Object 16"/>
              <p:cNvSpPr txBox="1"/>
              <p:nvPr/>
            </p:nvSpPr>
            <p:spPr>
              <a:xfrm>
                <a:off x="5562720" y="2819520"/>
                <a:ext cx="609480" cy="42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3</m:t>
                    </m:r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1" name="Object 16"/>
              <p:cNvSpPr txBox="1"/>
              <p:nvPr/>
            </p:nvSpPr>
            <p:spPr>
              <a:xfrm>
                <a:off x="5562720" y="2819520"/>
                <a:ext cx="609480" cy="426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2" name="Object 17"/>
              <p:cNvSpPr txBox="1"/>
              <p:nvPr/>
            </p:nvSpPr>
            <p:spPr>
              <a:xfrm>
                <a:off x="7924680" y="2819520"/>
                <a:ext cx="463680" cy="453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2" name="Object 17"/>
              <p:cNvSpPr txBox="1"/>
              <p:nvPr/>
            </p:nvSpPr>
            <p:spPr>
              <a:xfrm>
                <a:off x="7924680" y="2819520"/>
                <a:ext cx="463680" cy="4539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3" name="Object 18"/>
              <p:cNvSpPr txBox="1"/>
              <p:nvPr/>
            </p:nvSpPr>
            <p:spPr>
              <a:xfrm>
                <a:off x="533520" y="4114800"/>
                <a:ext cx="1477800" cy="42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J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Jω</m:t>
                    </m:r>
                  </m:oMath>
                </a14:m>
              </a:p>
            </p:txBody>
          </p:sp>
        </mc:Choice>
        <mc:Fallback>
          <p:sp>
            <p:nvSpPr>
              <p:cNvPr id="63" name="Object 18"/>
              <p:cNvSpPr txBox="1"/>
              <p:nvPr/>
            </p:nvSpPr>
            <p:spPr>
              <a:xfrm>
                <a:off x="533520" y="4114800"/>
                <a:ext cx="1477800" cy="4269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4" name="Object 19"/>
              <p:cNvSpPr txBox="1"/>
              <p:nvPr/>
            </p:nvSpPr>
            <p:spPr>
              <a:xfrm>
                <a:off x="533520" y="4724280"/>
                <a:ext cx="1130040" cy="827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J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sSub>
                      <m:e>
                        <m:r>
                          <m:t xml:space="preserve">J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4" name="Object 19"/>
              <p:cNvSpPr txBox="1"/>
              <p:nvPr/>
            </p:nvSpPr>
            <p:spPr>
              <a:xfrm>
                <a:off x="533520" y="4724280"/>
                <a:ext cx="1130040" cy="8272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65" name="Text Box 20"/>
          <p:cNvSpPr/>
          <p:nvPr/>
        </p:nvSpPr>
        <p:spPr>
          <a:xfrm>
            <a:off x="3202920" y="13716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6" name="Object 25"/>
          <p:cNvGraphicFramePr/>
          <p:nvPr/>
        </p:nvGraphicFramePr>
        <p:xfrm>
          <a:off x="4191120" y="3809880"/>
          <a:ext cx="1325520" cy="2210040"/>
        </p:xfrm>
        <a:graphic>
          <a:graphicData uri="http://schemas.openxmlformats.org/presentationml/2006/ole">
            <p:oleObj r:id="rId10" spid="">
              <p:embed/>
              <p:pic>
                <p:nvPicPr>
                  <p:cNvPr id="67" name="Object 25"/>
                  <p:cNvPicPr/>
                  <p:nvPr/>
                </p:nvPicPr>
                <p:blipFill>
                  <a:blip r:embed="rId11"/>
                  <a:stretch/>
                </p:blipFill>
                <p:spPr>
                  <a:xfrm>
                    <a:off x="4191120" y="3809880"/>
                    <a:ext cx="1325520" cy="22100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8" name="Line 26"/>
          <p:cNvSpPr/>
          <p:nvPr/>
        </p:nvSpPr>
        <p:spPr>
          <a:xfrm>
            <a:off x="4952880" y="4952880"/>
            <a:ext cx="0" cy="106704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9" name="Object 27"/>
              <p:cNvSpPr txBox="1"/>
              <p:nvPr/>
            </p:nvSpPr>
            <p:spPr>
              <a:xfrm>
                <a:off x="4648320" y="6095880"/>
                <a:ext cx="600120" cy="46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69" name="Object 27"/>
              <p:cNvSpPr txBox="1"/>
              <p:nvPr/>
            </p:nvSpPr>
            <p:spPr>
              <a:xfrm>
                <a:off x="4648320" y="6095880"/>
                <a:ext cx="600120" cy="4669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sp>
        <p:nvSpPr>
          <p:cNvPr id="70" name="Line 28"/>
          <p:cNvSpPr/>
          <p:nvPr/>
        </p:nvSpPr>
        <p:spPr>
          <a:xfrm flipV="1">
            <a:off x="4952880" y="3962160"/>
            <a:ext cx="0" cy="10666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1" name="Object 29"/>
              <p:cNvSpPr txBox="1"/>
              <p:nvPr/>
            </p:nvSpPr>
            <p:spPr>
              <a:xfrm>
                <a:off x="5181480" y="3657600"/>
                <a:ext cx="457200" cy="54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N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71" name="Object 29"/>
              <p:cNvSpPr txBox="1"/>
              <p:nvPr/>
            </p:nvSpPr>
            <p:spPr>
              <a:xfrm>
                <a:off x="5181480" y="3657600"/>
                <a:ext cx="457200" cy="5446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  <p:sp>
        <p:nvSpPr>
          <p:cNvPr id="72" name="Line 30"/>
          <p:cNvSpPr/>
          <p:nvPr/>
        </p:nvSpPr>
        <p:spPr>
          <a:xfrm flipH="1">
            <a:off x="4114800" y="5791320"/>
            <a:ext cx="914400" cy="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3" name="Object 31"/>
              <p:cNvSpPr txBox="1"/>
              <p:nvPr/>
            </p:nvSpPr>
            <p:spPr>
              <a:xfrm>
                <a:off x="3498840" y="5578560"/>
                <a:ext cx="317520" cy="512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73" name="Object 31"/>
              <p:cNvSpPr txBox="1"/>
              <p:nvPr/>
            </p:nvSpPr>
            <p:spPr>
              <a:xfrm>
                <a:off x="3498840" y="5578560"/>
                <a:ext cx="317520" cy="51264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" dur="indefinite" restart="never" nodeType="tmRoot">
          <p:childTnLst>
            <p:seq>
              <p:cTn id="99" dur="indefinite" nodeType="mainSeq">
                <p:childTnLst>
                  <p:par>
                    <p:cTn id="100" fill="hold" nodeType="clickEffect">
                      <p:stCondLst>
                        <p:cond delay="indefinite"/>
                      </p:stCondLst>
                      <p:childTnLst>
                        <p:par>
                          <p:cTn id="10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Effect">
                      <p:stCondLst>
                        <p:cond delay="indefinite"/>
                      </p:stCondLst>
                      <p:childTnLst>
                        <p:par>
                          <p:cTn id="10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Effect">
                      <p:stCondLst>
                        <p:cond delay="indefinite"/>
                      </p:stCondLst>
                      <p:childTnLst>
                        <p:par>
                          <p:cTn id="1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Effect">
                      <p:stCondLst>
                        <p:cond delay="indefinite"/>
                      </p:stCondLst>
                      <p:childTnLst>
                        <p:par>
                          <p:cTn id="1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Effect">
                      <p:stCondLst>
                        <p:cond delay="indefinite"/>
                      </p:stCondLst>
                      <p:childTnLst>
                        <p:par>
                          <p:cTn id="13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Effect">
                      <p:stCondLst>
                        <p:cond delay="indefinite"/>
                      </p:stCondLst>
                      <p:childTnLst>
                        <p:par>
                          <p:cTn id="13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Effect">
                      <p:stCondLst>
                        <p:cond delay="indefinite"/>
                      </p:stCondLst>
                      <p:childTnLst>
                        <p:par>
                          <p:cTn id="14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29"/>
          <p:cNvSpPr/>
          <p:nvPr/>
        </p:nvSpPr>
        <p:spPr>
          <a:xfrm>
            <a:off x="-234720" y="136440"/>
            <a:ext cx="6726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P56/6.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长为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L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均匀细棒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可绕其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Rectangle 30"/>
          <p:cNvSpPr/>
          <p:nvPr/>
        </p:nvSpPr>
        <p:spPr>
          <a:xfrm>
            <a:off x="6553080" y="457200"/>
            <a:ext cx="2438640" cy="152280"/>
          </a:xfrm>
          <a:prstGeom prst="rect">
            <a:avLst/>
          </a:prstGeom>
          <a:blipFill rotWithShape="0">
            <a:blip r:embed="rId1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6" name="Object 31"/>
              <p:cNvSpPr txBox="1"/>
              <p:nvPr/>
            </p:nvSpPr>
            <p:spPr>
              <a:xfrm>
                <a:off x="8070840" y="574560"/>
                <a:ext cx="463680" cy="644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L</m:t>
                    </m:r>
                  </m:oMath>
                </a14:m>
              </a:p>
            </p:txBody>
          </p:sp>
        </mc:Choice>
        <mc:Fallback>
          <p:sp>
            <p:nvSpPr>
              <p:cNvPr id="76" name="Object 31"/>
              <p:cNvSpPr txBox="1"/>
              <p:nvPr/>
            </p:nvSpPr>
            <p:spPr>
              <a:xfrm>
                <a:off x="8070840" y="574560"/>
                <a:ext cx="463680" cy="6447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77" name="Line 32"/>
          <p:cNvSpPr/>
          <p:nvPr/>
        </p:nvSpPr>
        <p:spPr>
          <a:xfrm>
            <a:off x="6553080" y="228600"/>
            <a:ext cx="0" cy="38088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Line 33"/>
          <p:cNvSpPr/>
          <p:nvPr/>
        </p:nvSpPr>
        <p:spPr>
          <a:xfrm>
            <a:off x="8991720" y="228600"/>
            <a:ext cx="0" cy="99072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Line 34"/>
          <p:cNvSpPr/>
          <p:nvPr/>
        </p:nvSpPr>
        <p:spPr>
          <a:xfrm>
            <a:off x="6553080" y="304920"/>
            <a:ext cx="1067040" cy="0"/>
          </a:xfrm>
          <a:prstGeom prst="line">
            <a:avLst/>
          </a:prstGeom>
          <a:ln w="2844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Line 35"/>
          <p:cNvSpPr/>
          <p:nvPr/>
        </p:nvSpPr>
        <p:spPr>
          <a:xfrm flipH="1">
            <a:off x="8077320" y="304920"/>
            <a:ext cx="914400" cy="0"/>
          </a:xfrm>
          <a:prstGeom prst="line">
            <a:avLst/>
          </a:prstGeom>
          <a:ln w="2844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1" name="Object 36"/>
              <p:cNvSpPr txBox="1"/>
              <p:nvPr/>
            </p:nvSpPr>
            <p:spPr>
              <a:xfrm>
                <a:off x="7696080" y="76320"/>
                <a:ext cx="301680" cy="328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L</m:t>
                    </m:r>
                  </m:oMath>
                </a14:m>
              </a:p>
            </p:txBody>
          </p:sp>
        </mc:Choice>
        <mc:Fallback>
          <p:sp>
            <p:nvSpPr>
              <p:cNvPr id="81" name="Object 36"/>
              <p:cNvSpPr txBox="1"/>
              <p:nvPr/>
            </p:nvSpPr>
            <p:spPr>
              <a:xfrm>
                <a:off x="7696080" y="76320"/>
                <a:ext cx="301680" cy="328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82" name="Line 37"/>
          <p:cNvSpPr/>
          <p:nvPr/>
        </p:nvSpPr>
        <p:spPr>
          <a:xfrm>
            <a:off x="7467480" y="914400"/>
            <a:ext cx="533520" cy="0"/>
          </a:xfrm>
          <a:prstGeom prst="line">
            <a:avLst/>
          </a:prstGeom>
          <a:ln w="2844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Line 38"/>
          <p:cNvSpPr/>
          <p:nvPr/>
        </p:nvSpPr>
        <p:spPr>
          <a:xfrm>
            <a:off x="7467480" y="609480"/>
            <a:ext cx="0" cy="53352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Text Box 39"/>
          <p:cNvSpPr/>
          <p:nvPr/>
        </p:nvSpPr>
        <p:spPr>
          <a:xfrm>
            <a:off x="-108360" y="609480"/>
            <a:ext cx="6642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一端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o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在竖直平面内无摩擦转动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设棒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Box 40"/>
          <p:cNvSpPr/>
          <p:nvPr/>
        </p:nvSpPr>
        <p:spPr>
          <a:xfrm>
            <a:off x="-101880" y="1127160"/>
            <a:ext cx="9192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在水平位置时所受的重力矩为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当此棒被截去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2/3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 Box 41"/>
          <p:cNvSpPr/>
          <p:nvPr/>
        </p:nvSpPr>
        <p:spPr>
          <a:xfrm>
            <a:off x="-57960" y="1600200"/>
            <a:ext cx="9118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度后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剩余部分在水平位置所受的重力矩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Line 42"/>
          <p:cNvSpPr/>
          <p:nvPr/>
        </p:nvSpPr>
        <p:spPr>
          <a:xfrm flipH="1">
            <a:off x="8458200" y="914400"/>
            <a:ext cx="533520" cy="0"/>
          </a:xfrm>
          <a:prstGeom prst="line">
            <a:avLst/>
          </a:prstGeom>
          <a:ln w="2844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Box 43"/>
          <p:cNvSpPr/>
          <p:nvPr/>
        </p:nvSpPr>
        <p:spPr>
          <a:xfrm>
            <a:off x="-257040" y="237816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Text Box 44"/>
          <p:cNvSpPr/>
          <p:nvPr/>
        </p:nvSpPr>
        <p:spPr>
          <a:xfrm>
            <a:off x="2117880" y="23940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 Box 45"/>
          <p:cNvSpPr/>
          <p:nvPr/>
        </p:nvSpPr>
        <p:spPr>
          <a:xfrm>
            <a:off x="4619880" y="236232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Text Box 46"/>
          <p:cNvSpPr/>
          <p:nvPr/>
        </p:nvSpPr>
        <p:spPr>
          <a:xfrm>
            <a:off x="6918480" y="237816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2" name="Object 47"/>
              <p:cNvSpPr txBox="1"/>
              <p:nvPr/>
            </p:nvSpPr>
            <p:spPr>
              <a:xfrm>
                <a:off x="685800" y="2286000"/>
                <a:ext cx="695160" cy="82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M</m:t>
                    </m:r>
                  </m:oMath>
                </a14:m>
              </a:p>
            </p:txBody>
          </p:sp>
        </mc:Choice>
        <mc:Fallback>
          <p:sp>
            <p:nvSpPr>
              <p:cNvPr id="92" name="Object 47"/>
              <p:cNvSpPr txBox="1"/>
              <p:nvPr/>
            </p:nvSpPr>
            <p:spPr>
              <a:xfrm>
                <a:off x="685800" y="2286000"/>
                <a:ext cx="695160" cy="826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3" name="Object 48"/>
              <p:cNvSpPr txBox="1"/>
              <p:nvPr/>
            </p:nvSpPr>
            <p:spPr>
              <a:xfrm>
                <a:off x="5562720" y="2286000"/>
                <a:ext cx="695160" cy="82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9</m:t>
                        </m:r>
                      </m:den>
                    </m:f>
                    <m:r>
                      <m:t xml:space="preserve">M</m:t>
                    </m:r>
                  </m:oMath>
                </a14:m>
              </a:p>
            </p:txBody>
          </p:sp>
        </mc:Choice>
        <mc:Fallback>
          <p:sp>
            <p:nvSpPr>
              <p:cNvPr id="93" name="Object 48"/>
              <p:cNvSpPr txBox="1"/>
              <p:nvPr/>
            </p:nvSpPr>
            <p:spPr>
              <a:xfrm>
                <a:off x="5562720" y="2286000"/>
                <a:ext cx="695160" cy="826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4" name="Object 49"/>
              <p:cNvSpPr txBox="1"/>
              <p:nvPr/>
            </p:nvSpPr>
            <p:spPr>
              <a:xfrm>
                <a:off x="3048120" y="2297160"/>
                <a:ext cx="695160" cy="82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6</m:t>
                        </m:r>
                      </m:den>
                    </m:f>
                    <m:r>
                      <m:t xml:space="preserve">M</m:t>
                    </m:r>
                  </m:oMath>
                </a14:m>
              </a:p>
            </p:txBody>
          </p:sp>
        </mc:Choice>
        <mc:Fallback>
          <p:sp>
            <p:nvSpPr>
              <p:cNvPr id="94" name="Object 49"/>
              <p:cNvSpPr txBox="1"/>
              <p:nvPr/>
            </p:nvSpPr>
            <p:spPr>
              <a:xfrm>
                <a:off x="3048120" y="2297160"/>
                <a:ext cx="695160" cy="826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5" name="Object 50"/>
              <p:cNvSpPr txBox="1"/>
              <p:nvPr/>
            </p:nvSpPr>
            <p:spPr>
              <a:xfrm>
                <a:off x="7777080" y="2297160"/>
                <a:ext cx="839880" cy="82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18</m:t>
                        </m:r>
                      </m:den>
                    </m:f>
                    <m:r>
                      <m:t xml:space="preserve">M</m:t>
                    </m:r>
                  </m:oMath>
                </a14:m>
              </a:p>
            </p:txBody>
          </p:sp>
        </mc:Choice>
        <mc:Fallback>
          <p:sp>
            <p:nvSpPr>
              <p:cNvPr id="95" name="Object 50"/>
              <p:cNvSpPr txBox="1"/>
              <p:nvPr/>
            </p:nvSpPr>
            <p:spPr>
              <a:xfrm>
                <a:off x="7777080" y="2297160"/>
                <a:ext cx="839880" cy="826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6" name="Object 51"/>
              <p:cNvSpPr txBox="1"/>
              <p:nvPr/>
            </p:nvSpPr>
            <p:spPr>
              <a:xfrm>
                <a:off x="6400800" y="609480"/>
                <a:ext cx="290520" cy="293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o</m:t>
                    </m:r>
                  </m:oMath>
                </a14:m>
              </a:p>
            </p:txBody>
          </p:sp>
        </mc:Choice>
        <mc:Fallback>
          <p:sp>
            <p:nvSpPr>
              <p:cNvPr id="96" name="Object 51"/>
              <p:cNvSpPr txBox="1"/>
              <p:nvPr/>
            </p:nvSpPr>
            <p:spPr>
              <a:xfrm>
                <a:off x="6400800" y="609480"/>
                <a:ext cx="290520" cy="293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97" name="Text Box 52"/>
          <p:cNvSpPr/>
          <p:nvPr/>
        </p:nvSpPr>
        <p:spPr>
          <a:xfrm>
            <a:off x="7698600" y="16002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8" name="Object 53"/>
              <p:cNvSpPr txBox="1"/>
              <p:nvPr/>
            </p:nvSpPr>
            <p:spPr>
              <a:xfrm>
                <a:off x="457200" y="3276720"/>
                <a:ext cx="2151000" cy="88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mg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L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98" name="Object 53"/>
              <p:cNvSpPr txBox="1"/>
              <p:nvPr/>
            </p:nvSpPr>
            <p:spPr>
              <a:xfrm>
                <a:off x="457200" y="3276720"/>
                <a:ext cx="2151000" cy="887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9" name="Object 54"/>
              <p:cNvSpPr txBox="1"/>
              <p:nvPr/>
            </p:nvSpPr>
            <p:spPr>
              <a:xfrm>
                <a:off x="380880" y="4419720"/>
                <a:ext cx="2557440" cy="88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g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b>
                      <m:e>
                        <m:r>
                          <m:t xml:space="preserve">L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99" name="Object 54"/>
              <p:cNvSpPr txBox="1"/>
              <p:nvPr/>
            </p:nvSpPr>
            <p:spPr>
              <a:xfrm>
                <a:off x="380880" y="4419720"/>
                <a:ext cx="2557440" cy="887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0" name="Object 55"/>
              <p:cNvSpPr txBox="1"/>
              <p:nvPr/>
            </p:nvSpPr>
            <p:spPr>
              <a:xfrm>
                <a:off x="2895480" y="4419720"/>
                <a:ext cx="2557440" cy="88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m</m:t>
                    </m:r>
                    <m:r>
                      <m:t xml:space="preserve">)</m:t>
                    </m:r>
                    <m:r>
                      <m:t xml:space="preserve">g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L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100" name="Object 55"/>
              <p:cNvSpPr txBox="1"/>
              <p:nvPr/>
            </p:nvSpPr>
            <p:spPr>
              <a:xfrm>
                <a:off x="2895480" y="4419720"/>
                <a:ext cx="2557440" cy="887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7" dur="indefinite" restart="never" nodeType="tmRoot">
          <p:childTnLst>
            <p:seq>
              <p:cTn id="148" dur="indefinite" nodeType="mainSeq">
                <p:childTnLst>
                  <p:par>
                    <p:cTn id="149" fill="hold" nodeType="clickEffect">
                      <p:stCondLst>
                        <p:cond delay="indefinite"/>
                      </p:stCondLst>
                      <p:childTnLst>
                        <p:par>
                          <p:cTn id="15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Effect">
                      <p:stCondLst>
                        <p:cond delay="indefinite"/>
                      </p:stCondLst>
                      <p:childTnLst>
                        <p:par>
                          <p:cTn id="15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Effect">
                      <p:stCondLst>
                        <p:cond delay="indefinite"/>
                      </p:stCondLst>
                      <p:childTnLst>
                        <p:par>
                          <p:cTn id="16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Effect">
                      <p:stCondLst>
                        <p:cond delay="indefinite"/>
                      </p:stCondLst>
                      <p:childTnLst>
                        <p:par>
                          <p:cTn id="16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3"/>
          <p:cNvSpPr/>
          <p:nvPr/>
        </p:nvSpPr>
        <p:spPr>
          <a:xfrm>
            <a:off x="-53280" y="136440"/>
            <a:ext cx="9027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P57/8.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在外力矩为零的情况下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将一绕定轴转动的刚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 Box 4"/>
          <p:cNvSpPr/>
          <p:nvPr/>
        </p:nvSpPr>
        <p:spPr>
          <a:xfrm>
            <a:off x="-6120" y="669960"/>
            <a:ext cx="7983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体的转动惯量减少一半，则刚体的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Text Box 5"/>
          <p:cNvSpPr/>
          <p:nvPr/>
        </p:nvSpPr>
        <p:spPr>
          <a:xfrm>
            <a:off x="148320" y="1219320"/>
            <a:ext cx="370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角速度将增大一倍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 Box 6"/>
          <p:cNvSpPr/>
          <p:nvPr/>
        </p:nvSpPr>
        <p:spPr>
          <a:xfrm>
            <a:off x="57600" y="1736640"/>
            <a:ext cx="5979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角速度不变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转动动量增加二倍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 Box 7"/>
          <p:cNvSpPr/>
          <p:nvPr/>
        </p:nvSpPr>
        <p:spPr>
          <a:xfrm>
            <a:off x="148320" y="2209680"/>
            <a:ext cx="370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转动动能增大二倍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 Box 8"/>
          <p:cNvSpPr/>
          <p:nvPr/>
        </p:nvSpPr>
        <p:spPr>
          <a:xfrm>
            <a:off x="57600" y="2666880"/>
            <a:ext cx="5979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转动动能不变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角速度增大二倍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7" name="Object 9"/>
              <p:cNvSpPr txBox="1"/>
              <p:nvPr/>
            </p:nvSpPr>
            <p:spPr>
              <a:xfrm>
                <a:off x="533520" y="3440160"/>
                <a:ext cx="1477800" cy="42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J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Jω</m:t>
                    </m:r>
                  </m:oMath>
                </a14:m>
              </a:p>
            </p:txBody>
          </p:sp>
        </mc:Choice>
        <mc:Fallback>
          <p:sp>
            <p:nvSpPr>
              <p:cNvPr id="107" name="Object 9"/>
              <p:cNvSpPr txBox="1"/>
              <p:nvPr/>
            </p:nvSpPr>
            <p:spPr>
              <a:xfrm>
                <a:off x="533520" y="3440160"/>
                <a:ext cx="1477800" cy="4269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8" name="Object 10"/>
              <p:cNvSpPr txBox="1"/>
              <p:nvPr/>
            </p:nvSpPr>
            <p:spPr>
              <a:xfrm>
                <a:off x="2590920" y="3352680"/>
                <a:ext cx="1130040" cy="827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J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b>
                      <m:e>
                        <m:r>
                          <m:t xml:space="preserve">J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08" name="Object 10"/>
              <p:cNvSpPr txBox="1"/>
              <p:nvPr/>
            </p:nvSpPr>
            <p:spPr>
              <a:xfrm>
                <a:off x="2590920" y="3352680"/>
                <a:ext cx="1130040" cy="827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9" name="Object 11"/>
              <p:cNvSpPr txBox="1"/>
              <p:nvPr/>
            </p:nvSpPr>
            <p:spPr>
              <a:xfrm>
                <a:off x="4267080" y="3505320"/>
                <a:ext cx="1189080" cy="42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r>
                      <m:t xml:space="preserve">=</m:t>
                    </m:r>
                    <m:r>
                      <m:t xml:space="preserve">2</m:t>
                    </m:r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09" name="Object 11"/>
              <p:cNvSpPr txBox="1"/>
              <p:nvPr/>
            </p:nvSpPr>
            <p:spPr>
              <a:xfrm>
                <a:off x="4267080" y="3505320"/>
                <a:ext cx="1189080" cy="426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10" name="Object 12"/>
              <p:cNvSpPr txBox="1"/>
              <p:nvPr/>
            </p:nvSpPr>
            <p:spPr>
              <a:xfrm>
                <a:off x="609480" y="4114800"/>
                <a:ext cx="1623960" cy="82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E</m:t>
                        </m:r>
                      </m:e>
                      <m:sub>
                        <m:r>
                          <m:t xml:space="preserve">k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t xml:space="preserve">Jω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10" name="Object 12"/>
              <p:cNvSpPr txBox="1"/>
              <p:nvPr/>
            </p:nvSpPr>
            <p:spPr>
              <a:xfrm>
                <a:off x="609480" y="4114800"/>
                <a:ext cx="1623960" cy="826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11" name="Object 13"/>
              <p:cNvSpPr txBox="1"/>
              <p:nvPr/>
            </p:nvSpPr>
            <p:spPr>
              <a:xfrm>
                <a:off x="2209680" y="4297320"/>
                <a:ext cx="1014480" cy="42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2</m:t>
                    </m:r>
                    <m:sSub>
                      <m:e>
                        <m:r>
                          <m:t xml:space="preserve">E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ko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11" name="Object 13"/>
              <p:cNvSpPr txBox="1"/>
              <p:nvPr/>
            </p:nvSpPr>
            <p:spPr>
              <a:xfrm>
                <a:off x="2209680" y="4297320"/>
                <a:ext cx="1014480" cy="426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112" name="Text Box 14"/>
          <p:cNvSpPr/>
          <p:nvPr/>
        </p:nvSpPr>
        <p:spPr>
          <a:xfrm>
            <a:off x="6408000" y="60948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星形: 五角 15"/>
          <p:cNvSpPr/>
          <p:nvPr/>
        </p:nvSpPr>
        <p:spPr>
          <a:xfrm>
            <a:off x="8317080" y="6165720"/>
            <a:ext cx="431640" cy="405000"/>
          </a:xfrm>
          <a:custGeom>
            <a:avLst/>
            <a:gdLst>
              <a:gd name="GluePoint1X" fmla="*/ 0 w 431800"/>
              <a:gd name="GluePoint1Y" fmla="*/ 154624 h 404813"/>
              <a:gd name="GluePoint2X" fmla="*/ 164934 w 431800"/>
              <a:gd name="GluePoint2Y" fmla="*/ 154626 h 404813"/>
              <a:gd name="GluePoint3X" fmla="*/ 215900 w 431800"/>
              <a:gd name="GluePoint3Y" fmla="*/ 0 h 404813"/>
              <a:gd name="GluePoint4X" fmla="*/ 266866 w 431800"/>
              <a:gd name="GluePoint4Y" fmla="*/ 154626 h 404813"/>
              <a:gd name="GluePoint5X" fmla="*/ 431800 w 431800"/>
              <a:gd name="GluePoint5Y" fmla="*/ 154624 h 404813"/>
              <a:gd name="GluePoint6X" fmla="*/ 298365 w 431800"/>
              <a:gd name="GluePoint6Y" fmla="*/ 250187 h 404813"/>
              <a:gd name="GluePoint7X" fmla="*/ 349333 w 431800"/>
              <a:gd name="GluePoint7Y" fmla="*/ 404812 h 404813"/>
              <a:gd name="GluePoint8X" fmla="*/ 215900 w 431800"/>
              <a:gd name="GluePoint8Y" fmla="*/ 309247 h 404813"/>
              <a:gd name="GluePoint9X" fmla="*/ 82467 w 431800"/>
              <a:gd name="GluePoint9Y" fmla="*/ 404812 h 404813"/>
              <a:gd name="GluePoint10X" fmla="*/ 133435 w 431800"/>
              <a:gd name="GluePoint10Y" fmla="*/ 250187 h 404813"/>
              <a:gd name="GluePoint11X" fmla="*/ 0 w 431800"/>
              <a:gd name="GluePoint11Y" fmla="*/ 154624 h 4048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1800" h="404813">
                <a:moveTo>
                  <a:pt x="0" y="154624"/>
                </a:moveTo>
                <a:lnTo>
                  <a:pt x="164934" y="154626"/>
                </a:lnTo>
                <a:lnTo>
                  <a:pt x="215900" y="0"/>
                </a:lnTo>
                <a:lnTo>
                  <a:pt x="266866" y="154626"/>
                </a:lnTo>
                <a:lnTo>
                  <a:pt x="431800" y="154624"/>
                </a:lnTo>
                <a:lnTo>
                  <a:pt x="298365" y="250187"/>
                </a:lnTo>
                <a:lnTo>
                  <a:pt x="349333" y="404812"/>
                </a:lnTo>
                <a:lnTo>
                  <a:pt x="215900" y="309247"/>
                </a:lnTo>
                <a:lnTo>
                  <a:pt x="82467" y="404812"/>
                </a:lnTo>
                <a:lnTo>
                  <a:pt x="133435" y="250187"/>
                </a:lnTo>
                <a:lnTo>
                  <a:pt x="0" y="15462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9" dur="indefinite" restart="never" nodeType="tmRoot">
          <p:childTnLst>
            <p:seq>
              <p:cTn id="170" dur="indefinite" nodeType="mainSeq">
                <p:childTnLst>
                  <p:par>
                    <p:cTn id="171" fill="hold" nodeType="clickEffect">
                      <p:stCondLst>
                        <p:cond delay="indefinite"/>
                      </p:stCondLst>
                      <p:childTnLst>
                        <p:par>
                          <p:cTn id="1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Effect">
                      <p:stCondLst>
                        <p:cond delay="indefinite"/>
                      </p:stCondLst>
                      <p:childTnLst>
                        <p:par>
                          <p:cTn id="1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Effect">
                      <p:stCondLst>
                        <p:cond delay="indefinite"/>
                      </p:stCondLst>
                      <p:childTnLst>
                        <p:par>
                          <p:cTn id="18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Effect">
                      <p:stCondLst>
                        <p:cond delay="indefinite"/>
                      </p:stCondLst>
                      <p:childTnLst>
                        <p:par>
                          <p:cTn id="18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Effect">
                      <p:stCondLst>
                        <p:cond delay="indefinite"/>
                      </p:stCondLst>
                      <p:childTnLst>
                        <p:par>
                          <p:cTn id="19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Effect">
                      <p:stCondLst>
                        <p:cond delay="indefinite"/>
                      </p:stCondLst>
                      <p:childTnLst>
                        <p:par>
                          <p:cTn id="19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Box 2"/>
          <p:cNvSpPr/>
          <p:nvPr/>
        </p:nvSpPr>
        <p:spPr>
          <a:xfrm>
            <a:off x="-188280" y="136440"/>
            <a:ext cx="9492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P57/9.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一根长为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L,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质量为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的均匀直棒在地上竖立着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 Box 3"/>
          <p:cNvSpPr/>
          <p:nvPr/>
        </p:nvSpPr>
        <p:spPr>
          <a:xfrm>
            <a:off x="-98280" y="685800"/>
            <a:ext cx="9309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如果让竖立着的棒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以下端与地面接触处为轴倒下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当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Text Box 4"/>
          <p:cNvSpPr/>
          <p:nvPr/>
        </p:nvSpPr>
        <p:spPr>
          <a:xfrm>
            <a:off x="-3240" y="1203480"/>
            <a:ext cx="722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上端到达地面时，速率应为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 Box 5"/>
          <p:cNvSpPr/>
          <p:nvPr/>
        </p:nvSpPr>
        <p:spPr>
          <a:xfrm>
            <a:off x="-244080" y="192096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Text Box 6"/>
          <p:cNvSpPr/>
          <p:nvPr/>
        </p:nvSpPr>
        <p:spPr>
          <a:xfrm>
            <a:off x="2130840" y="19368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 Box 7"/>
          <p:cNvSpPr/>
          <p:nvPr/>
        </p:nvSpPr>
        <p:spPr>
          <a:xfrm>
            <a:off x="4632480" y="190512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 Box 8"/>
          <p:cNvSpPr/>
          <p:nvPr/>
        </p:nvSpPr>
        <p:spPr>
          <a:xfrm>
            <a:off x="6918480" y="192096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1" name="Object 9"/>
              <p:cNvSpPr txBox="1"/>
              <p:nvPr/>
            </p:nvSpPr>
            <p:spPr>
              <a:xfrm>
                <a:off x="609480" y="1974960"/>
                <a:ext cx="955800" cy="53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6</m:t>
                        </m:r>
                        <m:r>
                          <m:t xml:space="preserve">gL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121" name="Object 9"/>
              <p:cNvSpPr txBox="1"/>
              <p:nvPr/>
            </p:nvSpPr>
            <p:spPr>
              <a:xfrm>
                <a:off x="609480" y="1974960"/>
                <a:ext cx="955800" cy="5331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2" name="Object 10"/>
              <p:cNvSpPr txBox="1"/>
              <p:nvPr/>
            </p:nvSpPr>
            <p:spPr>
              <a:xfrm>
                <a:off x="3048120" y="1981080"/>
                <a:ext cx="925560" cy="533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3</m:t>
                        </m:r>
                        <m:r>
                          <m:t xml:space="preserve">gL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122" name="Object 10"/>
              <p:cNvSpPr txBox="1"/>
              <p:nvPr/>
            </p:nvSpPr>
            <p:spPr>
              <a:xfrm>
                <a:off x="3048120" y="1981080"/>
                <a:ext cx="925560" cy="533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3" name="Object 11"/>
              <p:cNvSpPr txBox="1"/>
              <p:nvPr/>
            </p:nvSpPr>
            <p:spPr>
              <a:xfrm>
                <a:off x="5562720" y="1981080"/>
                <a:ext cx="954000" cy="533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2</m:t>
                        </m:r>
                        <m:r>
                          <m:t xml:space="preserve">gL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123" name="Object 11"/>
              <p:cNvSpPr txBox="1"/>
              <p:nvPr/>
            </p:nvSpPr>
            <p:spPr>
              <a:xfrm>
                <a:off x="5562720" y="1981080"/>
                <a:ext cx="954000" cy="533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4" name="Object 12"/>
              <p:cNvSpPr txBox="1"/>
              <p:nvPr/>
            </p:nvSpPr>
            <p:spPr>
              <a:xfrm>
                <a:off x="7778880" y="1828800"/>
                <a:ext cx="1041120" cy="933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f>
                          <m:num>
                            <m:r>
                              <m:t xml:space="preserve">3</m:t>
                            </m:r>
                          </m:num>
                          <m:den>
                            <m:r>
                              <m:t xml:space="preserve">2</m:t>
                            </m:r>
                          </m:den>
                        </m:f>
                        <m:r>
                          <m:t xml:space="preserve">gL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124" name="Object 12"/>
              <p:cNvSpPr txBox="1"/>
              <p:nvPr/>
            </p:nvSpPr>
            <p:spPr>
              <a:xfrm>
                <a:off x="7778880" y="1828800"/>
                <a:ext cx="1041120" cy="933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125" name="Text Box 13"/>
          <p:cNvSpPr/>
          <p:nvPr/>
        </p:nvSpPr>
        <p:spPr>
          <a:xfrm>
            <a:off x="5565240" y="11430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6" name="Object 14"/>
              <p:cNvSpPr txBox="1"/>
              <p:nvPr/>
            </p:nvSpPr>
            <p:spPr>
              <a:xfrm>
                <a:off x="533520" y="3371760"/>
                <a:ext cx="2438280" cy="866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t xml:space="preserve">Jω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mg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L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126" name="Object 14"/>
              <p:cNvSpPr txBox="1"/>
              <p:nvPr/>
            </p:nvSpPr>
            <p:spPr>
              <a:xfrm>
                <a:off x="533520" y="3371760"/>
                <a:ext cx="2438280" cy="866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7" name="Object 15"/>
              <p:cNvSpPr txBox="1"/>
              <p:nvPr/>
            </p:nvSpPr>
            <p:spPr>
              <a:xfrm>
                <a:off x="533520" y="4191120"/>
                <a:ext cx="1268280" cy="838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J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mL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27" name="Object 15"/>
              <p:cNvSpPr txBox="1"/>
              <p:nvPr/>
            </p:nvSpPr>
            <p:spPr>
              <a:xfrm>
                <a:off x="533520" y="4191120"/>
                <a:ext cx="1268280" cy="838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8" name="Object 16"/>
              <p:cNvSpPr txBox="1"/>
              <p:nvPr/>
            </p:nvSpPr>
            <p:spPr>
              <a:xfrm>
                <a:off x="609480" y="5105520"/>
                <a:ext cx="1495440" cy="1001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r>
                      <m:t xml:space="preserve">=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num>
                            <m:r>
                              <m:t xml:space="preserve">3</m:t>
                            </m:r>
                            <m:r>
                              <m:t xml:space="preserve">g</m:t>
                            </m:r>
                          </m:num>
                          <m:den>
                            <m:r>
                              <m:t xml:space="preserve">L</m:t>
                            </m:r>
                          </m:den>
                        </m:f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128" name="Object 16"/>
              <p:cNvSpPr txBox="1"/>
              <p:nvPr/>
            </p:nvSpPr>
            <p:spPr>
              <a:xfrm>
                <a:off x="609480" y="5105520"/>
                <a:ext cx="1495440" cy="1001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9" name="Object 17"/>
              <p:cNvSpPr txBox="1"/>
              <p:nvPr/>
            </p:nvSpPr>
            <p:spPr>
              <a:xfrm>
                <a:off x="609480" y="6172200"/>
                <a:ext cx="1184400" cy="399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>
                      <m:t xml:space="preserve">ωL</m:t>
                    </m:r>
                  </m:oMath>
                </a14:m>
              </a:p>
            </p:txBody>
          </p:sp>
        </mc:Choice>
        <mc:Fallback>
          <p:sp>
            <p:nvSpPr>
              <p:cNvPr id="129" name="Object 17"/>
              <p:cNvSpPr txBox="1"/>
              <p:nvPr/>
            </p:nvSpPr>
            <p:spPr>
              <a:xfrm>
                <a:off x="609480" y="6172200"/>
                <a:ext cx="1184400" cy="3999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130" name="AutoShape 18"/>
          <p:cNvSpPr/>
          <p:nvPr/>
        </p:nvSpPr>
        <p:spPr>
          <a:xfrm>
            <a:off x="304920" y="3809880"/>
            <a:ext cx="152280" cy="762120"/>
          </a:xfrm>
          <a:custGeom>
            <a:avLst/>
            <a:gdLst>
              <a:gd name="textAreaLeft" fmla="*/ 97200 w 152280"/>
              <a:gd name="textAreaRight" fmla="*/ 152640 w 152280"/>
              <a:gd name="textAreaTop" fmla="*/ 19800 h 762120"/>
              <a:gd name="textAreaBottom" fmla="*/ 742320 h 7621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Rectangle 19"/>
          <p:cNvSpPr/>
          <p:nvPr/>
        </p:nvSpPr>
        <p:spPr>
          <a:xfrm>
            <a:off x="6172200" y="4876920"/>
            <a:ext cx="2590920" cy="228600"/>
          </a:xfrm>
          <a:prstGeom prst="rect">
            <a:avLst/>
          </a:prstGeom>
          <a:blipFill rotWithShape="0">
            <a:blip r:embed="rId9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AutoShape 20"/>
          <p:cNvSpPr/>
          <p:nvPr/>
        </p:nvSpPr>
        <p:spPr>
          <a:xfrm rot="5400000">
            <a:off x="6667200" y="4000680"/>
            <a:ext cx="1600200" cy="152280"/>
          </a:xfrm>
          <a:prstGeom prst="roundRect">
            <a:avLst>
              <a:gd name="adj" fmla="val 27778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AutoShape 22"/>
          <p:cNvSpPr/>
          <p:nvPr/>
        </p:nvSpPr>
        <p:spPr>
          <a:xfrm rot="2250600">
            <a:off x="6090840" y="4272120"/>
            <a:ext cx="1600200" cy="152280"/>
          </a:xfrm>
          <a:prstGeom prst="roundRect">
            <a:avLst>
              <a:gd name="adj" fmla="val 27778"/>
            </a:avLst>
          </a:prstGeom>
          <a:blipFill rotWithShape="0">
            <a:blip r:embed="rId10"/>
            <a:srcRect/>
            <a:tile tx="0" ty="0" sx="100000" sy="100000" algn="ctr"/>
          </a:blipFill>
          <a:ln w="190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Oval 21"/>
          <p:cNvSpPr/>
          <p:nvPr/>
        </p:nvSpPr>
        <p:spPr>
          <a:xfrm>
            <a:off x="7391520" y="4724280"/>
            <a:ext cx="152280" cy="15264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767676"/>
              </a:gs>
            </a:gsLst>
            <a:path path="rect">
              <a:fillToRect l="50000" t="50000" r="50000" b="50000"/>
            </a:path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Line 23"/>
          <p:cNvSpPr/>
          <p:nvPr/>
        </p:nvSpPr>
        <p:spPr>
          <a:xfrm>
            <a:off x="6892920" y="4267080"/>
            <a:ext cx="0" cy="106704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6" name="Object 24"/>
              <p:cNvSpPr txBox="1"/>
              <p:nvPr/>
            </p:nvSpPr>
            <p:spPr>
              <a:xfrm>
                <a:off x="6492960" y="5376960"/>
                <a:ext cx="600120" cy="466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36" name="Object 24"/>
              <p:cNvSpPr txBox="1"/>
              <p:nvPr/>
            </p:nvSpPr>
            <p:spPr>
              <a:xfrm>
                <a:off x="6492960" y="5376960"/>
                <a:ext cx="600120" cy="4665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sp>
        <p:nvSpPr>
          <p:cNvPr id="137" name="Line 25"/>
          <p:cNvSpPr/>
          <p:nvPr/>
        </p:nvSpPr>
        <p:spPr>
          <a:xfrm flipV="1">
            <a:off x="7502400" y="3809880"/>
            <a:ext cx="228600" cy="9907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8" name="Object 26"/>
              <p:cNvSpPr txBox="1"/>
              <p:nvPr/>
            </p:nvSpPr>
            <p:spPr>
              <a:xfrm>
                <a:off x="7924680" y="3886200"/>
                <a:ext cx="457200" cy="54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N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38" name="Object 26"/>
              <p:cNvSpPr txBox="1"/>
              <p:nvPr/>
            </p:nvSpPr>
            <p:spPr>
              <a:xfrm>
                <a:off x="7924680" y="3886200"/>
                <a:ext cx="457200" cy="5446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sp>
        <p:nvSpPr>
          <p:cNvPr id="139" name="Text Box 27"/>
          <p:cNvSpPr/>
          <p:nvPr/>
        </p:nvSpPr>
        <p:spPr>
          <a:xfrm>
            <a:off x="310320" y="274320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CC"/>
                </a:solidFill>
                <a:effectLst/>
                <a:uFillTx/>
                <a:latin typeface="宋体"/>
              </a:rPr>
              <a:t>机械能守恒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星形: 五角 29"/>
          <p:cNvSpPr/>
          <p:nvPr/>
        </p:nvSpPr>
        <p:spPr>
          <a:xfrm>
            <a:off x="8317080" y="6165720"/>
            <a:ext cx="431640" cy="405000"/>
          </a:xfrm>
          <a:custGeom>
            <a:avLst/>
            <a:gdLst>
              <a:gd name="GluePoint1X" fmla="*/ 0 w 431800"/>
              <a:gd name="GluePoint1Y" fmla="*/ 154624 h 404813"/>
              <a:gd name="GluePoint2X" fmla="*/ 164934 w 431800"/>
              <a:gd name="GluePoint2Y" fmla="*/ 154626 h 404813"/>
              <a:gd name="GluePoint3X" fmla="*/ 215900 w 431800"/>
              <a:gd name="GluePoint3Y" fmla="*/ 0 h 404813"/>
              <a:gd name="GluePoint4X" fmla="*/ 266866 w 431800"/>
              <a:gd name="GluePoint4Y" fmla="*/ 154626 h 404813"/>
              <a:gd name="GluePoint5X" fmla="*/ 431800 w 431800"/>
              <a:gd name="GluePoint5Y" fmla="*/ 154624 h 404813"/>
              <a:gd name="GluePoint6X" fmla="*/ 298365 w 431800"/>
              <a:gd name="GluePoint6Y" fmla="*/ 250187 h 404813"/>
              <a:gd name="GluePoint7X" fmla="*/ 349333 w 431800"/>
              <a:gd name="GluePoint7Y" fmla="*/ 404812 h 404813"/>
              <a:gd name="GluePoint8X" fmla="*/ 215900 w 431800"/>
              <a:gd name="GluePoint8Y" fmla="*/ 309247 h 404813"/>
              <a:gd name="GluePoint9X" fmla="*/ 82467 w 431800"/>
              <a:gd name="GluePoint9Y" fmla="*/ 404812 h 404813"/>
              <a:gd name="GluePoint10X" fmla="*/ 133435 w 431800"/>
              <a:gd name="GluePoint10Y" fmla="*/ 250187 h 404813"/>
              <a:gd name="GluePoint11X" fmla="*/ 0 w 431800"/>
              <a:gd name="GluePoint11Y" fmla="*/ 154624 h 4048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1800" h="404813">
                <a:moveTo>
                  <a:pt x="0" y="154624"/>
                </a:moveTo>
                <a:lnTo>
                  <a:pt x="164934" y="154626"/>
                </a:lnTo>
                <a:lnTo>
                  <a:pt x="215900" y="0"/>
                </a:lnTo>
                <a:lnTo>
                  <a:pt x="266866" y="154626"/>
                </a:lnTo>
                <a:lnTo>
                  <a:pt x="431800" y="154624"/>
                </a:lnTo>
                <a:lnTo>
                  <a:pt x="298365" y="250187"/>
                </a:lnTo>
                <a:lnTo>
                  <a:pt x="349333" y="404812"/>
                </a:lnTo>
                <a:lnTo>
                  <a:pt x="215900" y="309247"/>
                </a:lnTo>
                <a:lnTo>
                  <a:pt x="82467" y="404812"/>
                </a:lnTo>
                <a:lnTo>
                  <a:pt x="133435" y="250187"/>
                </a:lnTo>
                <a:lnTo>
                  <a:pt x="0" y="15462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1" dur="indefinite" restart="never" nodeType="tmRoot">
          <p:childTnLst>
            <p:seq>
              <p:cTn id="202" dur="indefinite" nodeType="mainSeq">
                <p:childTnLst>
                  <p:par>
                    <p:cTn id="203" fill="hold" nodeType="clickEffect">
                      <p:stCondLst>
                        <p:cond delay="indefinite"/>
                      </p:stCondLst>
                      <p:childTnLst>
                        <p:par>
                          <p:cTn id="2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09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1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213" presetID="23" presetClass="entr" fill="hold" nodeType="afterEffect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Effect">
                      <p:stCondLst>
                        <p:cond delay="indefinite"/>
                      </p:stCondLst>
                      <p:childTnLst>
                        <p:par>
                          <p:cTn id="2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9" presetID="17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Effect">
                      <p:stCondLst>
                        <p:cond delay="indefinite"/>
                      </p:stCondLst>
                      <p:childTnLst>
                        <p:par>
                          <p:cTn id="2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2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3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Effect">
                      <p:stCondLst>
                        <p:cond delay="indefinite"/>
                      </p:stCondLst>
                      <p:childTnLst>
                        <p:par>
                          <p:cTn id="23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4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Effect">
                      <p:stCondLst>
                        <p:cond delay="indefinite"/>
                      </p:stCondLst>
                      <p:childTnLst>
                        <p:par>
                          <p:cTn id="24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Effect">
                      <p:stCondLst>
                        <p:cond delay="indefinite"/>
                      </p:stCondLst>
                      <p:childTnLst>
                        <p:par>
                          <p:cTn id="24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Effect">
                      <p:stCondLst>
                        <p:cond delay="indefinite"/>
                      </p:stCondLst>
                      <p:childTnLst>
                        <p:par>
                          <p:cTn id="25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Effect">
                      <p:stCondLst>
                        <p:cond delay="indefinite"/>
                      </p:stCondLst>
                      <p:childTnLst>
                        <p:par>
                          <p:cTn id="2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0" presetID="16" presetClass="entr" fill="hold" nodeType="clickEffect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 additive="repl">
                                        <p:cTn id="26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Effect">
                      <p:stCondLst>
                        <p:cond delay="indefinite"/>
                      </p:stCondLst>
                      <p:childTnLst>
                        <p:par>
                          <p:cTn id="2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Effect">
                      <p:stCondLst>
                        <p:cond delay="indefinite"/>
                      </p:stCondLst>
                      <p:childTnLst>
                        <p:par>
                          <p:cTn id="2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Effect">
                      <p:stCondLst>
                        <p:cond delay="indefinite"/>
                      </p:stCondLst>
                      <p:childTnLst>
                        <p:par>
                          <p:cTn id="2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Box 2"/>
          <p:cNvSpPr/>
          <p:nvPr/>
        </p:nvSpPr>
        <p:spPr>
          <a:xfrm>
            <a:off x="-272160" y="176040"/>
            <a:ext cx="942372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飞轮转动惯量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J,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t=0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时角速度为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ω</a:t>
            </a:r>
            <a:r>
              <a:rPr lang="en-US" sz="3000" b="1" u="none" strike="noStrike" baseline="-30000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0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此后飞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 Box 3"/>
          <p:cNvSpPr/>
          <p:nvPr/>
        </p:nvSpPr>
        <p:spPr>
          <a:xfrm>
            <a:off x="-252360" y="746280"/>
            <a:ext cx="94917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轮经历制动过程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阻力矩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的大小与角速度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ω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的平方成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Text Box 4"/>
          <p:cNvSpPr/>
          <p:nvPr/>
        </p:nvSpPr>
        <p:spPr>
          <a:xfrm>
            <a:off x="-426600" y="1295280"/>
            <a:ext cx="1006740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正比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比例系数为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k(k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为大于零的常数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。当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ω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=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ω</a:t>
            </a:r>
            <a:r>
              <a:rPr lang="en-US" sz="3000" b="1" u="none" strike="noStrike" baseline="-30000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0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/3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Text Box 5"/>
          <p:cNvSpPr/>
          <p:nvPr/>
        </p:nvSpPr>
        <p:spPr>
          <a:xfrm>
            <a:off x="91080" y="2117880"/>
            <a:ext cx="893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飞轮的角加速度 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=_________________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，从开始制动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 Box 6"/>
          <p:cNvSpPr/>
          <p:nvPr/>
        </p:nvSpPr>
        <p:spPr>
          <a:xfrm>
            <a:off x="-142920" y="3032280"/>
            <a:ext cx="808560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ω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=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ω</a:t>
            </a:r>
            <a:r>
              <a:rPr lang="en-US" sz="3000" b="1" u="none" strike="noStrike" baseline="-30000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0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/3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，所经历的时间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t=____________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6" name="Object 7"/>
              <p:cNvSpPr txBox="1"/>
              <p:nvPr/>
            </p:nvSpPr>
            <p:spPr>
              <a:xfrm>
                <a:off x="671400" y="4065480"/>
                <a:ext cx="1131840" cy="373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Jα</m:t>
                    </m:r>
                  </m:oMath>
                </a14:m>
              </a:p>
            </p:txBody>
          </p:sp>
        </mc:Choice>
        <mc:Fallback>
          <p:sp>
            <p:nvSpPr>
              <p:cNvPr id="146" name="Object 7"/>
              <p:cNvSpPr txBox="1"/>
              <p:nvPr/>
            </p:nvSpPr>
            <p:spPr>
              <a:xfrm>
                <a:off x="671400" y="4065480"/>
                <a:ext cx="1131840" cy="3733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47" name="Object 8"/>
              <p:cNvSpPr txBox="1"/>
              <p:nvPr/>
            </p:nvSpPr>
            <p:spPr>
              <a:xfrm>
                <a:off x="684360" y="4495680"/>
                <a:ext cx="1238040" cy="427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−</m:t>
                    </m:r>
                    <m:sSup>
                      <m:e>
                        <m:r>
                          <m:t xml:space="preserve">kω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47" name="Object 8"/>
              <p:cNvSpPr txBox="1"/>
              <p:nvPr/>
            </p:nvSpPr>
            <p:spPr>
              <a:xfrm>
                <a:off x="684360" y="4495680"/>
                <a:ext cx="1238040" cy="4273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48" name="AutoShape 9"/>
          <p:cNvSpPr/>
          <p:nvPr/>
        </p:nvSpPr>
        <p:spPr>
          <a:xfrm>
            <a:off x="1979640" y="4191120"/>
            <a:ext cx="152280" cy="533160"/>
          </a:xfrm>
          <a:custGeom>
            <a:avLst/>
            <a:gdLst>
              <a:gd name="textAreaLeft" fmla="*/ 0 w 152280"/>
              <a:gd name="textAreaRight" fmla="*/ 55080 w 152280"/>
              <a:gd name="textAreaTop" fmla="*/ 13680 h 533160"/>
              <a:gd name="textAreaBottom" fmla="*/ 519480 h 53316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9" name="Object 10"/>
              <p:cNvSpPr txBox="1"/>
              <p:nvPr/>
            </p:nvSpPr>
            <p:spPr>
              <a:xfrm>
                <a:off x="2338560" y="3962520"/>
                <a:ext cx="1261800" cy="880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sSup>
                          <m:e>
                            <m:r>
                              <m:t xml:space="preserve">kω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J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49" name="Object 10"/>
              <p:cNvSpPr txBox="1"/>
              <p:nvPr/>
            </p:nvSpPr>
            <p:spPr>
              <a:xfrm>
                <a:off x="2338560" y="3962520"/>
                <a:ext cx="1261800" cy="880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50" name="Object 11"/>
              <p:cNvSpPr txBox="1"/>
              <p:nvPr/>
            </p:nvSpPr>
            <p:spPr>
              <a:xfrm>
                <a:off x="3884760" y="4038480"/>
                <a:ext cx="1276200" cy="827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50" name="Object 11"/>
              <p:cNvSpPr txBox="1"/>
              <p:nvPr/>
            </p:nvSpPr>
            <p:spPr>
              <a:xfrm>
                <a:off x="3884760" y="4038480"/>
                <a:ext cx="1276200" cy="827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51" name="Object 12"/>
              <p:cNvSpPr txBox="1"/>
              <p:nvPr/>
            </p:nvSpPr>
            <p:spPr>
              <a:xfrm>
                <a:off x="4367160" y="1709640"/>
                <a:ext cx="932040" cy="881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−</m:t>
                    </m:r>
                    <m:f>
                      <m:num>
                        <m:sSubSup>
                          <m:e>
                            <m:r>
                              <m:t xml:space="preserve">kω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  <m:sup>
                            <m:r>
                              <m:t xml:space="preserve">2</m:t>
                            </m:r>
                          </m:sup>
                        </m:sSubSup>
                      </m:num>
                      <m:den>
                        <m:r>
                          <m:t xml:space="preserve">9</m:t>
                        </m:r>
                        <m:r>
                          <m:t xml:space="preserve">J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1" name="Object 12"/>
              <p:cNvSpPr txBox="1"/>
              <p:nvPr/>
            </p:nvSpPr>
            <p:spPr>
              <a:xfrm>
                <a:off x="4367160" y="1709640"/>
                <a:ext cx="932040" cy="881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52" name="Object 13"/>
              <p:cNvSpPr txBox="1"/>
              <p:nvPr/>
            </p:nvSpPr>
            <p:spPr>
              <a:xfrm>
                <a:off x="738360" y="5257800"/>
                <a:ext cx="928440" cy="82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dω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2" name="Object 13"/>
              <p:cNvSpPr txBox="1"/>
              <p:nvPr/>
            </p:nvSpPr>
            <p:spPr>
              <a:xfrm>
                <a:off x="738360" y="5257800"/>
                <a:ext cx="928440" cy="826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53" name="Object 14"/>
              <p:cNvSpPr txBox="1"/>
              <p:nvPr/>
            </p:nvSpPr>
            <p:spPr>
              <a:xfrm>
                <a:off x="2809800" y="5283360"/>
                <a:ext cx="1465200" cy="787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dω</m:t>
                        </m:r>
                      </m:num>
                      <m:den>
                        <m:sSup>
                          <m:e>
                            <m:r>
                              <m:t xml:space="preserve">ω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den>
                    </m:f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k</m:t>
                        </m:r>
                      </m:num>
                      <m:den>
                        <m:r>
                          <m:t xml:space="preserve">J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153" name="Object 14"/>
              <p:cNvSpPr txBox="1"/>
              <p:nvPr/>
            </p:nvSpPr>
            <p:spPr>
              <a:xfrm>
                <a:off x="2809800" y="5283360"/>
                <a:ext cx="1465200" cy="7873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54" name="Object 15"/>
              <p:cNvSpPr txBox="1"/>
              <p:nvPr/>
            </p:nvSpPr>
            <p:spPr>
              <a:xfrm>
                <a:off x="5632560" y="2651040"/>
                <a:ext cx="685800" cy="85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2</m:t>
                        </m:r>
                        <m:r>
                          <m:t xml:space="preserve">J</m:t>
                        </m:r>
                      </m:num>
                      <m:den>
                        <m:sSub>
                          <m:e>
                            <m:r>
                              <m:t xml:space="preserve">kω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4" name="Object 15"/>
              <p:cNvSpPr txBox="1"/>
              <p:nvPr/>
            </p:nvSpPr>
            <p:spPr>
              <a:xfrm>
                <a:off x="5632560" y="2651040"/>
                <a:ext cx="685800" cy="8542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55" name="Object 16"/>
              <p:cNvSpPr txBox="1"/>
              <p:nvPr/>
            </p:nvSpPr>
            <p:spPr>
              <a:xfrm>
                <a:off x="2971800" y="2286000"/>
                <a:ext cx="262080" cy="293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</m:oMath>
                </a14:m>
              </a:p>
            </p:txBody>
          </p:sp>
        </mc:Choice>
        <mc:Fallback>
          <p:sp>
            <p:nvSpPr>
              <p:cNvPr id="155" name="Object 16"/>
              <p:cNvSpPr txBox="1"/>
              <p:nvPr/>
            </p:nvSpPr>
            <p:spPr>
              <a:xfrm>
                <a:off x="2971800" y="2286000"/>
                <a:ext cx="262080" cy="2937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56" name="Object 17"/>
              <p:cNvSpPr txBox="1"/>
              <p:nvPr/>
            </p:nvSpPr>
            <p:spPr>
              <a:xfrm>
                <a:off x="4800600" y="5257800"/>
                <a:ext cx="2209680" cy="838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r>
                              <m:t xml:space="preserve">dω</m:t>
                            </m:r>
                          </m:num>
                          <m:den>
                            <m:sSup>
                              <m:e>
                                <m:r>
                                  <m:t xml:space="preserve">ω</m:t>
                                </m:r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 xml:space="preserve">=</m:t>
                    </m:r>
                    <m:r>
                      <m:t xml:space="preserve">−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r>
                              <m:t xml:space="preserve">k</m:t>
                            </m:r>
                          </m:num>
                          <m:den>
                            <m:r>
                              <m:t xml:space="preserve">J</m:t>
                            </m:r>
                          </m:den>
                        </m:f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56" name="Object 17"/>
              <p:cNvSpPr txBox="1"/>
              <p:nvPr/>
            </p:nvSpPr>
            <p:spPr>
              <a:xfrm>
                <a:off x="4800600" y="5257800"/>
                <a:ext cx="2209680" cy="8380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157" name="星形: 五角 19"/>
          <p:cNvSpPr/>
          <p:nvPr/>
        </p:nvSpPr>
        <p:spPr>
          <a:xfrm>
            <a:off x="8317080" y="6165720"/>
            <a:ext cx="431640" cy="405000"/>
          </a:xfrm>
          <a:custGeom>
            <a:avLst/>
            <a:gdLst>
              <a:gd name="GluePoint1X" fmla="*/ 0 w 431800"/>
              <a:gd name="GluePoint1Y" fmla="*/ 154624 h 404813"/>
              <a:gd name="GluePoint2X" fmla="*/ 164934 w 431800"/>
              <a:gd name="GluePoint2Y" fmla="*/ 154626 h 404813"/>
              <a:gd name="GluePoint3X" fmla="*/ 215900 w 431800"/>
              <a:gd name="GluePoint3Y" fmla="*/ 0 h 404813"/>
              <a:gd name="GluePoint4X" fmla="*/ 266866 w 431800"/>
              <a:gd name="GluePoint4Y" fmla="*/ 154626 h 404813"/>
              <a:gd name="GluePoint5X" fmla="*/ 431800 w 431800"/>
              <a:gd name="GluePoint5Y" fmla="*/ 154624 h 404813"/>
              <a:gd name="GluePoint6X" fmla="*/ 298365 w 431800"/>
              <a:gd name="GluePoint6Y" fmla="*/ 250187 h 404813"/>
              <a:gd name="GluePoint7X" fmla="*/ 349333 w 431800"/>
              <a:gd name="GluePoint7Y" fmla="*/ 404812 h 404813"/>
              <a:gd name="GluePoint8X" fmla="*/ 215900 w 431800"/>
              <a:gd name="GluePoint8Y" fmla="*/ 309247 h 404813"/>
              <a:gd name="GluePoint9X" fmla="*/ 82467 w 431800"/>
              <a:gd name="GluePoint9Y" fmla="*/ 404812 h 404813"/>
              <a:gd name="GluePoint10X" fmla="*/ 133435 w 431800"/>
              <a:gd name="GluePoint10Y" fmla="*/ 250187 h 404813"/>
              <a:gd name="GluePoint11X" fmla="*/ 0 w 431800"/>
              <a:gd name="GluePoint11Y" fmla="*/ 154624 h 4048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1800" h="404813">
                <a:moveTo>
                  <a:pt x="0" y="154624"/>
                </a:moveTo>
                <a:lnTo>
                  <a:pt x="164934" y="154626"/>
                </a:lnTo>
                <a:lnTo>
                  <a:pt x="215900" y="0"/>
                </a:lnTo>
                <a:lnTo>
                  <a:pt x="266866" y="154626"/>
                </a:lnTo>
                <a:lnTo>
                  <a:pt x="431800" y="154624"/>
                </a:lnTo>
                <a:lnTo>
                  <a:pt x="298365" y="250187"/>
                </a:lnTo>
                <a:lnTo>
                  <a:pt x="349333" y="404812"/>
                </a:lnTo>
                <a:lnTo>
                  <a:pt x="215900" y="309247"/>
                </a:lnTo>
                <a:lnTo>
                  <a:pt x="82467" y="404812"/>
                </a:lnTo>
                <a:lnTo>
                  <a:pt x="133435" y="250187"/>
                </a:lnTo>
                <a:lnTo>
                  <a:pt x="0" y="15462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8" dur="indefinite" restart="never" nodeType="tmRoot">
          <p:childTnLst>
            <p:seq>
              <p:cTn id="279" dur="indefinite" nodeType="mainSeq">
                <p:childTnLst>
                  <p:par>
                    <p:cTn id="280" fill="hold" nodeType="clickEffect">
                      <p:stCondLst>
                        <p:cond delay="indefinite"/>
                      </p:stCondLst>
                      <p:childTnLst>
                        <p:par>
                          <p:cTn id="28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8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Effect">
                      <p:stCondLst>
                        <p:cond delay="indefinite"/>
                      </p:stCondLst>
                      <p:childTnLst>
                        <p:par>
                          <p:cTn id="28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8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Effect">
                      <p:stCondLst>
                        <p:cond delay="indefinite"/>
                      </p:stCondLst>
                      <p:childTnLst>
                        <p:par>
                          <p:cTn id="29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2" presetID="16" presetClass="entr" fill="hold" nodeType="clickEffect" presetSubtype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 additive="repl">
                                        <p:cTn id="29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9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9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 nodeType="clickEffect">
                      <p:stCondLst>
                        <p:cond delay="indefinite"/>
                      </p:stCondLst>
                      <p:childTnLst>
                        <p:par>
                          <p:cTn id="30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0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Effect">
                      <p:stCondLst>
                        <p:cond delay="indefinite"/>
                      </p:stCondLst>
                      <p:childTnLst>
                        <p:par>
                          <p:cTn id="30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0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Effect">
                      <p:stCondLst>
                        <p:cond delay="indefinite"/>
                      </p:stCondLst>
                      <p:childTnLst>
                        <p:par>
                          <p:cTn id="3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Effect">
                      <p:stCondLst>
                        <p:cond delay="indefinite"/>
                      </p:stCondLst>
                      <p:childTnLst>
                        <p:par>
                          <p:cTn id="3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 nodeType="clickEffect">
                      <p:stCondLst>
                        <p:cond delay="indefinite"/>
                      </p:stCondLst>
                      <p:childTnLst>
                        <p:par>
                          <p:cTn id="3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Effect">
                      <p:stCondLst>
                        <p:cond delay="indefinite"/>
                      </p:stCondLst>
                      <p:childTnLst>
                        <p:par>
                          <p:cTn id="32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Box 31"/>
          <p:cNvSpPr/>
          <p:nvPr/>
        </p:nvSpPr>
        <p:spPr>
          <a:xfrm>
            <a:off x="-324360" y="176040"/>
            <a:ext cx="95756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长为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L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轻质细杆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两端分别固定质量为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Text Box 32"/>
          <p:cNvSpPr/>
          <p:nvPr/>
        </p:nvSpPr>
        <p:spPr>
          <a:xfrm>
            <a:off x="-103320" y="669960"/>
            <a:ext cx="9309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小球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此系统在竖直平面内可绕过中点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O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且与杆垂直的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Text Box 33"/>
          <p:cNvSpPr/>
          <p:nvPr/>
        </p:nvSpPr>
        <p:spPr>
          <a:xfrm>
            <a:off x="-93240" y="1066680"/>
            <a:ext cx="9228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水平固定轴转动。开始时杆与水平成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60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角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处于静止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Text Box 34"/>
          <p:cNvSpPr/>
          <p:nvPr/>
        </p:nvSpPr>
        <p:spPr>
          <a:xfrm>
            <a:off x="-193680" y="1508040"/>
            <a:ext cx="9301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状态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无初速地释放后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杆球系统绕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O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转动。杆与两小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Text Box 35"/>
          <p:cNvSpPr/>
          <p:nvPr/>
        </p:nvSpPr>
        <p:spPr>
          <a:xfrm>
            <a:off x="-185760" y="1981080"/>
            <a:ext cx="9301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球为一刚体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绕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O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轴的转动惯量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J=_________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。释放后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Box 36"/>
          <p:cNvSpPr/>
          <p:nvPr/>
        </p:nvSpPr>
        <p:spPr>
          <a:xfrm>
            <a:off x="40320" y="2438280"/>
            <a:ext cx="9034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当杆转到水平位置时，刚体受到的合外力矩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M= 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Text Box 37"/>
          <p:cNvSpPr/>
          <p:nvPr/>
        </p:nvSpPr>
        <p:spPr>
          <a:xfrm>
            <a:off x="54360" y="2895480"/>
            <a:ext cx="6360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______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，角加速度 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=__________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65" name="Group 38"/>
          <p:cNvGrpSpPr/>
          <p:nvPr/>
        </p:nvGrpSpPr>
        <p:grpSpPr>
          <a:xfrm>
            <a:off x="4800600" y="3581280"/>
            <a:ext cx="3200400" cy="2895840"/>
            <a:chOff x="4800600" y="3581280"/>
            <a:chExt cx="3200400" cy="2895840"/>
          </a:xfrm>
        </p:grpSpPr>
        <p:sp>
          <p:nvSpPr>
            <p:cNvPr id="166" name="Rectangle 39"/>
            <p:cNvSpPr/>
            <p:nvPr/>
          </p:nvSpPr>
          <p:spPr>
            <a:xfrm rot="18196800">
              <a:off x="4800600" y="4952880"/>
              <a:ext cx="3200400" cy="15264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ctr"/>
            </a:blip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7" name="Oval 40"/>
            <p:cNvSpPr/>
            <p:nvPr/>
          </p:nvSpPr>
          <p:spPr>
            <a:xfrm>
              <a:off x="6324480" y="4952880"/>
              <a:ext cx="152640" cy="152640"/>
            </a:xfrm>
            <a:prstGeom prst="ellipse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8" name="Rectangle 41"/>
            <p:cNvSpPr/>
            <p:nvPr/>
          </p:nvSpPr>
          <p:spPr>
            <a:xfrm>
              <a:off x="4800600" y="4952880"/>
              <a:ext cx="3200400" cy="15264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9" name="Arc 42"/>
            <p:cNvSpPr/>
            <p:nvPr/>
          </p:nvSpPr>
          <p:spPr>
            <a:xfrm>
              <a:off x="6781680" y="4572000"/>
              <a:ext cx="304920" cy="380880"/>
            </a:xfrm>
            <a:custGeom>
              <a:avLst/>
              <a:gdLst>
                <a:gd name="GluePoint1X" fmla="*/ 0 w 21600"/>
                <a:gd name="GluePoint1Y" fmla="*/ 0 h 21600"/>
                <a:gd name="GluePoint2X" fmla="*/ 2 w 21600"/>
                <a:gd name="GluePoint2Y" fmla="*/ 3 h 21600"/>
                <a:gd name="GluePoint3X" fmla="*/ 0 w 21600"/>
                <a:gd name="GluePoint3Y" fmla="*/ 3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fill="none" w="21600" h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stroke="0" w="21600" h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170" name="Object 43"/>
                <p:cNvSpPr txBox="1"/>
                <p:nvPr/>
              </p:nvSpPr>
              <p:spPr>
                <a:xfrm>
                  <a:off x="7010280" y="4419720"/>
                  <a:ext cx="486000" cy="4125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p>
                        <m:e>
                          <m:r>
                            <m:rPr>
                              <m:lit/>
                              <m:nor/>
                            </m:rPr>
                            <m:t xml:space="preserve">60</m:t>
                          </m:r>
                        </m:e>
                        <m:sup>
                          <m:r>
                            <m:t xml:space="preserve">o</m:t>
                          </m:r>
                        </m:sup>
                      </m:sSup>
                    </m:oMath>
                  </a14:m>
                </a:p>
              </p:txBody>
            </p:sp>
          </mc:Choice>
          <mc:Fallback>
            <p:sp>
              <p:nvSpPr>
                <p:cNvPr id="170" name="Object 43"/>
                <p:cNvSpPr txBox="1"/>
                <p:nvPr/>
              </p:nvSpPr>
              <p:spPr>
                <a:xfrm>
                  <a:off x="7010280" y="4419720"/>
                  <a:ext cx="486000" cy="41256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171" name="Oval 44"/>
            <p:cNvSpPr/>
            <p:nvPr/>
          </p:nvSpPr>
          <p:spPr>
            <a:xfrm>
              <a:off x="7086600" y="3581280"/>
              <a:ext cx="304920" cy="3049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8000"/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Oval 45"/>
            <p:cNvSpPr/>
            <p:nvPr/>
          </p:nvSpPr>
          <p:spPr>
            <a:xfrm>
              <a:off x="5410080" y="6248520"/>
              <a:ext cx="228600" cy="2286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6600"/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mc:AlternateContent>
        <mc:Choice xmlns:a14="http://schemas.microsoft.com/office/drawing/2010/main" Requires="a14">
          <p:sp>
            <p:nvSpPr>
              <p:cNvPr id="173" name="Object 46"/>
              <p:cNvSpPr txBox="1"/>
              <p:nvPr/>
            </p:nvSpPr>
            <p:spPr>
              <a:xfrm>
                <a:off x="380880" y="3657600"/>
                <a:ext cx="2743200" cy="82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J</m:t>
                    </m:r>
                    <m:r>
                      <m:t xml:space="preserve">=</m:t>
                    </m:r>
                    <m:r>
                      <m:t xml:space="preserve">m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L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t xml:space="preserve">)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+</m:t>
                    </m:r>
                    <m:r>
                      <m:t xml:space="preserve">2</m:t>
                    </m:r>
                    <m:r>
                      <m:t xml:space="preserve">m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L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t xml:space="preserve">)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73" name="Object 46"/>
              <p:cNvSpPr txBox="1"/>
              <p:nvPr/>
            </p:nvSpPr>
            <p:spPr>
              <a:xfrm>
                <a:off x="380880" y="3657600"/>
                <a:ext cx="2743200" cy="826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4" name="Object 47"/>
              <p:cNvSpPr txBox="1"/>
              <p:nvPr/>
            </p:nvSpPr>
            <p:spPr>
              <a:xfrm>
                <a:off x="5867280" y="1828800"/>
                <a:ext cx="762120" cy="76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mL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74" name="Object 47"/>
              <p:cNvSpPr txBox="1"/>
              <p:nvPr/>
            </p:nvSpPr>
            <p:spPr>
              <a:xfrm>
                <a:off x="5867280" y="1828800"/>
                <a:ext cx="762120" cy="762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5" name="Object 48"/>
              <p:cNvSpPr txBox="1"/>
              <p:nvPr/>
            </p:nvSpPr>
            <p:spPr>
              <a:xfrm>
                <a:off x="457200" y="4648320"/>
                <a:ext cx="2496960" cy="82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2</m:t>
                    </m:r>
                    <m:r>
                      <m:t xml:space="preserve">mg</m:t>
                    </m:r>
                    <m:f>
                      <m:num>
                        <m:r>
                          <m:t xml:space="preserve">L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−</m:t>
                    </m:r>
                    <m:r>
                      <m:t xml:space="preserve">mg</m:t>
                    </m:r>
                    <m:f>
                      <m:num>
                        <m:r>
                          <m:t xml:space="preserve">L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75" name="Object 48"/>
              <p:cNvSpPr txBox="1"/>
              <p:nvPr/>
            </p:nvSpPr>
            <p:spPr>
              <a:xfrm>
                <a:off x="457200" y="4648320"/>
                <a:ext cx="2496960" cy="826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6" name="Object 49"/>
              <p:cNvSpPr txBox="1"/>
              <p:nvPr/>
            </p:nvSpPr>
            <p:spPr>
              <a:xfrm>
                <a:off x="8001000" y="2362320"/>
                <a:ext cx="990720" cy="750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mgL</m:t>
                    </m:r>
                  </m:oMath>
                </a14:m>
              </a:p>
            </p:txBody>
          </p:sp>
        </mc:Choice>
        <mc:Fallback>
          <p:sp>
            <p:nvSpPr>
              <p:cNvPr id="176" name="Object 49"/>
              <p:cNvSpPr txBox="1"/>
              <p:nvPr/>
            </p:nvSpPr>
            <p:spPr>
              <a:xfrm>
                <a:off x="8001000" y="2362320"/>
                <a:ext cx="990720" cy="750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7" name="Object 50"/>
              <p:cNvSpPr txBox="1"/>
              <p:nvPr/>
            </p:nvSpPr>
            <p:spPr>
              <a:xfrm>
                <a:off x="457200" y="5715000"/>
                <a:ext cx="973080" cy="37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Jα</m:t>
                    </m:r>
                  </m:oMath>
                </a14:m>
              </a:p>
            </p:txBody>
          </p:sp>
        </mc:Choice>
        <mc:Fallback>
          <p:sp>
            <p:nvSpPr>
              <p:cNvPr id="177" name="Object 50"/>
              <p:cNvSpPr txBox="1"/>
              <p:nvPr/>
            </p:nvSpPr>
            <p:spPr>
              <a:xfrm>
                <a:off x="457200" y="5715000"/>
                <a:ext cx="973080" cy="3729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8" name="Object 51"/>
              <p:cNvSpPr txBox="1"/>
              <p:nvPr/>
            </p:nvSpPr>
            <p:spPr>
              <a:xfrm>
                <a:off x="4724280" y="2895480"/>
                <a:ext cx="459000" cy="76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2</m:t>
                        </m:r>
                        <m:r>
                          <m:t xml:space="preserve">g</m:t>
                        </m:r>
                      </m:num>
                      <m:den>
                        <m:r>
                          <m:t xml:space="preserve">3</m:t>
                        </m:r>
                        <m:r>
                          <m:t xml:space="preserve">L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78" name="Object 51"/>
              <p:cNvSpPr txBox="1"/>
              <p:nvPr/>
            </p:nvSpPr>
            <p:spPr>
              <a:xfrm>
                <a:off x="4724280" y="2895480"/>
                <a:ext cx="459000" cy="7621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179" name="Oval 52"/>
          <p:cNvSpPr/>
          <p:nvPr/>
        </p:nvSpPr>
        <p:spPr>
          <a:xfrm>
            <a:off x="7848720" y="4876920"/>
            <a:ext cx="304560" cy="3045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80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Oval 53"/>
          <p:cNvSpPr/>
          <p:nvPr/>
        </p:nvSpPr>
        <p:spPr>
          <a:xfrm>
            <a:off x="4724280" y="487692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66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Line 54"/>
          <p:cNvSpPr/>
          <p:nvPr/>
        </p:nvSpPr>
        <p:spPr>
          <a:xfrm>
            <a:off x="8001000" y="5029200"/>
            <a:ext cx="0" cy="9907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2" name="Object 55"/>
              <p:cNvSpPr txBox="1"/>
              <p:nvPr/>
            </p:nvSpPr>
            <p:spPr>
              <a:xfrm>
                <a:off x="8077320" y="5657760"/>
                <a:ext cx="955440" cy="514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2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82" name="Object 55"/>
              <p:cNvSpPr txBox="1"/>
              <p:nvPr/>
            </p:nvSpPr>
            <p:spPr>
              <a:xfrm>
                <a:off x="8077320" y="5657760"/>
                <a:ext cx="955440" cy="5144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183" name="Line 56"/>
          <p:cNvSpPr/>
          <p:nvPr/>
        </p:nvSpPr>
        <p:spPr>
          <a:xfrm>
            <a:off x="4826160" y="4978440"/>
            <a:ext cx="0" cy="9907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4" name="Object 57"/>
              <p:cNvSpPr txBox="1"/>
              <p:nvPr/>
            </p:nvSpPr>
            <p:spPr>
              <a:xfrm>
                <a:off x="3886200" y="5638680"/>
                <a:ext cx="744480" cy="514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84" name="Object 57"/>
              <p:cNvSpPr txBox="1"/>
              <p:nvPr/>
            </p:nvSpPr>
            <p:spPr>
              <a:xfrm>
                <a:off x="3886200" y="5638680"/>
                <a:ext cx="744480" cy="5144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185" name="Arc 58"/>
          <p:cNvSpPr/>
          <p:nvPr/>
        </p:nvSpPr>
        <p:spPr>
          <a:xfrm>
            <a:off x="7467480" y="4038480"/>
            <a:ext cx="457200" cy="685800"/>
          </a:xfrm>
          <a:custGeom>
            <a:avLst/>
            <a:gdLst>
              <a:gd name="GluePoint1X" fmla="*/ 0 w 21600"/>
              <a:gd name="GluePoint1Y" fmla="*/ 0 h 21600"/>
              <a:gd name="GluePoint2X" fmla="*/ 9677400 w 21600"/>
              <a:gd name="GluePoint2Y" fmla="*/ 21774150 h 21600"/>
              <a:gd name="GluePoint3X" fmla="*/ 0 w 21600"/>
              <a:gd name="GluePoint3Y" fmla="*/ 2177415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Arc 59"/>
          <p:cNvSpPr/>
          <p:nvPr/>
        </p:nvSpPr>
        <p:spPr>
          <a:xfrm>
            <a:off x="4952880" y="5410080"/>
            <a:ext cx="379440" cy="674640"/>
          </a:xfrm>
          <a:custGeom>
            <a:avLst/>
            <a:gdLst>
              <a:gd name="GluePoint1X" fmla="*/ 5473985 w 21562"/>
              <a:gd name="GluePoint1Y" fmla="*/ 21423376 h 21248"/>
              <a:gd name="GluePoint2X" fmla="*/ 0 w 21562"/>
              <a:gd name="GluePoint2Y" fmla="*/ 1298635 h 21248"/>
              <a:gd name="GluePoint3X" fmla="*/ 6676293 w 21562"/>
              <a:gd name="GluePoint3Y" fmla="*/ 0 h 2124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562" h="21248">
                <a:moveTo>
                  <a:pt x="17678" y="21248"/>
                </a:moveTo>
                <a:cubicBezTo>
                  <a:pt x="7892" y="19459"/>
                  <a:pt x="593" y="11218"/>
                  <a:pt x="0" y="1287"/>
                </a:cubicBezTo>
              </a:path>
              <a:path stroke="0" w="21562" h="21248">
                <a:moveTo>
                  <a:pt x="17678" y="21248"/>
                </a:moveTo>
                <a:cubicBezTo>
                  <a:pt x="7892" y="19459"/>
                  <a:pt x="593" y="11218"/>
                  <a:pt x="0" y="1287"/>
                </a:cubicBezTo>
                <a:lnTo>
                  <a:pt x="21562" y="0"/>
                </a:lnTo>
                <a:lnTo>
                  <a:pt x="17678" y="21248"/>
                </a:lnTo>
                <a:close/>
              </a:path>
            </a:pathLst>
          </a:custGeom>
          <a:noFill/>
          <a:ln w="2844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7" name="Group 60"/>
          <p:cNvGrpSpPr/>
          <p:nvPr/>
        </p:nvGrpSpPr>
        <p:grpSpPr>
          <a:xfrm>
            <a:off x="5181480" y="5257800"/>
            <a:ext cx="381240" cy="380880"/>
            <a:chOff x="5181480" y="5257800"/>
            <a:chExt cx="381240" cy="380880"/>
          </a:xfrm>
        </p:grpSpPr>
        <p:sp>
          <p:nvSpPr>
            <p:cNvPr id="188" name="Oval 61"/>
            <p:cNvSpPr/>
            <p:nvPr/>
          </p:nvSpPr>
          <p:spPr>
            <a:xfrm>
              <a:off x="5181480" y="5257800"/>
              <a:ext cx="381240" cy="380880"/>
            </a:xfrm>
            <a:prstGeom prst="ellipse">
              <a:avLst/>
            </a:prstGeom>
            <a:noFill/>
            <a:ln w="2844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9" name="Oval 62"/>
            <p:cNvSpPr/>
            <p:nvPr/>
          </p:nvSpPr>
          <p:spPr>
            <a:xfrm>
              <a:off x="5308560" y="5384520"/>
              <a:ext cx="126720" cy="126720"/>
            </a:xfrm>
            <a:prstGeom prst="ellipse">
              <a:avLst/>
            </a:prstGeom>
            <a:solidFill>
              <a:srgbClr val="FF00FF"/>
            </a:solidFill>
            <a:ln w="936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3200" rIns="90000" bIns="43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90" name="Group 63"/>
          <p:cNvGrpSpPr/>
          <p:nvPr/>
        </p:nvGrpSpPr>
        <p:grpSpPr>
          <a:xfrm>
            <a:off x="7543800" y="5334120"/>
            <a:ext cx="380880" cy="380880"/>
            <a:chOff x="7543800" y="5334120"/>
            <a:chExt cx="380880" cy="380880"/>
          </a:xfrm>
        </p:grpSpPr>
        <p:sp>
          <p:nvSpPr>
            <p:cNvPr id="191" name="Oval 64"/>
            <p:cNvSpPr/>
            <p:nvPr/>
          </p:nvSpPr>
          <p:spPr>
            <a:xfrm>
              <a:off x="7543800" y="5334120"/>
              <a:ext cx="380880" cy="380880"/>
            </a:xfrm>
            <a:prstGeom prst="ellipse">
              <a:avLst/>
            </a:prstGeom>
            <a:noFill/>
            <a:ln w="2844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2" name="Line 65"/>
            <p:cNvSpPr/>
            <p:nvPr/>
          </p:nvSpPr>
          <p:spPr>
            <a:xfrm flipH="1">
              <a:off x="7652160" y="5442840"/>
              <a:ext cx="163080" cy="163080"/>
            </a:xfrm>
            <a:prstGeom prst="line">
              <a:avLst/>
            </a:prstGeom>
            <a:ln w="2844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3" name="Line 66"/>
            <p:cNvSpPr/>
            <p:nvPr/>
          </p:nvSpPr>
          <p:spPr>
            <a:xfrm>
              <a:off x="7652520" y="5442840"/>
              <a:ext cx="163080" cy="163080"/>
            </a:xfrm>
            <a:prstGeom prst="line">
              <a:avLst/>
            </a:prstGeom>
            <a:ln w="2844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mc:AlternateContent>
        <mc:Choice xmlns:a14="http://schemas.microsoft.com/office/drawing/2010/main" Requires="a14">
          <p:sp>
            <p:nvSpPr>
              <p:cNvPr id="194" name="Object 67"/>
              <p:cNvSpPr txBox="1"/>
              <p:nvPr/>
            </p:nvSpPr>
            <p:spPr>
              <a:xfrm>
                <a:off x="3548160" y="3048120"/>
                <a:ext cx="261720" cy="293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</m:oMath>
                </a14:m>
              </a:p>
            </p:txBody>
          </p:sp>
        </mc:Choice>
        <mc:Fallback>
          <p:sp>
            <p:nvSpPr>
              <p:cNvPr id="194" name="Object 67"/>
              <p:cNvSpPr txBox="1"/>
              <p:nvPr/>
            </p:nvSpPr>
            <p:spPr>
              <a:xfrm>
                <a:off x="3548160" y="3048120"/>
                <a:ext cx="261720" cy="293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9" dur="indefinite" restart="never" nodeType="tmRoot">
          <p:childTnLst>
            <p:seq>
              <p:cTn id="330" dur="indefinite" nodeType="mainSeq">
                <p:childTnLst>
                  <p:par>
                    <p:cTn id="331" fill="hold" nodeType="clickEffect">
                      <p:stCondLst>
                        <p:cond delay="indefinite"/>
                      </p:stCondLst>
                      <p:childTnLst>
                        <p:par>
                          <p:cTn id="3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Effect">
                      <p:stCondLst>
                        <p:cond delay="indefinite"/>
                      </p:stCondLst>
                      <p:childTnLst>
                        <p:par>
                          <p:cTn id="33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Effect">
                      <p:stCondLst>
                        <p:cond delay="indefinite"/>
                      </p:stCondLst>
                      <p:childTnLst>
                        <p:par>
                          <p:cTn id="34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Effect">
                      <p:stCondLst>
                        <p:cond delay="indefinite"/>
                      </p:stCondLst>
                      <p:childTnLst>
                        <p:par>
                          <p:cTn id="34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5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52" presetID="1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4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 additive="repl">
                                        <p:cTn id="35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357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 nodeType="afterEffect">
                            <p:stCondLst>
                              <p:cond delay="1500"/>
                            </p:stCondLst>
                            <p:childTnLst>
                              <p:par>
                                <p:cTn id="361" presetID="1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 additive="repl">
                                        <p:cTn id="36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 nodeType="clickEffect">
                      <p:stCondLst>
                        <p:cond delay="indefinite"/>
                      </p:stCondLst>
                      <p:childTnLst>
                        <p:par>
                          <p:cTn id="36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6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7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7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 nodeType="clickEffect">
                      <p:stCondLst>
                        <p:cond delay="indefinite"/>
                      </p:stCondLst>
                      <p:childTnLst>
                        <p:par>
                          <p:cTn id="37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7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8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 nodeType="clickEffect">
                      <p:stCondLst>
                        <p:cond delay="indefinite"/>
                      </p:stCondLst>
                      <p:childTnLst>
                        <p:par>
                          <p:cTn id="3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85" presetID="23" presetClass="entr" fill="hold" nodeType="clickEffect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7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8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 nodeType="clickEffect">
                      <p:stCondLst>
                        <p:cond delay="indefinite"/>
                      </p:stCondLst>
                      <p:childTnLst>
                        <p:par>
                          <p:cTn id="39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1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3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 nodeType="clickEffect">
                      <p:stCondLst>
                        <p:cond delay="indefinite"/>
                      </p:stCondLst>
                      <p:childTnLst>
                        <p:par>
                          <p:cTn id="39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 nodeType="clickEffect">
                      <p:stCondLst>
                        <p:cond delay="indefinite"/>
                      </p:stCondLst>
                      <p:childTnLst>
                        <p:par>
                          <p:cTn id="40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0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 nodeType="clickEffect">
                      <p:stCondLst>
                        <p:cond delay="indefinite"/>
                      </p:stCondLst>
                      <p:childTnLst>
                        <p:par>
                          <p:cTn id="40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0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 nodeType="clickEffect">
                      <p:stCondLst>
                        <p:cond delay="indefinite"/>
                      </p:stCondLst>
                      <p:childTnLst>
                        <p:par>
                          <p:cTn id="41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1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Box 30"/>
          <p:cNvSpPr/>
          <p:nvPr/>
        </p:nvSpPr>
        <p:spPr>
          <a:xfrm>
            <a:off x="-323640" y="76320"/>
            <a:ext cx="97660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P57/3.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质量分别为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的两物体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(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都可视为质点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),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 Box 31"/>
          <p:cNvSpPr/>
          <p:nvPr/>
        </p:nvSpPr>
        <p:spPr>
          <a:xfrm>
            <a:off x="-147960" y="533520"/>
            <a:ext cx="9210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一长为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L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轻质细杆相连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系统绕通过杆与杆垂直的轴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Text Box 32"/>
          <p:cNvSpPr/>
          <p:nvPr/>
        </p:nvSpPr>
        <p:spPr>
          <a:xfrm>
            <a:off x="-190800" y="974880"/>
            <a:ext cx="9302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转动。己知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O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轴离质量为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的质点的距离为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L/3,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而质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Text Box 33"/>
          <p:cNvSpPr/>
          <p:nvPr/>
        </p:nvSpPr>
        <p:spPr>
          <a:xfrm>
            <a:off x="-201960" y="1371600"/>
            <a:ext cx="9302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的质点的线速率为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V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且与杆垂直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则该系统对转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Text Box 34"/>
          <p:cNvSpPr/>
          <p:nvPr/>
        </p:nvSpPr>
        <p:spPr>
          <a:xfrm>
            <a:off x="-3960" y="1812960"/>
            <a:ext cx="5888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轴的角动量大小为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00" name="Group 35"/>
          <p:cNvGrpSpPr/>
          <p:nvPr/>
        </p:nvGrpSpPr>
        <p:grpSpPr>
          <a:xfrm>
            <a:off x="5029200" y="3516480"/>
            <a:ext cx="3614760" cy="1512720"/>
            <a:chOff x="5029200" y="3516480"/>
            <a:chExt cx="3614760" cy="1512720"/>
          </a:xfrm>
        </p:grpSpPr>
        <p:sp>
          <p:nvSpPr>
            <p:cNvPr id="201" name="Rectangle 36"/>
            <p:cNvSpPr/>
            <p:nvPr/>
          </p:nvSpPr>
          <p:spPr>
            <a:xfrm>
              <a:off x="5181480" y="4659480"/>
              <a:ext cx="3276720" cy="7596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ctr"/>
            </a:blip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29160" rIns="90000" bIns="2916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2" name="Oval 37"/>
            <p:cNvSpPr/>
            <p:nvPr/>
          </p:nvSpPr>
          <p:spPr>
            <a:xfrm>
              <a:off x="7256520" y="4659480"/>
              <a:ext cx="75960" cy="75960"/>
            </a:xfrm>
            <a:prstGeom prst="ellipse">
              <a:avLst/>
            </a:prstGeom>
            <a:solidFill>
              <a:srgbClr val="000000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03" name="Object 38"/>
                <p:cNvSpPr txBox="1"/>
                <p:nvPr/>
              </p:nvSpPr>
              <p:spPr>
                <a:xfrm>
                  <a:off x="7238880" y="4735440"/>
                  <a:ext cx="290520" cy="2937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o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03" name="Object 38"/>
                <p:cNvSpPr txBox="1"/>
                <p:nvPr/>
              </p:nvSpPr>
              <p:spPr>
                <a:xfrm>
                  <a:off x="7238880" y="4735440"/>
                  <a:ext cx="290520" cy="29376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04" name="Line 39"/>
            <p:cNvSpPr/>
            <p:nvPr/>
          </p:nvSpPr>
          <p:spPr>
            <a:xfrm flipV="1">
              <a:off x="7315200" y="4125600"/>
              <a:ext cx="0" cy="60948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5" name="Line 40"/>
            <p:cNvSpPr/>
            <p:nvPr/>
          </p:nvSpPr>
          <p:spPr>
            <a:xfrm flipV="1">
              <a:off x="8458200" y="4125600"/>
              <a:ext cx="0" cy="60948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6" name="Line 41"/>
            <p:cNvSpPr/>
            <p:nvPr/>
          </p:nvSpPr>
          <p:spPr>
            <a:xfrm flipV="1">
              <a:off x="5181480" y="4125600"/>
              <a:ext cx="0" cy="60948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7" name="Line 42"/>
            <p:cNvSpPr/>
            <p:nvPr/>
          </p:nvSpPr>
          <p:spPr>
            <a:xfrm flipH="1">
              <a:off x="5181120" y="4354560"/>
              <a:ext cx="213372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8" name="Line 43"/>
            <p:cNvSpPr/>
            <p:nvPr/>
          </p:nvSpPr>
          <p:spPr>
            <a:xfrm flipH="1">
              <a:off x="7314840" y="4354560"/>
              <a:ext cx="114300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09" name="Object 44"/>
                <p:cNvSpPr txBox="1"/>
                <p:nvPr/>
              </p:nvSpPr>
              <p:spPr>
                <a:xfrm>
                  <a:off x="7753320" y="3516480"/>
                  <a:ext cx="318960" cy="82692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f>
                        <m:num>
                          <m:r>
                            <m:t xml:space="preserve">l</m:t>
                          </m:r>
                        </m:num>
                        <m:den>
                          <m:r>
                            <m:t xml:space="preserve">3</m:t>
                          </m:r>
                        </m:den>
                      </m:f>
                    </m:oMath>
                  </a14:m>
                </a:p>
              </p:txBody>
            </p:sp>
          </mc:Choice>
          <mc:Fallback>
            <p:sp>
              <p:nvSpPr>
                <p:cNvPr id="209" name="Object 44"/>
                <p:cNvSpPr txBox="1"/>
                <p:nvPr/>
              </p:nvSpPr>
              <p:spPr>
                <a:xfrm>
                  <a:off x="7753320" y="3516480"/>
                  <a:ext cx="318960" cy="826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210" name="Object 45"/>
                <p:cNvSpPr txBox="1"/>
                <p:nvPr/>
              </p:nvSpPr>
              <p:spPr>
                <a:xfrm>
                  <a:off x="5991120" y="3516480"/>
                  <a:ext cx="493560" cy="82692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f>
                        <m:num>
                          <m:r>
                            <m:t xml:space="preserve">2</m:t>
                          </m:r>
                        </m:num>
                        <m:den>
                          <m:r>
                            <m:t xml:space="preserve">3</m:t>
                          </m:r>
                        </m:den>
                      </m:f>
                      <m:r>
                        <m:t xml:space="preserve">l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10" name="Object 45"/>
                <p:cNvSpPr txBox="1"/>
                <p:nvPr/>
              </p:nvSpPr>
              <p:spPr>
                <a:xfrm>
                  <a:off x="5991120" y="3516480"/>
                  <a:ext cx="493560" cy="826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11" name="Oval 46"/>
            <p:cNvSpPr/>
            <p:nvPr/>
          </p:nvSpPr>
          <p:spPr>
            <a:xfrm>
              <a:off x="5029200" y="4549680"/>
              <a:ext cx="304560" cy="3049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CC99"/>
                </a:gs>
              </a:gsLst>
              <a:path path="rect">
                <a:fillToRect l="50000" t="50000" r="50000" b="50000"/>
              </a:path>
            </a:gra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2" name="Oval 47"/>
            <p:cNvSpPr/>
            <p:nvPr/>
          </p:nvSpPr>
          <p:spPr>
            <a:xfrm>
              <a:off x="8262720" y="4506840"/>
              <a:ext cx="381240" cy="381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CC99"/>
                </a:gs>
              </a:gsLst>
              <a:path path="rect">
                <a:fillToRect l="50000" t="50000" r="50000" b="50000"/>
              </a:path>
            </a:gra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mc:AlternateContent>
        <mc:Choice xmlns:a14="http://schemas.microsoft.com/office/drawing/2010/main" Requires="a14">
          <p:sp>
            <p:nvSpPr>
              <p:cNvPr id="213" name="Object 48"/>
              <p:cNvSpPr txBox="1"/>
              <p:nvPr/>
            </p:nvSpPr>
            <p:spPr>
              <a:xfrm>
                <a:off x="304920" y="3886200"/>
                <a:ext cx="1763640" cy="542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L</m:t>
                        </m:r>
                      </m:e>
                    </m:acc>
                    <m:r>
                      <m:t xml:space="preserve">=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r</m:t>
                        </m:r>
                      </m:e>
                    </m:acc>
                    <m:r>
                      <m:t xml:space="preserve">×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13" name="Object 48"/>
              <p:cNvSpPr txBox="1"/>
              <p:nvPr/>
            </p:nvSpPr>
            <p:spPr>
              <a:xfrm>
                <a:off x="304920" y="3886200"/>
                <a:ext cx="1763640" cy="542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14" name="Line 49"/>
          <p:cNvSpPr/>
          <p:nvPr/>
        </p:nvSpPr>
        <p:spPr>
          <a:xfrm>
            <a:off x="5257800" y="4952880"/>
            <a:ext cx="0" cy="60984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5" name="Object 50"/>
              <p:cNvSpPr txBox="1"/>
              <p:nvPr/>
            </p:nvSpPr>
            <p:spPr>
              <a:xfrm>
                <a:off x="5410080" y="5257800"/>
                <a:ext cx="327240" cy="351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</m:oMath>
                </a14:m>
              </a:p>
            </p:txBody>
          </p:sp>
        </mc:Choice>
        <mc:Fallback>
          <p:sp>
            <p:nvSpPr>
              <p:cNvPr id="215" name="Object 50"/>
              <p:cNvSpPr txBox="1"/>
              <p:nvPr/>
            </p:nvSpPr>
            <p:spPr>
              <a:xfrm>
                <a:off x="5410080" y="5257800"/>
                <a:ext cx="327240" cy="35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6" name="Object 51"/>
              <p:cNvSpPr txBox="1"/>
              <p:nvPr/>
            </p:nvSpPr>
            <p:spPr>
              <a:xfrm>
                <a:off x="369720" y="2819520"/>
                <a:ext cx="1371600" cy="990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lω</m:t>
                    </m:r>
                  </m:oMath>
                </a14:m>
              </a:p>
            </p:txBody>
          </p:sp>
        </mc:Choice>
        <mc:Fallback>
          <p:sp>
            <p:nvSpPr>
              <p:cNvPr id="216" name="Object 51"/>
              <p:cNvSpPr txBox="1"/>
              <p:nvPr/>
            </p:nvSpPr>
            <p:spPr>
              <a:xfrm>
                <a:off x="369720" y="2819520"/>
                <a:ext cx="1371600" cy="9903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217" name="Line 52"/>
          <p:cNvSpPr/>
          <p:nvPr/>
        </p:nvSpPr>
        <p:spPr>
          <a:xfrm flipV="1">
            <a:off x="8610480" y="3886200"/>
            <a:ext cx="0" cy="5335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8" name="Object 53"/>
              <p:cNvSpPr txBox="1"/>
              <p:nvPr/>
            </p:nvSpPr>
            <p:spPr>
              <a:xfrm>
                <a:off x="8610480" y="4114800"/>
                <a:ext cx="457200" cy="542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18" name="Object 53"/>
              <p:cNvSpPr txBox="1"/>
              <p:nvPr/>
            </p:nvSpPr>
            <p:spPr>
              <a:xfrm>
                <a:off x="8610480" y="4114800"/>
                <a:ext cx="457200" cy="542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9" name="Object 54"/>
              <p:cNvSpPr txBox="1"/>
              <p:nvPr/>
            </p:nvSpPr>
            <p:spPr>
              <a:xfrm>
                <a:off x="2449440" y="2819520"/>
                <a:ext cx="1501920" cy="990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lω</m:t>
                    </m:r>
                  </m:oMath>
                </a14:m>
              </a:p>
            </p:txBody>
          </p:sp>
        </mc:Choice>
        <mc:Fallback>
          <p:sp>
            <p:nvSpPr>
              <p:cNvPr id="219" name="Object 54"/>
              <p:cNvSpPr txBox="1"/>
              <p:nvPr/>
            </p:nvSpPr>
            <p:spPr>
              <a:xfrm>
                <a:off x="2449440" y="2819520"/>
                <a:ext cx="1501920" cy="9903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0" name="Object 55"/>
              <p:cNvSpPr txBox="1"/>
              <p:nvPr/>
            </p:nvSpPr>
            <p:spPr>
              <a:xfrm>
                <a:off x="3886200" y="2819520"/>
                <a:ext cx="946080" cy="990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v</m:t>
                    </m:r>
                  </m:oMath>
                </a14:m>
              </a:p>
            </p:txBody>
          </p:sp>
        </mc:Choice>
        <mc:Fallback>
          <p:sp>
            <p:nvSpPr>
              <p:cNvPr id="220" name="Object 55"/>
              <p:cNvSpPr txBox="1"/>
              <p:nvPr/>
            </p:nvSpPr>
            <p:spPr>
              <a:xfrm>
                <a:off x="3886200" y="2819520"/>
                <a:ext cx="946080" cy="9903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1" name="Object 56"/>
              <p:cNvSpPr txBox="1"/>
              <p:nvPr/>
            </p:nvSpPr>
            <p:spPr>
              <a:xfrm>
                <a:off x="380880" y="4724280"/>
                <a:ext cx="3527640" cy="990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L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l</m:t>
                    </m:r>
                    <m:r>
                      <m:rPr>
                        <m:lit/>
                        <m:nor/>
                      </m:rPr>
                      <m:t xml:space="preserve">mv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l</m:t>
                    </m:r>
                    <m:r>
                      <m:t xml:space="preserve">(</m:t>
                    </m:r>
                    <m:r>
                      <m:t xml:space="preserve">2</m:t>
                    </m:r>
                    <m:r>
                      <m:t xml:space="preserve">m</m:t>
                    </m:r>
                    <m:r>
                      <m:t xml:space="preserve">)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21" name="Object 56"/>
              <p:cNvSpPr txBox="1"/>
              <p:nvPr/>
            </p:nvSpPr>
            <p:spPr>
              <a:xfrm>
                <a:off x="380880" y="4724280"/>
                <a:ext cx="3527640" cy="9907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2" name="Object 57"/>
              <p:cNvSpPr txBox="1"/>
              <p:nvPr/>
            </p:nvSpPr>
            <p:spPr>
              <a:xfrm>
                <a:off x="4038480" y="1838160"/>
                <a:ext cx="838440" cy="447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l</m:t>
                    </m:r>
                    <m:r>
                      <m:rPr>
                        <m:lit/>
                        <m:nor/>
                      </m:rPr>
                      <m:t xml:space="preserve">mv</m:t>
                    </m:r>
                  </m:oMath>
                </a14:m>
              </a:p>
            </p:txBody>
          </p:sp>
        </mc:Choice>
        <mc:Fallback>
          <p:sp>
            <p:nvSpPr>
              <p:cNvPr id="222" name="Object 57"/>
              <p:cNvSpPr txBox="1"/>
              <p:nvPr/>
            </p:nvSpPr>
            <p:spPr>
              <a:xfrm>
                <a:off x="4038480" y="1838160"/>
                <a:ext cx="838440" cy="4478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grpSp>
        <p:nvGrpSpPr>
          <p:cNvPr id="223" name="Group 58"/>
          <p:cNvGrpSpPr/>
          <p:nvPr/>
        </p:nvGrpSpPr>
        <p:grpSpPr>
          <a:xfrm>
            <a:off x="5943600" y="4952880"/>
            <a:ext cx="380880" cy="381240"/>
            <a:chOff x="5943600" y="4952880"/>
            <a:chExt cx="380880" cy="381240"/>
          </a:xfrm>
        </p:grpSpPr>
        <p:sp>
          <p:nvSpPr>
            <p:cNvPr id="224" name="Oval 59"/>
            <p:cNvSpPr/>
            <p:nvPr/>
          </p:nvSpPr>
          <p:spPr>
            <a:xfrm>
              <a:off x="5943600" y="4952880"/>
              <a:ext cx="380880" cy="381240"/>
            </a:xfrm>
            <a:prstGeom prst="ellipse">
              <a:avLst/>
            </a:prstGeom>
            <a:noFill/>
            <a:ln w="2844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5" name="Oval 60"/>
            <p:cNvSpPr/>
            <p:nvPr/>
          </p:nvSpPr>
          <p:spPr>
            <a:xfrm>
              <a:off x="6070680" y="5079600"/>
              <a:ext cx="126720" cy="126720"/>
            </a:xfrm>
            <a:prstGeom prst="ellipse">
              <a:avLst/>
            </a:prstGeom>
            <a:solidFill>
              <a:srgbClr val="FF00FF"/>
            </a:solidFill>
            <a:ln w="936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3200" rIns="90000" bIns="43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26" name="Group 61"/>
          <p:cNvGrpSpPr/>
          <p:nvPr/>
        </p:nvGrpSpPr>
        <p:grpSpPr>
          <a:xfrm>
            <a:off x="7848720" y="5029200"/>
            <a:ext cx="380880" cy="380880"/>
            <a:chOff x="7848720" y="5029200"/>
            <a:chExt cx="380880" cy="380880"/>
          </a:xfrm>
        </p:grpSpPr>
        <p:sp>
          <p:nvSpPr>
            <p:cNvPr id="227" name="Oval 62"/>
            <p:cNvSpPr/>
            <p:nvPr/>
          </p:nvSpPr>
          <p:spPr>
            <a:xfrm>
              <a:off x="7848720" y="5029200"/>
              <a:ext cx="380880" cy="380880"/>
            </a:xfrm>
            <a:prstGeom prst="ellipse">
              <a:avLst/>
            </a:prstGeom>
            <a:noFill/>
            <a:ln w="2844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8" name="Oval 63"/>
            <p:cNvSpPr/>
            <p:nvPr/>
          </p:nvSpPr>
          <p:spPr>
            <a:xfrm>
              <a:off x="7975800" y="5155920"/>
              <a:ext cx="126720" cy="126720"/>
            </a:xfrm>
            <a:prstGeom prst="ellipse">
              <a:avLst/>
            </a:prstGeom>
            <a:solidFill>
              <a:srgbClr val="FF00FF"/>
            </a:solidFill>
            <a:ln w="936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3200" rIns="90000" bIns="43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5" dur="indefinite" restart="never" nodeType="tmRoot">
          <p:childTnLst>
            <p:seq>
              <p:cTn id="416" dur="indefinite" nodeType="mainSeq">
                <p:childTnLst>
                  <p:par>
                    <p:cTn id="417" fill="hold" nodeType="clickEffect">
                      <p:stCondLst>
                        <p:cond delay="indefinite"/>
                      </p:stCondLst>
                      <p:childTnLst>
                        <p:par>
                          <p:cTn id="4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2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 nodeType="clickEffect">
                      <p:stCondLst>
                        <p:cond delay="indefinite"/>
                      </p:stCondLst>
                      <p:childTnLst>
                        <p:par>
                          <p:cTn id="42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4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2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2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 nodeType="clickEffect">
                      <p:stCondLst>
                        <p:cond delay="indefinite"/>
                      </p:stCondLst>
                      <p:childTnLst>
                        <p:par>
                          <p:cTn id="4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3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37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 nodeType="clickEffect">
                      <p:stCondLst>
                        <p:cond delay="indefinite"/>
                      </p:stCondLst>
                      <p:childTnLst>
                        <p:par>
                          <p:cTn id="4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4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4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 nodeType="clickEffect">
                      <p:stCondLst>
                        <p:cond delay="indefinite"/>
                      </p:stCondLst>
                      <p:childTnLst>
                        <p:par>
                          <p:cTn id="44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4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 nodeType="clickEffect">
                      <p:stCondLst>
                        <p:cond delay="indefinite"/>
                      </p:stCondLst>
                      <p:childTnLst>
                        <p:par>
                          <p:cTn id="45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5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 nodeType="clickEffect">
                      <p:stCondLst>
                        <p:cond delay="indefinite"/>
                      </p:stCondLst>
                      <p:childTnLst>
                        <p:par>
                          <p:cTn id="45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5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 nodeType="clickEffect">
                      <p:stCondLst>
                        <p:cond delay="indefinite"/>
                      </p:stCondLst>
                      <p:childTnLst>
                        <p:par>
                          <p:cTn id="46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62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4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5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 nodeType="clickEffect">
                      <p:stCondLst>
                        <p:cond delay="indefinite"/>
                      </p:stCondLst>
                      <p:childTnLst>
                        <p:par>
                          <p:cTn id="46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68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1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 nodeType="clickEffect">
                      <p:stCondLst>
                        <p:cond delay="indefinite"/>
                      </p:stCondLst>
                      <p:childTnLst>
                        <p:par>
                          <p:cTn id="47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7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7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 nodeType="clickEffect">
                      <p:stCondLst>
                        <p:cond delay="indefinite"/>
                      </p:stCondLst>
                      <p:childTnLst>
                        <p:par>
                          <p:cTn id="47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7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Box 20"/>
          <p:cNvSpPr/>
          <p:nvPr/>
        </p:nvSpPr>
        <p:spPr>
          <a:xfrm>
            <a:off x="-270000" y="176040"/>
            <a:ext cx="9492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飞轮作匀减速运动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5s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内角速度由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40πrad/s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Text Box 21"/>
          <p:cNvSpPr/>
          <p:nvPr/>
        </p:nvSpPr>
        <p:spPr>
          <a:xfrm>
            <a:off x="45360" y="762120"/>
            <a:ext cx="89247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减到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10πrad/s,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则飞轮在这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5s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内总共转过了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Text Box 22"/>
          <p:cNvSpPr/>
          <p:nvPr/>
        </p:nvSpPr>
        <p:spPr>
          <a:xfrm>
            <a:off x="547200" y="1355760"/>
            <a:ext cx="63716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飞轮再经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    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的时间才能停止转动。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2" name="Object 24"/>
              <p:cNvSpPr txBox="1"/>
              <p:nvPr/>
            </p:nvSpPr>
            <p:spPr>
              <a:xfrm>
                <a:off x="457200" y="4635360"/>
                <a:ext cx="1380960" cy="482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αt</m:t>
                    </m:r>
                  </m:oMath>
                </a14:m>
              </a:p>
            </p:txBody>
          </p:sp>
        </mc:Choice>
        <mc:Fallback>
          <p:sp>
            <p:nvSpPr>
              <p:cNvPr id="232" name="Object 24"/>
              <p:cNvSpPr txBox="1"/>
              <p:nvPr/>
            </p:nvSpPr>
            <p:spPr>
              <a:xfrm>
                <a:off x="457200" y="4635360"/>
                <a:ext cx="1380960" cy="4827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3" name="Object 27"/>
              <p:cNvSpPr txBox="1"/>
              <p:nvPr/>
            </p:nvSpPr>
            <p:spPr>
              <a:xfrm>
                <a:off x="5486400" y="3276720"/>
                <a:ext cx="1981080" cy="830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θ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t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t xml:space="preserve">αt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233" name="Object 27"/>
              <p:cNvSpPr txBox="1"/>
              <p:nvPr/>
            </p:nvSpPr>
            <p:spPr>
              <a:xfrm>
                <a:off x="5486400" y="3276720"/>
                <a:ext cx="1981080" cy="830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4" name="Object 28"/>
              <p:cNvSpPr txBox="1"/>
              <p:nvPr/>
            </p:nvSpPr>
            <p:spPr>
              <a:xfrm>
                <a:off x="7848720" y="3276720"/>
                <a:ext cx="857160" cy="830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n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θ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π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34" name="Object 28"/>
              <p:cNvSpPr txBox="1"/>
              <p:nvPr/>
            </p:nvSpPr>
            <p:spPr>
              <a:xfrm>
                <a:off x="7848720" y="3276720"/>
                <a:ext cx="857160" cy="830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235" name="Text Box 29"/>
          <p:cNvSpPr/>
          <p:nvPr/>
        </p:nvSpPr>
        <p:spPr>
          <a:xfrm>
            <a:off x="7281720" y="685800"/>
            <a:ext cx="94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  <a:ea typeface="Times New Roman"/>
              </a:rPr>
              <a:t>62.5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 Box 30"/>
          <p:cNvSpPr/>
          <p:nvPr/>
        </p:nvSpPr>
        <p:spPr>
          <a:xfrm>
            <a:off x="2137680" y="1295280"/>
            <a:ext cx="113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  <a:ea typeface="Times New Roman"/>
              </a:rPr>
              <a:t>1.67s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7" name="Object 31"/>
              <p:cNvSpPr txBox="1"/>
              <p:nvPr/>
            </p:nvSpPr>
            <p:spPr>
              <a:xfrm>
                <a:off x="457200" y="2286000"/>
                <a:ext cx="1025640" cy="830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dω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37" name="Object 31"/>
              <p:cNvSpPr txBox="1"/>
              <p:nvPr/>
            </p:nvSpPr>
            <p:spPr>
              <a:xfrm>
                <a:off x="457200" y="2286000"/>
                <a:ext cx="1025640" cy="830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8" name="Object 32"/>
              <p:cNvSpPr txBox="1"/>
              <p:nvPr/>
            </p:nvSpPr>
            <p:spPr>
              <a:xfrm>
                <a:off x="2057400" y="2438280"/>
                <a:ext cx="1235160" cy="376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dω</m:t>
                    </m:r>
                    <m:r>
                      <m:t xml:space="preserve">=</m:t>
                    </m:r>
                    <m:r>
                      <m:t xml:space="preserve">α</m:t>
                    </m:r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238" name="Object 32"/>
              <p:cNvSpPr txBox="1"/>
              <p:nvPr/>
            </p:nvSpPr>
            <p:spPr>
              <a:xfrm>
                <a:off x="2057400" y="2438280"/>
                <a:ext cx="1235160" cy="376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9" name="Object 33"/>
              <p:cNvSpPr txBox="1"/>
              <p:nvPr/>
            </p:nvSpPr>
            <p:spPr>
              <a:xfrm>
                <a:off x="3733920" y="2286000"/>
                <a:ext cx="1839960" cy="752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dω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α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39" name="Object 33"/>
              <p:cNvSpPr txBox="1"/>
              <p:nvPr/>
            </p:nvSpPr>
            <p:spPr>
              <a:xfrm>
                <a:off x="3733920" y="2286000"/>
                <a:ext cx="1839960" cy="752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0" name="Object 34"/>
              <p:cNvSpPr txBox="1"/>
              <p:nvPr/>
            </p:nvSpPr>
            <p:spPr>
              <a:xfrm>
                <a:off x="2362320" y="3352680"/>
                <a:ext cx="2706480" cy="752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dθ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(</m:t>
                        </m:r>
                        <m:sSub>
                          <m:e>
                            <m:r>
                              <m:t xml:space="preserve">ω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+</m:t>
                        </m:r>
                        <m:r>
                          <m:t xml:space="preserve">αt</m:t>
                        </m:r>
                        <m:r>
                          <m:t xml:space="preserve">)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40" name="Object 34"/>
              <p:cNvSpPr txBox="1"/>
              <p:nvPr/>
            </p:nvSpPr>
            <p:spPr>
              <a:xfrm>
                <a:off x="2362320" y="3352680"/>
                <a:ext cx="2706480" cy="7527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1" name="Object 35"/>
              <p:cNvSpPr txBox="1"/>
              <p:nvPr/>
            </p:nvSpPr>
            <p:spPr>
              <a:xfrm>
                <a:off x="5867280" y="2209680"/>
                <a:ext cx="1219320" cy="831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ω</m:t>
                        </m:r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ω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41" name="Object 35"/>
              <p:cNvSpPr txBox="1"/>
              <p:nvPr/>
            </p:nvSpPr>
            <p:spPr>
              <a:xfrm>
                <a:off x="5867280" y="2209680"/>
                <a:ext cx="1219320" cy="8319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2" name="Object 36"/>
              <p:cNvSpPr txBox="1"/>
              <p:nvPr/>
            </p:nvSpPr>
            <p:spPr>
              <a:xfrm>
                <a:off x="457200" y="3352680"/>
                <a:ext cx="973080" cy="830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dθ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42" name="Object 36"/>
              <p:cNvSpPr txBox="1"/>
              <p:nvPr/>
            </p:nvSpPr>
            <p:spPr>
              <a:xfrm>
                <a:off x="457200" y="3352680"/>
                <a:ext cx="973080" cy="830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3" name="Object 37"/>
              <p:cNvSpPr txBox="1"/>
              <p:nvPr/>
            </p:nvSpPr>
            <p:spPr>
              <a:xfrm>
                <a:off x="7086600" y="2438280"/>
                <a:ext cx="762120" cy="376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−</m:t>
                    </m:r>
                    <m:r>
                      <m:t xml:space="preserve">6</m:t>
                    </m:r>
                    <m:r>
                      <m:t xml:space="preserve">π</m:t>
                    </m:r>
                  </m:oMath>
                </a14:m>
              </a:p>
            </p:txBody>
          </p:sp>
        </mc:Choice>
        <mc:Fallback>
          <p:sp>
            <p:nvSpPr>
              <p:cNvPr id="243" name="Object 37"/>
              <p:cNvSpPr txBox="1"/>
              <p:nvPr/>
            </p:nvSpPr>
            <p:spPr>
              <a:xfrm>
                <a:off x="7086600" y="2438280"/>
                <a:ext cx="762120" cy="376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4" name="Object 38"/>
              <p:cNvSpPr txBox="1"/>
              <p:nvPr/>
            </p:nvSpPr>
            <p:spPr>
              <a:xfrm>
                <a:off x="2438280" y="4724280"/>
                <a:ext cx="1752840" cy="376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10</m:t>
                    </m:r>
                    <m:r>
                      <m:t xml:space="preserve">π</m:t>
                    </m:r>
                    <m:r>
                      <m:t xml:space="preserve">−</m:t>
                    </m:r>
                    <m:r>
                      <m:t xml:space="preserve">6</m:t>
                    </m:r>
                    <m:r>
                      <m:t xml:space="preserve">πt</m:t>
                    </m:r>
                  </m:oMath>
                </a14:m>
              </a:p>
            </p:txBody>
          </p:sp>
        </mc:Choice>
        <mc:Fallback>
          <p:sp>
            <p:nvSpPr>
              <p:cNvPr id="244" name="Object 38"/>
              <p:cNvSpPr txBox="1"/>
              <p:nvPr/>
            </p:nvSpPr>
            <p:spPr>
              <a:xfrm>
                <a:off x="2438280" y="4724280"/>
                <a:ext cx="1752840" cy="376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sp>
        <p:nvSpPr>
          <p:cNvPr id="245" name="星形: 五角 19"/>
          <p:cNvSpPr/>
          <p:nvPr/>
        </p:nvSpPr>
        <p:spPr>
          <a:xfrm>
            <a:off x="8317080" y="6165720"/>
            <a:ext cx="431640" cy="405000"/>
          </a:xfrm>
          <a:custGeom>
            <a:avLst/>
            <a:gdLst>
              <a:gd name="GluePoint1X" fmla="*/ 0 w 431800"/>
              <a:gd name="GluePoint1Y" fmla="*/ 154624 h 404813"/>
              <a:gd name="GluePoint2X" fmla="*/ 164934 w 431800"/>
              <a:gd name="GluePoint2Y" fmla="*/ 154626 h 404813"/>
              <a:gd name="GluePoint3X" fmla="*/ 215900 w 431800"/>
              <a:gd name="GluePoint3Y" fmla="*/ 0 h 404813"/>
              <a:gd name="GluePoint4X" fmla="*/ 266866 w 431800"/>
              <a:gd name="GluePoint4Y" fmla="*/ 154626 h 404813"/>
              <a:gd name="GluePoint5X" fmla="*/ 431800 w 431800"/>
              <a:gd name="GluePoint5Y" fmla="*/ 154624 h 404813"/>
              <a:gd name="GluePoint6X" fmla="*/ 298365 w 431800"/>
              <a:gd name="GluePoint6Y" fmla="*/ 250187 h 404813"/>
              <a:gd name="GluePoint7X" fmla="*/ 349333 w 431800"/>
              <a:gd name="GluePoint7Y" fmla="*/ 404812 h 404813"/>
              <a:gd name="GluePoint8X" fmla="*/ 215900 w 431800"/>
              <a:gd name="GluePoint8Y" fmla="*/ 309247 h 404813"/>
              <a:gd name="GluePoint9X" fmla="*/ 82467 w 431800"/>
              <a:gd name="GluePoint9Y" fmla="*/ 404812 h 404813"/>
              <a:gd name="GluePoint10X" fmla="*/ 133435 w 431800"/>
              <a:gd name="GluePoint10Y" fmla="*/ 250187 h 404813"/>
              <a:gd name="GluePoint11X" fmla="*/ 0 w 431800"/>
              <a:gd name="GluePoint11Y" fmla="*/ 154624 h 4048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1800" h="404813">
                <a:moveTo>
                  <a:pt x="0" y="154624"/>
                </a:moveTo>
                <a:lnTo>
                  <a:pt x="164934" y="154626"/>
                </a:lnTo>
                <a:lnTo>
                  <a:pt x="215900" y="0"/>
                </a:lnTo>
                <a:lnTo>
                  <a:pt x="266866" y="154626"/>
                </a:lnTo>
                <a:lnTo>
                  <a:pt x="431800" y="154624"/>
                </a:lnTo>
                <a:lnTo>
                  <a:pt x="298365" y="250187"/>
                </a:lnTo>
                <a:lnTo>
                  <a:pt x="349333" y="404812"/>
                </a:lnTo>
                <a:lnTo>
                  <a:pt x="215900" y="309247"/>
                </a:lnTo>
                <a:lnTo>
                  <a:pt x="82467" y="404812"/>
                </a:lnTo>
                <a:lnTo>
                  <a:pt x="133435" y="250187"/>
                </a:lnTo>
                <a:lnTo>
                  <a:pt x="0" y="15462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2" dur="indefinite" restart="never" nodeType="tmRoot">
          <p:childTnLst>
            <p:seq>
              <p:cTn id="483" dur="indefinite" nodeType="mainSeq">
                <p:childTnLst>
                  <p:par>
                    <p:cTn id="484" fill="hold" nodeType="clickEffect">
                      <p:stCondLst>
                        <p:cond delay="indefinite"/>
                      </p:stCondLst>
                      <p:childTnLst>
                        <p:par>
                          <p:cTn id="48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8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 nodeType="clickEffect">
                      <p:stCondLst>
                        <p:cond delay="indefinite"/>
                      </p:stCondLst>
                      <p:childTnLst>
                        <p:par>
                          <p:cTn id="49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 nodeType="clickEffect">
                      <p:stCondLst>
                        <p:cond delay="indefinite"/>
                      </p:stCondLst>
                      <p:childTnLst>
                        <p:par>
                          <p:cTn id="49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 nodeType="clickEffect">
                      <p:stCondLst>
                        <p:cond delay="indefinite"/>
                      </p:stCondLst>
                      <p:childTnLst>
                        <p:par>
                          <p:cTn id="50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0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 nodeType="clickEffect">
                      <p:stCondLst>
                        <p:cond delay="indefinite"/>
                      </p:stCondLst>
                      <p:childTnLst>
                        <p:par>
                          <p:cTn id="50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0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 nodeType="clickEffect">
                      <p:stCondLst>
                        <p:cond delay="indefinite"/>
                      </p:stCondLst>
                      <p:childTnLst>
                        <p:par>
                          <p:cTn id="5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 nodeType="clickEffect">
                      <p:stCondLst>
                        <p:cond delay="indefinite"/>
                      </p:stCondLst>
                      <p:childTnLst>
                        <p:par>
                          <p:cTn id="5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 nodeType="clickEffect">
                      <p:stCondLst>
                        <p:cond delay="indefinite"/>
                      </p:stCondLst>
                      <p:childTnLst>
                        <p:par>
                          <p:cTn id="5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23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 nodeType="clickEffect">
                      <p:stCondLst>
                        <p:cond delay="indefinite"/>
                      </p:stCondLst>
                      <p:childTnLst>
                        <p:par>
                          <p:cTn id="52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28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 nodeType="clickEffect">
                      <p:stCondLst>
                        <p:cond delay="indefinite"/>
                      </p:stCondLst>
                      <p:childTnLst>
                        <p:par>
                          <p:cTn id="5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 nodeType="clickEffect">
                      <p:stCondLst>
                        <p:cond delay="indefinite"/>
                      </p:stCondLst>
                      <p:childTnLst>
                        <p:par>
                          <p:cTn id="53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 nodeType="clickEffect">
                      <p:stCondLst>
                        <p:cond delay="indefinite"/>
                      </p:stCondLst>
                      <p:childTnLst>
                        <p:par>
                          <p:cTn id="5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 nodeType="clickEffect">
                      <p:stCondLst>
                        <p:cond delay="indefinite"/>
                      </p:stCondLst>
                      <p:childTnLst>
                        <p:par>
                          <p:cTn id="54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2"/>
          <p:cNvSpPr/>
          <p:nvPr/>
        </p:nvSpPr>
        <p:spPr>
          <a:xfrm>
            <a:off x="-270000" y="176040"/>
            <a:ext cx="9492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飞轮作匀减速运动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5s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内角速度由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40πrad/s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Text Box 3"/>
          <p:cNvSpPr/>
          <p:nvPr/>
        </p:nvSpPr>
        <p:spPr>
          <a:xfrm>
            <a:off x="45360" y="762120"/>
            <a:ext cx="89247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减到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10πrad/s,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则飞轮在这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5s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内总共转过了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Text Box 4"/>
          <p:cNvSpPr/>
          <p:nvPr/>
        </p:nvSpPr>
        <p:spPr>
          <a:xfrm>
            <a:off x="547200" y="1355760"/>
            <a:ext cx="63716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飞轮再经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    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的时间才能停止转动。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9" name="Object 5"/>
              <p:cNvSpPr txBox="1"/>
              <p:nvPr/>
            </p:nvSpPr>
            <p:spPr>
              <a:xfrm>
                <a:off x="1828800" y="2286000"/>
                <a:ext cx="1476360" cy="828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10</m:t>
                        </m:r>
                        <m:r>
                          <m:t xml:space="preserve">π</m:t>
                        </m:r>
                        <m:r>
                          <m:t xml:space="preserve">−</m:t>
                        </m:r>
                        <m:r>
                          <m:rPr>
                            <m:lit/>
                            <m:nor/>
                          </m:rPr>
                          <m:t xml:space="preserve">40</m:t>
                        </m:r>
                        <m:r>
                          <m:t xml:space="preserve">π</m:t>
                        </m:r>
                      </m:num>
                      <m:den>
                        <m:r>
                          <m:t xml:space="preserve">5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49" name="Object 5"/>
              <p:cNvSpPr txBox="1"/>
              <p:nvPr/>
            </p:nvSpPr>
            <p:spPr>
              <a:xfrm>
                <a:off x="1828800" y="2286000"/>
                <a:ext cx="1476360" cy="8287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0" name="Object 6"/>
              <p:cNvSpPr txBox="1"/>
              <p:nvPr/>
            </p:nvSpPr>
            <p:spPr>
              <a:xfrm>
                <a:off x="522360" y="3646440"/>
                <a:ext cx="1404720" cy="480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αt</m:t>
                    </m:r>
                  </m:oMath>
                </a14:m>
              </a:p>
            </p:txBody>
          </p:sp>
        </mc:Choice>
        <mc:Fallback>
          <p:sp>
            <p:nvSpPr>
              <p:cNvPr id="250" name="Object 6"/>
              <p:cNvSpPr txBox="1"/>
              <p:nvPr/>
            </p:nvSpPr>
            <p:spPr>
              <a:xfrm>
                <a:off x="522360" y="3646440"/>
                <a:ext cx="1404720" cy="480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1" name="Object 7"/>
              <p:cNvSpPr txBox="1"/>
              <p:nvPr/>
            </p:nvSpPr>
            <p:spPr>
              <a:xfrm>
                <a:off x="2811600" y="3657600"/>
                <a:ext cx="1571400" cy="374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10</m:t>
                    </m:r>
                    <m:r>
                      <m:t xml:space="preserve">π</m:t>
                    </m:r>
                    <m:r>
                      <m:t xml:space="preserve">−</m:t>
                    </m:r>
                    <m:r>
                      <m:t xml:space="preserve">6</m:t>
                    </m:r>
                    <m:r>
                      <m:t xml:space="preserve">πt</m:t>
                    </m:r>
                  </m:oMath>
                </a14:m>
              </a:p>
            </p:txBody>
          </p:sp>
        </mc:Choice>
        <mc:Fallback>
          <p:sp>
            <p:nvSpPr>
              <p:cNvPr id="251" name="Object 7"/>
              <p:cNvSpPr txBox="1"/>
              <p:nvPr/>
            </p:nvSpPr>
            <p:spPr>
              <a:xfrm>
                <a:off x="2811600" y="3657600"/>
                <a:ext cx="1571400" cy="374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2" name="Object 8"/>
              <p:cNvSpPr txBox="1"/>
              <p:nvPr/>
            </p:nvSpPr>
            <p:spPr>
              <a:xfrm>
                <a:off x="3338640" y="2514600"/>
                <a:ext cx="761760" cy="374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−</m:t>
                    </m:r>
                    <m:r>
                      <m:t xml:space="preserve">6</m:t>
                    </m:r>
                    <m:r>
                      <m:t xml:space="preserve">π</m:t>
                    </m:r>
                  </m:oMath>
                </a14:m>
              </a:p>
            </p:txBody>
          </p:sp>
        </mc:Choice>
        <mc:Fallback>
          <p:sp>
            <p:nvSpPr>
              <p:cNvPr id="252" name="Object 8"/>
              <p:cNvSpPr txBox="1"/>
              <p:nvPr/>
            </p:nvSpPr>
            <p:spPr>
              <a:xfrm>
                <a:off x="3338640" y="2514600"/>
                <a:ext cx="761760" cy="374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3" name="Object 9"/>
              <p:cNvSpPr txBox="1"/>
              <p:nvPr/>
            </p:nvSpPr>
            <p:spPr>
              <a:xfrm>
                <a:off x="4952880" y="2298600"/>
                <a:ext cx="1452600" cy="911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θ</m:t>
                    </m:r>
                    <m:r>
                      <m:t xml:space="preserve">=</m:t>
                    </m:r>
                    <m:f>
                      <m:num>
                        <m:sSup>
                          <m:e>
                            <m:r>
                              <m:t xml:space="preserve">ω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−</m:t>
                        </m:r>
                        <m:sSubSup>
                          <m:e>
                            <m:r>
                              <m:t xml:space="preserve">ω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  <m:sup>
                            <m:r>
                              <m:t xml:space="preserve">2</m:t>
                            </m:r>
                          </m:sup>
                        </m:sSubSup>
                      </m:num>
                      <m:den>
                        <m:r>
                          <m:t xml:space="preserve">2</m:t>
                        </m:r>
                        <m:r>
                          <m:t xml:space="preserve">α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53" name="Object 9"/>
              <p:cNvSpPr txBox="1"/>
              <p:nvPr/>
            </p:nvSpPr>
            <p:spPr>
              <a:xfrm>
                <a:off x="4952880" y="2298600"/>
                <a:ext cx="1452600" cy="9111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4" name="Object 10"/>
              <p:cNvSpPr txBox="1"/>
              <p:nvPr/>
            </p:nvSpPr>
            <p:spPr>
              <a:xfrm>
                <a:off x="7143840" y="2362320"/>
                <a:ext cx="857160" cy="830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n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θ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π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54" name="Object 10"/>
              <p:cNvSpPr txBox="1"/>
              <p:nvPr/>
            </p:nvSpPr>
            <p:spPr>
              <a:xfrm>
                <a:off x="7143840" y="2362320"/>
                <a:ext cx="857160" cy="8301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255" name="Text Box 11"/>
          <p:cNvSpPr/>
          <p:nvPr/>
        </p:nvSpPr>
        <p:spPr>
          <a:xfrm>
            <a:off x="7281720" y="685800"/>
            <a:ext cx="94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  <a:ea typeface="Times New Roman"/>
              </a:rPr>
              <a:t>62.5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Text Box 12"/>
          <p:cNvSpPr/>
          <p:nvPr/>
        </p:nvSpPr>
        <p:spPr>
          <a:xfrm>
            <a:off x="2137680" y="1295280"/>
            <a:ext cx="113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  <a:ea typeface="Times New Roman"/>
              </a:rPr>
              <a:t>1.67s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57" name="Object 13"/>
              <p:cNvSpPr txBox="1"/>
              <p:nvPr/>
            </p:nvSpPr>
            <p:spPr>
              <a:xfrm>
                <a:off x="368280" y="2286000"/>
                <a:ext cx="1498680" cy="830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ω</m:t>
                        </m:r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ω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57" name="Object 13"/>
              <p:cNvSpPr txBox="1"/>
              <p:nvPr/>
            </p:nvSpPr>
            <p:spPr>
              <a:xfrm>
                <a:off x="368280" y="2286000"/>
                <a:ext cx="1498680" cy="8301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9" dur="indefinite" restart="never" nodeType="tmRoot">
          <p:childTnLst>
            <p:seq>
              <p:cTn id="550" dur="indefinite" nodeType="mainSeq">
                <p:childTnLst>
                  <p:par>
                    <p:cTn id="551" fill="hold" nodeType="clickEffect">
                      <p:stCondLst>
                        <p:cond delay="indefinite"/>
                      </p:stCondLst>
                      <p:childTnLst>
                        <p:par>
                          <p:cTn id="55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5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 nodeType="clickEffect">
                      <p:stCondLst>
                        <p:cond delay="indefinite"/>
                      </p:stCondLst>
                      <p:childTnLst>
                        <p:par>
                          <p:cTn id="55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6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 nodeType="clickEffect">
                      <p:stCondLst>
                        <p:cond delay="indefinite"/>
                      </p:stCondLst>
                      <p:childTnLst>
                        <p:par>
                          <p:cTn id="5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6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 nodeType="clickEffect">
                      <p:stCondLst>
                        <p:cond delay="indefinite"/>
                      </p:stCondLst>
                      <p:childTnLst>
                        <p:par>
                          <p:cTn id="56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70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 nodeType="clickEffect">
                      <p:stCondLst>
                        <p:cond delay="indefinite"/>
                      </p:stCondLst>
                      <p:childTnLst>
                        <p:par>
                          <p:cTn id="5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75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 nodeType="clickEffect">
                      <p:stCondLst>
                        <p:cond delay="indefinite"/>
                      </p:stCondLst>
                      <p:childTnLst>
                        <p:par>
                          <p:cTn id="5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80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 nodeType="clickEffect">
                      <p:stCondLst>
                        <p:cond delay="indefinite"/>
                      </p:stCondLst>
                      <p:childTnLst>
                        <p:par>
                          <p:cTn id="58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8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8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 nodeType="clickEffect">
                      <p:stCondLst>
                        <p:cond delay="indefinite"/>
                      </p:stCondLst>
                      <p:childTnLst>
                        <p:par>
                          <p:cTn id="58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8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9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 nodeType="clickEffect">
                      <p:stCondLst>
                        <p:cond delay="indefinite"/>
                      </p:stCondLst>
                      <p:childTnLst>
                        <p:par>
                          <p:cTn id="59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9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95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Box 3"/>
          <p:cNvSpPr/>
          <p:nvPr/>
        </p:nvSpPr>
        <p:spPr>
          <a:xfrm>
            <a:off x="-144000" y="176040"/>
            <a:ext cx="9240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一根匀质细杆质量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、长度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  <a:ea typeface="Times New Roman"/>
              </a:rPr>
              <a:t>l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可绕过其端点的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Text Box 4"/>
          <p:cNvSpPr/>
          <p:nvPr/>
        </p:nvSpPr>
        <p:spPr>
          <a:xfrm>
            <a:off x="123840" y="685800"/>
            <a:ext cx="8943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水平轴在竖直平面内转动。则它在水平位置时所受的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Text Box 5"/>
          <p:cNvSpPr/>
          <p:nvPr/>
        </p:nvSpPr>
        <p:spPr>
          <a:xfrm>
            <a:off x="563400" y="1432080"/>
            <a:ext cx="7792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重力矩为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       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，若将此杆截取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2/3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，则剩下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Text Box 6"/>
          <p:cNvSpPr/>
          <p:nvPr/>
        </p:nvSpPr>
        <p:spPr>
          <a:xfrm>
            <a:off x="560880" y="2270160"/>
            <a:ext cx="79873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1/3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在上述同样位置时所受的重力矩为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      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62" name="Group 7"/>
          <p:cNvGrpSpPr/>
          <p:nvPr/>
        </p:nvGrpSpPr>
        <p:grpSpPr>
          <a:xfrm>
            <a:off x="5943600" y="4800600"/>
            <a:ext cx="1981080" cy="1066680"/>
            <a:chOff x="5943600" y="4800600"/>
            <a:chExt cx="1981080" cy="1066680"/>
          </a:xfrm>
        </p:grpSpPr>
        <p:sp>
          <p:nvSpPr>
            <p:cNvPr id="263" name="Rectangle 8"/>
            <p:cNvSpPr/>
            <p:nvPr/>
          </p:nvSpPr>
          <p:spPr>
            <a:xfrm>
              <a:off x="6477120" y="5421240"/>
              <a:ext cx="914400" cy="15228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64" name="Object 9"/>
                <p:cNvSpPr txBox="1"/>
                <p:nvPr/>
              </p:nvSpPr>
              <p:spPr>
                <a:xfrm>
                  <a:off x="6797520" y="4800600"/>
                  <a:ext cx="441360" cy="6444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f>
                        <m:num>
                          <m:r>
                            <m:t xml:space="preserve">1</m:t>
                          </m:r>
                        </m:num>
                        <m:den>
                          <m:r>
                            <m:t xml:space="preserve">3</m:t>
                          </m:r>
                        </m:den>
                      </m:f>
                      <m:r>
                        <m:t xml:space="preserve">L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64" name="Object 9"/>
                <p:cNvSpPr txBox="1"/>
                <p:nvPr/>
              </p:nvSpPr>
              <p:spPr>
                <a:xfrm>
                  <a:off x="6797520" y="4800600"/>
                  <a:ext cx="441360" cy="6444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65" name="Line 10"/>
            <p:cNvSpPr/>
            <p:nvPr/>
          </p:nvSpPr>
          <p:spPr>
            <a:xfrm>
              <a:off x="6477120" y="5029200"/>
              <a:ext cx="0" cy="5443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6" name="Line 11"/>
            <p:cNvSpPr/>
            <p:nvPr/>
          </p:nvSpPr>
          <p:spPr>
            <a:xfrm>
              <a:off x="7391520" y="5029200"/>
              <a:ext cx="0" cy="5443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7" name="Line 12"/>
            <p:cNvSpPr/>
            <p:nvPr/>
          </p:nvSpPr>
          <p:spPr>
            <a:xfrm>
              <a:off x="7391520" y="5181480"/>
              <a:ext cx="53316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8" name="Line 13"/>
            <p:cNvSpPr/>
            <p:nvPr/>
          </p:nvSpPr>
          <p:spPr>
            <a:xfrm flipH="1">
              <a:off x="5943600" y="5181480"/>
              <a:ext cx="53352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69" name="Object 14"/>
                <p:cNvSpPr txBox="1"/>
                <p:nvPr/>
              </p:nvSpPr>
              <p:spPr>
                <a:xfrm>
                  <a:off x="6324480" y="5573520"/>
                  <a:ext cx="290520" cy="2937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o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69" name="Object 14"/>
                <p:cNvSpPr txBox="1"/>
                <p:nvPr/>
              </p:nvSpPr>
              <p:spPr>
                <a:xfrm>
                  <a:off x="6324480" y="5573520"/>
                  <a:ext cx="290520" cy="29376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</p:sp>
          </mc:Fallback>
        </mc:AlternateContent>
      </p:grpSp>
      <mc:AlternateContent>
        <mc:Choice xmlns:a14="http://schemas.microsoft.com/office/drawing/2010/main" Requires="a14">
          <p:sp>
            <p:nvSpPr>
              <p:cNvPr id="270" name="Object 15"/>
              <p:cNvSpPr txBox="1"/>
              <p:nvPr/>
            </p:nvSpPr>
            <p:spPr>
              <a:xfrm>
                <a:off x="457200" y="3303720"/>
                <a:ext cx="2151000" cy="88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mg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L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70" name="Object 15"/>
              <p:cNvSpPr txBox="1"/>
              <p:nvPr/>
            </p:nvSpPr>
            <p:spPr>
              <a:xfrm>
                <a:off x="457200" y="3303720"/>
                <a:ext cx="2151000" cy="887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1" name="Object 16"/>
              <p:cNvSpPr txBox="1"/>
              <p:nvPr/>
            </p:nvSpPr>
            <p:spPr>
              <a:xfrm>
                <a:off x="380880" y="4599000"/>
                <a:ext cx="2557440" cy="88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g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b>
                      <m:e>
                        <m:r>
                          <m:t xml:space="preserve">L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71" name="Object 16"/>
              <p:cNvSpPr txBox="1"/>
              <p:nvPr/>
            </p:nvSpPr>
            <p:spPr>
              <a:xfrm>
                <a:off x="380880" y="4599000"/>
                <a:ext cx="2557440" cy="887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2" name="Object 17"/>
              <p:cNvSpPr txBox="1"/>
              <p:nvPr/>
            </p:nvSpPr>
            <p:spPr>
              <a:xfrm>
                <a:off x="2895480" y="4599000"/>
                <a:ext cx="2276640" cy="88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r>
                      <m:t xml:space="preserve">m</m:t>
                    </m:r>
                    <m:r>
                      <m:t xml:space="preserve">)</m:t>
                    </m:r>
                    <m:r>
                      <m:t xml:space="preserve">g</m:t>
                    </m:r>
                    <m:r>
                      <m:t xml:space="preserve">(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6</m:t>
                        </m:r>
                      </m:den>
                    </m:f>
                    <m:r>
                      <m:t xml:space="preserve">L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72" name="Object 17"/>
              <p:cNvSpPr txBox="1"/>
              <p:nvPr/>
            </p:nvSpPr>
            <p:spPr>
              <a:xfrm>
                <a:off x="2895480" y="4599000"/>
                <a:ext cx="2276640" cy="887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3" name="Object 18"/>
              <p:cNvSpPr txBox="1"/>
              <p:nvPr/>
            </p:nvSpPr>
            <p:spPr>
              <a:xfrm>
                <a:off x="2438280" y="1066680"/>
                <a:ext cx="903240" cy="88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mgL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73" name="Object 18"/>
              <p:cNvSpPr txBox="1"/>
              <p:nvPr/>
            </p:nvSpPr>
            <p:spPr>
              <a:xfrm>
                <a:off x="2438280" y="1066680"/>
                <a:ext cx="903240" cy="887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4" name="Object 19"/>
              <p:cNvSpPr txBox="1"/>
              <p:nvPr/>
            </p:nvSpPr>
            <p:spPr>
              <a:xfrm>
                <a:off x="7086600" y="1828800"/>
                <a:ext cx="903240" cy="88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mgL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18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74" name="Object 19"/>
              <p:cNvSpPr txBox="1"/>
              <p:nvPr/>
            </p:nvSpPr>
            <p:spPr>
              <a:xfrm>
                <a:off x="7086600" y="1828800"/>
                <a:ext cx="903240" cy="887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grpSp>
        <p:nvGrpSpPr>
          <p:cNvPr id="275" name="Group 20"/>
          <p:cNvGrpSpPr/>
          <p:nvPr/>
        </p:nvGrpSpPr>
        <p:grpSpPr>
          <a:xfrm>
            <a:off x="6324480" y="3352680"/>
            <a:ext cx="2590920" cy="827280"/>
            <a:chOff x="6324480" y="3352680"/>
            <a:chExt cx="2590920" cy="827280"/>
          </a:xfrm>
        </p:grpSpPr>
        <p:sp>
          <p:nvSpPr>
            <p:cNvPr id="276" name="Rectangle 21"/>
            <p:cNvSpPr/>
            <p:nvPr/>
          </p:nvSpPr>
          <p:spPr>
            <a:xfrm>
              <a:off x="6477120" y="3733920"/>
              <a:ext cx="2438280" cy="152280"/>
            </a:xfrm>
            <a:prstGeom prst="rect">
              <a:avLst/>
            </a:prstGeom>
            <a:blipFill rotWithShape="0">
              <a:blip r:embed="rId9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7" name="Line 22"/>
            <p:cNvSpPr/>
            <p:nvPr/>
          </p:nvSpPr>
          <p:spPr>
            <a:xfrm>
              <a:off x="6477120" y="3505320"/>
              <a:ext cx="0" cy="38088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8" name="Line 23"/>
            <p:cNvSpPr/>
            <p:nvPr/>
          </p:nvSpPr>
          <p:spPr>
            <a:xfrm>
              <a:off x="6477120" y="3581280"/>
              <a:ext cx="106668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9" name="Line 24"/>
            <p:cNvSpPr/>
            <p:nvPr/>
          </p:nvSpPr>
          <p:spPr>
            <a:xfrm flipH="1">
              <a:off x="8001000" y="3581280"/>
              <a:ext cx="91440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80" name="Object 25"/>
                <p:cNvSpPr txBox="1"/>
                <p:nvPr/>
              </p:nvSpPr>
              <p:spPr>
                <a:xfrm>
                  <a:off x="7620120" y="3352680"/>
                  <a:ext cx="301680" cy="32868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L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80" name="Object 25"/>
                <p:cNvSpPr txBox="1"/>
                <p:nvPr/>
              </p:nvSpPr>
              <p:spPr>
                <a:xfrm>
                  <a:off x="7620120" y="3352680"/>
                  <a:ext cx="301680" cy="32868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281" name="Object 26"/>
                <p:cNvSpPr txBox="1"/>
                <p:nvPr/>
              </p:nvSpPr>
              <p:spPr>
                <a:xfrm>
                  <a:off x="6324480" y="3886200"/>
                  <a:ext cx="290520" cy="2937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o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81" name="Object 26"/>
                <p:cNvSpPr txBox="1"/>
                <p:nvPr/>
              </p:nvSpPr>
              <p:spPr>
                <a:xfrm>
                  <a:off x="6324480" y="3886200"/>
                  <a:ext cx="290520" cy="29376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82" name="Line 27"/>
            <p:cNvSpPr/>
            <p:nvPr/>
          </p:nvSpPr>
          <p:spPr>
            <a:xfrm>
              <a:off x="8915400" y="3505320"/>
              <a:ext cx="0" cy="38088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83" name="Group 28"/>
          <p:cNvGrpSpPr/>
          <p:nvPr/>
        </p:nvGrpSpPr>
        <p:grpSpPr>
          <a:xfrm>
            <a:off x="7391520" y="3851280"/>
            <a:ext cx="1523880" cy="644400"/>
            <a:chOff x="7391520" y="3851280"/>
            <a:chExt cx="1523880" cy="644400"/>
          </a:xfrm>
        </p:grpSpPr>
        <mc:AlternateContent>
          <mc:Choice xmlns:a14="http://schemas.microsoft.com/office/drawing/2010/main" Requires="a14">
            <p:sp>
              <p:nvSpPr>
                <p:cNvPr id="284" name="Object 29"/>
                <p:cNvSpPr txBox="1"/>
                <p:nvPr/>
              </p:nvSpPr>
              <p:spPr>
                <a:xfrm>
                  <a:off x="7994520" y="3851280"/>
                  <a:ext cx="463680" cy="6444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f>
                        <m:num>
                          <m:r>
                            <m:t xml:space="preserve">2</m:t>
                          </m:r>
                        </m:num>
                        <m:den>
                          <m:r>
                            <m:t xml:space="preserve">3</m:t>
                          </m:r>
                        </m:den>
                      </m:f>
                      <m:r>
                        <m:t xml:space="preserve">L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84" name="Object 29"/>
                <p:cNvSpPr txBox="1"/>
                <p:nvPr/>
              </p:nvSpPr>
              <p:spPr>
                <a:xfrm>
                  <a:off x="7994520" y="3851280"/>
                  <a:ext cx="463680" cy="6444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85" name="Line 30"/>
            <p:cNvSpPr/>
            <p:nvPr/>
          </p:nvSpPr>
          <p:spPr>
            <a:xfrm>
              <a:off x="7391520" y="4190760"/>
              <a:ext cx="53316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6" name="Line 31"/>
            <p:cNvSpPr/>
            <p:nvPr/>
          </p:nvSpPr>
          <p:spPr>
            <a:xfrm>
              <a:off x="7391520" y="3885840"/>
              <a:ext cx="0" cy="5331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7" name="Line 32"/>
            <p:cNvSpPr/>
            <p:nvPr/>
          </p:nvSpPr>
          <p:spPr>
            <a:xfrm flipH="1">
              <a:off x="8381880" y="4190760"/>
              <a:ext cx="53352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8" name="Line 33"/>
            <p:cNvSpPr/>
            <p:nvPr/>
          </p:nvSpPr>
          <p:spPr>
            <a:xfrm>
              <a:off x="8915400" y="3885840"/>
              <a:ext cx="0" cy="5331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6" dur="indefinite" restart="never" nodeType="tmRoot">
          <p:childTnLst>
            <p:seq>
              <p:cTn id="597" dur="indefinite" nodeType="mainSeq">
                <p:childTnLst>
                  <p:par>
                    <p:cTn id="598" fill="hold" nodeType="clickEffect">
                      <p:stCondLst>
                        <p:cond delay="indefinite"/>
                      </p:stCondLst>
                      <p:childTnLst>
                        <p:par>
                          <p:cTn id="5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0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0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 nodeType="clickEffect">
                      <p:stCondLst>
                        <p:cond delay="indefinite"/>
                      </p:stCondLst>
                      <p:childTnLst>
                        <p:par>
                          <p:cTn id="6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0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 nodeType="clickEffect">
                      <p:stCondLst>
                        <p:cond delay="indefinite"/>
                      </p:stCondLst>
                      <p:childTnLst>
                        <p:par>
                          <p:cTn id="6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1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 nodeType="clickEffect">
                      <p:stCondLst>
                        <p:cond delay="indefinite"/>
                      </p:stCondLst>
                      <p:childTnLst>
                        <p:par>
                          <p:cTn id="6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1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 nodeType="clickEffect">
                      <p:stCondLst>
                        <p:cond delay="indefinite"/>
                      </p:stCondLst>
                      <p:childTnLst>
                        <p:par>
                          <p:cTn id="6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22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 nodeType="clickEffect">
                      <p:stCondLst>
                        <p:cond delay="indefinite"/>
                      </p:stCondLst>
                      <p:childTnLst>
                        <p:par>
                          <p:cTn id="6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2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 nodeType="clickEffect">
                      <p:stCondLst>
                        <p:cond delay="indefinite"/>
                      </p:stCondLst>
                      <p:childTnLst>
                        <p:par>
                          <p:cTn id="6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3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32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 nodeType="clickEffect">
                      <p:stCondLst>
                        <p:cond delay="indefinite"/>
                      </p:stCondLst>
                      <p:childTnLst>
                        <p:par>
                          <p:cTn id="6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3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3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Box 3"/>
          <p:cNvSpPr/>
          <p:nvPr/>
        </p:nvSpPr>
        <p:spPr>
          <a:xfrm>
            <a:off x="-144720" y="176040"/>
            <a:ext cx="9430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P57/7.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长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  <a:ea typeface="Times New Roman"/>
              </a:rPr>
              <a:t>l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匀质细杆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可绕过其端点的水平轴在竖直平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Text Box 4"/>
          <p:cNvSpPr/>
          <p:nvPr/>
        </p:nvSpPr>
        <p:spPr>
          <a:xfrm>
            <a:off x="-2880" y="685800"/>
            <a:ext cx="8935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面内自由转动。如果将细杆置与水平位置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然后让其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Text Box 5"/>
          <p:cNvSpPr/>
          <p:nvPr/>
        </p:nvSpPr>
        <p:spPr>
          <a:xfrm>
            <a:off x="-103320" y="1127160"/>
            <a:ext cx="9309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由静止开始自由下摆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则开始转动的瞬间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细杆的角加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Text Box 6"/>
          <p:cNvSpPr/>
          <p:nvPr/>
        </p:nvSpPr>
        <p:spPr>
          <a:xfrm>
            <a:off x="658800" y="1660680"/>
            <a:ext cx="7800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速度为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       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，细杆转动到竖直位置时角速度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Text Box 7"/>
          <p:cNvSpPr/>
          <p:nvPr/>
        </p:nvSpPr>
        <p:spPr>
          <a:xfrm>
            <a:off x="852840" y="2666880"/>
            <a:ext cx="2466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为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           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AutoShape 8"/>
          <p:cNvSpPr/>
          <p:nvPr/>
        </p:nvSpPr>
        <p:spPr>
          <a:xfrm>
            <a:off x="5867280" y="2914560"/>
            <a:ext cx="2362320" cy="133560"/>
          </a:xfrm>
          <a:prstGeom prst="roundRect">
            <a:avLst>
              <a:gd name="adj" fmla="val 37917"/>
            </a:avLst>
          </a:prstGeom>
          <a:blipFill rotWithShape="0">
            <a:blip r:embed="rId1"/>
            <a:srcRect/>
            <a:tile tx="0" ty="0" sx="100000" sy="100000" algn="ctr"/>
          </a:blip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Line 9"/>
          <p:cNvSpPr/>
          <p:nvPr/>
        </p:nvSpPr>
        <p:spPr>
          <a:xfrm flipH="1">
            <a:off x="7162920" y="2990880"/>
            <a:ext cx="1440" cy="7621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6" name="Object 10"/>
              <p:cNvSpPr txBox="1"/>
              <p:nvPr/>
            </p:nvSpPr>
            <p:spPr>
              <a:xfrm>
                <a:off x="7315200" y="3295800"/>
                <a:ext cx="743040" cy="514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6" name="Object 10"/>
              <p:cNvSpPr txBox="1"/>
              <p:nvPr/>
            </p:nvSpPr>
            <p:spPr>
              <a:xfrm>
                <a:off x="7315200" y="3295800"/>
                <a:ext cx="743040" cy="514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97" name="Line 11"/>
          <p:cNvSpPr/>
          <p:nvPr/>
        </p:nvSpPr>
        <p:spPr>
          <a:xfrm flipV="1">
            <a:off x="5943600" y="2285640"/>
            <a:ext cx="380880" cy="68580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8" name="Object 12"/>
              <p:cNvSpPr txBox="1"/>
              <p:nvPr/>
            </p:nvSpPr>
            <p:spPr>
              <a:xfrm>
                <a:off x="6289560" y="2270160"/>
                <a:ext cx="459000" cy="544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N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8" name="Object 12"/>
              <p:cNvSpPr txBox="1"/>
              <p:nvPr/>
            </p:nvSpPr>
            <p:spPr>
              <a:xfrm>
                <a:off x="6289560" y="2270160"/>
                <a:ext cx="459000" cy="544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99" name="Object 13"/>
              <p:cNvSpPr txBox="1"/>
              <p:nvPr/>
            </p:nvSpPr>
            <p:spPr>
              <a:xfrm>
                <a:off x="380880" y="3352680"/>
                <a:ext cx="1600200" cy="997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mg</m:t>
                    </m:r>
                    <m:f>
                      <m:num>
                        <m:r>
                          <m:t xml:space="preserve">l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99" name="Object 13"/>
              <p:cNvSpPr txBox="1"/>
              <p:nvPr/>
            </p:nvSpPr>
            <p:spPr>
              <a:xfrm>
                <a:off x="380880" y="3352680"/>
                <a:ext cx="1600200" cy="99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0" name="Object 14"/>
              <p:cNvSpPr txBox="1"/>
              <p:nvPr/>
            </p:nvSpPr>
            <p:spPr>
              <a:xfrm>
                <a:off x="2514600" y="3429000"/>
                <a:ext cx="1496880" cy="998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J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sSup>
                      <m:e>
                        <m:r>
                          <m:t xml:space="preserve">ml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300" name="Object 14"/>
              <p:cNvSpPr txBox="1"/>
              <p:nvPr/>
            </p:nvSpPr>
            <p:spPr>
              <a:xfrm>
                <a:off x="2514600" y="3429000"/>
                <a:ext cx="1496880" cy="9986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1" name="Object 15"/>
              <p:cNvSpPr txBox="1"/>
              <p:nvPr/>
            </p:nvSpPr>
            <p:spPr>
              <a:xfrm>
                <a:off x="363600" y="4680000"/>
                <a:ext cx="1379520" cy="449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r>
                      <m:t xml:space="preserve">=</m:t>
                    </m:r>
                    <m:r>
                      <m:t xml:space="preserve">Jα</m:t>
                    </m:r>
                  </m:oMath>
                </a14:m>
              </a:p>
            </p:txBody>
          </p:sp>
        </mc:Choice>
        <mc:Fallback>
          <p:sp>
            <p:nvSpPr>
              <p:cNvPr id="301" name="Object 15"/>
              <p:cNvSpPr txBox="1"/>
              <p:nvPr/>
            </p:nvSpPr>
            <p:spPr>
              <a:xfrm>
                <a:off x="363600" y="4680000"/>
                <a:ext cx="1379520" cy="4492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2" name="Object 16"/>
              <p:cNvSpPr txBox="1"/>
              <p:nvPr/>
            </p:nvSpPr>
            <p:spPr>
              <a:xfrm>
                <a:off x="2286000" y="1523880"/>
                <a:ext cx="685800" cy="914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3</m:t>
                        </m:r>
                        <m:r>
                          <m:t xml:space="preserve">g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l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02" name="Object 16"/>
              <p:cNvSpPr txBox="1"/>
              <p:nvPr/>
            </p:nvSpPr>
            <p:spPr>
              <a:xfrm>
                <a:off x="2286000" y="1523880"/>
                <a:ext cx="6858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303" name="AutoShape 17"/>
          <p:cNvSpPr/>
          <p:nvPr/>
        </p:nvSpPr>
        <p:spPr>
          <a:xfrm rot="5400000">
            <a:off x="4752360" y="4009680"/>
            <a:ext cx="2362320" cy="133560"/>
          </a:xfrm>
          <a:prstGeom prst="roundRect">
            <a:avLst>
              <a:gd name="adj" fmla="val 37917"/>
            </a:avLst>
          </a:prstGeom>
          <a:noFill/>
          <a:ln w="28440">
            <a:solidFill>
              <a:srgbClr val="0000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4" name="Object 18"/>
              <p:cNvSpPr txBox="1"/>
              <p:nvPr/>
            </p:nvSpPr>
            <p:spPr>
              <a:xfrm>
                <a:off x="457200" y="5410080"/>
                <a:ext cx="2165400" cy="998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mg</m:t>
                    </m:r>
                    <m:f>
                      <m:num>
                        <m:r>
                          <m:t xml:space="preserve">l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t xml:space="preserve">Jω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304" name="Object 18"/>
              <p:cNvSpPr txBox="1"/>
              <p:nvPr/>
            </p:nvSpPr>
            <p:spPr>
              <a:xfrm>
                <a:off x="457200" y="5410080"/>
                <a:ext cx="2165400" cy="9986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5" name="Object 19"/>
              <p:cNvSpPr txBox="1"/>
              <p:nvPr/>
            </p:nvSpPr>
            <p:spPr>
              <a:xfrm>
                <a:off x="1219320" y="2104920"/>
                <a:ext cx="930240" cy="1019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f>
                          <m:num>
                            <m:r>
                              <m:t xml:space="preserve">3</m:t>
                            </m:r>
                            <m:r>
                              <m:t xml:space="preserve">g</m:t>
                            </m:r>
                          </m:num>
                          <m:den>
                            <m:r>
                              <m:t xml:space="preserve">l</m:t>
                            </m:r>
                          </m:den>
                        </m:f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305" name="Object 19"/>
              <p:cNvSpPr txBox="1"/>
              <p:nvPr/>
            </p:nvSpPr>
            <p:spPr>
              <a:xfrm>
                <a:off x="1219320" y="2104920"/>
                <a:ext cx="930240" cy="10191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306" name="Oval 20"/>
          <p:cNvSpPr/>
          <p:nvPr/>
        </p:nvSpPr>
        <p:spPr>
          <a:xfrm>
            <a:off x="5896080" y="2943360"/>
            <a:ext cx="75960" cy="75960"/>
          </a:xfrm>
          <a:prstGeom prst="ellipse">
            <a:avLst/>
          </a:prstGeom>
          <a:solidFill>
            <a:srgbClr val="FFFFFF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6840" rIns="90000" bIns="684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8" dur="indefinite" restart="never" nodeType="tmRoot">
          <p:childTnLst>
            <p:seq>
              <p:cTn id="639" dur="indefinite" nodeType="mainSeq">
                <p:childTnLst>
                  <p:par>
                    <p:cTn id="640" fill="hold" nodeType="clickEffect">
                      <p:stCondLst>
                        <p:cond delay="indefinite"/>
                      </p:stCondLst>
                      <p:childTnLst>
                        <p:par>
                          <p:cTn id="6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4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644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4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48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 nodeType="clickEffect">
                      <p:stCondLst>
                        <p:cond delay="indefinite"/>
                      </p:stCondLst>
                      <p:childTnLst>
                        <p:par>
                          <p:cTn id="65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5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53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5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5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8" fill="hold" nodeType="clickEffect">
                      <p:stCondLst>
                        <p:cond delay="indefinite"/>
                      </p:stCondLst>
                      <p:childTnLst>
                        <p:par>
                          <p:cTn id="6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6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62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3" fill="hold" nodeType="clickEffect">
                      <p:stCondLst>
                        <p:cond delay="indefinite"/>
                      </p:stCondLst>
                      <p:childTnLst>
                        <p:par>
                          <p:cTn id="6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6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 nodeType="clickEffect">
                      <p:stCondLst>
                        <p:cond delay="indefinite"/>
                      </p:stCondLst>
                      <p:childTnLst>
                        <p:par>
                          <p:cTn id="6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7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 nodeType="clickEffect">
                      <p:stCondLst>
                        <p:cond delay="indefinite"/>
                      </p:stCondLst>
                      <p:childTnLst>
                        <p:par>
                          <p:cTn id="6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7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8" fill="hold" nodeType="clickEffect">
                      <p:stCondLst>
                        <p:cond delay="indefinite"/>
                      </p:stCondLst>
                      <p:childTnLst>
                        <p:par>
                          <p:cTn id="6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80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68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3" fill="hold" nodeType="clickEffect">
                      <p:stCondLst>
                        <p:cond delay="indefinite"/>
                      </p:stCondLst>
                      <p:childTnLst>
                        <p:par>
                          <p:cTn id="6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8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8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8" fill="hold" nodeType="clickEffect">
                      <p:stCondLst>
                        <p:cond delay="indefinite"/>
                      </p:stCondLst>
                      <p:childTnLst>
                        <p:par>
                          <p:cTn id="6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9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Box 2"/>
          <p:cNvSpPr/>
          <p:nvPr/>
        </p:nvSpPr>
        <p:spPr>
          <a:xfrm>
            <a:off x="24120" y="136440"/>
            <a:ext cx="902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P56/2.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一轻绳绕在具有水平轴定滑轮上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绳下悬挂质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Text Box 3"/>
          <p:cNvSpPr/>
          <p:nvPr/>
        </p:nvSpPr>
        <p:spPr>
          <a:xfrm>
            <a:off x="-327960" y="609480"/>
            <a:ext cx="9583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物体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此时滑轮的角加速度为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β,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若将物体卸掉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Text Box 4"/>
          <p:cNvSpPr/>
          <p:nvPr/>
        </p:nvSpPr>
        <p:spPr>
          <a:xfrm>
            <a:off x="160920" y="2193840"/>
            <a:ext cx="141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Text Box 5"/>
          <p:cNvSpPr/>
          <p:nvPr/>
        </p:nvSpPr>
        <p:spPr>
          <a:xfrm>
            <a:off x="2359800" y="2209680"/>
            <a:ext cx="141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Text Box 6"/>
          <p:cNvSpPr/>
          <p:nvPr/>
        </p:nvSpPr>
        <p:spPr>
          <a:xfrm>
            <a:off x="4493160" y="2193840"/>
            <a:ext cx="141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Text Box 7"/>
          <p:cNvSpPr/>
          <p:nvPr/>
        </p:nvSpPr>
        <p:spPr>
          <a:xfrm>
            <a:off x="6625440" y="2193840"/>
            <a:ext cx="2176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无法确定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Text Box 8"/>
          <p:cNvSpPr/>
          <p:nvPr/>
        </p:nvSpPr>
        <p:spPr>
          <a:xfrm>
            <a:off x="2445840" y="16002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Text Box 9"/>
          <p:cNvSpPr/>
          <p:nvPr/>
        </p:nvSpPr>
        <p:spPr>
          <a:xfrm>
            <a:off x="64440" y="1127160"/>
            <a:ext cx="8745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而用等于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mg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，方向向下的力拉绳子，则滑轮的角加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Text Box 10"/>
          <p:cNvSpPr/>
          <p:nvPr/>
        </p:nvSpPr>
        <p:spPr>
          <a:xfrm>
            <a:off x="74880" y="1660680"/>
            <a:ext cx="4554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速度将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Line 11"/>
          <p:cNvSpPr/>
          <p:nvPr/>
        </p:nvSpPr>
        <p:spPr>
          <a:xfrm>
            <a:off x="1295280" y="3962520"/>
            <a:ext cx="0" cy="160020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Line 12"/>
          <p:cNvSpPr/>
          <p:nvPr/>
        </p:nvSpPr>
        <p:spPr>
          <a:xfrm>
            <a:off x="6267600" y="3886200"/>
            <a:ext cx="0" cy="10666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18" name="Group 13"/>
          <p:cNvGrpSpPr/>
          <p:nvPr/>
        </p:nvGrpSpPr>
        <p:grpSpPr>
          <a:xfrm>
            <a:off x="5200560" y="3048120"/>
            <a:ext cx="1447920" cy="1295280"/>
            <a:chOff x="5200560" y="3048120"/>
            <a:chExt cx="1447920" cy="1295280"/>
          </a:xfrm>
        </p:grpSpPr>
        <p:sp>
          <p:nvSpPr>
            <p:cNvPr id="319" name="Rectangle 14"/>
            <p:cNvSpPr/>
            <p:nvPr/>
          </p:nvSpPr>
          <p:spPr>
            <a:xfrm>
              <a:off x="5200560" y="3048120"/>
              <a:ext cx="1447920" cy="15228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0" name="Oval 15"/>
            <p:cNvSpPr/>
            <p:nvPr/>
          </p:nvSpPr>
          <p:spPr>
            <a:xfrm>
              <a:off x="5505480" y="3581280"/>
              <a:ext cx="762120" cy="762120"/>
            </a:xfrm>
            <a:prstGeom prst="ellipse">
              <a:avLst/>
            </a:prstGeom>
            <a:blipFill rotWithShape="0">
              <a:blip r:embed="rId2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1" name="Line 16"/>
            <p:cNvSpPr/>
            <p:nvPr/>
          </p:nvSpPr>
          <p:spPr>
            <a:xfrm>
              <a:off x="5886360" y="3200400"/>
              <a:ext cx="0" cy="762120"/>
            </a:xfrm>
            <a:prstGeom prst="line">
              <a:avLst/>
            </a:prstGeom>
            <a:ln w="763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322" name="Group 17"/>
          <p:cNvGrpSpPr/>
          <p:nvPr/>
        </p:nvGrpSpPr>
        <p:grpSpPr>
          <a:xfrm>
            <a:off x="228600" y="3048120"/>
            <a:ext cx="1447920" cy="1295280"/>
            <a:chOff x="228600" y="3048120"/>
            <a:chExt cx="1447920" cy="1295280"/>
          </a:xfrm>
        </p:grpSpPr>
        <p:sp>
          <p:nvSpPr>
            <p:cNvPr id="323" name="Rectangle 18"/>
            <p:cNvSpPr/>
            <p:nvPr/>
          </p:nvSpPr>
          <p:spPr>
            <a:xfrm>
              <a:off x="228600" y="3048120"/>
              <a:ext cx="1447920" cy="152280"/>
            </a:xfrm>
            <a:prstGeom prst="rect">
              <a:avLst/>
            </a:prstGeom>
            <a:blipFill rotWithShape="0">
              <a:blip r:embed="rId3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4" name="Oval 19"/>
            <p:cNvSpPr/>
            <p:nvPr/>
          </p:nvSpPr>
          <p:spPr>
            <a:xfrm>
              <a:off x="533520" y="3581280"/>
              <a:ext cx="761760" cy="762120"/>
            </a:xfrm>
            <a:prstGeom prst="ellipse">
              <a:avLst/>
            </a:prstGeom>
            <a:blipFill rotWithShape="0">
              <a:blip r:embed="rId4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5" name="Line 20"/>
            <p:cNvSpPr/>
            <p:nvPr/>
          </p:nvSpPr>
          <p:spPr>
            <a:xfrm>
              <a:off x="914400" y="3200400"/>
              <a:ext cx="0" cy="762120"/>
            </a:xfrm>
            <a:prstGeom prst="line">
              <a:avLst/>
            </a:prstGeom>
            <a:ln w="763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26" name="Rectangle 21"/>
          <p:cNvSpPr/>
          <p:nvPr/>
        </p:nvSpPr>
        <p:spPr>
          <a:xfrm>
            <a:off x="1066680" y="5429160"/>
            <a:ext cx="381240" cy="304920"/>
          </a:xfrm>
          <a:prstGeom prst="rect">
            <a:avLst/>
          </a:prstGeom>
          <a:solidFill>
            <a:srgbClr val="9B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7" name="Object 22"/>
              <p:cNvSpPr txBox="1"/>
              <p:nvPr/>
            </p:nvSpPr>
            <p:spPr>
              <a:xfrm>
                <a:off x="5638680" y="4952880"/>
                <a:ext cx="1114560" cy="554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27" name="Object 22"/>
              <p:cNvSpPr txBox="1"/>
              <p:nvPr/>
            </p:nvSpPr>
            <p:spPr>
              <a:xfrm>
                <a:off x="5638680" y="4952880"/>
                <a:ext cx="1114560" cy="554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328" name="Line 23"/>
          <p:cNvSpPr/>
          <p:nvPr/>
        </p:nvSpPr>
        <p:spPr>
          <a:xfrm>
            <a:off x="1295280" y="5638680"/>
            <a:ext cx="0" cy="60984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9" name="Object 24"/>
              <p:cNvSpPr txBox="1"/>
              <p:nvPr/>
            </p:nvSpPr>
            <p:spPr>
              <a:xfrm>
                <a:off x="1371600" y="5962680"/>
                <a:ext cx="743040" cy="514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29" name="Object 24"/>
              <p:cNvSpPr txBox="1"/>
              <p:nvPr/>
            </p:nvSpPr>
            <p:spPr>
              <a:xfrm>
                <a:off x="1371600" y="5962680"/>
                <a:ext cx="743040" cy="514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330" name="Line 25"/>
          <p:cNvSpPr/>
          <p:nvPr/>
        </p:nvSpPr>
        <p:spPr>
          <a:xfrm flipV="1">
            <a:off x="1295280" y="5028840"/>
            <a:ext cx="0" cy="6094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31" name="Object 26"/>
              <p:cNvSpPr txBox="1"/>
              <p:nvPr/>
            </p:nvSpPr>
            <p:spPr>
              <a:xfrm>
                <a:off x="1371600" y="4819680"/>
                <a:ext cx="387360" cy="512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T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31" name="Object 26"/>
              <p:cNvSpPr txBox="1"/>
              <p:nvPr/>
            </p:nvSpPr>
            <p:spPr>
              <a:xfrm>
                <a:off x="1371600" y="4819680"/>
                <a:ext cx="387360" cy="512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2" name="Object 27"/>
              <p:cNvSpPr txBox="1"/>
              <p:nvPr/>
            </p:nvSpPr>
            <p:spPr>
              <a:xfrm>
                <a:off x="6993000" y="3200400"/>
                <a:ext cx="1873080" cy="51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mgR</m:t>
                    </m:r>
                    <m:r>
                      <m:t xml:space="preserve">=</m:t>
                    </m:r>
                    <m:r>
                      <m:t xml:space="preserve">Jα</m:t>
                    </m:r>
                  </m:oMath>
                </a14:m>
              </a:p>
            </p:txBody>
          </p:sp>
        </mc:Choice>
        <mc:Fallback>
          <p:sp>
            <p:nvSpPr>
              <p:cNvPr id="332" name="Object 27"/>
              <p:cNvSpPr txBox="1"/>
              <p:nvPr/>
            </p:nvSpPr>
            <p:spPr>
              <a:xfrm>
                <a:off x="6993000" y="3200400"/>
                <a:ext cx="1873080" cy="515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3" name="Object 28"/>
              <p:cNvSpPr txBox="1"/>
              <p:nvPr/>
            </p:nvSpPr>
            <p:spPr>
              <a:xfrm>
                <a:off x="7315200" y="4952880"/>
                <a:ext cx="1143000" cy="997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  <m:r>
                          <m:t xml:space="preserve">g</m:t>
                        </m:r>
                      </m:num>
                      <m:den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33" name="Object 28"/>
              <p:cNvSpPr txBox="1"/>
              <p:nvPr/>
            </p:nvSpPr>
            <p:spPr>
              <a:xfrm>
                <a:off x="7315200" y="4952880"/>
                <a:ext cx="1143000" cy="99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4" name="Object 29"/>
              <p:cNvSpPr txBox="1"/>
              <p:nvPr/>
            </p:nvSpPr>
            <p:spPr>
              <a:xfrm>
                <a:off x="2395440" y="2914560"/>
                <a:ext cx="2176560" cy="514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mg</m:t>
                    </m:r>
                    <m:r>
                      <m:t xml:space="preserve">−</m:t>
                    </m:r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ma</m:t>
                    </m:r>
                  </m:oMath>
                </a14:m>
              </a:p>
            </p:txBody>
          </p:sp>
        </mc:Choice>
        <mc:Fallback>
          <p:sp>
            <p:nvSpPr>
              <p:cNvPr id="334" name="Object 29"/>
              <p:cNvSpPr txBox="1"/>
              <p:nvPr/>
            </p:nvSpPr>
            <p:spPr>
              <a:xfrm>
                <a:off x="2395440" y="2914560"/>
                <a:ext cx="2176560" cy="5144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5" name="Object 30"/>
              <p:cNvSpPr txBox="1"/>
              <p:nvPr/>
            </p:nvSpPr>
            <p:spPr>
              <a:xfrm>
                <a:off x="2344680" y="3537000"/>
                <a:ext cx="1557360" cy="450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TR</m:t>
                    </m:r>
                    <m:r>
                      <m:t xml:space="preserve">=</m:t>
                    </m:r>
                    <m:r>
                      <m:t xml:space="preserve">Jα</m:t>
                    </m:r>
                  </m:oMath>
                </a14:m>
              </a:p>
            </p:txBody>
          </p:sp>
        </mc:Choice>
        <mc:Fallback>
          <p:sp>
            <p:nvSpPr>
              <p:cNvPr id="335" name="Object 30"/>
              <p:cNvSpPr txBox="1"/>
              <p:nvPr/>
            </p:nvSpPr>
            <p:spPr>
              <a:xfrm>
                <a:off x="2344680" y="3537000"/>
                <a:ext cx="1557360" cy="4507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6" name="Object 31"/>
              <p:cNvSpPr txBox="1"/>
              <p:nvPr/>
            </p:nvSpPr>
            <p:spPr>
              <a:xfrm>
                <a:off x="2344680" y="4070520"/>
                <a:ext cx="1379520" cy="450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r>
                      <m:t xml:space="preserve">Rα</m:t>
                    </m:r>
                  </m:oMath>
                </a14:m>
              </a:p>
            </p:txBody>
          </p:sp>
        </mc:Choice>
        <mc:Fallback>
          <p:sp>
            <p:nvSpPr>
              <p:cNvPr id="336" name="Object 31"/>
              <p:cNvSpPr txBox="1"/>
              <p:nvPr/>
            </p:nvSpPr>
            <p:spPr>
              <a:xfrm>
                <a:off x="2344680" y="4070520"/>
                <a:ext cx="1379520" cy="4507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sp>
        <p:nvSpPr>
          <p:cNvPr id="337" name="AutoShape 32"/>
          <p:cNvSpPr/>
          <p:nvPr/>
        </p:nvSpPr>
        <p:spPr>
          <a:xfrm>
            <a:off x="2133720" y="3124080"/>
            <a:ext cx="152280" cy="1828800"/>
          </a:xfrm>
          <a:custGeom>
            <a:avLst/>
            <a:gdLst>
              <a:gd name="textAreaLeft" fmla="*/ 97200 w 152280"/>
              <a:gd name="textAreaRight" fmla="*/ 152640 w 152280"/>
              <a:gd name="textAreaTop" fmla="*/ 47520 h 1828800"/>
              <a:gd name="textAreaBottom" fmla="*/ 1781280 h 18288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300"/>
                </a:lnTo>
                <a:cubicBezTo>
                  <a:pt x="10800" y="10200"/>
                  <a:pt x="5400" y="11100"/>
                  <a:pt x="0" y="11100"/>
                </a:cubicBezTo>
                <a:cubicBezTo>
                  <a:pt x="5400" y="11100"/>
                  <a:pt x="10800" y="12000"/>
                  <a:pt x="10800" y="129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38" name="Object 33"/>
              <p:cNvSpPr txBox="1"/>
              <p:nvPr/>
            </p:nvSpPr>
            <p:spPr>
              <a:xfrm>
                <a:off x="2314440" y="4487760"/>
                <a:ext cx="1876680" cy="998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J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mR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338" name="Object 33"/>
              <p:cNvSpPr txBox="1"/>
              <p:nvPr/>
            </p:nvSpPr>
            <p:spPr>
              <a:xfrm>
                <a:off x="2314440" y="4487760"/>
                <a:ext cx="1876680" cy="9986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9" name="Object 34"/>
              <p:cNvSpPr txBox="1"/>
              <p:nvPr/>
            </p:nvSpPr>
            <p:spPr>
              <a:xfrm>
                <a:off x="2251080" y="5410080"/>
                <a:ext cx="1254240" cy="997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  <m:r>
                          <m:t xml:space="preserve">g</m:t>
                        </m:r>
                      </m:num>
                      <m:den>
                        <m:r>
                          <m:t xml:space="preserve">3</m:t>
                        </m:r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39" name="Object 34"/>
              <p:cNvSpPr txBox="1"/>
              <p:nvPr/>
            </p:nvSpPr>
            <p:spPr>
              <a:xfrm>
                <a:off x="2251080" y="5410080"/>
                <a:ext cx="1254240" cy="99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40" name="Object 35"/>
              <p:cNvSpPr txBox="1"/>
              <p:nvPr/>
            </p:nvSpPr>
            <p:spPr>
              <a:xfrm>
                <a:off x="7010280" y="3809880"/>
                <a:ext cx="1876680" cy="998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J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mR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340" name="Object 35"/>
              <p:cNvSpPr txBox="1"/>
              <p:nvPr/>
            </p:nvSpPr>
            <p:spPr>
              <a:xfrm>
                <a:off x="7010280" y="3809880"/>
                <a:ext cx="1876680" cy="99864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</p:sp>
        </mc:Fallback>
      </mc:AlternateContent>
      <p:sp>
        <p:nvSpPr>
          <p:cNvPr id="341" name="AutoShape 36"/>
          <p:cNvSpPr/>
          <p:nvPr/>
        </p:nvSpPr>
        <p:spPr>
          <a:xfrm>
            <a:off x="6781680" y="3505320"/>
            <a:ext cx="152640" cy="838080"/>
          </a:xfrm>
          <a:custGeom>
            <a:avLst/>
            <a:gdLst>
              <a:gd name="textAreaLeft" fmla="*/ 97560 w 152640"/>
              <a:gd name="textAreaRight" fmla="*/ 153000 w 152640"/>
              <a:gd name="textAreaTop" fmla="*/ 21600 h 838080"/>
              <a:gd name="textAreaBottom" fmla="*/ 816480 h 8380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Line 37"/>
          <p:cNvSpPr/>
          <p:nvPr/>
        </p:nvSpPr>
        <p:spPr>
          <a:xfrm flipV="1">
            <a:off x="1295280" y="3885840"/>
            <a:ext cx="0" cy="609480"/>
          </a:xfrm>
          <a:prstGeom prst="line">
            <a:avLst/>
          </a:prstGeom>
          <a:ln w="38160">
            <a:solidFill>
              <a:srgbClr val="0000FF"/>
            </a:solidFill>
            <a:miter/>
            <a:head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3" name="Object 38"/>
              <p:cNvSpPr txBox="1"/>
              <p:nvPr/>
            </p:nvSpPr>
            <p:spPr>
              <a:xfrm>
                <a:off x="1447920" y="4191120"/>
                <a:ext cx="387360" cy="512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T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43" name="Object 38"/>
              <p:cNvSpPr txBox="1"/>
              <p:nvPr/>
            </p:nvSpPr>
            <p:spPr>
              <a:xfrm>
                <a:off x="1447920" y="4191120"/>
                <a:ext cx="387360" cy="51264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3" dur="indefinite" restart="never" nodeType="tmRoot">
          <p:childTnLst>
            <p:seq>
              <p:cTn id="694" dur="indefinite" nodeType="mainSeq">
                <p:childTnLst>
                  <p:par>
                    <p:cTn id="695" fill="hold" nodeType="clickEffect">
                      <p:stCondLst>
                        <p:cond delay="indefinite"/>
                      </p:stCondLst>
                      <p:childTnLst>
                        <p:par>
                          <p:cTn id="69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9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9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01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03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705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0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 nodeType="clickEffect">
                      <p:stCondLst>
                        <p:cond delay="indefinite"/>
                      </p:stCondLst>
                      <p:childTnLst>
                        <p:par>
                          <p:cTn id="7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1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14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16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7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71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20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 nodeType="clickEffect">
                      <p:stCondLst>
                        <p:cond delay="indefinite"/>
                      </p:stCondLst>
                      <p:childTnLst>
                        <p:par>
                          <p:cTn id="7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23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6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27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29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0" fill="hold" nodeType="clickEffect">
                      <p:stCondLst>
                        <p:cond delay="indefinite"/>
                      </p:stCondLst>
                      <p:childTnLst>
                        <p:par>
                          <p:cTn id="73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32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34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3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3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 nodeType="clickEffect">
                      <p:stCondLst>
                        <p:cond delay="indefinite"/>
                      </p:stCondLst>
                      <p:childTnLst>
                        <p:par>
                          <p:cTn id="7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41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43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4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4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8" fill="hold" nodeType="clickEffect">
                      <p:stCondLst>
                        <p:cond delay="indefinite"/>
                      </p:stCondLst>
                      <p:childTnLst>
                        <p:par>
                          <p:cTn id="74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5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3" fill="hold" nodeType="clickEffect">
                      <p:stCondLst>
                        <p:cond delay="indefinite"/>
                      </p:stCondLst>
                      <p:childTnLst>
                        <p:par>
                          <p:cTn id="75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57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8" fill="hold" nodeType="clickEffect">
                      <p:stCondLst>
                        <p:cond delay="indefinite"/>
                      </p:stCondLst>
                      <p:childTnLst>
                        <p:par>
                          <p:cTn id="7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6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62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 nodeType="clickEffect">
                      <p:stCondLst>
                        <p:cond delay="indefinite"/>
                      </p:stCondLst>
                      <p:childTnLst>
                        <p:par>
                          <p:cTn id="7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67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8" fill="hold" nodeType="clickEffect">
                      <p:stCondLst>
                        <p:cond delay="indefinite"/>
                      </p:stCondLst>
                      <p:childTnLst>
                        <p:par>
                          <p:cTn id="7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70" presetID="16" presetClass="entr" fill="hold" nodeType="clickEffect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 additive="repl">
                                        <p:cTn id="77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3" fill="hold" nodeType="clickEffect">
                      <p:stCondLst>
                        <p:cond delay="indefinite"/>
                      </p:stCondLst>
                      <p:childTnLst>
                        <p:par>
                          <p:cTn id="7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77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8" fill="hold" nodeType="clickEffect">
                      <p:stCondLst>
                        <p:cond delay="indefinite"/>
                      </p:stCondLst>
                      <p:childTnLst>
                        <p:par>
                          <p:cTn id="7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8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8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3" fill="hold" nodeType="clickEffect">
                      <p:stCondLst>
                        <p:cond delay="indefinite"/>
                      </p:stCondLst>
                      <p:childTnLst>
                        <p:par>
                          <p:cTn id="7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8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87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8" fill="hold" nodeType="clickEffect">
                      <p:stCondLst>
                        <p:cond delay="indefinite"/>
                      </p:stCondLst>
                      <p:childTnLst>
                        <p:par>
                          <p:cTn id="7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90" presetID="16" presetClass="entr" fill="hold" nodeType="clickEffect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 additive="repl">
                                        <p:cTn id="79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 nodeType="clickEffect">
                      <p:stCondLst>
                        <p:cond delay="indefinite"/>
                      </p:stCondLst>
                      <p:childTnLst>
                        <p:par>
                          <p:cTn id="7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97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8" fill="hold" nodeType="clickEffect">
                      <p:stCondLst>
                        <p:cond delay="indefinite"/>
                      </p:stCondLst>
                      <p:childTnLst>
                        <p:par>
                          <p:cTn id="7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0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0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1256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2002-12-02T20:00:18Z</dcterms:created>
  <dc:creator>Love</dc:creator>
  <dc:description/>
  <dc:language>zh-CN</dc:language>
  <cp:lastModifiedBy>cheny35@outlook.com</cp:lastModifiedBy>
  <dcterms:modified xsi:type="dcterms:W3CDTF">2026-04-22T15:50:17Z</dcterms:modified>
  <cp:revision>304</cp:revision>
  <dc:subject/>
  <dc:title>没有幻灯片标题</dc:title>
</cp:coreProperties>
</file>