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media/image46.emf" ContentType="image/x-emf"/>
  <Override PartName="/ppt/media/image2.emf" ContentType="image/x-emf"/>
  <Override PartName="/ppt/media/image57.emf" ContentType="image/x-emf"/>
  <Override PartName="/ppt/media/image18.emf" ContentType="image/x-emf"/>
  <Override PartName="/ppt/media/image1.emf" ContentType="image/x-emf"/>
  <Override PartName="/ppt/media/image58.emf" ContentType="image/x-emf"/>
  <Override PartName="/ppt/media/image40.emf" ContentType="image/x-emf"/>
  <Override PartName="/ppt/media/image4.emf" ContentType="image/x-emf"/>
  <Override PartName="/ppt/media/image59.emf" ContentType="image/x-emf"/>
  <Override PartName="/ppt/media/image47.emf" ContentType="image/x-emf"/>
  <Override PartName="/ppt/media/image3.emf" ContentType="image/x-emf"/>
  <Override PartName="/ppt/media/image70.emf" ContentType="image/x-emf"/>
  <Override PartName="/ppt/media/image71.emf" ContentType="image/x-emf"/>
  <Override PartName="/ppt/media/image41.emf" ContentType="image/x-emf"/>
  <Override PartName="/ppt/media/image5.emf" ContentType="image/x-emf"/>
  <Override PartName="/ppt/media/image72.emf" ContentType="image/x-emf"/>
  <Override PartName="/ppt/media/image42.emf" ContentType="image/x-emf"/>
  <Override PartName="/ppt/media/image6.emf" ContentType="image/x-emf"/>
  <Override PartName="/ppt/media/image73.emf" ContentType="image/x-emf"/>
  <Override PartName="/ppt/media/image43.emf" ContentType="image/x-emf"/>
  <Override PartName="/ppt/media/image7.emf" ContentType="image/x-emf"/>
  <Override PartName="/ppt/media/image29.emf" ContentType="image/x-emf"/>
  <Override PartName="/ppt/media/image74.emf" ContentType="image/x-emf"/>
  <Override PartName="/ppt/media/image11.emf" ContentType="image/x-emf"/>
  <Override PartName="/ppt/media/image8.emf" ContentType="image/x-emf"/>
  <Override PartName="/ppt/media/image28.emf" ContentType="image/x-emf"/>
  <Override PartName="/ppt/media/image75.emf" ContentType="image/x-emf"/>
  <Override PartName="/ppt/media/image10.emf" ContentType="image/x-emf"/>
  <Override PartName="/ppt/media/image9.emf" ContentType="image/x-emf"/>
  <Override PartName="/ppt/media/image12.emf" ContentType="image/x-emf"/>
  <Override PartName="/ppt/media/image13.emf" ContentType="image/x-emf"/>
  <Override PartName="/ppt/media/image49.emf" ContentType="image/x-emf"/>
  <Override PartName="/ppt/media/image14.emf" ContentType="image/x-emf"/>
  <Override PartName="/ppt/media/image48.emf" ContentType="image/x-emf"/>
  <Override PartName="/ppt/media/image15.emf" ContentType="image/x-emf"/>
  <Override PartName="/ppt/media/image16.emf" ContentType="image/x-emf"/>
  <Override PartName="/ppt/media/image17.emf" ContentType="image/x-emf"/>
  <Override PartName="/ppt/media/image19.emf" ContentType="image/x-emf"/>
  <Override PartName="/ppt/media/image20.emf" ContentType="image/x-emf"/>
  <Override PartName="/ppt/media/image21.emf" ContentType="image/x-emf"/>
  <Override PartName="/ppt/media/image22.emf" ContentType="image/x-emf"/>
  <Override PartName="/ppt/media/image23.emf" ContentType="image/x-emf"/>
  <Override PartName="/ppt/media/image24.emf" ContentType="image/x-emf"/>
  <Override PartName="/ppt/media/image25.emf" ContentType="image/x-emf"/>
  <Override PartName="/ppt/media/image26.emf" ContentType="image/x-emf"/>
  <Override PartName="/ppt/media/image27.emf" ContentType="image/x-emf"/>
  <Override PartName="/ppt/media/image30.emf" ContentType="image/x-emf"/>
  <Override PartName="/ppt/media/image31.emf" ContentType="image/x-emf"/>
  <Override PartName="/ppt/media/image32.emf" ContentType="image/x-emf"/>
  <Override PartName="/ppt/media/image33.emf" ContentType="image/x-emf"/>
  <Override PartName="/ppt/media/image34.emf" ContentType="image/x-emf"/>
  <Override PartName="/ppt/media/image35.emf" ContentType="image/x-emf"/>
  <Override PartName="/ppt/media/image36.emf" ContentType="image/x-emf"/>
  <Override PartName="/ppt/media/image37.emf" ContentType="image/x-emf"/>
  <Override PartName="/ppt/media/image38.emf" ContentType="image/x-emf"/>
  <Override PartName="/ppt/media/image64.emf" ContentType="image/x-emf"/>
  <Override PartName="/ppt/media/image39.emf" ContentType="image/x-emf"/>
  <Override PartName="/ppt/media/image63.emf" ContentType="image/x-emf"/>
  <Override PartName="/ppt/media/image53.emf" ContentType="image/x-emf"/>
  <Override PartName="/ppt/media/image50.emf" ContentType="image/x-emf"/>
  <Override PartName="/ppt/media/image51.emf" ContentType="image/x-emf"/>
  <Override PartName="/ppt/media/image52.emf" ContentType="image/x-emf"/>
  <Override PartName="/ppt/media/image54.emf" ContentType="image/x-emf"/>
  <Override PartName="/ppt/media/image55.emf" ContentType="image/x-emf"/>
  <Override PartName="/ppt/media/image56.emf" ContentType="image/x-emf"/>
  <Override PartName="/ppt/media/image60.emf" ContentType="image/x-emf"/>
  <Override PartName="/ppt/media/image61.emf" ContentType="image/x-emf"/>
  <Override PartName="/ppt/media/image62.emf" ContentType="image/x-emf"/>
  <Override PartName="/ppt/media/image65.emf" ContentType="image/x-emf"/>
  <Override PartName="/ppt/media/image66.emf" ContentType="image/x-emf"/>
  <Override PartName="/ppt/media/image67.emf" ContentType="image/x-emf"/>
  <Override PartName="/ppt/media/image68.emf" ContentType="image/x-emf"/>
  <Override PartName="/ppt/media/image69.emf" ContentType="image/x-emf"/>
  <Override PartName="/ppt/media/image76.emf" ContentType="image/x-emf"/>
  <Override PartName="/ppt/media/image77.emf" ContentType="image/x-emf"/>
  <Override PartName="/ppt/media/image78.emf" ContentType="image/x-emf"/>
  <Override PartName="/ppt/media/image79.emf" ContentType="image/x-e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9925050" cy="67929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FA445-B2E0-446F-8EA4-53A70FB049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lnSpcReduction="9999"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1CFE51B-BFAC-422A-ADD6-435EAB8B56F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6" Type="http://schemas.openxmlformats.org/officeDocument/2006/relationships/image" Target="../media/image6.e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image" Target="../media/image4.emf"/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5" Type="http://schemas.openxmlformats.org/officeDocument/2006/relationships/image" Target="../media/image10.emf"/><Relationship Id="rId6" Type="http://schemas.openxmlformats.org/officeDocument/2006/relationships/image" Target="../media/image11.emf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emf"/><Relationship Id="rId2" Type="http://schemas.openxmlformats.org/officeDocument/2006/relationships/image" Target="../media/image13.emf"/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emf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emf"/><Relationship Id="rId2" Type="http://schemas.openxmlformats.org/officeDocument/2006/relationships/image" Target="../media/image18.emf"/><Relationship Id="rId3" Type="http://schemas.openxmlformats.org/officeDocument/2006/relationships/image" Target="../media/image22.emf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emf"/><Relationship Id="rId2" Type="http://schemas.openxmlformats.org/officeDocument/2006/relationships/image" Target="../media/image24.emf"/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5.emf"/><Relationship Id="rId6" Type="http://schemas.openxmlformats.org/officeDocument/2006/relationships/image" Target="../media/image27.emf"/><Relationship Id="rId7" Type="http://schemas.openxmlformats.org/officeDocument/2006/relationships/image" Target="../media/image28.emf"/><Relationship Id="rId8" Type="http://schemas.openxmlformats.org/officeDocument/2006/relationships/image" Target="../media/image29.emf"/><Relationship Id="rId9" Type="http://schemas.openxmlformats.org/officeDocument/2006/relationships/image" Target="../media/image30.emf"/><Relationship Id="rId10" Type="http://schemas.openxmlformats.org/officeDocument/2006/relationships/image" Target="../media/image31.emf"/><Relationship Id="rId11" Type="http://schemas.openxmlformats.org/officeDocument/2006/relationships/image" Target="../media/image32.emf"/><Relationship Id="rId1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emf"/><Relationship Id="rId2" Type="http://schemas.openxmlformats.org/officeDocument/2006/relationships/image" Target="../media/image4.emf"/><Relationship Id="rId3" Type="http://schemas.openxmlformats.org/officeDocument/2006/relationships/image" Target="../media/image23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5.emf"/><Relationship Id="rId2" Type="http://schemas.openxmlformats.org/officeDocument/2006/relationships/image" Target="../media/image36.emf"/><Relationship Id="rId3" Type="http://schemas.openxmlformats.org/officeDocument/2006/relationships/image" Target="../media/image37.emf"/><Relationship Id="rId4" Type="http://schemas.openxmlformats.org/officeDocument/2006/relationships/image" Target="../media/image38.emf"/><Relationship Id="rId5" Type="http://schemas.openxmlformats.org/officeDocument/2006/relationships/image" Target="../media/image39.emf"/><Relationship Id="rId6" Type="http://schemas.openxmlformats.org/officeDocument/2006/relationships/image" Target="../media/image40.emf"/><Relationship Id="rId7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1.emf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2.emf"/><Relationship Id="rId2" Type="http://schemas.openxmlformats.org/officeDocument/2006/relationships/image" Target="../media/image43.emf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emf"/><Relationship Id="rId4" Type="http://schemas.openxmlformats.org/officeDocument/2006/relationships/image" Target="../media/image47.emf"/><Relationship Id="rId5" Type="http://schemas.openxmlformats.org/officeDocument/2006/relationships/image" Target="../media/image48.emf"/><Relationship Id="rId6" Type="http://schemas.openxmlformats.org/officeDocument/2006/relationships/image" Target="../media/image49.emf"/><Relationship Id="rId7" Type="http://schemas.openxmlformats.org/officeDocument/2006/relationships/image" Target="../media/image50.emf"/><Relationship Id="rId8" Type="http://schemas.openxmlformats.org/officeDocument/2006/relationships/image" Target="../media/image51.emf"/><Relationship Id="rId9" Type="http://schemas.openxmlformats.org/officeDocument/2006/relationships/image" Target="../media/image18.emf"/><Relationship Id="rId10" Type="http://schemas.openxmlformats.org/officeDocument/2006/relationships/image" Target="../media/image52.emf"/><Relationship Id="rId11" Type="http://schemas.openxmlformats.org/officeDocument/2006/relationships/image" Target="../media/image53.emf"/><Relationship Id="rId12" Type="http://schemas.openxmlformats.org/officeDocument/2006/relationships/image" Target="../media/image53.emf"/><Relationship Id="rId13" Type="http://schemas.openxmlformats.org/officeDocument/2006/relationships/image" Target="../media/image4.emf"/><Relationship Id="rId14" Type="http://schemas.openxmlformats.org/officeDocument/2006/relationships/image" Target="../media/image4.emf"/><Relationship Id="rId15" Type="http://schemas.openxmlformats.org/officeDocument/2006/relationships/image" Target="../media/image10.emf"/><Relationship Id="rId16" Type="http://schemas.openxmlformats.org/officeDocument/2006/relationships/image" Target="../media/image54.emf"/><Relationship Id="rId17" Type="http://schemas.openxmlformats.org/officeDocument/2006/relationships/image" Target="../media/image55.emf"/><Relationship Id="rId18" Type="http://schemas.openxmlformats.org/officeDocument/2006/relationships/image" Target="../media/image55.emf"/><Relationship Id="rId19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emf"/><Relationship Id="rId2" Type="http://schemas.openxmlformats.org/officeDocument/2006/relationships/image" Target="../media/image17.emf"/><Relationship Id="rId3" Type="http://schemas.openxmlformats.org/officeDocument/2006/relationships/image" Target="../media/image16.emf"/><Relationship Id="rId4" Type="http://schemas.openxmlformats.org/officeDocument/2006/relationships/image" Target="../media/image56.emf"/><Relationship Id="rId5" Type="http://schemas.openxmlformats.org/officeDocument/2006/relationships/image" Target="../media/image57.emf"/><Relationship Id="rId6" Type="http://schemas.openxmlformats.org/officeDocument/2006/relationships/image" Target="../media/image58.emf"/><Relationship Id="rId7" Type="http://schemas.openxmlformats.org/officeDocument/2006/relationships/image" Target="../media/image59.emf"/><Relationship Id="rId8" Type="http://schemas.openxmlformats.org/officeDocument/2006/relationships/image" Target="../media/image18.emf"/><Relationship Id="rId9" Type="http://schemas.openxmlformats.org/officeDocument/2006/relationships/image" Target="../media/image18.emf"/><Relationship Id="rId10" Type="http://schemas.openxmlformats.org/officeDocument/2006/relationships/image" Target="../media/image59.emf"/><Relationship Id="rId11" Type="http://schemas.openxmlformats.org/officeDocument/2006/relationships/image" Target="../media/image60.emf"/><Relationship Id="rId1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6.emf"/><Relationship Id="rId2" Type="http://schemas.openxmlformats.org/officeDocument/2006/relationships/image" Target="../media/image47.emf"/><Relationship Id="rId3" Type="http://schemas.openxmlformats.org/officeDocument/2006/relationships/image" Target="../media/image48.emf"/><Relationship Id="rId4" Type="http://schemas.openxmlformats.org/officeDocument/2006/relationships/image" Target="../media/image16.emf"/><Relationship Id="rId5" Type="http://schemas.openxmlformats.org/officeDocument/2006/relationships/image" Target="../media/image61.emf"/><Relationship Id="rId6" Type="http://schemas.openxmlformats.org/officeDocument/2006/relationships/image" Target="../media/image62.emf"/><Relationship Id="rId7" Type="http://schemas.openxmlformats.org/officeDocument/2006/relationships/image" Target="../media/image63.emf"/><Relationship Id="rId8" Type="http://schemas.openxmlformats.org/officeDocument/2006/relationships/image" Target="../media/image64.emf"/><Relationship Id="rId9" Type="http://schemas.openxmlformats.org/officeDocument/2006/relationships/image" Target="../media/image65.emf"/><Relationship Id="rId10" Type="http://schemas.openxmlformats.org/officeDocument/2006/relationships/image" Target="../media/image66.emf"/><Relationship Id="rId11" Type="http://schemas.openxmlformats.org/officeDocument/2006/relationships/image" Target="../media/image67.emf"/><Relationship Id="rId12" Type="http://schemas.openxmlformats.org/officeDocument/2006/relationships/image" Target="../media/image68.emf"/><Relationship Id="rId1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6.emf"/><Relationship Id="rId2" Type="http://schemas.openxmlformats.org/officeDocument/2006/relationships/image" Target="../media/image69.emf"/><Relationship Id="rId3" Type="http://schemas.openxmlformats.org/officeDocument/2006/relationships/image" Target="../media/image47.emf"/><Relationship Id="rId4" Type="http://schemas.openxmlformats.org/officeDocument/2006/relationships/image" Target="../media/image70.emf"/><Relationship Id="rId5" Type="http://schemas.openxmlformats.org/officeDocument/2006/relationships/image" Target="../media/image71.emf"/><Relationship Id="rId6" Type="http://schemas.openxmlformats.org/officeDocument/2006/relationships/image" Target="../media/image72.emf"/><Relationship Id="rId7" Type="http://schemas.openxmlformats.org/officeDocument/2006/relationships/image" Target="../media/image21.emf"/><Relationship Id="rId8" Type="http://schemas.openxmlformats.org/officeDocument/2006/relationships/image" Target="../media/image73.emf"/><Relationship Id="rId9" Type="http://schemas.openxmlformats.org/officeDocument/2006/relationships/image" Target="../media/image74.emf"/><Relationship Id="rId10" Type="http://schemas.openxmlformats.org/officeDocument/2006/relationships/image" Target="../media/image52.emf"/><Relationship Id="rId11" Type="http://schemas.openxmlformats.org/officeDocument/2006/relationships/image" Target="../media/image75.emf"/><Relationship Id="rId12" Type="http://schemas.openxmlformats.org/officeDocument/2006/relationships/image" Target="../media/image76.emf"/><Relationship Id="rId13" Type="http://schemas.openxmlformats.org/officeDocument/2006/relationships/image" Target="../media/image77.emf"/><Relationship Id="rId14" Type="http://schemas.openxmlformats.org/officeDocument/2006/relationships/image" Target="../media/image78.emf"/><Relationship Id="rId15" Type="http://schemas.openxmlformats.org/officeDocument/2006/relationships/image" Target="../media/image79.emf"/><Relationship Id="rId1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/>
          <p:cNvSpPr/>
          <p:nvPr/>
        </p:nvSpPr>
        <p:spPr>
          <a:xfrm>
            <a:off x="-605160" y="152280"/>
            <a:ext cx="102088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P111/4.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两条相距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长直载流导线之间有一点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P,P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点与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Text Box 11"/>
          <p:cNvSpPr/>
          <p:nvPr/>
        </p:nvSpPr>
        <p:spPr>
          <a:xfrm>
            <a:off x="-561960" y="593640"/>
            <a:ext cx="103078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两导线的距离相等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均为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/2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。若两导线均通有相同方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Text Box 12"/>
          <p:cNvSpPr/>
          <p:nvPr/>
        </p:nvSpPr>
        <p:spPr>
          <a:xfrm>
            <a:off x="-680400" y="1127160"/>
            <a:ext cx="104443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向的电流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点的磁感应强度的大小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Text Box 13"/>
          <p:cNvSpPr/>
          <p:nvPr/>
        </p:nvSpPr>
        <p:spPr>
          <a:xfrm>
            <a:off x="-91800" y="201132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" name="Object 14"/>
              <p:cNvSpPr txBox="1"/>
              <p:nvPr/>
            </p:nvSpPr>
            <p:spPr>
              <a:xfrm>
                <a:off x="990720" y="1828800"/>
                <a:ext cx="652320" cy="944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πa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Object 14"/>
              <p:cNvSpPr txBox="1"/>
              <p:nvPr/>
            </p:nvSpPr>
            <p:spPr>
              <a:xfrm>
                <a:off x="990720" y="1828800"/>
                <a:ext cx="652320" cy="9446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2" name="Text Box 15"/>
          <p:cNvSpPr/>
          <p:nvPr/>
        </p:nvSpPr>
        <p:spPr>
          <a:xfrm>
            <a:off x="2303640" y="20574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" name="Object 16"/>
              <p:cNvSpPr txBox="1"/>
              <p:nvPr/>
            </p:nvSpPr>
            <p:spPr>
              <a:xfrm>
                <a:off x="3236760" y="1874880"/>
                <a:ext cx="800280" cy="944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πa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Object 16"/>
              <p:cNvSpPr txBox="1"/>
              <p:nvPr/>
            </p:nvSpPr>
            <p:spPr>
              <a:xfrm>
                <a:off x="3236760" y="1874880"/>
                <a:ext cx="800280" cy="944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4" name="Text Box 17"/>
          <p:cNvSpPr/>
          <p:nvPr/>
        </p:nvSpPr>
        <p:spPr>
          <a:xfrm>
            <a:off x="4937400" y="20574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5" name="Object 18"/>
              <p:cNvSpPr txBox="1"/>
              <p:nvPr/>
            </p:nvSpPr>
            <p:spPr>
              <a:xfrm>
                <a:off x="5854680" y="1874880"/>
                <a:ext cx="830160" cy="944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2</m:t>
                        </m:r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πa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Object 18"/>
              <p:cNvSpPr txBox="1"/>
              <p:nvPr/>
            </p:nvSpPr>
            <p:spPr>
              <a:xfrm>
                <a:off x="5854680" y="1874880"/>
                <a:ext cx="830160" cy="944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6" name="Text Box 19"/>
          <p:cNvSpPr/>
          <p:nvPr/>
        </p:nvSpPr>
        <p:spPr>
          <a:xfrm>
            <a:off x="7223400" y="213372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" name="Object 20"/>
              <p:cNvSpPr txBox="1"/>
              <p:nvPr/>
            </p:nvSpPr>
            <p:spPr>
              <a:xfrm>
                <a:off x="8407440" y="2209680"/>
                <a:ext cx="297000" cy="427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7" name="Object 20"/>
              <p:cNvSpPr txBox="1"/>
              <p:nvPr/>
            </p:nvSpPr>
            <p:spPr>
              <a:xfrm>
                <a:off x="8407440" y="2209680"/>
                <a:ext cx="297000" cy="4273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18" name="Text Box 21"/>
          <p:cNvSpPr/>
          <p:nvPr/>
        </p:nvSpPr>
        <p:spPr>
          <a:xfrm>
            <a:off x="6917760" y="112716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" name="Object 22"/>
              <p:cNvSpPr txBox="1"/>
              <p:nvPr/>
            </p:nvSpPr>
            <p:spPr>
              <a:xfrm>
                <a:off x="1486080" y="4237200"/>
                <a:ext cx="1333440" cy="94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πx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9" name="Object 22"/>
              <p:cNvSpPr txBox="1"/>
              <p:nvPr/>
            </p:nvSpPr>
            <p:spPr>
              <a:xfrm>
                <a:off x="1486080" y="4237200"/>
                <a:ext cx="1333440" cy="944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grpSp>
        <p:nvGrpSpPr>
          <p:cNvPr id="20" name="Group 23"/>
          <p:cNvGrpSpPr/>
          <p:nvPr/>
        </p:nvGrpSpPr>
        <p:grpSpPr>
          <a:xfrm>
            <a:off x="3657600" y="3733920"/>
            <a:ext cx="0" cy="2361960"/>
            <a:chOff x="3657600" y="3733920"/>
            <a:chExt cx="0" cy="2361960"/>
          </a:xfrm>
        </p:grpSpPr>
        <p:sp>
          <p:nvSpPr>
            <p:cNvPr id="21" name="Line 24"/>
            <p:cNvSpPr/>
            <p:nvPr/>
          </p:nvSpPr>
          <p:spPr>
            <a:xfrm>
              <a:off x="3657600" y="3733920"/>
              <a:ext cx="0" cy="236196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" name="Line 25"/>
            <p:cNvSpPr/>
            <p:nvPr/>
          </p:nvSpPr>
          <p:spPr>
            <a:xfrm flipV="1">
              <a:off x="3657600" y="4647960"/>
              <a:ext cx="0" cy="6094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3" name="Group 26"/>
          <p:cNvGrpSpPr/>
          <p:nvPr/>
        </p:nvGrpSpPr>
        <p:grpSpPr>
          <a:xfrm>
            <a:off x="5029200" y="3733920"/>
            <a:ext cx="0" cy="2361960"/>
            <a:chOff x="5029200" y="3733920"/>
            <a:chExt cx="0" cy="2361960"/>
          </a:xfrm>
        </p:grpSpPr>
        <p:sp>
          <p:nvSpPr>
            <p:cNvPr id="24" name="Line 27"/>
            <p:cNvSpPr/>
            <p:nvPr/>
          </p:nvSpPr>
          <p:spPr>
            <a:xfrm>
              <a:off x="5029200" y="3733920"/>
              <a:ext cx="0" cy="236196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Line 28"/>
            <p:cNvSpPr/>
            <p:nvPr/>
          </p:nvSpPr>
          <p:spPr>
            <a:xfrm flipV="1">
              <a:off x="5029200" y="4724280"/>
              <a:ext cx="0" cy="45720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6" name="Group 29"/>
          <p:cNvGrpSpPr/>
          <p:nvPr/>
        </p:nvGrpSpPr>
        <p:grpSpPr>
          <a:xfrm>
            <a:off x="4038120" y="3962160"/>
            <a:ext cx="609480" cy="1981440"/>
            <a:chOff x="4038120" y="3962160"/>
            <a:chExt cx="609480" cy="1981440"/>
          </a:xfrm>
        </p:grpSpPr>
        <p:grpSp>
          <p:nvGrpSpPr>
            <p:cNvPr id="27" name="Group 30"/>
            <p:cNvGrpSpPr/>
            <p:nvPr/>
          </p:nvGrpSpPr>
          <p:grpSpPr>
            <a:xfrm>
              <a:off x="4038120" y="3962160"/>
              <a:ext cx="152280" cy="152640"/>
              <a:chOff x="4038120" y="3962160"/>
              <a:chExt cx="152280" cy="152640"/>
            </a:xfrm>
          </p:grpSpPr>
          <p:sp>
            <p:nvSpPr>
              <p:cNvPr id="28" name="Line 31"/>
              <p:cNvSpPr/>
              <p:nvPr/>
            </p:nvSpPr>
            <p:spPr>
              <a:xfrm flipH="1">
                <a:off x="4038120" y="39625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" name="Line 32"/>
              <p:cNvSpPr/>
              <p:nvPr/>
            </p:nvSpPr>
            <p:spPr>
              <a:xfrm flipH="1" flipV="1">
                <a:off x="4038120" y="39621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0" name="Group 33"/>
            <p:cNvGrpSpPr/>
            <p:nvPr/>
          </p:nvGrpSpPr>
          <p:grpSpPr>
            <a:xfrm>
              <a:off x="4038120" y="4419360"/>
              <a:ext cx="152280" cy="152640"/>
              <a:chOff x="4038120" y="4419360"/>
              <a:chExt cx="152280" cy="152640"/>
            </a:xfrm>
          </p:grpSpPr>
          <p:sp>
            <p:nvSpPr>
              <p:cNvPr id="31" name="Line 34"/>
              <p:cNvSpPr/>
              <p:nvPr/>
            </p:nvSpPr>
            <p:spPr>
              <a:xfrm flipH="1">
                <a:off x="4038120" y="44197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" name="Line 35"/>
              <p:cNvSpPr/>
              <p:nvPr/>
            </p:nvSpPr>
            <p:spPr>
              <a:xfrm flipH="1" flipV="1">
                <a:off x="4038120" y="44193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3" name="Group 36"/>
            <p:cNvGrpSpPr/>
            <p:nvPr/>
          </p:nvGrpSpPr>
          <p:grpSpPr>
            <a:xfrm>
              <a:off x="4038120" y="4876560"/>
              <a:ext cx="152280" cy="152640"/>
              <a:chOff x="4038120" y="4876560"/>
              <a:chExt cx="152280" cy="152640"/>
            </a:xfrm>
          </p:grpSpPr>
          <p:sp>
            <p:nvSpPr>
              <p:cNvPr id="34" name="Line 37"/>
              <p:cNvSpPr/>
              <p:nvPr/>
            </p:nvSpPr>
            <p:spPr>
              <a:xfrm flipH="1">
                <a:off x="4038120" y="48769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" name="Line 38"/>
              <p:cNvSpPr/>
              <p:nvPr/>
            </p:nvSpPr>
            <p:spPr>
              <a:xfrm flipH="1" flipV="1">
                <a:off x="4038120" y="48765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6" name="Group 39"/>
            <p:cNvGrpSpPr/>
            <p:nvPr/>
          </p:nvGrpSpPr>
          <p:grpSpPr>
            <a:xfrm>
              <a:off x="4038120" y="5333760"/>
              <a:ext cx="152280" cy="152640"/>
              <a:chOff x="4038120" y="5333760"/>
              <a:chExt cx="152280" cy="152640"/>
            </a:xfrm>
          </p:grpSpPr>
          <p:sp>
            <p:nvSpPr>
              <p:cNvPr id="37" name="Line 40"/>
              <p:cNvSpPr/>
              <p:nvPr/>
            </p:nvSpPr>
            <p:spPr>
              <a:xfrm flipH="1">
                <a:off x="4038120" y="53341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" name="Line 41"/>
              <p:cNvSpPr/>
              <p:nvPr/>
            </p:nvSpPr>
            <p:spPr>
              <a:xfrm flipH="1" flipV="1">
                <a:off x="4038120" y="53337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9" name="Group 42"/>
            <p:cNvGrpSpPr/>
            <p:nvPr/>
          </p:nvGrpSpPr>
          <p:grpSpPr>
            <a:xfrm>
              <a:off x="4038120" y="5790960"/>
              <a:ext cx="152280" cy="152640"/>
              <a:chOff x="4038120" y="5790960"/>
              <a:chExt cx="152280" cy="152640"/>
            </a:xfrm>
          </p:grpSpPr>
          <p:sp>
            <p:nvSpPr>
              <p:cNvPr id="40" name="Line 43"/>
              <p:cNvSpPr/>
              <p:nvPr/>
            </p:nvSpPr>
            <p:spPr>
              <a:xfrm flipH="1">
                <a:off x="4038120" y="57913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" name="Line 44"/>
              <p:cNvSpPr/>
              <p:nvPr/>
            </p:nvSpPr>
            <p:spPr>
              <a:xfrm flipH="1" flipV="1">
                <a:off x="4038120" y="57909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2" name="Group 45"/>
            <p:cNvGrpSpPr/>
            <p:nvPr/>
          </p:nvGrpSpPr>
          <p:grpSpPr>
            <a:xfrm>
              <a:off x="4495320" y="3962160"/>
              <a:ext cx="152280" cy="152640"/>
              <a:chOff x="4495320" y="3962160"/>
              <a:chExt cx="152280" cy="152640"/>
            </a:xfrm>
          </p:grpSpPr>
          <p:sp>
            <p:nvSpPr>
              <p:cNvPr id="43" name="Line 46"/>
              <p:cNvSpPr/>
              <p:nvPr/>
            </p:nvSpPr>
            <p:spPr>
              <a:xfrm flipH="1">
                <a:off x="4495320" y="39625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" name="Line 47"/>
              <p:cNvSpPr/>
              <p:nvPr/>
            </p:nvSpPr>
            <p:spPr>
              <a:xfrm flipH="1" flipV="1">
                <a:off x="4495320" y="39621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5" name="Group 48"/>
            <p:cNvGrpSpPr/>
            <p:nvPr/>
          </p:nvGrpSpPr>
          <p:grpSpPr>
            <a:xfrm>
              <a:off x="4495320" y="4419360"/>
              <a:ext cx="152280" cy="152640"/>
              <a:chOff x="4495320" y="4419360"/>
              <a:chExt cx="152280" cy="152640"/>
            </a:xfrm>
          </p:grpSpPr>
          <p:sp>
            <p:nvSpPr>
              <p:cNvPr id="46" name="Line 49"/>
              <p:cNvSpPr/>
              <p:nvPr/>
            </p:nvSpPr>
            <p:spPr>
              <a:xfrm flipH="1">
                <a:off x="4495320" y="44197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" name="Line 50"/>
              <p:cNvSpPr/>
              <p:nvPr/>
            </p:nvSpPr>
            <p:spPr>
              <a:xfrm flipH="1" flipV="1">
                <a:off x="4495320" y="44193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8" name="Group 51"/>
            <p:cNvGrpSpPr/>
            <p:nvPr/>
          </p:nvGrpSpPr>
          <p:grpSpPr>
            <a:xfrm>
              <a:off x="4495320" y="4876560"/>
              <a:ext cx="152280" cy="152640"/>
              <a:chOff x="4495320" y="4876560"/>
              <a:chExt cx="152280" cy="152640"/>
            </a:xfrm>
          </p:grpSpPr>
          <p:sp>
            <p:nvSpPr>
              <p:cNvPr id="49" name="Line 52"/>
              <p:cNvSpPr/>
              <p:nvPr/>
            </p:nvSpPr>
            <p:spPr>
              <a:xfrm flipH="1">
                <a:off x="4495320" y="48769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" name="Line 53"/>
              <p:cNvSpPr/>
              <p:nvPr/>
            </p:nvSpPr>
            <p:spPr>
              <a:xfrm flipH="1" flipV="1">
                <a:off x="4495320" y="48765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1" name="Group 54"/>
            <p:cNvGrpSpPr/>
            <p:nvPr/>
          </p:nvGrpSpPr>
          <p:grpSpPr>
            <a:xfrm>
              <a:off x="4495320" y="5333760"/>
              <a:ext cx="152280" cy="152640"/>
              <a:chOff x="4495320" y="5333760"/>
              <a:chExt cx="152280" cy="152640"/>
            </a:xfrm>
          </p:grpSpPr>
          <p:sp>
            <p:nvSpPr>
              <p:cNvPr id="52" name="Line 55"/>
              <p:cNvSpPr/>
              <p:nvPr/>
            </p:nvSpPr>
            <p:spPr>
              <a:xfrm flipH="1">
                <a:off x="4495320" y="53341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" name="Line 56"/>
              <p:cNvSpPr/>
              <p:nvPr/>
            </p:nvSpPr>
            <p:spPr>
              <a:xfrm flipH="1" flipV="1">
                <a:off x="4495320" y="53337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4" name="Group 57"/>
            <p:cNvGrpSpPr/>
            <p:nvPr/>
          </p:nvGrpSpPr>
          <p:grpSpPr>
            <a:xfrm>
              <a:off x="4495320" y="5790960"/>
              <a:ext cx="152280" cy="152640"/>
              <a:chOff x="4495320" y="5790960"/>
              <a:chExt cx="152280" cy="152640"/>
            </a:xfrm>
          </p:grpSpPr>
          <p:sp>
            <p:nvSpPr>
              <p:cNvPr id="55" name="Line 58"/>
              <p:cNvSpPr/>
              <p:nvPr/>
            </p:nvSpPr>
            <p:spPr>
              <a:xfrm flipH="1">
                <a:off x="4495320" y="579132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6" name="Line 59"/>
              <p:cNvSpPr/>
              <p:nvPr/>
            </p:nvSpPr>
            <p:spPr>
              <a:xfrm flipH="1" flipV="1">
                <a:off x="4495320" y="5790960"/>
                <a:ext cx="152280" cy="1522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57" name="Group 60"/>
          <p:cNvGrpSpPr/>
          <p:nvPr/>
        </p:nvGrpSpPr>
        <p:grpSpPr>
          <a:xfrm>
            <a:off x="4267080" y="3962520"/>
            <a:ext cx="609480" cy="1904760"/>
            <a:chOff x="4267080" y="3962520"/>
            <a:chExt cx="609480" cy="1904760"/>
          </a:xfrm>
        </p:grpSpPr>
        <p:sp>
          <p:nvSpPr>
            <p:cNvPr id="58" name="Oval 61"/>
            <p:cNvSpPr/>
            <p:nvPr/>
          </p:nvSpPr>
          <p:spPr>
            <a:xfrm>
              <a:off x="4267080" y="396252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" name="Oval 62"/>
            <p:cNvSpPr/>
            <p:nvPr/>
          </p:nvSpPr>
          <p:spPr>
            <a:xfrm>
              <a:off x="4267080" y="441972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" name="Oval 63"/>
            <p:cNvSpPr/>
            <p:nvPr/>
          </p:nvSpPr>
          <p:spPr>
            <a:xfrm>
              <a:off x="4267080" y="487692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Oval 64"/>
            <p:cNvSpPr/>
            <p:nvPr/>
          </p:nvSpPr>
          <p:spPr>
            <a:xfrm>
              <a:off x="4267080" y="533412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" name="Oval 65"/>
            <p:cNvSpPr/>
            <p:nvPr/>
          </p:nvSpPr>
          <p:spPr>
            <a:xfrm>
              <a:off x="4267080" y="579132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Oval 66"/>
            <p:cNvSpPr/>
            <p:nvPr/>
          </p:nvSpPr>
          <p:spPr>
            <a:xfrm>
              <a:off x="4800600" y="3962520"/>
              <a:ext cx="7596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Oval 67"/>
            <p:cNvSpPr/>
            <p:nvPr/>
          </p:nvSpPr>
          <p:spPr>
            <a:xfrm>
              <a:off x="4800600" y="4419720"/>
              <a:ext cx="7596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" name="Oval 68"/>
            <p:cNvSpPr/>
            <p:nvPr/>
          </p:nvSpPr>
          <p:spPr>
            <a:xfrm>
              <a:off x="4800600" y="4876920"/>
              <a:ext cx="7596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Oval 69"/>
            <p:cNvSpPr/>
            <p:nvPr/>
          </p:nvSpPr>
          <p:spPr>
            <a:xfrm>
              <a:off x="4800600" y="5334120"/>
              <a:ext cx="7596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Oval 70"/>
            <p:cNvSpPr/>
            <p:nvPr/>
          </p:nvSpPr>
          <p:spPr>
            <a:xfrm>
              <a:off x="4800600" y="5791320"/>
              <a:ext cx="7596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8" name="Oval 71"/>
          <p:cNvSpPr/>
          <p:nvPr/>
        </p:nvSpPr>
        <p:spPr>
          <a:xfrm>
            <a:off x="4343400" y="4724280"/>
            <a:ext cx="76320" cy="76320"/>
          </a:xfrm>
          <a:prstGeom prst="ellipse">
            <a:avLst/>
          </a:prstGeom>
          <a:solidFill>
            <a:srgbClr val="FF0000"/>
          </a:solidFill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9" name="Object 72"/>
              <p:cNvSpPr txBox="1"/>
              <p:nvPr/>
            </p:nvSpPr>
            <p:spPr>
              <a:xfrm>
                <a:off x="4440240" y="4575240"/>
                <a:ext cx="262080" cy="318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</m:oMath>
                </a14:m>
              </a:p>
            </p:txBody>
          </p:sp>
        </mc:Choice>
        <mc:Fallback>
          <p:sp>
            <p:nvSpPr>
              <p:cNvPr id="69" name="Object 72"/>
              <p:cNvSpPr txBox="1"/>
              <p:nvPr/>
            </p:nvSpPr>
            <p:spPr>
              <a:xfrm>
                <a:off x="4440240" y="4575240"/>
                <a:ext cx="262080" cy="318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Effect">
                      <p:stCondLst>
                        <p:cond delay="indefinite"/>
                      </p:stCondLst>
                      <p:childTnLst>
                        <p:par>
                          <p:cTn id="2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Effect">
                      <p:stCondLst>
                        <p:cond delay="indefinite"/>
                      </p:stCondLst>
                      <p:childTnLst>
                        <p:par>
                          <p:cTn id="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Effect">
                      <p:stCondLst>
                        <p:cond delay="indefinite"/>
                      </p:stCondLst>
                      <p:childTnLst>
                        <p:par>
                          <p:cTn id="3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Box 16"/>
          <p:cNvSpPr/>
          <p:nvPr/>
        </p:nvSpPr>
        <p:spPr>
          <a:xfrm>
            <a:off x="-600120" y="76320"/>
            <a:ext cx="8067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P111/5.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载流圆线圈半径为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R,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通有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 Box 17"/>
          <p:cNvSpPr/>
          <p:nvPr/>
        </p:nvSpPr>
        <p:spPr>
          <a:xfrm>
            <a:off x="-655200" y="974880"/>
            <a:ext cx="8349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到圆线圈圆心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的距离相等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Oval 18"/>
          <p:cNvSpPr/>
          <p:nvPr/>
        </p:nvSpPr>
        <p:spPr>
          <a:xfrm>
            <a:off x="7696080" y="152280"/>
            <a:ext cx="533520" cy="14479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Line 19"/>
          <p:cNvSpPr/>
          <p:nvPr/>
        </p:nvSpPr>
        <p:spPr>
          <a:xfrm>
            <a:off x="6781680" y="91440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Line 20"/>
          <p:cNvSpPr/>
          <p:nvPr/>
        </p:nvSpPr>
        <p:spPr>
          <a:xfrm>
            <a:off x="8001000" y="914400"/>
            <a:ext cx="91440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Oval 21"/>
          <p:cNvSpPr/>
          <p:nvPr/>
        </p:nvSpPr>
        <p:spPr>
          <a:xfrm>
            <a:off x="7162920" y="876240"/>
            <a:ext cx="75960" cy="763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Text Box 22"/>
          <p:cNvSpPr/>
          <p:nvPr/>
        </p:nvSpPr>
        <p:spPr>
          <a:xfrm>
            <a:off x="6536880" y="4572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Oval 23"/>
          <p:cNvSpPr/>
          <p:nvPr/>
        </p:nvSpPr>
        <p:spPr>
          <a:xfrm>
            <a:off x="8577360" y="876240"/>
            <a:ext cx="75960" cy="763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 Box 24"/>
          <p:cNvSpPr/>
          <p:nvPr/>
        </p:nvSpPr>
        <p:spPr>
          <a:xfrm>
            <a:off x="-691920" y="533520"/>
            <a:ext cx="80740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电流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在线圈轴线上有两点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'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两点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 Box 25"/>
          <p:cNvSpPr/>
          <p:nvPr/>
        </p:nvSpPr>
        <p:spPr>
          <a:xfrm>
            <a:off x="5017320" y="9748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Line 26"/>
          <p:cNvSpPr/>
          <p:nvPr/>
        </p:nvSpPr>
        <p:spPr>
          <a:xfrm flipH="1">
            <a:off x="7738920" y="328680"/>
            <a:ext cx="52560" cy="15696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 Box 27"/>
          <p:cNvSpPr/>
          <p:nvPr/>
        </p:nvSpPr>
        <p:spPr>
          <a:xfrm>
            <a:off x="7374960" y="76212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 Box 28"/>
          <p:cNvSpPr/>
          <p:nvPr/>
        </p:nvSpPr>
        <p:spPr>
          <a:xfrm>
            <a:off x="-521640" y="1600200"/>
            <a:ext cx="7038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'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的的大小相等，方向相同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 Box 29"/>
          <p:cNvSpPr/>
          <p:nvPr/>
        </p:nvSpPr>
        <p:spPr>
          <a:xfrm>
            <a:off x="-520920" y="2149560"/>
            <a:ext cx="72284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'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的的大小相等，方向相反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Text Box 30"/>
          <p:cNvSpPr/>
          <p:nvPr/>
        </p:nvSpPr>
        <p:spPr>
          <a:xfrm>
            <a:off x="-520920" y="2682720"/>
            <a:ext cx="72284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'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的的大小不等，方向相同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Box 31"/>
          <p:cNvSpPr/>
          <p:nvPr/>
        </p:nvSpPr>
        <p:spPr>
          <a:xfrm>
            <a:off x="-520920" y="3200400"/>
            <a:ext cx="72284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'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的的大小不等，方向相反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 Box 32"/>
          <p:cNvSpPr/>
          <p:nvPr/>
        </p:nvSpPr>
        <p:spPr>
          <a:xfrm>
            <a:off x="7950960" y="457200"/>
            <a:ext cx="1370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 nodeType="clickEffect">
                      <p:stCondLst>
                        <p:cond delay="indefinite"/>
                      </p:stCondLst>
                      <p:childTnLst>
                        <p:par>
                          <p:cTn id="4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65"/>
          <p:cNvSpPr/>
          <p:nvPr/>
        </p:nvSpPr>
        <p:spPr>
          <a:xfrm>
            <a:off x="-506160" y="76320"/>
            <a:ext cx="7122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P111/6.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两条垂直交叉并互为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Box 66"/>
          <p:cNvSpPr/>
          <p:nvPr/>
        </p:nvSpPr>
        <p:spPr>
          <a:xfrm>
            <a:off x="-459360" y="1127160"/>
            <a:ext cx="703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感应强度为零的区域可能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Line 67"/>
          <p:cNvSpPr/>
          <p:nvPr/>
        </p:nvSpPr>
        <p:spPr>
          <a:xfrm>
            <a:off x="6400800" y="1295280"/>
            <a:ext cx="2362320" cy="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Line 68"/>
          <p:cNvSpPr/>
          <p:nvPr/>
        </p:nvSpPr>
        <p:spPr>
          <a:xfrm>
            <a:off x="7620120" y="152280"/>
            <a:ext cx="0" cy="228600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Text Box 69"/>
          <p:cNvSpPr/>
          <p:nvPr/>
        </p:nvSpPr>
        <p:spPr>
          <a:xfrm>
            <a:off x="6307920" y="1600200"/>
            <a:ext cx="1438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Ⅲ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 Box 70"/>
          <p:cNvSpPr/>
          <p:nvPr/>
        </p:nvSpPr>
        <p:spPr>
          <a:xfrm>
            <a:off x="6460560" y="304920"/>
            <a:ext cx="1438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Ⅱ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Text Box 71"/>
          <p:cNvSpPr/>
          <p:nvPr/>
        </p:nvSpPr>
        <p:spPr>
          <a:xfrm>
            <a:off x="7450920" y="380880"/>
            <a:ext cx="1438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 Box 72"/>
          <p:cNvSpPr/>
          <p:nvPr/>
        </p:nvSpPr>
        <p:spPr>
          <a:xfrm>
            <a:off x="7527240" y="1600200"/>
            <a:ext cx="1438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Text Box 73"/>
          <p:cNvSpPr/>
          <p:nvPr/>
        </p:nvSpPr>
        <p:spPr>
          <a:xfrm>
            <a:off x="-567720" y="593640"/>
            <a:ext cx="7404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绝缘的长直导线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均通有电流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 Box 74"/>
          <p:cNvSpPr/>
          <p:nvPr/>
        </p:nvSpPr>
        <p:spPr>
          <a:xfrm>
            <a:off x="-437040" y="1812960"/>
            <a:ext cx="4082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仅在第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Ⅰ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象限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 Box 75"/>
          <p:cNvSpPr/>
          <p:nvPr/>
        </p:nvSpPr>
        <p:spPr>
          <a:xfrm>
            <a:off x="-437040" y="2362320"/>
            <a:ext cx="4082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仅在第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Ⅱ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象限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 Box 76"/>
          <p:cNvSpPr/>
          <p:nvPr/>
        </p:nvSpPr>
        <p:spPr>
          <a:xfrm>
            <a:off x="-435240" y="2895480"/>
            <a:ext cx="484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仅在第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Ⅰ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Ⅳ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象限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 Box 77"/>
          <p:cNvSpPr/>
          <p:nvPr/>
        </p:nvSpPr>
        <p:spPr>
          <a:xfrm>
            <a:off x="-435240" y="3413160"/>
            <a:ext cx="484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仅在第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Ⅰ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Ⅲ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象限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 Box 78"/>
          <p:cNvSpPr/>
          <p:nvPr/>
        </p:nvSpPr>
        <p:spPr>
          <a:xfrm>
            <a:off x="-435240" y="3870360"/>
            <a:ext cx="484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(E)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仅在第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Ⅱ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Ⅳ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象限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1" name="Group 79"/>
          <p:cNvGrpSpPr/>
          <p:nvPr/>
        </p:nvGrpSpPr>
        <p:grpSpPr>
          <a:xfrm>
            <a:off x="6781320" y="1523520"/>
            <a:ext cx="1523880" cy="609840"/>
            <a:chOff x="6781320" y="1523520"/>
            <a:chExt cx="1523880" cy="609840"/>
          </a:xfrm>
        </p:grpSpPr>
        <p:grpSp>
          <p:nvGrpSpPr>
            <p:cNvPr id="102" name="Group 80"/>
            <p:cNvGrpSpPr/>
            <p:nvPr/>
          </p:nvGrpSpPr>
          <p:grpSpPr>
            <a:xfrm>
              <a:off x="6781320" y="1523520"/>
              <a:ext cx="152280" cy="152640"/>
              <a:chOff x="6781320" y="1523520"/>
              <a:chExt cx="152280" cy="152640"/>
            </a:xfrm>
          </p:grpSpPr>
          <p:sp>
            <p:nvSpPr>
              <p:cNvPr id="103" name="Line 81"/>
              <p:cNvSpPr/>
              <p:nvPr/>
            </p:nvSpPr>
            <p:spPr>
              <a:xfrm flipH="1">
                <a:off x="6781320" y="152388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" name="Line 82"/>
              <p:cNvSpPr/>
              <p:nvPr/>
            </p:nvSpPr>
            <p:spPr>
              <a:xfrm flipH="1" flipV="1">
                <a:off x="6781320" y="152352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05" name="Group 83"/>
            <p:cNvGrpSpPr/>
            <p:nvPr/>
          </p:nvGrpSpPr>
          <p:grpSpPr>
            <a:xfrm>
              <a:off x="6781320" y="1980720"/>
              <a:ext cx="152280" cy="152640"/>
              <a:chOff x="6781320" y="1980720"/>
              <a:chExt cx="152280" cy="152640"/>
            </a:xfrm>
          </p:grpSpPr>
          <p:sp>
            <p:nvSpPr>
              <p:cNvPr id="106" name="Line 84"/>
              <p:cNvSpPr/>
              <p:nvPr/>
            </p:nvSpPr>
            <p:spPr>
              <a:xfrm flipH="1">
                <a:off x="6781320" y="198108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7" name="Line 85"/>
              <p:cNvSpPr/>
              <p:nvPr/>
            </p:nvSpPr>
            <p:spPr>
              <a:xfrm flipH="1" flipV="1">
                <a:off x="6781320" y="198072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08" name="Group 86"/>
            <p:cNvGrpSpPr/>
            <p:nvPr/>
          </p:nvGrpSpPr>
          <p:grpSpPr>
            <a:xfrm>
              <a:off x="7695720" y="1523520"/>
              <a:ext cx="152280" cy="152640"/>
              <a:chOff x="7695720" y="1523520"/>
              <a:chExt cx="152280" cy="152640"/>
            </a:xfrm>
          </p:grpSpPr>
          <p:sp>
            <p:nvSpPr>
              <p:cNvPr id="109" name="Line 87"/>
              <p:cNvSpPr/>
              <p:nvPr/>
            </p:nvSpPr>
            <p:spPr>
              <a:xfrm flipH="1">
                <a:off x="7695720" y="152388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" name="Line 88"/>
              <p:cNvSpPr/>
              <p:nvPr/>
            </p:nvSpPr>
            <p:spPr>
              <a:xfrm flipH="1" flipV="1">
                <a:off x="7695720" y="152352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11" name="Group 89"/>
            <p:cNvGrpSpPr/>
            <p:nvPr/>
          </p:nvGrpSpPr>
          <p:grpSpPr>
            <a:xfrm>
              <a:off x="7695720" y="1980720"/>
              <a:ext cx="152280" cy="152640"/>
              <a:chOff x="7695720" y="1980720"/>
              <a:chExt cx="152280" cy="152640"/>
            </a:xfrm>
          </p:grpSpPr>
          <p:sp>
            <p:nvSpPr>
              <p:cNvPr id="112" name="Line 90"/>
              <p:cNvSpPr/>
              <p:nvPr/>
            </p:nvSpPr>
            <p:spPr>
              <a:xfrm flipH="1">
                <a:off x="7695720" y="198108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3" name="Line 91"/>
              <p:cNvSpPr/>
              <p:nvPr/>
            </p:nvSpPr>
            <p:spPr>
              <a:xfrm flipH="1" flipV="1">
                <a:off x="7695720" y="198072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14" name="Group 92"/>
            <p:cNvGrpSpPr/>
            <p:nvPr/>
          </p:nvGrpSpPr>
          <p:grpSpPr>
            <a:xfrm>
              <a:off x="7238520" y="1523520"/>
              <a:ext cx="152280" cy="152640"/>
              <a:chOff x="7238520" y="1523520"/>
              <a:chExt cx="152280" cy="152640"/>
            </a:xfrm>
          </p:grpSpPr>
          <p:sp>
            <p:nvSpPr>
              <p:cNvPr id="115" name="Line 93"/>
              <p:cNvSpPr/>
              <p:nvPr/>
            </p:nvSpPr>
            <p:spPr>
              <a:xfrm flipH="1">
                <a:off x="7238520" y="152388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6" name="Line 94"/>
              <p:cNvSpPr/>
              <p:nvPr/>
            </p:nvSpPr>
            <p:spPr>
              <a:xfrm flipH="1" flipV="1">
                <a:off x="7238520" y="152352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17" name="Group 95"/>
            <p:cNvGrpSpPr/>
            <p:nvPr/>
          </p:nvGrpSpPr>
          <p:grpSpPr>
            <a:xfrm>
              <a:off x="7238520" y="1980720"/>
              <a:ext cx="152280" cy="152640"/>
              <a:chOff x="7238520" y="1980720"/>
              <a:chExt cx="152280" cy="152640"/>
            </a:xfrm>
          </p:grpSpPr>
          <p:sp>
            <p:nvSpPr>
              <p:cNvPr id="118" name="Line 96"/>
              <p:cNvSpPr/>
              <p:nvPr/>
            </p:nvSpPr>
            <p:spPr>
              <a:xfrm flipH="1">
                <a:off x="7238520" y="198108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9" name="Line 97"/>
              <p:cNvSpPr/>
              <p:nvPr/>
            </p:nvSpPr>
            <p:spPr>
              <a:xfrm flipH="1" flipV="1">
                <a:off x="7238520" y="198072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20" name="Group 98"/>
            <p:cNvGrpSpPr/>
            <p:nvPr/>
          </p:nvGrpSpPr>
          <p:grpSpPr>
            <a:xfrm>
              <a:off x="8152920" y="1523520"/>
              <a:ext cx="152280" cy="152640"/>
              <a:chOff x="8152920" y="1523520"/>
              <a:chExt cx="152280" cy="152640"/>
            </a:xfrm>
          </p:grpSpPr>
          <p:sp>
            <p:nvSpPr>
              <p:cNvPr id="121" name="Line 99"/>
              <p:cNvSpPr/>
              <p:nvPr/>
            </p:nvSpPr>
            <p:spPr>
              <a:xfrm flipH="1">
                <a:off x="8152920" y="152388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2" name="Line 100"/>
              <p:cNvSpPr/>
              <p:nvPr/>
            </p:nvSpPr>
            <p:spPr>
              <a:xfrm flipH="1" flipV="1">
                <a:off x="8152920" y="152352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23" name="Group 101"/>
            <p:cNvGrpSpPr/>
            <p:nvPr/>
          </p:nvGrpSpPr>
          <p:grpSpPr>
            <a:xfrm>
              <a:off x="8152920" y="1980720"/>
              <a:ext cx="152280" cy="152640"/>
              <a:chOff x="8152920" y="1980720"/>
              <a:chExt cx="152280" cy="152640"/>
            </a:xfrm>
          </p:grpSpPr>
          <p:sp>
            <p:nvSpPr>
              <p:cNvPr id="124" name="Line 102"/>
              <p:cNvSpPr/>
              <p:nvPr/>
            </p:nvSpPr>
            <p:spPr>
              <a:xfrm flipH="1">
                <a:off x="8152920" y="198108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5" name="Line 103"/>
              <p:cNvSpPr/>
              <p:nvPr/>
            </p:nvSpPr>
            <p:spPr>
              <a:xfrm flipH="1" flipV="1">
                <a:off x="8152920" y="1980720"/>
                <a:ext cx="152280" cy="152280"/>
              </a:xfrm>
              <a:prstGeom prst="line">
                <a:avLst/>
              </a:prstGeom>
              <a:ln w="381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126" name="Group 104"/>
          <p:cNvGrpSpPr/>
          <p:nvPr/>
        </p:nvGrpSpPr>
        <p:grpSpPr>
          <a:xfrm>
            <a:off x="6781680" y="457200"/>
            <a:ext cx="1676520" cy="533160"/>
            <a:chOff x="6781680" y="457200"/>
            <a:chExt cx="1676520" cy="533160"/>
          </a:xfrm>
        </p:grpSpPr>
        <p:sp>
          <p:nvSpPr>
            <p:cNvPr id="127" name="Oval 105"/>
            <p:cNvSpPr/>
            <p:nvPr/>
          </p:nvSpPr>
          <p:spPr>
            <a:xfrm>
              <a:off x="6781680" y="45720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" name="Oval 106"/>
            <p:cNvSpPr/>
            <p:nvPr/>
          </p:nvSpPr>
          <p:spPr>
            <a:xfrm>
              <a:off x="6781680" y="91440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" name="Oval 107"/>
            <p:cNvSpPr/>
            <p:nvPr/>
          </p:nvSpPr>
          <p:spPr>
            <a:xfrm>
              <a:off x="7848360" y="45720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Oval 108"/>
            <p:cNvSpPr/>
            <p:nvPr/>
          </p:nvSpPr>
          <p:spPr>
            <a:xfrm>
              <a:off x="7848360" y="91440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" name="Oval 109"/>
            <p:cNvSpPr/>
            <p:nvPr/>
          </p:nvSpPr>
          <p:spPr>
            <a:xfrm>
              <a:off x="7315200" y="457200"/>
              <a:ext cx="7596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" name="Oval 110"/>
            <p:cNvSpPr/>
            <p:nvPr/>
          </p:nvSpPr>
          <p:spPr>
            <a:xfrm>
              <a:off x="7315200" y="914400"/>
              <a:ext cx="7596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" name="Oval 111"/>
            <p:cNvSpPr/>
            <p:nvPr/>
          </p:nvSpPr>
          <p:spPr>
            <a:xfrm>
              <a:off x="8381880" y="45720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" name="Oval 112"/>
            <p:cNvSpPr/>
            <p:nvPr/>
          </p:nvSpPr>
          <p:spPr>
            <a:xfrm>
              <a:off x="8381880" y="914400"/>
              <a:ext cx="76320" cy="75960"/>
            </a:xfrm>
            <a:prstGeom prst="ellipse">
              <a:avLst/>
            </a:prstGeom>
            <a:solidFill>
              <a:srgbClr val="0000FF"/>
            </a:solidFill>
            <a:ln w="93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35" name="Group 113"/>
          <p:cNvGrpSpPr/>
          <p:nvPr/>
        </p:nvGrpSpPr>
        <p:grpSpPr>
          <a:xfrm>
            <a:off x="8001000" y="457200"/>
            <a:ext cx="609120" cy="1676160"/>
            <a:chOff x="8001000" y="457200"/>
            <a:chExt cx="609120" cy="1676160"/>
          </a:xfrm>
        </p:grpSpPr>
        <p:sp>
          <p:nvSpPr>
            <p:cNvPr id="136" name="Oval 114"/>
            <p:cNvSpPr/>
            <p:nvPr/>
          </p:nvSpPr>
          <p:spPr>
            <a:xfrm>
              <a:off x="8001000" y="457200"/>
              <a:ext cx="75960" cy="7596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" name="Oval 115"/>
            <p:cNvSpPr/>
            <p:nvPr/>
          </p:nvSpPr>
          <p:spPr>
            <a:xfrm>
              <a:off x="8534160" y="457200"/>
              <a:ext cx="75960" cy="7596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" name="Oval 116"/>
            <p:cNvSpPr/>
            <p:nvPr/>
          </p:nvSpPr>
          <p:spPr>
            <a:xfrm>
              <a:off x="8001000" y="990360"/>
              <a:ext cx="75960" cy="7632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" name="Oval 117"/>
            <p:cNvSpPr/>
            <p:nvPr/>
          </p:nvSpPr>
          <p:spPr>
            <a:xfrm>
              <a:off x="8534160" y="990360"/>
              <a:ext cx="75960" cy="7632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Oval 118"/>
            <p:cNvSpPr/>
            <p:nvPr/>
          </p:nvSpPr>
          <p:spPr>
            <a:xfrm>
              <a:off x="8001000" y="1523880"/>
              <a:ext cx="75960" cy="7632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Oval 119"/>
            <p:cNvSpPr/>
            <p:nvPr/>
          </p:nvSpPr>
          <p:spPr>
            <a:xfrm>
              <a:off x="8534160" y="1523880"/>
              <a:ext cx="75960" cy="7632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Oval 120"/>
            <p:cNvSpPr/>
            <p:nvPr/>
          </p:nvSpPr>
          <p:spPr>
            <a:xfrm>
              <a:off x="8001000" y="2057400"/>
              <a:ext cx="75960" cy="7596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3" name="Oval 121"/>
            <p:cNvSpPr/>
            <p:nvPr/>
          </p:nvSpPr>
          <p:spPr>
            <a:xfrm>
              <a:off x="8534160" y="2057400"/>
              <a:ext cx="75960" cy="7596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6840" rIns="90000" bIns="684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44" name="Group 122"/>
          <p:cNvGrpSpPr/>
          <p:nvPr/>
        </p:nvGrpSpPr>
        <p:grpSpPr>
          <a:xfrm>
            <a:off x="6552720" y="380520"/>
            <a:ext cx="609480" cy="1676520"/>
            <a:chOff x="6552720" y="380520"/>
            <a:chExt cx="609480" cy="1676520"/>
          </a:xfrm>
        </p:grpSpPr>
        <p:grpSp>
          <p:nvGrpSpPr>
            <p:cNvPr id="145" name="Group 123"/>
            <p:cNvGrpSpPr/>
            <p:nvPr/>
          </p:nvGrpSpPr>
          <p:grpSpPr>
            <a:xfrm>
              <a:off x="6552720" y="1447200"/>
              <a:ext cx="152280" cy="152640"/>
              <a:chOff x="6552720" y="1447200"/>
              <a:chExt cx="152280" cy="152640"/>
            </a:xfrm>
          </p:grpSpPr>
          <p:sp>
            <p:nvSpPr>
              <p:cNvPr id="146" name="Line 124"/>
              <p:cNvSpPr/>
              <p:nvPr/>
            </p:nvSpPr>
            <p:spPr>
              <a:xfrm flipH="1">
                <a:off x="6552720" y="144756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7" name="Line 125"/>
              <p:cNvSpPr/>
              <p:nvPr/>
            </p:nvSpPr>
            <p:spPr>
              <a:xfrm flipH="1" flipV="1">
                <a:off x="6552720" y="144720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48" name="Group 126"/>
            <p:cNvGrpSpPr/>
            <p:nvPr/>
          </p:nvGrpSpPr>
          <p:grpSpPr>
            <a:xfrm>
              <a:off x="7009920" y="1447200"/>
              <a:ext cx="152280" cy="152640"/>
              <a:chOff x="7009920" y="1447200"/>
              <a:chExt cx="152280" cy="152640"/>
            </a:xfrm>
          </p:grpSpPr>
          <p:sp>
            <p:nvSpPr>
              <p:cNvPr id="149" name="Line 127"/>
              <p:cNvSpPr/>
              <p:nvPr/>
            </p:nvSpPr>
            <p:spPr>
              <a:xfrm flipH="1">
                <a:off x="7009920" y="144756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0" name="Line 128"/>
              <p:cNvSpPr/>
              <p:nvPr/>
            </p:nvSpPr>
            <p:spPr>
              <a:xfrm flipH="1" flipV="1">
                <a:off x="7009920" y="144720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51" name="Group 129"/>
            <p:cNvGrpSpPr/>
            <p:nvPr/>
          </p:nvGrpSpPr>
          <p:grpSpPr>
            <a:xfrm>
              <a:off x="6552720" y="380520"/>
              <a:ext cx="152280" cy="152640"/>
              <a:chOff x="6552720" y="380520"/>
              <a:chExt cx="152280" cy="152640"/>
            </a:xfrm>
          </p:grpSpPr>
          <p:sp>
            <p:nvSpPr>
              <p:cNvPr id="152" name="Line 130"/>
              <p:cNvSpPr/>
              <p:nvPr/>
            </p:nvSpPr>
            <p:spPr>
              <a:xfrm flipH="1">
                <a:off x="6552720" y="38088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3" name="Line 131"/>
              <p:cNvSpPr/>
              <p:nvPr/>
            </p:nvSpPr>
            <p:spPr>
              <a:xfrm flipH="1" flipV="1">
                <a:off x="6552720" y="38052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54" name="Group 132"/>
            <p:cNvGrpSpPr/>
            <p:nvPr/>
          </p:nvGrpSpPr>
          <p:grpSpPr>
            <a:xfrm>
              <a:off x="6552720" y="913680"/>
              <a:ext cx="152280" cy="152640"/>
              <a:chOff x="6552720" y="913680"/>
              <a:chExt cx="152280" cy="152640"/>
            </a:xfrm>
          </p:grpSpPr>
          <p:sp>
            <p:nvSpPr>
              <p:cNvPr id="155" name="Line 133"/>
              <p:cNvSpPr/>
              <p:nvPr/>
            </p:nvSpPr>
            <p:spPr>
              <a:xfrm flipH="1">
                <a:off x="6552720" y="91404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6" name="Line 134"/>
              <p:cNvSpPr/>
              <p:nvPr/>
            </p:nvSpPr>
            <p:spPr>
              <a:xfrm flipH="1" flipV="1">
                <a:off x="6552720" y="91368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57" name="Group 135"/>
            <p:cNvGrpSpPr/>
            <p:nvPr/>
          </p:nvGrpSpPr>
          <p:grpSpPr>
            <a:xfrm>
              <a:off x="7009920" y="380520"/>
              <a:ext cx="152280" cy="152640"/>
              <a:chOff x="7009920" y="380520"/>
              <a:chExt cx="152280" cy="152640"/>
            </a:xfrm>
          </p:grpSpPr>
          <p:sp>
            <p:nvSpPr>
              <p:cNvPr id="158" name="Line 136"/>
              <p:cNvSpPr/>
              <p:nvPr/>
            </p:nvSpPr>
            <p:spPr>
              <a:xfrm flipH="1">
                <a:off x="7009920" y="38088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9" name="Line 137"/>
              <p:cNvSpPr/>
              <p:nvPr/>
            </p:nvSpPr>
            <p:spPr>
              <a:xfrm flipH="1" flipV="1">
                <a:off x="7009920" y="38052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60" name="Group 138"/>
            <p:cNvGrpSpPr/>
            <p:nvPr/>
          </p:nvGrpSpPr>
          <p:grpSpPr>
            <a:xfrm>
              <a:off x="7009920" y="913680"/>
              <a:ext cx="152280" cy="152640"/>
              <a:chOff x="7009920" y="913680"/>
              <a:chExt cx="152280" cy="152640"/>
            </a:xfrm>
          </p:grpSpPr>
          <p:sp>
            <p:nvSpPr>
              <p:cNvPr id="161" name="Line 139"/>
              <p:cNvSpPr/>
              <p:nvPr/>
            </p:nvSpPr>
            <p:spPr>
              <a:xfrm flipH="1">
                <a:off x="7009920" y="91404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2" name="Line 140"/>
              <p:cNvSpPr/>
              <p:nvPr/>
            </p:nvSpPr>
            <p:spPr>
              <a:xfrm flipH="1" flipV="1">
                <a:off x="7009920" y="91368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63" name="Group 141"/>
            <p:cNvGrpSpPr/>
            <p:nvPr/>
          </p:nvGrpSpPr>
          <p:grpSpPr>
            <a:xfrm>
              <a:off x="6552720" y="1904400"/>
              <a:ext cx="152280" cy="152640"/>
              <a:chOff x="6552720" y="1904400"/>
              <a:chExt cx="152280" cy="152640"/>
            </a:xfrm>
          </p:grpSpPr>
          <p:sp>
            <p:nvSpPr>
              <p:cNvPr id="164" name="Line 142"/>
              <p:cNvSpPr/>
              <p:nvPr/>
            </p:nvSpPr>
            <p:spPr>
              <a:xfrm flipH="1">
                <a:off x="6552720" y="190476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5" name="Line 143"/>
              <p:cNvSpPr/>
              <p:nvPr/>
            </p:nvSpPr>
            <p:spPr>
              <a:xfrm flipH="1" flipV="1">
                <a:off x="6552720" y="190440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66" name="Group 144"/>
            <p:cNvGrpSpPr/>
            <p:nvPr/>
          </p:nvGrpSpPr>
          <p:grpSpPr>
            <a:xfrm>
              <a:off x="7009920" y="1904400"/>
              <a:ext cx="152280" cy="152640"/>
              <a:chOff x="7009920" y="1904400"/>
              <a:chExt cx="152280" cy="152640"/>
            </a:xfrm>
          </p:grpSpPr>
          <p:sp>
            <p:nvSpPr>
              <p:cNvPr id="167" name="Line 145"/>
              <p:cNvSpPr/>
              <p:nvPr/>
            </p:nvSpPr>
            <p:spPr>
              <a:xfrm flipH="1">
                <a:off x="7009920" y="190476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8" name="Line 146"/>
              <p:cNvSpPr/>
              <p:nvPr/>
            </p:nvSpPr>
            <p:spPr>
              <a:xfrm flipH="1" flipV="1">
                <a:off x="7009920" y="190440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169" name="Text Box 147"/>
          <p:cNvSpPr/>
          <p:nvPr/>
        </p:nvSpPr>
        <p:spPr>
          <a:xfrm>
            <a:off x="4250520" y="112716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星形: 五角 1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" dur="indefinite" restart="never" nodeType="tmRoot">
          <p:childTnLst>
            <p:seq>
              <p:cTn id="49" dur="indefinite" nodeType="mainSeq">
                <p:childTnLst>
                  <p:par>
                    <p:cTn id="50" fill="hold" nodeType="clickEffect">
                      <p:stCondLst>
                        <p:cond delay="indefinite"/>
                      </p:stCondLst>
                      <p:childTnLst>
                        <p:par>
                          <p:cTn id="5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Effect">
                      <p:stCondLst>
                        <p:cond delay="indefinite"/>
                      </p:stCondLst>
                      <p:childTnLst>
                        <p:par>
                          <p:cTn id="5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Effect">
                      <p:stCondLst>
                        <p:cond delay="indefinite"/>
                      </p:stCondLst>
                      <p:childTnLst>
                        <p:par>
                          <p:cTn id="6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Effect">
                      <p:stCondLst>
                        <p:cond delay="indefinite"/>
                      </p:stCondLst>
                      <p:childTnLst>
                        <p:par>
                          <p:cTn id="6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Effect">
                      <p:stCondLst>
                        <p:cond delay="indefinite"/>
                      </p:stCondLst>
                      <p:childTnLst>
                        <p:par>
                          <p:cTn id="7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Box 19"/>
          <p:cNvSpPr/>
          <p:nvPr/>
        </p:nvSpPr>
        <p:spPr>
          <a:xfrm>
            <a:off x="-558360" y="76320"/>
            <a:ext cx="6733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P111/7.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有一均匀磁场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Text Box 20"/>
          <p:cNvSpPr/>
          <p:nvPr/>
        </p:nvSpPr>
        <p:spPr>
          <a:xfrm>
            <a:off x="-478440" y="974880"/>
            <a:ext cx="6459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轴线平行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则通过此半球面的磁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3" name="Group 21"/>
          <p:cNvGrpSpPr/>
          <p:nvPr/>
        </p:nvGrpSpPr>
        <p:grpSpPr>
          <a:xfrm>
            <a:off x="6324480" y="152280"/>
            <a:ext cx="1371240" cy="2057040"/>
            <a:chOff x="6324480" y="152280"/>
            <a:chExt cx="1371240" cy="2057040"/>
          </a:xfrm>
        </p:grpSpPr>
        <p:sp>
          <p:nvSpPr>
            <p:cNvPr id="174" name="Arc 22"/>
            <p:cNvSpPr/>
            <p:nvPr/>
          </p:nvSpPr>
          <p:spPr>
            <a:xfrm>
              <a:off x="6645240" y="152280"/>
              <a:ext cx="1050480" cy="2057040"/>
            </a:xfrm>
            <a:custGeom>
              <a:avLst/>
              <a:gdLst>
                <a:gd name="GluePoint1X" fmla="*/ 0 w 21627"/>
                <a:gd name="GluePoint1Y" fmla="*/ 0 h 43197"/>
                <a:gd name="GluePoint2X" fmla="*/ 11 w 21627"/>
                <a:gd name="GluePoint2Y" fmla="*/ 1009 h 43197"/>
                <a:gd name="GluePoint3X" fmla="*/ 1 w 21627"/>
                <a:gd name="GluePoint3Y" fmla="*/ 505 h 431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fill="none" w="21627" h="43197">
                  <a:moveTo>
                    <a:pt x="0" y="0"/>
                  </a:moveTo>
                  <a:cubicBezTo>
                    <a:pt x="9" y="0"/>
                    <a:pt x="18" y="0"/>
                    <a:pt x="27" y="0"/>
                  </a:cubicBezTo>
                  <a:cubicBezTo>
                    <a:pt x="11956" y="0"/>
                    <a:pt x="21627" y="9670"/>
                    <a:pt x="21627" y="21600"/>
                  </a:cubicBezTo>
                  <a:cubicBezTo>
                    <a:pt x="21627" y="-32150"/>
                    <a:pt x="12178" y="-22540"/>
                    <a:pt x="393" y="-22340"/>
                  </a:cubicBezTo>
                </a:path>
                <a:path stroke="0" w="21627" h="43197">
                  <a:moveTo>
                    <a:pt x="0" y="0"/>
                  </a:moveTo>
                  <a:cubicBezTo>
                    <a:pt x="9" y="0"/>
                    <a:pt x="18" y="0"/>
                    <a:pt x="27" y="0"/>
                  </a:cubicBezTo>
                  <a:cubicBezTo>
                    <a:pt x="11956" y="0"/>
                    <a:pt x="21627" y="9670"/>
                    <a:pt x="21627" y="21600"/>
                  </a:cubicBezTo>
                  <a:cubicBezTo>
                    <a:pt x="21627" y="-32150"/>
                    <a:pt x="12178" y="-22540"/>
                    <a:pt x="393" y="-22340"/>
                  </a:cubicBezTo>
                  <a:lnTo>
                    <a:pt x="2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Oval 23"/>
            <p:cNvSpPr/>
            <p:nvPr/>
          </p:nvSpPr>
          <p:spPr>
            <a:xfrm>
              <a:off x="6324480" y="152280"/>
              <a:ext cx="645120" cy="2055240"/>
            </a:xfrm>
            <a:prstGeom prst="ellipse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76" name="Line 24"/>
          <p:cNvSpPr/>
          <p:nvPr/>
        </p:nvSpPr>
        <p:spPr>
          <a:xfrm>
            <a:off x="5410080" y="1219320"/>
            <a:ext cx="121932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Line 25"/>
          <p:cNvSpPr/>
          <p:nvPr/>
        </p:nvSpPr>
        <p:spPr>
          <a:xfrm>
            <a:off x="5791320" y="1219320"/>
            <a:ext cx="53316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Line 26"/>
          <p:cNvSpPr/>
          <p:nvPr/>
        </p:nvSpPr>
        <p:spPr>
          <a:xfrm>
            <a:off x="7772400" y="1219320"/>
            <a:ext cx="83808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Line 27"/>
          <p:cNvSpPr/>
          <p:nvPr/>
        </p:nvSpPr>
        <p:spPr>
          <a:xfrm>
            <a:off x="5562720" y="685800"/>
            <a:ext cx="121896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Line 28"/>
          <p:cNvSpPr/>
          <p:nvPr/>
        </p:nvSpPr>
        <p:spPr>
          <a:xfrm>
            <a:off x="5943600" y="685800"/>
            <a:ext cx="53352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Line 29"/>
          <p:cNvSpPr/>
          <p:nvPr/>
        </p:nvSpPr>
        <p:spPr>
          <a:xfrm>
            <a:off x="7924680" y="68580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Line 30"/>
          <p:cNvSpPr/>
          <p:nvPr/>
        </p:nvSpPr>
        <p:spPr>
          <a:xfrm>
            <a:off x="5562720" y="1752480"/>
            <a:ext cx="121896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Line 31"/>
          <p:cNvSpPr/>
          <p:nvPr/>
        </p:nvSpPr>
        <p:spPr>
          <a:xfrm>
            <a:off x="5943600" y="1752480"/>
            <a:ext cx="53352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Line 32"/>
          <p:cNvSpPr/>
          <p:nvPr/>
        </p:nvSpPr>
        <p:spPr>
          <a:xfrm>
            <a:off x="7924680" y="175248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Text Box 33"/>
          <p:cNvSpPr/>
          <p:nvPr/>
        </p:nvSpPr>
        <p:spPr>
          <a:xfrm>
            <a:off x="-478800" y="533520"/>
            <a:ext cx="6459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感应强度与半径为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R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的半球面的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Text Box 34"/>
          <p:cNvSpPr/>
          <p:nvPr/>
        </p:nvSpPr>
        <p:spPr>
          <a:xfrm>
            <a:off x="-479520" y="1371600"/>
            <a:ext cx="4554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通量为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Text Box 35"/>
          <p:cNvSpPr/>
          <p:nvPr/>
        </p:nvSpPr>
        <p:spPr>
          <a:xfrm>
            <a:off x="-91800" y="246852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8" name="Object 36"/>
              <p:cNvSpPr txBox="1"/>
              <p:nvPr/>
            </p:nvSpPr>
            <p:spPr>
              <a:xfrm>
                <a:off x="914400" y="2438280"/>
                <a:ext cx="1127160" cy="519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4</m:t>
                    </m:r>
                    <m:sSup>
                      <m:e>
                        <m:r>
                          <m:t xml:space="preserve">πR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188" name="Object 36"/>
              <p:cNvSpPr txBox="1"/>
              <p:nvPr/>
            </p:nvSpPr>
            <p:spPr>
              <a:xfrm>
                <a:off x="914400" y="2438280"/>
                <a:ext cx="1127160" cy="5191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89" name="Text Box 37"/>
          <p:cNvSpPr/>
          <p:nvPr/>
        </p:nvSpPr>
        <p:spPr>
          <a:xfrm>
            <a:off x="2499120" y="243828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Text Box 38"/>
          <p:cNvSpPr/>
          <p:nvPr/>
        </p:nvSpPr>
        <p:spPr>
          <a:xfrm>
            <a:off x="4937400" y="243828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Text Box 39"/>
          <p:cNvSpPr/>
          <p:nvPr/>
        </p:nvSpPr>
        <p:spPr>
          <a:xfrm>
            <a:off x="7452000" y="249876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2" name="Object 40"/>
              <p:cNvSpPr txBox="1"/>
              <p:nvPr/>
            </p:nvSpPr>
            <p:spPr>
              <a:xfrm>
                <a:off x="8407440" y="2590920"/>
                <a:ext cx="297000" cy="42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92" name="Object 40"/>
              <p:cNvSpPr txBox="1"/>
              <p:nvPr/>
            </p:nvSpPr>
            <p:spPr>
              <a:xfrm>
                <a:off x="8407440" y="2590920"/>
                <a:ext cx="297000" cy="426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3" name="Object 41"/>
              <p:cNvSpPr txBox="1"/>
              <p:nvPr/>
            </p:nvSpPr>
            <p:spPr>
              <a:xfrm>
                <a:off x="3471840" y="2438280"/>
                <a:ext cx="1127160" cy="519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2</m:t>
                    </m:r>
                    <m:sSup>
                      <m:e>
                        <m:r>
                          <m:t xml:space="preserve">πR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193" name="Object 41"/>
              <p:cNvSpPr txBox="1"/>
              <p:nvPr/>
            </p:nvSpPr>
            <p:spPr>
              <a:xfrm>
                <a:off x="3471840" y="2438280"/>
                <a:ext cx="1127160" cy="519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4" name="Object 42"/>
              <p:cNvSpPr txBox="1"/>
              <p:nvPr/>
            </p:nvSpPr>
            <p:spPr>
              <a:xfrm>
                <a:off x="5956200" y="2438280"/>
                <a:ext cx="949320" cy="519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πR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194" name="Object 42"/>
              <p:cNvSpPr txBox="1"/>
              <p:nvPr/>
            </p:nvSpPr>
            <p:spPr>
              <a:xfrm>
                <a:off x="5956200" y="2438280"/>
                <a:ext cx="949320" cy="519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5" name="Object 43"/>
              <p:cNvSpPr txBox="1"/>
              <p:nvPr/>
            </p:nvSpPr>
            <p:spPr>
              <a:xfrm>
                <a:off x="533520" y="3886200"/>
                <a:ext cx="2049480" cy="679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Φ</m:t>
                        </m:r>
                      </m:e>
                      <m:sub>
                        <m:r>
                          <m:t xml:space="preserve">m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∬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95" name="Object 43"/>
              <p:cNvSpPr txBox="1"/>
              <p:nvPr/>
            </p:nvSpPr>
            <p:spPr>
              <a:xfrm>
                <a:off x="533520" y="3886200"/>
                <a:ext cx="2049480" cy="6793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6" name="Object 44"/>
              <p:cNvSpPr txBox="1"/>
              <p:nvPr/>
            </p:nvSpPr>
            <p:spPr>
              <a:xfrm>
                <a:off x="2590920" y="3886200"/>
                <a:ext cx="1908000" cy="598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BS</m:t>
                    </m:r>
                    <m:r>
                      <m:rPr>
                        <m:lit/>
                        <m:nor/>
                      </m:rPr>
                      <m:t xml:space="preserve">cos</m:t>
                    </m:r>
                    <m:sSup>
                      <m:e>
                        <m:r>
                          <m:t xml:space="preserve">0</m:t>
                        </m:r>
                      </m:e>
                      <m:sup>
                        <m:r>
                          <m:t xml:space="preserve">o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96" name="Object 44"/>
              <p:cNvSpPr txBox="1"/>
              <p:nvPr/>
            </p:nvSpPr>
            <p:spPr>
              <a:xfrm>
                <a:off x="2590920" y="3886200"/>
                <a:ext cx="1908000" cy="598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197" name="Text Box 45"/>
          <p:cNvSpPr/>
          <p:nvPr/>
        </p:nvSpPr>
        <p:spPr>
          <a:xfrm>
            <a:off x="1588320" y="137160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星形: 五角 31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 nodeType="clickEffect">
                      <p:stCondLst>
                        <p:cond delay="indefinite"/>
                      </p:stCondLst>
                      <p:childTnLst>
                        <p:par>
                          <p:cTn id="7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Effect">
                      <p:stCondLst>
                        <p:cond delay="indefinite"/>
                      </p:stCondLst>
                      <p:childTnLst>
                        <p:par>
                          <p:cTn id="8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Effect">
                      <p:stCondLst>
                        <p:cond delay="indefinite"/>
                      </p:stCondLst>
                      <p:childTnLst>
                        <p:par>
                          <p:cTn id="8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Box 110"/>
          <p:cNvSpPr/>
          <p:nvPr/>
        </p:nvSpPr>
        <p:spPr>
          <a:xfrm>
            <a:off x="-611640" y="76320"/>
            <a:ext cx="7114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P111/8.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中各有半径相同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Text Box 111"/>
          <p:cNvSpPr/>
          <p:nvPr/>
        </p:nvSpPr>
        <p:spPr>
          <a:xfrm>
            <a:off x="-642600" y="1447920"/>
            <a:ext cx="704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但在图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中回路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L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外还有电流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3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Oval 112"/>
          <p:cNvSpPr/>
          <p:nvPr/>
        </p:nvSpPr>
        <p:spPr>
          <a:xfrm>
            <a:off x="5578560" y="380880"/>
            <a:ext cx="1143000" cy="12193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02" name="Group 113"/>
          <p:cNvGrpSpPr/>
          <p:nvPr/>
        </p:nvGrpSpPr>
        <p:grpSpPr>
          <a:xfrm>
            <a:off x="5959440" y="685800"/>
            <a:ext cx="228600" cy="228600"/>
            <a:chOff x="5959440" y="685800"/>
            <a:chExt cx="228600" cy="228600"/>
          </a:xfrm>
        </p:grpSpPr>
        <p:sp>
          <p:nvSpPr>
            <p:cNvPr id="203" name="Oval 114"/>
            <p:cNvSpPr/>
            <p:nvPr/>
          </p:nvSpPr>
          <p:spPr>
            <a:xfrm>
              <a:off x="5959440" y="685800"/>
              <a:ext cx="228600" cy="228600"/>
            </a:xfrm>
            <a:prstGeom prst="ellipse">
              <a:avLst/>
            </a:prstGeom>
            <a:noFill/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4" name="Oval 115"/>
            <p:cNvSpPr/>
            <p:nvPr/>
          </p:nvSpPr>
          <p:spPr>
            <a:xfrm>
              <a:off x="6035760" y="761760"/>
              <a:ext cx="75960" cy="76320"/>
            </a:xfrm>
            <a:prstGeom prst="ellipse">
              <a:avLst/>
            </a:prstGeom>
            <a:solidFill>
              <a:srgbClr val="000000"/>
            </a:solid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05" name="Group 116"/>
          <p:cNvGrpSpPr/>
          <p:nvPr/>
        </p:nvGrpSpPr>
        <p:grpSpPr>
          <a:xfrm>
            <a:off x="6035760" y="1143000"/>
            <a:ext cx="228600" cy="228600"/>
            <a:chOff x="6035760" y="1143000"/>
            <a:chExt cx="228600" cy="228600"/>
          </a:xfrm>
        </p:grpSpPr>
        <p:sp>
          <p:nvSpPr>
            <p:cNvPr id="206" name="Oval 117"/>
            <p:cNvSpPr/>
            <p:nvPr/>
          </p:nvSpPr>
          <p:spPr>
            <a:xfrm>
              <a:off x="6035760" y="1143000"/>
              <a:ext cx="228600" cy="228600"/>
            </a:xfrm>
            <a:prstGeom prst="ellipse">
              <a:avLst/>
            </a:prstGeom>
            <a:noFill/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7" name="Oval 118"/>
            <p:cNvSpPr/>
            <p:nvPr/>
          </p:nvSpPr>
          <p:spPr>
            <a:xfrm>
              <a:off x="6112080" y="1218960"/>
              <a:ext cx="75960" cy="76320"/>
            </a:xfrm>
            <a:prstGeom prst="ellipse">
              <a:avLst/>
            </a:prstGeom>
            <a:solidFill>
              <a:srgbClr val="000000"/>
            </a:solid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08" name="Text Box 119"/>
          <p:cNvSpPr/>
          <p:nvPr/>
        </p:nvSpPr>
        <p:spPr>
          <a:xfrm>
            <a:off x="5642280" y="533520"/>
            <a:ext cx="1334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2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Text Box 120"/>
          <p:cNvSpPr/>
          <p:nvPr/>
        </p:nvSpPr>
        <p:spPr>
          <a:xfrm>
            <a:off x="6163200" y="1143000"/>
            <a:ext cx="1374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L</a:t>
            </a:r>
            <a:r>
              <a:rPr lang="en-US" sz="24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Text Box 121"/>
          <p:cNvSpPr/>
          <p:nvPr/>
        </p:nvSpPr>
        <p:spPr>
          <a:xfrm>
            <a:off x="5718600" y="990720"/>
            <a:ext cx="1334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2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Line 122"/>
          <p:cNvSpPr/>
          <p:nvPr/>
        </p:nvSpPr>
        <p:spPr>
          <a:xfrm>
            <a:off x="6111720" y="380880"/>
            <a:ext cx="152640" cy="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Oval 123"/>
          <p:cNvSpPr/>
          <p:nvPr/>
        </p:nvSpPr>
        <p:spPr>
          <a:xfrm>
            <a:off x="6568920" y="609480"/>
            <a:ext cx="76320" cy="763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 Box 124"/>
          <p:cNvSpPr/>
          <p:nvPr/>
        </p:nvSpPr>
        <p:spPr>
          <a:xfrm>
            <a:off x="6255360" y="380880"/>
            <a:ext cx="1374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</a:t>
            </a:r>
            <a:r>
              <a:rPr lang="en-US" sz="24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 Box 125"/>
          <p:cNvSpPr/>
          <p:nvPr/>
        </p:nvSpPr>
        <p:spPr>
          <a:xfrm>
            <a:off x="5358960" y="1600200"/>
            <a:ext cx="1590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Oval 126"/>
          <p:cNvSpPr/>
          <p:nvPr/>
        </p:nvSpPr>
        <p:spPr>
          <a:xfrm>
            <a:off x="7407360" y="380880"/>
            <a:ext cx="1143000" cy="12193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16" name="Group 127"/>
          <p:cNvGrpSpPr/>
          <p:nvPr/>
        </p:nvGrpSpPr>
        <p:grpSpPr>
          <a:xfrm>
            <a:off x="7788240" y="685800"/>
            <a:ext cx="228600" cy="228600"/>
            <a:chOff x="7788240" y="685800"/>
            <a:chExt cx="228600" cy="228600"/>
          </a:xfrm>
        </p:grpSpPr>
        <p:sp>
          <p:nvSpPr>
            <p:cNvPr id="217" name="Oval 128"/>
            <p:cNvSpPr/>
            <p:nvPr/>
          </p:nvSpPr>
          <p:spPr>
            <a:xfrm>
              <a:off x="7788240" y="685800"/>
              <a:ext cx="228600" cy="228600"/>
            </a:xfrm>
            <a:prstGeom prst="ellipse">
              <a:avLst/>
            </a:prstGeom>
            <a:noFill/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8" name="Oval 129"/>
            <p:cNvSpPr/>
            <p:nvPr/>
          </p:nvSpPr>
          <p:spPr>
            <a:xfrm>
              <a:off x="7864560" y="761760"/>
              <a:ext cx="75960" cy="76320"/>
            </a:xfrm>
            <a:prstGeom prst="ellipse">
              <a:avLst/>
            </a:prstGeom>
            <a:solidFill>
              <a:srgbClr val="000000"/>
            </a:solid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19" name="Group 130"/>
          <p:cNvGrpSpPr/>
          <p:nvPr/>
        </p:nvGrpSpPr>
        <p:grpSpPr>
          <a:xfrm>
            <a:off x="7864560" y="1143000"/>
            <a:ext cx="228600" cy="228600"/>
            <a:chOff x="7864560" y="1143000"/>
            <a:chExt cx="228600" cy="228600"/>
          </a:xfrm>
        </p:grpSpPr>
        <p:sp>
          <p:nvSpPr>
            <p:cNvPr id="220" name="Oval 131"/>
            <p:cNvSpPr/>
            <p:nvPr/>
          </p:nvSpPr>
          <p:spPr>
            <a:xfrm>
              <a:off x="7864560" y="1143000"/>
              <a:ext cx="228600" cy="228600"/>
            </a:xfrm>
            <a:prstGeom prst="ellipse">
              <a:avLst/>
            </a:prstGeom>
            <a:noFill/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1" name="Oval 132"/>
            <p:cNvSpPr/>
            <p:nvPr/>
          </p:nvSpPr>
          <p:spPr>
            <a:xfrm>
              <a:off x="7940880" y="1218960"/>
              <a:ext cx="75960" cy="76320"/>
            </a:xfrm>
            <a:prstGeom prst="ellipse">
              <a:avLst/>
            </a:prstGeom>
            <a:solidFill>
              <a:srgbClr val="000000"/>
            </a:solid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22" name="Text Box 133"/>
          <p:cNvSpPr/>
          <p:nvPr/>
        </p:nvSpPr>
        <p:spPr>
          <a:xfrm>
            <a:off x="7471080" y="533520"/>
            <a:ext cx="1334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2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Text Box 134"/>
          <p:cNvSpPr/>
          <p:nvPr/>
        </p:nvSpPr>
        <p:spPr>
          <a:xfrm>
            <a:off x="7992000" y="1143000"/>
            <a:ext cx="1374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L</a:t>
            </a:r>
            <a:r>
              <a:rPr lang="en-US" sz="24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Text Box 135"/>
          <p:cNvSpPr/>
          <p:nvPr/>
        </p:nvSpPr>
        <p:spPr>
          <a:xfrm>
            <a:off x="7547400" y="990720"/>
            <a:ext cx="1334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2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Line 136"/>
          <p:cNvSpPr/>
          <p:nvPr/>
        </p:nvSpPr>
        <p:spPr>
          <a:xfrm>
            <a:off x="7940520" y="380880"/>
            <a:ext cx="152640" cy="0"/>
          </a:xfrm>
          <a:prstGeom prst="line">
            <a:avLst/>
          </a:prstGeom>
          <a:ln w="2844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Oval 137"/>
          <p:cNvSpPr/>
          <p:nvPr/>
        </p:nvSpPr>
        <p:spPr>
          <a:xfrm>
            <a:off x="8397720" y="609480"/>
            <a:ext cx="76320" cy="763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Text Box 138"/>
          <p:cNvSpPr/>
          <p:nvPr/>
        </p:nvSpPr>
        <p:spPr>
          <a:xfrm>
            <a:off x="8084160" y="380880"/>
            <a:ext cx="1374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</a:t>
            </a:r>
            <a:r>
              <a:rPr lang="en-US" sz="24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Text Box 139"/>
          <p:cNvSpPr/>
          <p:nvPr/>
        </p:nvSpPr>
        <p:spPr>
          <a:xfrm>
            <a:off x="7187760" y="1600200"/>
            <a:ext cx="1590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29" name="Group 140"/>
          <p:cNvGrpSpPr/>
          <p:nvPr/>
        </p:nvGrpSpPr>
        <p:grpSpPr>
          <a:xfrm>
            <a:off x="8321760" y="228600"/>
            <a:ext cx="228600" cy="228600"/>
            <a:chOff x="8321760" y="228600"/>
            <a:chExt cx="228600" cy="228600"/>
          </a:xfrm>
        </p:grpSpPr>
        <p:sp>
          <p:nvSpPr>
            <p:cNvPr id="230" name="Oval 141"/>
            <p:cNvSpPr/>
            <p:nvPr/>
          </p:nvSpPr>
          <p:spPr>
            <a:xfrm>
              <a:off x="8321760" y="228600"/>
              <a:ext cx="228600" cy="228600"/>
            </a:xfrm>
            <a:prstGeom prst="ellipse">
              <a:avLst/>
            </a:prstGeom>
            <a:noFill/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1" name="Oval 142"/>
            <p:cNvSpPr/>
            <p:nvPr/>
          </p:nvSpPr>
          <p:spPr>
            <a:xfrm>
              <a:off x="8398080" y="304560"/>
              <a:ext cx="75960" cy="76320"/>
            </a:xfrm>
            <a:prstGeom prst="ellipse">
              <a:avLst/>
            </a:prstGeom>
            <a:solidFill>
              <a:srgbClr val="000000"/>
            </a:solid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32" name="Text Box 143"/>
          <p:cNvSpPr/>
          <p:nvPr/>
        </p:nvSpPr>
        <p:spPr>
          <a:xfrm>
            <a:off x="8004600" y="76320"/>
            <a:ext cx="1334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2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 Box 144"/>
          <p:cNvSpPr/>
          <p:nvPr/>
        </p:nvSpPr>
        <p:spPr>
          <a:xfrm>
            <a:off x="-612000" y="533520"/>
            <a:ext cx="6482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圆形回路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L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L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圆周内有电流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 Box 145"/>
          <p:cNvSpPr/>
          <p:nvPr/>
        </p:nvSpPr>
        <p:spPr>
          <a:xfrm>
            <a:off x="-641520" y="990720"/>
            <a:ext cx="704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其分布相同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且均在真空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Text Box 146"/>
          <p:cNvSpPr/>
          <p:nvPr/>
        </p:nvSpPr>
        <p:spPr>
          <a:xfrm>
            <a:off x="-654840" y="1889280"/>
            <a:ext cx="980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为两圆形回路上的对应点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 Box 147"/>
          <p:cNvSpPr/>
          <p:nvPr/>
        </p:nvSpPr>
        <p:spPr>
          <a:xfrm>
            <a:off x="-244080" y="269712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7" name="Object 148"/>
              <p:cNvSpPr txBox="1"/>
              <p:nvPr/>
            </p:nvSpPr>
            <p:spPr>
              <a:xfrm>
                <a:off x="914400" y="2590920"/>
                <a:ext cx="4359240" cy="852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,</m:t>
                    </m:r>
                    <m:sSup>
                      <m:e/>
                      <m:sup/>
                    </m:sSup>
                    <m:sSub>
                      <m:e>
                        <m:r>
                          <m:t xml:space="preserve">B</m:t>
                        </m:r>
                      </m:e>
                      <m:sub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B</m:t>
                        </m:r>
                      </m:e>
                      <m:sub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37" name="Object 148"/>
              <p:cNvSpPr txBox="1"/>
              <p:nvPr/>
            </p:nvSpPr>
            <p:spPr>
              <a:xfrm>
                <a:off x="914400" y="2590920"/>
                <a:ext cx="4359240" cy="8524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238" name="Text Box 149"/>
          <p:cNvSpPr/>
          <p:nvPr/>
        </p:nvSpPr>
        <p:spPr>
          <a:xfrm>
            <a:off x="-244080" y="344484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9" name="Object 150"/>
              <p:cNvSpPr txBox="1"/>
              <p:nvPr/>
            </p:nvSpPr>
            <p:spPr>
              <a:xfrm>
                <a:off x="944640" y="3338640"/>
                <a:ext cx="4389480" cy="852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≠</m:t>
                    </m:r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,</m:t>
                    </m:r>
                    <m:sSup>
                      <m:e/>
                      <m:sup/>
                    </m:sSup>
                    <m:sSub>
                      <m:e>
                        <m:r>
                          <m:t xml:space="preserve">B</m:t>
                        </m:r>
                      </m:e>
                      <m:sub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B</m:t>
                        </m:r>
                      </m:e>
                      <m:sub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39" name="Object 150"/>
              <p:cNvSpPr txBox="1"/>
              <p:nvPr/>
            </p:nvSpPr>
            <p:spPr>
              <a:xfrm>
                <a:off x="944640" y="3338640"/>
                <a:ext cx="4389480" cy="852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40" name="Text Box 151"/>
          <p:cNvSpPr/>
          <p:nvPr/>
        </p:nvSpPr>
        <p:spPr>
          <a:xfrm>
            <a:off x="-244080" y="42210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1" name="Object 152"/>
              <p:cNvSpPr txBox="1"/>
              <p:nvPr/>
            </p:nvSpPr>
            <p:spPr>
              <a:xfrm>
                <a:off x="944640" y="4114800"/>
                <a:ext cx="4389480" cy="852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,</m:t>
                    </m:r>
                    <m:sSup>
                      <m:e/>
                      <m:sup/>
                    </m:sSup>
                    <m:sSub>
                      <m:e>
                        <m:r>
                          <m:t xml:space="preserve">B</m:t>
                        </m:r>
                      </m:e>
                      <m:sub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sub>
                    </m:sSub>
                    <m:sSub>
                      <m:e>
                        <m:r>
                          <m:t xml:space="preserve">B</m:t>
                        </m:r>
                      </m:e>
                      <m:sub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41" name="Object 152"/>
              <p:cNvSpPr txBox="1"/>
              <p:nvPr/>
            </p:nvSpPr>
            <p:spPr>
              <a:xfrm>
                <a:off x="944640" y="4114800"/>
                <a:ext cx="4389480" cy="852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242" name="Text Box 153"/>
          <p:cNvSpPr/>
          <p:nvPr/>
        </p:nvSpPr>
        <p:spPr>
          <a:xfrm>
            <a:off x="-244080" y="505944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3" name="Object 154"/>
              <p:cNvSpPr txBox="1"/>
              <p:nvPr/>
            </p:nvSpPr>
            <p:spPr>
              <a:xfrm>
                <a:off x="944640" y="4952880"/>
                <a:ext cx="4389480" cy="852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≠</m:t>
                    </m:r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,</m:t>
                    </m:r>
                    <m:sSup>
                      <m:e/>
                      <m:sup/>
                    </m:sSup>
                    <m:sSub>
                      <m:e>
                        <m:r>
                          <m:t xml:space="preserve">B</m:t>
                        </m:r>
                      </m:e>
                      <m:sub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sub>
                    </m:sSub>
                    <m:sSub>
                      <m:e>
                        <m:r>
                          <m:t xml:space="preserve">B</m:t>
                        </m:r>
                      </m:e>
                      <m:sub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43" name="Object 154"/>
              <p:cNvSpPr txBox="1"/>
              <p:nvPr/>
            </p:nvSpPr>
            <p:spPr>
              <a:xfrm>
                <a:off x="944640" y="4952880"/>
                <a:ext cx="4389480" cy="852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244" name="Text Box 155"/>
          <p:cNvSpPr/>
          <p:nvPr/>
        </p:nvSpPr>
        <p:spPr>
          <a:xfrm>
            <a:off x="6388920" y="18892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星形: 五角 49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fill="hold" nodeType="clickEffect">
                      <p:stCondLst>
                        <p:cond delay="indefinite"/>
                      </p:stCondLst>
                      <p:childTnLst>
                        <p:par>
                          <p:cTn id="9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8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3"/>
          <p:cNvSpPr/>
          <p:nvPr/>
        </p:nvSpPr>
        <p:spPr>
          <a:xfrm>
            <a:off x="-548640" y="212760"/>
            <a:ext cx="10071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P115/3.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从电子枪同时射出两个电子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初速度分别为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v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Text Box 4"/>
          <p:cNvSpPr/>
          <p:nvPr/>
        </p:nvSpPr>
        <p:spPr>
          <a:xfrm>
            <a:off x="-466920" y="762120"/>
            <a:ext cx="7785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2v,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经垂直磁场偏转后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Text Box 5"/>
          <p:cNvSpPr/>
          <p:nvPr/>
        </p:nvSpPr>
        <p:spPr>
          <a:xfrm>
            <a:off x="-467280" y="1355760"/>
            <a:ext cx="7122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初速度为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v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的电子先回到出发点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Text Box 6"/>
          <p:cNvSpPr/>
          <p:nvPr/>
        </p:nvSpPr>
        <p:spPr>
          <a:xfrm>
            <a:off x="-466560" y="1905120"/>
            <a:ext cx="7313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初速度为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2v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的电子先回到出发点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Text Box 7"/>
          <p:cNvSpPr/>
          <p:nvPr/>
        </p:nvSpPr>
        <p:spPr>
          <a:xfrm>
            <a:off x="-376560" y="2438280"/>
            <a:ext cx="446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同时回到出发点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Text Box 8"/>
          <p:cNvSpPr/>
          <p:nvPr/>
        </p:nvSpPr>
        <p:spPr>
          <a:xfrm>
            <a:off x="-376560" y="2955960"/>
            <a:ext cx="446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不能回到出发点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52" name="Group 9"/>
          <p:cNvGrpSpPr/>
          <p:nvPr/>
        </p:nvGrpSpPr>
        <p:grpSpPr>
          <a:xfrm>
            <a:off x="6248160" y="3166920"/>
            <a:ext cx="2362320" cy="2167200"/>
            <a:chOff x="6248160" y="3166920"/>
            <a:chExt cx="2362320" cy="2167200"/>
          </a:xfrm>
        </p:grpSpPr>
        <p:sp>
          <p:nvSpPr>
            <p:cNvPr id="253" name="Text Box 10"/>
            <p:cNvSpPr/>
            <p:nvPr/>
          </p:nvSpPr>
          <p:spPr>
            <a:xfrm>
              <a:off x="8056800" y="3656160"/>
              <a:ext cx="333000" cy="82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spcBef>
                  <a:spcPts val="2999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4800" b="1" u="none" strike="noStrike">
                  <a:solidFill>
                    <a:srgbClr val="0000FF"/>
                  </a:solidFill>
                  <a:effectLst/>
                  <a:uFillTx/>
                  <a:latin typeface="Times New Roman"/>
                </a:rPr>
                <a:t>.</a:t>
              </a: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4" name="Line 11"/>
            <p:cNvSpPr/>
            <p:nvPr/>
          </p:nvSpPr>
          <p:spPr>
            <a:xfrm flipH="1">
              <a:off x="6629400" y="4343400"/>
              <a:ext cx="828720" cy="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5" name="Line 12"/>
            <p:cNvSpPr/>
            <p:nvPr/>
          </p:nvSpPr>
          <p:spPr>
            <a:xfrm flipV="1">
              <a:off x="8229600" y="3414240"/>
              <a:ext cx="0" cy="83844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  <a:tailEnd len="lg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6" name="Oval 13"/>
            <p:cNvSpPr/>
            <p:nvPr/>
          </p:nvSpPr>
          <p:spPr>
            <a:xfrm>
              <a:off x="6620040" y="3505320"/>
              <a:ext cx="1600200" cy="1676160"/>
            </a:xfrm>
            <a:prstGeom prst="ellipse">
              <a:avLst/>
            </a:prstGeom>
            <a:noFill/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57" name="Object 14"/>
                <p:cNvSpPr txBox="1"/>
                <p:nvPr/>
              </p:nvSpPr>
              <p:spPr>
                <a:xfrm>
                  <a:off x="7924680" y="3166920"/>
                  <a:ext cx="314280" cy="4143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</m:accPr>
                        <m:e>
                          <m:r>
                            <m:t xml:space="preserve">v</m:t>
                          </m:r>
                        </m:e>
                      </m:acc>
                    </m:oMath>
                  </a14:m>
                </a:p>
              </p:txBody>
            </p:sp>
          </mc:Choice>
          <mc:Fallback>
            <p:sp>
              <p:nvSpPr>
                <p:cNvPr id="257" name="Object 14"/>
                <p:cNvSpPr txBox="1"/>
                <p:nvPr/>
              </p:nvSpPr>
              <p:spPr>
                <a:xfrm>
                  <a:off x="7924680" y="3166920"/>
                  <a:ext cx="314280" cy="414360"/>
                </a:xfrm>
                <a:prstGeom prst="rect">
                  <a:avLst/>
                </a:prstGeom>
                <a:blipFill>
                  <a:blip r:embed="rId1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258" name="Object 15"/>
                <p:cNvSpPr txBox="1"/>
                <p:nvPr/>
              </p:nvSpPr>
              <p:spPr>
                <a:xfrm>
                  <a:off x="8296200" y="4038480"/>
                  <a:ext cx="314280" cy="38268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q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58" name="Object 15"/>
                <p:cNvSpPr txBox="1"/>
                <p:nvPr/>
              </p:nvSpPr>
              <p:spPr>
                <a:xfrm>
                  <a:off x="8296200" y="4038480"/>
                  <a:ext cx="314280" cy="3826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59" name="Text Box 16"/>
            <p:cNvSpPr/>
            <p:nvPr/>
          </p:nvSpPr>
          <p:spPr>
            <a:xfrm>
              <a:off x="6912360" y="3962520"/>
              <a:ext cx="40068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spcBef>
                  <a:spcPts val="15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FF"/>
                  </a:solidFill>
                  <a:effectLst/>
                  <a:uFillTx/>
                  <a:latin typeface="Times New Roman"/>
                </a:rPr>
                <a:t>R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60" name="Object 17"/>
                <p:cNvSpPr txBox="1"/>
                <p:nvPr/>
              </p:nvSpPr>
              <p:spPr>
                <a:xfrm>
                  <a:off x="7238880" y="4495680"/>
                  <a:ext cx="316080" cy="47304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</m:accPr>
                        <m:e>
                          <m:r>
                            <m:t xml:space="preserve">B</m:t>
                          </m:r>
                        </m:e>
                      </m:acc>
                    </m:oMath>
                  </a14:m>
                </a:p>
              </p:txBody>
            </p:sp>
          </mc:Choice>
          <mc:Fallback>
            <p:sp>
              <p:nvSpPr>
                <p:cNvPr id="260" name="Object 17"/>
                <p:cNvSpPr txBox="1"/>
                <p:nvPr/>
              </p:nvSpPr>
              <p:spPr>
                <a:xfrm>
                  <a:off x="7238880" y="4495680"/>
                  <a:ext cx="316080" cy="47304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</p:sp>
          </mc:Fallback>
        </mc:AlternateContent>
        <p:grpSp>
          <p:nvGrpSpPr>
            <p:cNvPr id="261" name="Group 18"/>
            <p:cNvGrpSpPr/>
            <p:nvPr/>
          </p:nvGrpSpPr>
          <p:grpSpPr>
            <a:xfrm>
              <a:off x="6248160" y="3200400"/>
              <a:ext cx="2209680" cy="2133720"/>
              <a:chOff x="6248160" y="3200400"/>
              <a:chExt cx="2209680" cy="2133720"/>
            </a:xfrm>
          </p:grpSpPr>
          <p:grpSp>
            <p:nvGrpSpPr>
              <p:cNvPr id="262" name="Group 19"/>
              <p:cNvGrpSpPr/>
              <p:nvPr/>
            </p:nvGrpSpPr>
            <p:grpSpPr>
              <a:xfrm>
                <a:off x="6933600" y="3886200"/>
                <a:ext cx="152640" cy="152280"/>
                <a:chOff x="6933600" y="3886200"/>
                <a:chExt cx="152640" cy="152280"/>
              </a:xfrm>
            </p:grpSpPr>
            <p:sp>
              <p:nvSpPr>
                <p:cNvPr id="263" name="Line 20"/>
                <p:cNvSpPr/>
                <p:nvPr/>
              </p:nvSpPr>
              <p:spPr>
                <a:xfrm flipH="1">
                  <a:off x="6933600" y="38862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64" name="Line 21"/>
                <p:cNvSpPr/>
                <p:nvPr/>
              </p:nvSpPr>
              <p:spPr>
                <a:xfrm>
                  <a:off x="6933960" y="38862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65" name="Group 22"/>
              <p:cNvGrpSpPr/>
              <p:nvPr/>
            </p:nvGrpSpPr>
            <p:grpSpPr>
              <a:xfrm>
                <a:off x="7696080" y="3886200"/>
                <a:ext cx="151920" cy="152280"/>
                <a:chOff x="7696080" y="3886200"/>
                <a:chExt cx="151920" cy="152280"/>
              </a:xfrm>
            </p:grpSpPr>
            <p:sp>
              <p:nvSpPr>
                <p:cNvPr id="266" name="Line 23"/>
                <p:cNvSpPr/>
                <p:nvPr/>
              </p:nvSpPr>
              <p:spPr>
                <a:xfrm flipH="1">
                  <a:off x="7696080" y="3886200"/>
                  <a:ext cx="15192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67" name="Line 24"/>
                <p:cNvSpPr/>
                <p:nvPr/>
              </p:nvSpPr>
              <p:spPr>
                <a:xfrm>
                  <a:off x="7696080" y="3886200"/>
                  <a:ext cx="15192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68" name="Group 25"/>
              <p:cNvGrpSpPr/>
              <p:nvPr/>
            </p:nvGrpSpPr>
            <p:grpSpPr>
              <a:xfrm>
                <a:off x="6933600" y="3200400"/>
                <a:ext cx="152640" cy="152280"/>
                <a:chOff x="6933600" y="3200400"/>
                <a:chExt cx="152640" cy="152280"/>
              </a:xfrm>
            </p:grpSpPr>
            <p:sp>
              <p:nvSpPr>
                <p:cNvPr id="269" name="Line 26"/>
                <p:cNvSpPr/>
                <p:nvPr/>
              </p:nvSpPr>
              <p:spPr>
                <a:xfrm flipH="1">
                  <a:off x="6933600" y="3200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70" name="Line 27"/>
                <p:cNvSpPr/>
                <p:nvPr/>
              </p:nvSpPr>
              <p:spPr>
                <a:xfrm>
                  <a:off x="6933960" y="3200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71" name="Group 28"/>
              <p:cNvGrpSpPr/>
              <p:nvPr/>
            </p:nvGrpSpPr>
            <p:grpSpPr>
              <a:xfrm>
                <a:off x="7696080" y="3200400"/>
                <a:ext cx="151920" cy="152280"/>
                <a:chOff x="7696080" y="3200400"/>
                <a:chExt cx="151920" cy="152280"/>
              </a:xfrm>
            </p:grpSpPr>
            <p:sp>
              <p:nvSpPr>
                <p:cNvPr id="272" name="Line 29"/>
                <p:cNvSpPr/>
                <p:nvPr/>
              </p:nvSpPr>
              <p:spPr>
                <a:xfrm flipH="1">
                  <a:off x="7696080" y="3200400"/>
                  <a:ext cx="15192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73" name="Line 30"/>
                <p:cNvSpPr/>
                <p:nvPr/>
              </p:nvSpPr>
              <p:spPr>
                <a:xfrm>
                  <a:off x="7696080" y="3200400"/>
                  <a:ext cx="15192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74" name="Group 31"/>
              <p:cNvGrpSpPr/>
              <p:nvPr/>
            </p:nvGrpSpPr>
            <p:grpSpPr>
              <a:xfrm>
                <a:off x="6248160" y="3886200"/>
                <a:ext cx="152640" cy="152280"/>
                <a:chOff x="6248160" y="3886200"/>
                <a:chExt cx="152640" cy="152280"/>
              </a:xfrm>
            </p:grpSpPr>
            <p:sp>
              <p:nvSpPr>
                <p:cNvPr id="275" name="Line 32"/>
                <p:cNvSpPr/>
                <p:nvPr/>
              </p:nvSpPr>
              <p:spPr>
                <a:xfrm flipH="1">
                  <a:off x="6248160" y="38862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76" name="Line 33"/>
                <p:cNvSpPr/>
                <p:nvPr/>
              </p:nvSpPr>
              <p:spPr>
                <a:xfrm>
                  <a:off x="6248520" y="38862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77" name="Group 34"/>
              <p:cNvGrpSpPr/>
              <p:nvPr/>
            </p:nvGrpSpPr>
            <p:grpSpPr>
              <a:xfrm>
                <a:off x="6248160" y="3200400"/>
                <a:ext cx="152640" cy="152280"/>
                <a:chOff x="6248160" y="3200400"/>
                <a:chExt cx="152640" cy="152280"/>
              </a:xfrm>
            </p:grpSpPr>
            <p:sp>
              <p:nvSpPr>
                <p:cNvPr id="278" name="Line 35"/>
                <p:cNvSpPr/>
                <p:nvPr/>
              </p:nvSpPr>
              <p:spPr>
                <a:xfrm flipH="1">
                  <a:off x="6248160" y="3200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79" name="Line 36"/>
                <p:cNvSpPr/>
                <p:nvPr/>
              </p:nvSpPr>
              <p:spPr>
                <a:xfrm>
                  <a:off x="6248520" y="3200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80" name="Group 37"/>
              <p:cNvGrpSpPr/>
              <p:nvPr/>
            </p:nvGrpSpPr>
            <p:grpSpPr>
              <a:xfrm>
                <a:off x="8305200" y="3886200"/>
                <a:ext cx="152640" cy="152280"/>
                <a:chOff x="8305200" y="3886200"/>
                <a:chExt cx="152640" cy="152280"/>
              </a:xfrm>
            </p:grpSpPr>
            <p:sp>
              <p:nvSpPr>
                <p:cNvPr id="281" name="Line 38"/>
                <p:cNvSpPr/>
                <p:nvPr/>
              </p:nvSpPr>
              <p:spPr>
                <a:xfrm flipH="1">
                  <a:off x="8305200" y="38862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2" name="Line 39"/>
                <p:cNvSpPr/>
                <p:nvPr/>
              </p:nvSpPr>
              <p:spPr>
                <a:xfrm>
                  <a:off x="8305560" y="38862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83" name="Group 40"/>
              <p:cNvGrpSpPr/>
              <p:nvPr/>
            </p:nvGrpSpPr>
            <p:grpSpPr>
              <a:xfrm>
                <a:off x="6933600" y="4572000"/>
                <a:ext cx="152640" cy="152280"/>
                <a:chOff x="6933600" y="4572000"/>
                <a:chExt cx="152640" cy="152280"/>
              </a:xfrm>
            </p:grpSpPr>
            <p:sp>
              <p:nvSpPr>
                <p:cNvPr id="284" name="Line 41"/>
                <p:cNvSpPr/>
                <p:nvPr/>
              </p:nvSpPr>
              <p:spPr>
                <a:xfrm flipH="1">
                  <a:off x="6933600" y="45720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5" name="Line 42"/>
                <p:cNvSpPr/>
                <p:nvPr/>
              </p:nvSpPr>
              <p:spPr>
                <a:xfrm>
                  <a:off x="6933960" y="45720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86" name="Group 43"/>
              <p:cNvGrpSpPr/>
              <p:nvPr/>
            </p:nvGrpSpPr>
            <p:grpSpPr>
              <a:xfrm>
                <a:off x="7696080" y="4572000"/>
                <a:ext cx="151920" cy="152280"/>
                <a:chOff x="7696080" y="4572000"/>
                <a:chExt cx="151920" cy="152280"/>
              </a:xfrm>
            </p:grpSpPr>
            <p:sp>
              <p:nvSpPr>
                <p:cNvPr id="287" name="Line 44"/>
                <p:cNvSpPr/>
                <p:nvPr/>
              </p:nvSpPr>
              <p:spPr>
                <a:xfrm flipH="1">
                  <a:off x="7696080" y="4572000"/>
                  <a:ext cx="15192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8" name="Line 45"/>
                <p:cNvSpPr/>
                <p:nvPr/>
              </p:nvSpPr>
              <p:spPr>
                <a:xfrm>
                  <a:off x="7696080" y="4572000"/>
                  <a:ext cx="15192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89" name="Group 46"/>
              <p:cNvGrpSpPr/>
              <p:nvPr/>
            </p:nvGrpSpPr>
            <p:grpSpPr>
              <a:xfrm>
                <a:off x="6933600" y="5181480"/>
                <a:ext cx="152640" cy="152640"/>
                <a:chOff x="6933600" y="5181480"/>
                <a:chExt cx="152640" cy="152640"/>
              </a:xfrm>
            </p:grpSpPr>
            <p:sp>
              <p:nvSpPr>
                <p:cNvPr id="290" name="Line 47"/>
                <p:cNvSpPr/>
                <p:nvPr/>
              </p:nvSpPr>
              <p:spPr>
                <a:xfrm flipH="1">
                  <a:off x="6933600" y="5181480"/>
                  <a:ext cx="152280" cy="15264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91" name="Line 48"/>
                <p:cNvSpPr/>
                <p:nvPr/>
              </p:nvSpPr>
              <p:spPr>
                <a:xfrm>
                  <a:off x="6933960" y="5181480"/>
                  <a:ext cx="152280" cy="15264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92" name="Group 49"/>
              <p:cNvGrpSpPr/>
              <p:nvPr/>
            </p:nvGrpSpPr>
            <p:grpSpPr>
              <a:xfrm>
                <a:off x="7696080" y="5181480"/>
                <a:ext cx="151920" cy="152640"/>
                <a:chOff x="7696080" y="5181480"/>
                <a:chExt cx="151920" cy="152640"/>
              </a:xfrm>
            </p:grpSpPr>
            <p:sp>
              <p:nvSpPr>
                <p:cNvPr id="293" name="Line 50"/>
                <p:cNvSpPr/>
                <p:nvPr/>
              </p:nvSpPr>
              <p:spPr>
                <a:xfrm flipH="1">
                  <a:off x="7696080" y="5181480"/>
                  <a:ext cx="151920" cy="15264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94" name="Line 51"/>
                <p:cNvSpPr/>
                <p:nvPr/>
              </p:nvSpPr>
              <p:spPr>
                <a:xfrm>
                  <a:off x="7696080" y="5181480"/>
                  <a:ext cx="151920" cy="15264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95" name="Group 52"/>
              <p:cNvGrpSpPr/>
              <p:nvPr/>
            </p:nvGrpSpPr>
            <p:grpSpPr>
              <a:xfrm>
                <a:off x="6248160" y="4572000"/>
                <a:ext cx="152640" cy="152280"/>
                <a:chOff x="6248160" y="4572000"/>
                <a:chExt cx="152640" cy="152280"/>
              </a:xfrm>
            </p:grpSpPr>
            <p:sp>
              <p:nvSpPr>
                <p:cNvPr id="296" name="Line 53"/>
                <p:cNvSpPr/>
                <p:nvPr/>
              </p:nvSpPr>
              <p:spPr>
                <a:xfrm flipH="1">
                  <a:off x="6248160" y="45720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97" name="Line 54"/>
                <p:cNvSpPr/>
                <p:nvPr/>
              </p:nvSpPr>
              <p:spPr>
                <a:xfrm>
                  <a:off x="6248520" y="45720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98" name="Group 55"/>
              <p:cNvGrpSpPr/>
              <p:nvPr/>
            </p:nvGrpSpPr>
            <p:grpSpPr>
              <a:xfrm>
                <a:off x="6248160" y="5181480"/>
                <a:ext cx="152640" cy="152640"/>
                <a:chOff x="6248160" y="5181480"/>
                <a:chExt cx="152640" cy="152640"/>
              </a:xfrm>
            </p:grpSpPr>
            <p:sp>
              <p:nvSpPr>
                <p:cNvPr id="299" name="Line 56"/>
                <p:cNvSpPr/>
                <p:nvPr/>
              </p:nvSpPr>
              <p:spPr>
                <a:xfrm flipH="1">
                  <a:off x="6248160" y="5181480"/>
                  <a:ext cx="152280" cy="15264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00" name="Line 57"/>
                <p:cNvSpPr/>
                <p:nvPr/>
              </p:nvSpPr>
              <p:spPr>
                <a:xfrm>
                  <a:off x="6248520" y="5181480"/>
                  <a:ext cx="152280" cy="15264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301" name="Group 58"/>
              <p:cNvGrpSpPr/>
              <p:nvPr/>
            </p:nvGrpSpPr>
            <p:grpSpPr>
              <a:xfrm>
                <a:off x="8305200" y="4572000"/>
                <a:ext cx="152640" cy="152280"/>
                <a:chOff x="8305200" y="4572000"/>
                <a:chExt cx="152640" cy="152280"/>
              </a:xfrm>
            </p:grpSpPr>
            <p:sp>
              <p:nvSpPr>
                <p:cNvPr id="302" name="Line 59"/>
                <p:cNvSpPr/>
                <p:nvPr/>
              </p:nvSpPr>
              <p:spPr>
                <a:xfrm flipH="1">
                  <a:off x="8305200" y="45720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03" name="Line 60"/>
                <p:cNvSpPr/>
                <p:nvPr/>
              </p:nvSpPr>
              <p:spPr>
                <a:xfrm>
                  <a:off x="8305560" y="45720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304" name="Group 61"/>
              <p:cNvGrpSpPr/>
              <p:nvPr/>
            </p:nvGrpSpPr>
            <p:grpSpPr>
              <a:xfrm>
                <a:off x="8305200" y="5181480"/>
                <a:ext cx="152640" cy="152640"/>
                <a:chOff x="8305200" y="5181480"/>
                <a:chExt cx="152640" cy="152640"/>
              </a:xfrm>
            </p:grpSpPr>
            <p:sp>
              <p:nvSpPr>
                <p:cNvPr id="305" name="Line 62"/>
                <p:cNvSpPr/>
                <p:nvPr/>
              </p:nvSpPr>
              <p:spPr>
                <a:xfrm flipH="1">
                  <a:off x="8305200" y="5181480"/>
                  <a:ext cx="152280" cy="15264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06" name="Line 63"/>
                <p:cNvSpPr/>
                <p:nvPr/>
              </p:nvSpPr>
              <p:spPr>
                <a:xfrm>
                  <a:off x="8305560" y="5181480"/>
                  <a:ext cx="152280" cy="15264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307" name="Group 64"/>
              <p:cNvGrpSpPr/>
              <p:nvPr/>
            </p:nvGrpSpPr>
            <p:grpSpPr>
              <a:xfrm>
                <a:off x="8305200" y="3200400"/>
                <a:ext cx="152640" cy="152280"/>
                <a:chOff x="8305200" y="3200400"/>
                <a:chExt cx="152640" cy="152280"/>
              </a:xfrm>
            </p:grpSpPr>
            <p:sp>
              <p:nvSpPr>
                <p:cNvPr id="308" name="Line 65"/>
                <p:cNvSpPr/>
                <p:nvPr/>
              </p:nvSpPr>
              <p:spPr>
                <a:xfrm flipH="1">
                  <a:off x="8305200" y="3200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09" name="Line 66"/>
                <p:cNvSpPr/>
                <p:nvPr/>
              </p:nvSpPr>
              <p:spPr>
                <a:xfrm>
                  <a:off x="8305560" y="3200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</p:grpSp>
      </p:grpSp>
      <mc:AlternateContent>
        <mc:Choice xmlns:a14="http://schemas.microsoft.com/office/drawing/2010/main" Requires="a14">
          <p:sp>
            <p:nvSpPr>
              <p:cNvPr id="310" name="Object 67"/>
              <p:cNvSpPr txBox="1"/>
              <p:nvPr/>
            </p:nvSpPr>
            <p:spPr>
              <a:xfrm>
                <a:off x="533520" y="4343400"/>
                <a:ext cx="1500120" cy="920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  <m:r>
                          <m:t xml:space="preserve">πR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10" name="Object 67"/>
              <p:cNvSpPr txBox="1"/>
              <p:nvPr/>
            </p:nvSpPr>
            <p:spPr>
              <a:xfrm>
                <a:off x="533520" y="4343400"/>
                <a:ext cx="1500120" cy="920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11" name="Object 68"/>
              <p:cNvSpPr txBox="1"/>
              <p:nvPr/>
            </p:nvSpPr>
            <p:spPr>
              <a:xfrm>
                <a:off x="1981080" y="4356000"/>
                <a:ext cx="1181160" cy="984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  <m:r>
                          <m:t xml:space="preserve">πm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qB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11" name="Object 68"/>
              <p:cNvSpPr txBox="1"/>
              <p:nvPr/>
            </p:nvSpPr>
            <p:spPr>
              <a:xfrm>
                <a:off x="1981080" y="4356000"/>
                <a:ext cx="1181160" cy="9842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312" name="Text Box 69"/>
          <p:cNvSpPr/>
          <p:nvPr/>
        </p:nvSpPr>
        <p:spPr>
          <a:xfrm>
            <a:off x="4484160" y="7462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星形: 五角 70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 nodeType="clickEffect">
                      <p:stCondLst>
                        <p:cond delay="indefinite"/>
                      </p:stCondLst>
                      <p:childTnLst>
                        <p:par>
                          <p:cTn id="10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0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Effect">
                      <p:stCondLst>
                        <p:cond delay="indefinite"/>
                      </p:stCondLst>
                      <p:childTnLst>
                        <p:par>
                          <p:cTn id="10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0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Effect">
                      <p:stCondLst>
                        <p:cond delay="indefinite"/>
                      </p:stCondLst>
                      <p:childTnLst>
                        <p:par>
                          <p:cTn id="1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5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Effect">
                      <p:stCondLst>
                        <p:cond delay="indefinite"/>
                      </p:stCondLst>
                      <p:childTnLst>
                        <p:par>
                          <p:cTn id="11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Box 51"/>
          <p:cNvSpPr/>
          <p:nvPr/>
        </p:nvSpPr>
        <p:spPr>
          <a:xfrm>
            <a:off x="-610920" y="76320"/>
            <a:ext cx="7495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P115/4.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有一半径为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R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的圆线圈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Text Box 52"/>
          <p:cNvSpPr/>
          <p:nvPr/>
        </p:nvSpPr>
        <p:spPr>
          <a:xfrm>
            <a:off x="-468000" y="974880"/>
            <a:ext cx="714168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长直导线通有电流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则圆形电流受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Text Box 53"/>
          <p:cNvSpPr/>
          <p:nvPr/>
        </p:nvSpPr>
        <p:spPr>
          <a:xfrm>
            <a:off x="-399240" y="1432080"/>
            <a:ext cx="5888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到的作用力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Oval 54"/>
          <p:cNvSpPr/>
          <p:nvPr/>
        </p:nvSpPr>
        <p:spPr>
          <a:xfrm>
            <a:off x="6172200" y="1066680"/>
            <a:ext cx="2209680" cy="8384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Line 55"/>
          <p:cNvSpPr/>
          <p:nvPr/>
        </p:nvSpPr>
        <p:spPr>
          <a:xfrm flipV="1">
            <a:off x="7238880" y="152280"/>
            <a:ext cx="0" cy="137160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Line 56"/>
          <p:cNvSpPr/>
          <p:nvPr/>
        </p:nvSpPr>
        <p:spPr>
          <a:xfrm flipV="1">
            <a:off x="7238880" y="761760"/>
            <a:ext cx="0" cy="53316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Line 57"/>
          <p:cNvSpPr/>
          <p:nvPr/>
        </p:nvSpPr>
        <p:spPr>
          <a:xfrm flipV="1">
            <a:off x="7238880" y="1981080"/>
            <a:ext cx="0" cy="91440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Line 58"/>
          <p:cNvSpPr/>
          <p:nvPr/>
        </p:nvSpPr>
        <p:spPr>
          <a:xfrm flipH="1">
            <a:off x="6400440" y="1143000"/>
            <a:ext cx="228600" cy="7632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29520" rIns="90000" bIns="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Text Box 59"/>
          <p:cNvSpPr/>
          <p:nvPr/>
        </p:nvSpPr>
        <p:spPr>
          <a:xfrm>
            <a:off x="6922080" y="457200"/>
            <a:ext cx="1334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2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Text Box 60"/>
          <p:cNvSpPr/>
          <p:nvPr/>
        </p:nvSpPr>
        <p:spPr>
          <a:xfrm>
            <a:off x="6126480" y="1038240"/>
            <a:ext cx="1334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2000" b="1" u="none" strike="noStrike" baseline="-5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Line 61"/>
          <p:cNvSpPr/>
          <p:nvPr/>
        </p:nvSpPr>
        <p:spPr>
          <a:xfrm flipH="1">
            <a:off x="6171840" y="1523880"/>
            <a:ext cx="10666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Text Box 62"/>
          <p:cNvSpPr/>
          <p:nvPr/>
        </p:nvSpPr>
        <p:spPr>
          <a:xfrm>
            <a:off x="-440640" y="533520"/>
            <a:ext cx="714132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通有电流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在圆线圈的轴线上有一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Text Box 63"/>
          <p:cNvSpPr/>
          <p:nvPr/>
        </p:nvSpPr>
        <p:spPr>
          <a:xfrm>
            <a:off x="-371160" y="1905120"/>
            <a:ext cx="446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沿半径方向向外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Text Box 64"/>
          <p:cNvSpPr/>
          <p:nvPr/>
        </p:nvSpPr>
        <p:spPr>
          <a:xfrm>
            <a:off x="-371160" y="2454120"/>
            <a:ext cx="446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沿半径方向向里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Text Box 65"/>
          <p:cNvSpPr/>
          <p:nvPr/>
        </p:nvSpPr>
        <p:spPr>
          <a:xfrm>
            <a:off x="-455040" y="2987640"/>
            <a:ext cx="380412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3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Text Box 66"/>
          <p:cNvSpPr/>
          <p:nvPr/>
        </p:nvSpPr>
        <p:spPr>
          <a:xfrm>
            <a:off x="-455040" y="3505320"/>
            <a:ext cx="380412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3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Text Box 67"/>
          <p:cNvSpPr/>
          <p:nvPr/>
        </p:nvSpPr>
        <p:spPr>
          <a:xfrm>
            <a:off x="-373320" y="3962520"/>
            <a:ext cx="3320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(E)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无作用力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Text Box 68"/>
          <p:cNvSpPr/>
          <p:nvPr/>
        </p:nvSpPr>
        <p:spPr>
          <a:xfrm>
            <a:off x="2269440" y="14320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Line 69"/>
          <p:cNvSpPr/>
          <p:nvPr/>
        </p:nvSpPr>
        <p:spPr>
          <a:xfrm flipV="1">
            <a:off x="7848720" y="1766520"/>
            <a:ext cx="223560" cy="8100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34200" rIns="90000" bIns="34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33" name="Object 70"/>
              <p:cNvSpPr txBox="1"/>
              <p:nvPr/>
            </p:nvSpPr>
            <p:spPr>
              <a:xfrm>
                <a:off x="7791480" y="1757520"/>
                <a:ext cx="663480" cy="517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Id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l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33" name="Object 70"/>
              <p:cNvSpPr txBox="1"/>
              <p:nvPr/>
            </p:nvSpPr>
            <p:spPr>
              <a:xfrm>
                <a:off x="7791480" y="1757520"/>
                <a:ext cx="663480" cy="5173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34" name="Line 71"/>
          <p:cNvSpPr/>
          <p:nvPr/>
        </p:nvSpPr>
        <p:spPr>
          <a:xfrm flipV="1">
            <a:off x="7886880" y="1747440"/>
            <a:ext cx="266400" cy="9036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3560" rIns="90000" bIns="435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35" name="Object 72"/>
              <p:cNvSpPr txBox="1"/>
              <p:nvPr/>
            </p:nvSpPr>
            <p:spPr>
              <a:xfrm>
                <a:off x="7719840" y="1295280"/>
                <a:ext cx="301680" cy="487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35" name="Object 72"/>
              <p:cNvSpPr txBox="1"/>
              <p:nvPr/>
            </p:nvSpPr>
            <p:spPr>
              <a:xfrm>
                <a:off x="7719840" y="1295280"/>
                <a:ext cx="301680" cy="4874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6" name="Object 73"/>
              <p:cNvSpPr txBox="1"/>
              <p:nvPr/>
            </p:nvSpPr>
            <p:spPr>
              <a:xfrm>
                <a:off x="990720" y="4800600"/>
                <a:ext cx="1774800" cy="501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Id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l</m:t>
                        </m:r>
                      </m:e>
                    </m:acc>
                    <m:r>
                      <m:t xml:space="preserve">×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36" name="Object 73"/>
              <p:cNvSpPr txBox="1"/>
              <p:nvPr/>
            </p:nvSpPr>
            <p:spPr>
              <a:xfrm>
                <a:off x="990720" y="4800600"/>
                <a:ext cx="1774800" cy="501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337" name="星形: 五角 26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1" dur="indefinite" restart="never" nodeType="tmRoot">
          <p:childTnLst>
            <p:seq>
              <p:cTn id="122" dur="indefinite" nodeType="mainSeq">
                <p:childTnLst>
                  <p:par>
                    <p:cTn id="123" fill="hold" nodeType="clickEffect">
                      <p:stCondLst>
                        <p:cond delay="indefinite"/>
                      </p:stCondLst>
                      <p:childTnLst>
                        <p:par>
                          <p:cTn id="1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7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Effect">
                      <p:stCondLst>
                        <p:cond delay="indefinite"/>
                      </p:stCondLst>
                      <p:childTnLst>
                        <p:par>
                          <p:cTn id="1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6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Effect">
                      <p:stCondLst>
                        <p:cond delay="indefinite"/>
                      </p:stCondLst>
                      <p:childTnLst>
                        <p:par>
                          <p:cTn id="13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1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5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Effect">
                      <p:stCondLst>
                        <p:cond delay="indefinite"/>
                      </p:stCondLst>
                      <p:childTnLst>
                        <p:par>
                          <p:cTn id="14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0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Box 28"/>
          <p:cNvSpPr/>
          <p:nvPr/>
        </p:nvSpPr>
        <p:spPr>
          <a:xfrm>
            <a:off x="-499680" y="685800"/>
            <a:ext cx="99691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P112/1.</a:t>
            </a:r>
            <a:r>
              <a:rPr lang="zh-CN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求各图中载流导线在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zh-CN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点产生磁感应强度大小和方向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Oval 29"/>
          <p:cNvSpPr/>
          <p:nvPr/>
        </p:nvSpPr>
        <p:spPr>
          <a:xfrm>
            <a:off x="457200" y="1523880"/>
            <a:ext cx="1066680" cy="114300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Line 30"/>
          <p:cNvSpPr/>
          <p:nvPr/>
        </p:nvSpPr>
        <p:spPr>
          <a:xfrm>
            <a:off x="1523880" y="213372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1" name="Object 31"/>
              <p:cNvSpPr txBox="1"/>
              <p:nvPr/>
            </p:nvSpPr>
            <p:spPr>
              <a:xfrm>
                <a:off x="898560" y="2085840"/>
                <a:ext cx="320760" cy="352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o</m:t>
                    </m:r>
                  </m:oMath>
                </a14:m>
              </a:p>
            </p:txBody>
          </p:sp>
        </mc:Choice>
        <mc:Fallback>
          <p:sp>
            <p:nvSpPr>
              <p:cNvPr id="341" name="Object 31"/>
              <p:cNvSpPr txBox="1"/>
              <p:nvPr/>
            </p:nvSpPr>
            <p:spPr>
              <a:xfrm>
                <a:off x="898560" y="2085840"/>
                <a:ext cx="320760" cy="3524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42" name="Oval 32"/>
          <p:cNvSpPr/>
          <p:nvPr/>
        </p:nvSpPr>
        <p:spPr>
          <a:xfrm>
            <a:off x="990720" y="2057400"/>
            <a:ext cx="75960" cy="763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Line 33"/>
          <p:cNvSpPr/>
          <p:nvPr/>
        </p:nvSpPr>
        <p:spPr>
          <a:xfrm>
            <a:off x="990720" y="2666880"/>
            <a:ext cx="137160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Line 34"/>
          <p:cNvSpPr/>
          <p:nvPr/>
        </p:nvSpPr>
        <p:spPr>
          <a:xfrm flipH="1">
            <a:off x="1676160" y="2666880"/>
            <a:ext cx="53316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Text Box 35"/>
          <p:cNvSpPr/>
          <p:nvPr/>
        </p:nvSpPr>
        <p:spPr>
          <a:xfrm>
            <a:off x="3652920" y="1600200"/>
            <a:ext cx="418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Bo=_____________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Text Box 36"/>
          <p:cNvSpPr/>
          <p:nvPr/>
        </p:nvSpPr>
        <p:spPr>
          <a:xfrm>
            <a:off x="3605760" y="2346480"/>
            <a:ext cx="427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Line 37"/>
          <p:cNvSpPr/>
          <p:nvPr/>
        </p:nvSpPr>
        <p:spPr>
          <a:xfrm>
            <a:off x="2438280" y="213372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Line 38"/>
          <p:cNvSpPr/>
          <p:nvPr/>
        </p:nvSpPr>
        <p:spPr>
          <a:xfrm>
            <a:off x="2438280" y="266688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9" name="Object 39"/>
              <p:cNvSpPr txBox="1"/>
              <p:nvPr/>
            </p:nvSpPr>
            <p:spPr>
              <a:xfrm>
                <a:off x="501480" y="3073320"/>
                <a:ext cx="2127600" cy="1514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(</m:t>
                        </m:r>
                        <m:f>
                          <m:num>
                            <m:r>
                              <m:t xml:space="preserve">1</m:t>
                            </m:r>
                          </m:num>
                          <m:den>
                            <m:r>
                              <m:t xml:space="preserve">4</m:t>
                            </m:r>
                          </m:den>
                        </m:f>
                        <m:r>
                          <m:t xml:space="preserve">I</m:t>
                        </m:r>
                        <m:r>
                          <m:t xml:space="preserve">)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R</m:t>
                        </m:r>
                      </m:den>
                    </m:f>
                    <m:r>
                      <m:t xml:space="preserve">⋅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49" name="Object 39"/>
              <p:cNvSpPr txBox="1"/>
              <p:nvPr/>
            </p:nvSpPr>
            <p:spPr>
              <a:xfrm>
                <a:off x="501480" y="3073320"/>
                <a:ext cx="2127600" cy="151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0" name="Object 40"/>
              <p:cNvSpPr txBox="1"/>
              <p:nvPr/>
            </p:nvSpPr>
            <p:spPr>
              <a:xfrm>
                <a:off x="2666880" y="3514680"/>
                <a:ext cx="1133640" cy="1042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32</m:t>
                        </m:r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50" name="Object 40"/>
              <p:cNvSpPr txBox="1"/>
              <p:nvPr/>
            </p:nvSpPr>
            <p:spPr>
              <a:xfrm>
                <a:off x="2666880" y="3514680"/>
                <a:ext cx="1133640" cy="104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1" name="Object 41"/>
              <p:cNvSpPr txBox="1"/>
              <p:nvPr/>
            </p:nvSpPr>
            <p:spPr>
              <a:xfrm>
                <a:off x="4800600" y="3083040"/>
                <a:ext cx="2101680" cy="1514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(</m:t>
                        </m:r>
                        <m:f>
                          <m:num>
                            <m:r>
                              <m:t xml:space="preserve">3</m:t>
                            </m:r>
                            <m:r>
                              <m:t xml:space="preserve">I</m:t>
                            </m:r>
                          </m:num>
                          <m:den>
                            <m:r>
                              <m:t xml:space="preserve">4</m:t>
                            </m:r>
                          </m:den>
                        </m:f>
                        <m:r>
                          <m:t xml:space="preserve">)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R</m:t>
                        </m:r>
                      </m:den>
                    </m:f>
                    <m:r>
                      <m:t xml:space="preserve">⋅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51" name="Object 41"/>
              <p:cNvSpPr txBox="1"/>
              <p:nvPr/>
            </p:nvSpPr>
            <p:spPr>
              <a:xfrm>
                <a:off x="4800600" y="3083040"/>
                <a:ext cx="2101680" cy="1514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2" name="Object 42"/>
              <p:cNvSpPr txBox="1"/>
              <p:nvPr/>
            </p:nvSpPr>
            <p:spPr>
              <a:xfrm>
                <a:off x="6913440" y="3522600"/>
                <a:ext cx="1143000" cy="1042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32</m:t>
                        </m:r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52" name="Object 42"/>
              <p:cNvSpPr txBox="1"/>
              <p:nvPr/>
            </p:nvSpPr>
            <p:spPr>
              <a:xfrm>
                <a:off x="6913440" y="3522600"/>
                <a:ext cx="1143000" cy="104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3" name="Object 43"/>
              <p:cNvSpPr txBox="1"/>
              <p:nvPr/>
            </p:nvSpPr>
            <p:spPr>
              <a:xfrm>
                <a:off x="412920" y="5207040"/>
                <a:ext cx="955440" cy="606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3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353" name="Object 43"/>
              <p:cNvSpPr txBox="1"/>
              <p:nvPr/>
            </p:nvSpPr>
            <p:spPr>
              <a:xfrm>
                <a:off x="412920" y="5207040"/>
                <a:ext cx="955440" cy="6062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4" name="Object 44"/>
              <p:cNvSpPr txBox="1"/>
              <p:nvPr/>
            </p:nvSpPr>
            <p:spPr>
              <a:xfrm>
                <a:off x="2089080" y="4978440"/>
                <a:ext cx="1446120" cy="1041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4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4</m:t>
                        </m:r>
                        <m:r>
                          <m:t xml:space="preserve">πR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54" name="Object 44"/>
              <p:cNvSpPr txBox="1"/>
              <p:nvPr/>
            </p:nvSpPr>
            <p:spPr>
              <a:xfrm>
                <a:off x="2089080" y="4978440"/>
                <a:ext cx="1446120" cy="1041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5" name="Object 45"/>
              <p:cNvSpPr txBox="1"/>
              <p:nvPr/>
            </p:nvSpPr>
            <p:spPr>
              <a:xfrm>
                <a:off x="4622760" y="5283360"/>
                <a:ext cx="2921040" cy="606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3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4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55" name="Object 45"/>
              <p:cNvSpPr txBox="1"/>
              <p:nvPr/>
            </p:nvSpPr>
            <p:spPr>
              <a:xfrm>
                <a:off x="4622760" y="5283360"/>
                <a:ext cx="2921040" cy="6062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6" name="Object 46"/>
              <p:cNvSpPr txBox="1"/>
              <p:nvPr/>
            </p:nvSpPr>
            <p:spPr>
              <a:xfrm>
                <a:off x="5840280" y="1143000"/>
                <a:ext cx="736560" cy="1041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4</m:t>
                        </m:r>
                        <m:r>
                          <m:t xml:space="preserve">πR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56" name="Object 46"/>
              <p:cNvSpPr txBox="1"/>
              <p:nvPr/>
            </p:nvSpPr>
            <p:spPr>
              <a:xfrm>
                <a:off x="5840280" y="1143000"/>
                <a:ext cx="736560" cy="10414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357" name="Text Box 47"/>
          <p:cNvSpPr/>
          <p:nvPr/>
        </p:nvSpPr>
        <p:spPr>
          <a:xfrm>
            <a:off x="4483080" y="2270160"/>
            <a:ext cx="3419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垂直纸面向里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Text Box 48"/>
          <p:cNvSpPr/>
          <p:nvPr/>
        </p:nvSpPr>
        <p:spPr>
          <a:xfrm>
            <a:off x="1431360" y="160020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Arc 49"/>
          <p:cNvSpPr/>
          <p:nvPr/>
        </p:nvSpPr>
        <p:spPr>
          <a:xfrm flipH="1">
            <a:off x="458640" y="1523880"/>
            <a:ext cx="1067040" cy="1143000"/>
          </a:xfrm>
          <a:custGeom>
            <a:avLst/>
            <a:gdLst>
              <a:gd name="GluePoint1X" fmla="*/ 49 w 43200"/>
              <a:gd name="GluePoint1Y" fmla="*/ 579280 h 43194"/>
              <a:gd name="GluePoint2X" fmla="*/ 546093 w 43200"/>
              <a:gd name="GluePoint2Y" fmla="*/ 1143000 h 43194"/>
              <a:gd name="GluePoint3X" fmla="*/ 533400 w 43200"/>
              <a:gd name="GluePoint3Y" fmla="*/ 571579 h 4319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43194">
                <a:moveTo>
                  <a:pt x="1" y="21891"/>
                </a:moveTo>
                <a:cubicBezTo>
                  <a:pt x="0" y="21794"/>
                  <a:pt x="0" y="2169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-32007" y="0"/>
                  <a:pt x="-22336" y="9670"/>
                  <a:pt x="-22336" y="21600"/>
                </a:cubicBezTo>
                <a:cubicBezTo>
                  <a:pt x="-22336" y="-32207"/>
                  <a:pt x="-31697" y="-22622"/>
                  <a:pt x="22113" y="-22343"/>
                </a:cubicBezTo>
              </a:path>
              <a:path stroke="0" w="43200" h="43194">
                <a:moveTo>
                  <a:pt x="1" y="21891"/>
                </a:moveTo>
                <a:cubicBezTo>
                  <a:pt x="0" y="21794"/>
                  <a:pt x="0" y="2169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-32007" y="0"/>
                  <a:pt x="-22336" y="9670"/>
                  <a:pt x="-22336" y="21600"/>
                </a:cubicBezTo>
                <a:cubicBezTo>
                  <a:pt x="-22336" y="-32207"/>
                  <a:pt x="-31697" y="-22622"/>
                  <a:pt x="22113" y="-22343"/>
                </a:cubicBezTo>
                <a:lnTo>
                  <a:pt x="21600" y="21600"/>
                </a:lnTo>
                <a:lnTo>
                  <a:pt x="1" y="21891"/>
                </a:lnTo>
                <a:close/>
              </a:path>
            </a:pathLst>
          </a:custGeom>
          <a:noFill/>
          <a:ln w="57240">
            <a:solidFill>
              <a:srgbClr val="0000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60" name="Object 50"/>
              <p:cNvSpPr txBox="1"/>
              <p:nvPr/>
            </p:nvSpPr>
            <p:spPr>
              <a:xfrm>
                <a:off x="152280" y="1295280"/>
                <a:ext cx="387360" cy="609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  <m:r>
                      <m:t xml:space="preserve">I</m:t>
                    </m:r>
                  </m:oMath>
                </a14:m>
              </a:p>
            </p:txBody>
          </p:sp>
        </mc:Choice>
        <mc:Fallback>
          <p:sp>
            <p:nvSpPr>
              <p:cNvPr id="360" name="Object 50"/>
              <p:cNvSpPr txBox="1"/>
              <p:nvPr/>
            </p:nvSpPr>
            <p:spPr>
              <a:xfrm>
                <a:off x="152280" y="1295280"/>
                <a:ext cx="387360" cy="6098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361" name="Line 51"/>
          <p:cNvSpPr/>
          <p:nvPr/>
        </p:nvSpPr>
        <p:spPr>
          <a:xfrm>
            <a:off x="914400" y="1523880"/>
            <a:ext cx="228600" cy="0"/>
          </a:xfrm>
          <a:prstGeom prst="line">
            <a:avLst/>
          </a:prstGeom>
          <a:ln w="38160">
            <a:solidFill>
              <a:srgbClr val="0000CC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Arc 52"/>
          <p:cNvSpPr/>
          <p:nvPr/>
        </p:nvSpPr>
        <p:spPr>
          <a:xfrm flipH="1">
            <a:off x="983520" y="2092320"/>
            <a:ext cx="539640" cy="573120"/>
          </a:xfrm>
          <a:custGeom>
            <a:avLst/>
            <a:gdLst>
              <a:gd name="GluePoint1X" fmla="*/ 539750 w 21844"/>
              <a:gd name="GluePoint1Y" fmla="*/ 573035 h 21600"/>
              <a:gd name="GluePoint2X" fmla="*/ 0 w 21844"/>
              <a:gd name="GluePoint2Y" fmla="*/ 21199 h 21600"/>
              <a:gd name="GluePoint3X" fmla="*/ 533350 w 21844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844" h="21600">
                <a:moveTo>
                  <a:pt x="21844" y="21598"/>
                </a:moveTo>
                <a:cubicBezTo>
                  <a:pt x="21757" y="21599"/>
                  <a:pt x="21671" y="21599"/>
                  <a:pt x="21585" y="21599"/>
                </a:cubicBezTo>
                <a:cubicBezTo>
                  <a:pt x="9966" y="21599"/>
                  <a:pt x="429" y="12409"/>
                  <a:pt x="-1" y="799"/>
                </a:cubicBezTo>
              </a:path>
              <a:path stroke="0" w="21844" h="21600">
                <a:moveTo>
                  <a:pt x="21844" y="21598"/>
                </a:moveTo>
                <a:cubicBezTo>
                  <a:pt x="21757" y="21599"/>
                  <a:pt x="21671" y="21599"/>
                  <a:pt x="21585" y="21599"/>
                </a:cubicBezTo>
                <a:cubicBezTo>
                  <a:pt x="9966" y="21599"/>
                  <a:pt x="429" y="12409"/>
                  <a:pt x="-1" y="799"/>
                </a:cubicBezTo>
                <a:lnTo>
                  <a:pt x="21585" y="0"/>
                </a:lnTo>
                <a:lnTo>
                  <a:pt x="21844" y="21598"/>
                </a:lnTo>
                <a:close/>
              </a:path>
            </a:pathLst>
          </a:custGeom>
          <a:noFill/>
          <a:ln w="5724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63" name="Object 53"/>
              <p:cNvSpPr txBox="1"/>
              <p:nvPr/>
            </p:nvSpPr>
            <p:spPr>
              <a:xfrm>
                <a:off x="1600200" y="2133720"/>
                <a:ext cx="339840" cy="53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  <m:r>
                      <m:t xml:space="preserve">I</m:t>
                    </m:r>
                  </m:oMath>
                </a14:m>
              </a:p>
            </p:txBody>
          </p:sp>
        </mc:Choice>
        <mc:Fallback>
          <p:sp>
            <p:nvSpPr>
              <p:cNvPr id="363" name="Object 53"/>
              <p:cNvSpPr txBox="1"/>
              <p:nvPr/>
            </p:nvSpPr>
            <p:spPr>
              <a:xfrm>
                <a:off x="1600200" y="2133720"/>
                <a:ext cx="339840" cy="5331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grpSp>
        <p:nvGrpSpPr>
          <p:cNvPr id="364" name="Group 54"/>
          <p:cNvGrpSpPr/>
          <p:nvPr/>
        </p:nvGrpSpPr>
        <p:grpSpPr>
          <a:xfrm>
            <a:off x="711000" y="1828440"/>
            <a:ext cx="152280" cy="152640"/>
            <a:chOff x="711000" y="1828440"/>
            <a:chExt cx="152280" cy="152640"/>
          </a:xfrm>
        </p:grpSpPr>
        <p:sp>
          <p:nvSpPr>
            <p:cNvPr id="365" name="Line 55"/>
            <p:cNvSpPr/>
            <p:nvPr/>
          </p:nvSpPr>
          <p:spPr>
            <a:xfrm flipH="1">
              <a:off x="711000" y="1828800"/>
              <a:ext cx="152280" cy="15228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6" name="Line 56"/>
            <p:cNvSpPr/>
            <p:nvPr/>
          </p:nvSpPr>
          <p:spPr>
            <a:xfrm flipH="1" flipV="1">
              <a:off x="711000" y="1828440"/>
              <a:ext cx="152280" cy="15228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67" name="Line 57"/>
          <p:cNvSpPr/>
          <p:nvPr/>
        </p:nvSpPr>
        <p:spPr>
          <a:xfrm flipV="1">
            <a:off x="1328760" y="2366640"/>
            <a:ext cx="133200" cy="152280"/>
          </a:xfrm>
          <a:prstGeom prst="line">
            <a:avLst/>
          </a:prstGeom>
          <a:ln w="38160">
            <a:solidFill>
              <a:srgbClr val="FF00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68" name="Group 58"/>
          <p:cNvGrpSpPr/>
          <p:nvPr/>
        </p:nvGrpSpPr>
        <p:grpSpPr>
          <a:xfrm>
            <a:off x="1184400" y="2171880"/>
            <a:ext cx="228600" cy="228600"/>
            <a:chOff x="1184400" y="2171880"/>
            <a:chExt cx="228600" cy="228600"/>
          </a:xfrm>
        </p:grpSpPr>
        <p:sp>
          <p:nvSpPr>
            <p:cNvPr id="369" name="Oval 59"/>
            <p:cNvSpPr/>
            <p:nvPr/>
          </p:nvSpPr>
          <p:spPr>
            <a:xfrm>
              <a:off x="1184400" y="2171880"/>
              <a:ext cx="228600" cy="228600"/>
            </a:xfrm>
            <a:prstGeom prst="ellipse">
              <a:avLst/>
            </a:prstGeom>
            <a:noFill/>
            <a:ln w="2844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0" name="Oval 60"/>
            <p:cNvSpPr/>
            <p:nvPr/>
          </p:nvSpPr>
          <p:spPr>
            <a:xfrm>
              <a:off x="1260720" y="2248200"/>
              <a:ext cx="76320" cy="76320"/>
            </a:xfrm>
            <a:prstGeom prst="ellipse">
              <a:avLst/>
            </a:prstGeom>
            <a:solidFill>
              <a:srgbClr val="FF00FF"/>
            </a:solidFill>
            <a:ln w="28440">
              <a:solidFill>
                <a:srgbClr val="FF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0" rIns="90000" bIns="72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1" dur="indefinite" restart="never" nodeType="tmRoot">
          <p:childTnLst>
            <p:seq>
              <p:cTn id="152" dur="indefinite" nodeType="mainSeq">
                <p:childTnLst>
                  <p:par>
                    <p:cTn id="153" fill="hold" nodeType="clickEffect">
                      <p:stCondLst>
                        <p:cond delay="indefinite"/>
                      </p:stCondLst>
                      <p:childTnLst>
                        <p:par>
                          <p:cTn id="15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1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Effect">
                      <p:stCondLst>
                        <p:cond delay="indefinite"/>
                      </p:stCondLst>
                      <p:childTnLst>
                        <p:par>
                          <p:cTn id="16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6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0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Effect">
                      <p:stCondLst>
                        <p:cond delay="indefinite"/>
                      </p:stCondLst>
                      <p:childTnLst>
                        <p:par>
                          <p:cTn id="1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5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Effect">
                      <p:stCondLst>
                        <p:cond delay="indefinite"/>
                      </p:stCondLst>
                      <p:childTnLst>
                        <p:par>
                          <p:cTn id="1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0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Effect">
                      <p:stCondLst>
                        <p:cond delay="indefinite"/>
                      </p:stCondLst>
                      <p:childTnLst>
                        <p:par>
                          <p:cTn id="18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3" presetID="23" presetClass="entr" fill="hold" nodeType="clickEffect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5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Effect">
                      <p:stCondLst>
                        <p:cond delay="indefinite"/>
                      </p:stCondLst>
                      <p:childTnLst>
                        <p:par>
                          <p:cTn id="18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1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Effect">
                      <p:stCondLst>
                        <p:cond delay="indefinite"/>
                      </p:stCondLst>
                      <p:childTnLst>
                        <p:par>
                          <p:cTn id="19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Effect">
                      <p:stCondLst>
                        <p:cond delay="indefinite"/>
                      </p:stCondLst>
                      <p:childTnLst>
                        <p:par>
                          <p:cTn id="19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9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1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2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Effect">
                      <p:stCondLst>
                        <p:cond delay="indefinite"/>
                      </p:stCondLst>
                      <p:childTnLst>
                        <p:par>
                          <p:cTn id="2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Effect">
                      <p:stCondLst>
                        <p:cond delay="indefinite"/>
                      </p:stCondLst>
                      <p:childTnLst>
                        <p:par>
                          <p:cTn id="2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2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Effect">
                      <p:stCondLst>
                        <p:cond delay="indefinite"/>
                      </p:stCondLst>
                      <p:childTnLst>
                        <p:par>
                          <p:cTn id="2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7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Effect">
                      <p:stCondLst>
                        <p:cond delay="indefinite"/>
                      </p:stCondLst>
                      <p:childTnLst>
                        <p:par>
                          <p:cTn id="2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Effect">
                      <p:stCondLst>
                        <p:cond delay="indefinite"/>
                      </p:stCondLst>
                      <p:childTnLst>
                        <p:par>
                          <p:cTn id="2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Effect">
                      <p:stCondLst>
                        <p:cond delay="indefinite"/>
                      </p:stCondLst>
                      <p:childTnLst>
                        <p:par>
                          <p:cTn id="2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Effect">
                      <p:stCondLst>
                        <p:cond delay="indefinite"/>
                      </p:stCondLst>
                      <p:childTnLst>
                        <p:par>
                          <p:cTn id="2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Line 69"/>
          <p:cNvSpPr/>
          <p:nvPr/>
        </p:nvSpPr>
        <p:spPr>
          <a:xfrm flipV="1">
            <a:off x="457200" y="2642760"/>
            <a:ext cx="0" cy="83844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Line 70"/>
          <p:cNvSpPr/>
          <p:nvPr/>
        </p:nvSpPr>
        <p:spPr>
          <a:xfrm>
            <a:off x="1066680" y="4319640"/>
            <a:ext cx="137160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Line 71"/>
          <p:cNvSpPr/>
          <p:nvPr/>
        </p:nvSpPr>
        <p:spPr>
          <a:xfrm flipH="1">
            <a:off x="1752480" y="4319640"/>
            <a:ext cx="53352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Line 72"/>
          <p:cNvSpPr/>
          <p:nvPr/>
        </p:nvSpPr>
        <p:spPr>
          <a:xfrm flipV="1">
            <a:off x="457200" y="2109960"/>
            <a:ext cx="0" cy="220968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Line 73"/>
          <p:cNvSpPr/>
          <p:nvPr/>
        </p:nvSpPr>
        <p:spPr>
          <a:xfrm>
            <a:off x="457200" y="4319640"/>
            <a:ext cx="266688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Arc 74"/>
          <p:cNvSpPr/>
          <p:nvPr/>
        </p:nvSpPr>
        <p:spPr>
          <a:xfrm>
            <a:off x="457200" y="3481560"/>
            <a:ext cx="762120" cy="838080"/>
          </a:xfrm>
          <a:custGeom>
            <a:avLst/>
            <a:gdLst>
              <a:gd name="GluePoint1X" fmla="*/ 0 w 21600"/>
              <a:gd name="GluePoint1Y" fmla="*/ 0 h 21600"/>
              <a:gd name="GluePoint2X" fmla="*/ 762000 w 21600"/>
              <a:gd name="GluePoint2Y" fmla="*/ 838200 h 21600"/>
              <a:gd name="GluePoint3X" fmla="*/ 0 w 21600"/>
              <a:gd name="GluePoint3Y" fmla="*/ 8382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Text Box 75"/>
          <p:cNvSpPr/>
          <p:nvPr/>
        </p:nvSpPr>
        <p:spPr>
          <a:xfrm>
            <a:off x="3138480" y="3100320"/>
            <a:ext cx="418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Bo=_____________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Text Box 76"/>
          <p:cNvSpPr/>
          <p:nvPr/>
        </p:nvSpPr>
        <p:spPr>
          <a:xfrm>
            <a:off x="3091320" y="3846600"/>
            <a:ext cx="427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Oval 77"/>
          <p:cNvSpPr/>
          <p:nvPr/>
        </p:nvSpPr>
        <p:spPr>
          <a:xfrm>
            <a:off x="1828800" y="890640"/>
            <a:ext cx="1066680" cy="114300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Line 78"/>
          <p:cNvSpPr/>
          <p:nvPr/>
        </p:nvSpPr>
        <p:spPr>
          <a:xfrm>
            <a:off x="2895480" y="150012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1" name="Object 79"/>
              <p:cNvSpPr txBox="1"/>
              <p:nvPr/>
            </p:nvSpPr>
            <p:spPr>
              <a:xfrm>
                <a:off x="2270160" y="1452600"/>
                <a:ext cx="320760" cy="352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o</m:t>
                    </m:r>
                  </m:oMath>
                </a14:m>
              </a:p>
            </p:txBody>
          </p:sp>
        </mc:Choice>
        <mc:Fallback>
          <p:sp>
            <p:nvSpPr>
              <p:cNvPr id="381" name="Object 79"/>
              <p:cNvSpPr txBox="1"/>
              <p:nvPr/>
            </p:nvSpPr>
            <p:spPr>
              <a:xfrm>
                <a:off x="2270160" y="1452600"/>
                <a:ext cx="320760" cy="3524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82" name="Oval 80"/>
          <p:cNvSpPr/>
          <p:nvPr/>
        </p:nvSpPr>
        <p:spPr>
          <a:xfrm>
            <a:off x="2362320" y="1424160"/>
            <a:ext cx="75960" cy="7596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6840" rIns="90000" bIns="684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Line 81"/>
          <p:cNvSpPr/>
          <p:nvPr/>
        </p:nvSpPr>
        <p:spPr>
          <a:xfrm flipH="1">
            <a:off x="914400" y="1500120"/>
            <a:ext cx="83808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Line 82"/>
          <p:cNvSpPr/>
          <p:nvPr/>
        </p:nvSpPr>
        <p:spPr>
          <a:xfrm>
            <a:off x="914400" y="1500120"/>
            <a:ext cx="53352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Line 83"/>
          <p:cNvSpPr/>
          <p:nvPr/>
        </p:nvSpPr>
        <p:spPr>
          <a:xfrm>
            <a:off x="3809880" y="150012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Line 84"/>
          <p:cNvSpPr/>
          <p:nvPr/>
        </p:nvSpPr>
        <p:spPr>
          <a:xfrm flipH="1">
            <a:off x="151920" y="1500120"/>
            <a:ext cx="83844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Text Box 85"/>
          <p:cNvSpPr/>
          <p:nvPr/>
        </p:nvSpPr>
        <p:spPr>
          <a:xfrm>
            <a:off x="4662720" y="966960"/>
            <a:ext cx="418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Bo=_____________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Text Box 86"/>
          <p:cNvSpPr/>
          <p:nvPr/>
        </p:nvSpPr>
        <p:spPr>
          <a:xfrm>
            <a:off x="4615560" y="1712880"/>
            <a:ext cx="427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9" name="Object 87"/>
              <p:cNvSpPr txBox="1"/>
              <p:nvPr/>
            </p:nvSpPr>
            <p:spPr>
              <a:xfrm>
                <a:off x="6858000" y="954000"/>
                <a:ext cx="271440" cy="470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389" name="Object 87"/>
              <p:cNvSpPr txBox="1"/>
              <p:nvPr/>
            </p:nvSpPr>
            <p:spPr>
              <a:xfrm>
                <a:off x="6858000" y="954000"/>
                <a:ext cx="271440" cy="470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90" name="Text Box 88"/>
          <p:cNvSpPr/>
          <p:nvPr/>
        </p:nvSpPr>
        <p:spPr>
          <a:xfrm>
            <a:off x="2650320" y="96696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Text Box 89"/>
          <p:cNvSpPr/>
          <p:nvPr/>
        </p:nvSpPr>
        <p:spPr>
          <a:xfrm>
            <a:off x="897840" y="378612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92" name="Object 90"/>
              <p:cNvSpPr txBox="1"/>
              <p:nvPr/>
            </p:nvSpPr>
            <p:spPr>
              <a:xfrm>
                <a:off x="152280" y="4243320"/>
                <a:ext cx="320760" cy="352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o</m:t>
                    </m:r>
                  </m:oMath>
                </a14:m>
              </a:p>
            </p:txBody>
          </p:sp>
        </mc:Choice>
        <mc:Fallback>
          <p:sp>
            <p:nvSpPr>
              <p:cNvPr id="392" name="Object 90"/>
              <p:cNvSpPr txBox="1"/>
              <p:nvPr/>
            </p:nvSpPr>
            <p:spPr>
              <a:xfrm>
                <a:off x="152280" y="4243320"/>
                <a:ext cx="320760" cy="352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93" name="Object 91"/>
              <p:cNvSpPr txBox="1"/>
              <p:nvPr/>
            </p:nvSpPr>
            <p:spPr>
              <a:xfrm>
                <a:off x="1119240" y="5029200"/>
                <a:ext cx="1500120" cy="1042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R</m:t>
                        </m:r>
                      </m:den>
                    </m:f>
                    <m:r>
                      <m:t xml:space="preserve">⋅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93" name="Object 91"/>
              <p:cNvSpPr txBox="1"/>
              <p:nvPr/>
            </p:nvSpPr>
            <p:spPr>
              <a:xfrm>
                <a:off x="1119240" y="5029200"/>
                <a:ext cx="1500120" cy="104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94" name="Object 92"/>
              <p:cNvSpPr txBox="1"/>
              <p:nvPr/>
            </p:nvSpPr>
            <p:spPr>
              <a:xfrm>
                <a:off x="5172120" y="2490840"/>
                <a:ext cx="600120" cy="1041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8</m:t>
                        </m:r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94" name="Object 92"/>
              <p:cNvSpPr txBox="1"/>
              <p:nvPr/>
            </p:nvSpPr>
            <p:spPr>
              <a:xfrm>
                <a:off x="5172120" y="2490840"/>
                <a:ext cx="600120" cy="1041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395" name="Text Box 93"/>
          <p:cNvSpPr/>
          <p:nvPr/>
        </p:nvSpPr>
        <p:spPr>
          <a:xfrm>
            <a:off x="3984840" y="3786120"/>
            <a:ext cx="3419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垂直纸面向外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Text Box 94"/>
          <p:cNvSpPr/>
          <p:nvPr/>
        </p:nvSpPr>
        <p:spPr>
          <a:xfrm>
            <a:off x="-477720" y="76320"/>
            <a:ext cx="99691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P112/1.</a:t>
            </a:r>
            <a:r>
              <a:rPr lang="zh-CN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求各图中载流导线在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zh-CN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点产生磁感应强度大小和方向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星形: 五角 29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8" dur="indefinite" restart="never" nodeType="tmRoot">
          <p:childTnLst>
            <p:seq>
              <p:cTn id="239" dur="indefinite" nodeType="mainSeq">
                <p:childTnLst>
                  <p:par>
                    <p:cTn id="240" fill="hold" nodeType="clickEffect">
                      <p:stCondLst>
                        <p:cond delay="indefinite"/>
                      </p:stCondLst>
                      <p:childTnLst>
                        <p:par>
                          <p:cTn id="2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4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Effect">
                      <p:stCondLst>
                        <p:cond delay="indefinite"/>
                      </p:stCondLst>
                      <p:childTnLst>
                        <p:par>
                          <p:cTn id="24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9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Effect">
                      <p:stCondLst>
                        <p:cond delay="indefinite"/>
                      </p:stCondLst>
                      <p:childTnLst>
                        <p:par>
                          <p:cTn id="25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4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Effect">
                      <p:stCondLst>
                        <p:cond delay="indefinite"/>
                      </p:stCondLst>
                      <p:childTnLst>
                        <p:par>
                          <p:cTn id="25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9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Line 47"/>
          <p:cNvSpPr/>
          <p:nvPr/>
        </p:nvSpPr>
        <p:spPr>
          <a:xfrm>
            <a:off x="990720" y="1747800"/>
            <a:ext cx="6858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Line 48"/>
          <p:cNvSpPr/>
          <p:nvPr/>
        </p:nvSpPr>
        <p:spPr>
          <a:xfrm>
            <a:off x="3200400" y="1747800"/>
            <a:ext cx="9144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Line 49"/>
          <p:cNvSpPr/>
          <p:nvPr/>
        </p:nvSpPr>
        <p:spPr>
          <a:xfrm flipH="1">
            <a:off x="304560" y="1747800"/>
            <a:ext cx="99036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Line 50"/>
          <p:cNvSpPr/>
          <p:nvPr/>
        </p:nvSpPr>
        <p:spPr>
          <a:xfrm>
            <a:off x="3200400" y="1747800"/>
            <a:ext cx="160020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Arc 51"/>
          <p:cNvSpPr/>
          <p:nvPr/>
        </p:nvSpPr>
        <p:spPr>
          <a:xfrm>
            <a:off x="1677960" y="911160"/>
            <a:ext cx="1523880" cy="841320"/>
          </a:xfrm>
          <a:custGeom>
            <a:avLst/>
            <a:gdLst>
              <a:gd name="GluePoint1X" fmla="*/ 0 w 43200"/>
              <a:gd name="GluePoint1Y" fmla="*/ 841375 h 21691"/>
              <a:gd name="GluePoint2X" fmla="*/ 1524000 w 43200"/>
              <a:gd name="GluePoint2Y" fmla="*/ 837845 h 21691"/>
              <a:gd name="GluePoint3X" fmla="*/ 762000 w 43200"/>
              <a:gd name="GluePoint3Y" fmla="*/ 837845 h 216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21691">
                <a:moveTo>
                  <a:pt x="0" y="21690"/>
                </a:moveTo>
                <a:cubicBezTo>
                  <a:pt x="0" y="21660"/>
                  <a:pt x="0" y="2163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-32007" y="0"/>
                  <a:pt x="-22337" y="9670"/>
                  <a:pt x="-22337" y="21599"/>
                </a:cubicBezTo>
              </a:path>
              <a:path stroke="0" w="43200" h="21691">
                <a:moveTo>
                  <a:pt x="0" y="21690"/>
                </a:moveTo>
                <a:cubicBezTo>
                  <a:pt x="0" y="21660"/>
                  <a:pt x="0" y="2163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-32007" y="0"/>
                  <a:pt x="-22337" y="9670"/>
                  <a:pt x="-22337" y="21599"/>
                </a:cubicBezTo>
                <a:lnTo>
                  <a:pt x="21600" y="21600"/>
                </a:lnTo>
                <a:lnTo>
                  <a:pt x="0" y="21690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Text Box 52"/>
          <p:cNvSpPr/>
          <p:nvPr/>
        </p:nvSpPr>
        <p:spPr>
          <a:xfrm>
            <a:off x="5024520" y="1295280"/>
            <a:ext cx="418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Bo=_____________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Text Box 53"/>
          <p:cNvSpPr/>
          <p:nvPr/>
        </p:nvSpPr>
        <p:spPr>
          <a:xfrm>
            <a:off x="4977360" y="1965240"/>
            <a:ext cx="427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Text Box 54"/>
          <p:cNvSpPr/>
          <p:nvPr/>
        </p:nvSpPr>
        <p:spPr>
          <a:xfrm>
            <a:off x="597960" y="114300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06" name="Object 55"/>
              <p:cNvSpPr txBox="1"/>
              <p:nvPr/>
            </p:nvSpPr>
            <p:spPr>
              <a:xfrm>
                <a:off x="685800" y="2133720"/>
                <a:ext cx="1346040" cy="934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R</m:t>
                        </m:r>
                      </m:den>
                    </m:f>
                    <m:r>
                      <m:t xml:space="preserve">⋅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06" name="Object 55"/>
              <p:cNvSpPr txBox="1"/>
              <p:nvPr/>
            </p:nvSpPr>
            <p:spPr>
              <a:xfrm>
                <a:off x="685800" y="2133720"/>
                <a:ext cx="1346040" cy="9349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07" name="Object 56"/>
              <p:cNvSpPr txBox="1"/>
              <p:nvPr/>
            </p:nvSpPr>
            <p:spPr>
              <a:xfrm>
                <a:off x="6772320" y="685800"/>
                <a:ext cx="600120" cy="1041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4</m:t>
                        </m:r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07" name="Object 56"/>
              <p:cNvSpPr txBox="1"/>
              <p:nvPr/>
            </p:nvSpPr>
            <p:spPr>
              <a:xfrm>
                <a:off x="6772320" y="685800"/>
                <a:ext cx="600120" cy="1041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08" name="Text Box 57"/>
          <p:cNvSpPr/>
          <p:nvPr/>
        </p:nvSpPr>
        <p:spPr>
          <a:xfrm>
            <a:off x="5889600" y="1905120"/>
            <a:ext cx="3419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垂直纸面向里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Line 58"/>
          <p:cNvSpPr/>
          <p:nvPr/>
        </p:nvSpPr>
        <p:spPr>
          <a:xfrm>
            <a:off x="1219320" y="5102280"/>
            <a:ext cx="6858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Line 59"/>
          <p:cNvSpPr/>
          <p:nvPr/>
        </p:nvSpPr>
        <p:spPr>
          <a:xfrm>
            <a:off x="2590920" y="5102280"/>
            <a:ext cx="9144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Line 60"/>
          <p:cNvSpPr/>
          <p:nvPr/>
        </p:nvSpPr>
        <p:spPr>
          <a:xfrm flipH="1">
            <a:off x="1371600" y="5102280"/>
            <a:ext cx="99072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Line 61"/>
          <p:cNvSpPr/>
          <p:nvPr/>
        </p:nvSpPr>
        <p:spPr>
          <a:xfrm>
            <a:off x="2743200" y="5102280"/>
            <a:ext cx="160020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Arc 62"/>
          <p:cNvSpPr/>
          <p:nvPr/>
        </p:nvSpPr>
        <p:spPr>
          <a:xfrm>
            <a:off x="1687680" y="3429000"/>
            <a:ext cx="1593720" cy="1673280"/>
          </a:xfrm>
          <a:custGeom>
            <a:avLst/>
            <a:gdLst>
              <a:gd name="GluePoint1X" fmla="*/ 705205 w 43200"/>
              <a:gd name="GluePoint1Y" fmla="*/ 1670587 h 43124"/>
              <a:gd name="GluePoint2X" fmla="*/ 863667 w 43200"/>
              <a:gd name="GluePoint2Y" fmla="*/ 1673225 h 43124"/>
              <a:gd name="GluePoint3X" fmla="*/ 796925 w 43200"/>
              <a:gd name="GluePoint3Y" fmla="*/ 838087 h 431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43124">
                <a:moveTo>
                  <a:pt x="19113" y="-22480"/>
                </a:moveTo>
                <a:cubicBezTo>
                  <a:pt x="8219" y="-23742"/>
                  <a:pt x="0" y="3256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-32007" y="0"/>
                  <a:pt x="-22336" y="9670"/>
                  <a:pt x="-22336" y="21600"/>
                </a:cubicBezTo>
                <a:cubicBezTo>
                  <a:pt x="-22336" y="-32708"/>
                  <a:pt x="-30939" y="-23353"/>
                  <a:pt x="23409" y="-22412"/>
                </a:cubicBezTo>
              </a:path>
              <a:path stroke="0" w="43200" h="43124">
                <a:moveTo>
                  <a:pt x="19113" y="-22480"/>
                </a:moveTo>
                <a:cubicBezTo>
                  <a:pt x="8219" y="-23742"/>
                  <a:pt x="0" y="3256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-32007" y="0"/>
                  <a:pt x="-22336" y="9670"/>
                  <a:pt x="-22336" y="21600"/>
                </a:cubicBezTo>
                <a:cubicBezTo>
                  <a:pt x="-22336" y="-32708"/>
                  <a:pt x="-30939" y="-23353"/>
                  <a:pt x="23409" y="-22412"/>
                </a:cubicBezTo>
                <a:lnTo>
                  <a:pt x="21600" y="21600"/>
                </a:lnTo>
                <a:lnTo>
                  <a:pt x="19113" y="-22480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Text Box 63"/>
          <p:cNvSpPr/>
          <p:nvPr/>
        </p:nvSpPr>
        <p:spPr>
          <a:xfrm>
            <a:off x="4872240" y="3809880"/>
            <a:ext cx="418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Bo=_____________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Text Box 64"/>
          <p:cNvSpPr/>
          <p:nvPr/>
        </p:nvSpPr>
        <p:spPr>
          <a:xfrm>
            <a:off x="4825080" y="4556160"/>
            <a:ext cx="427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Line 65"/>
          <p:cNvSpPr/>
          <p:nvPr/>
        </p:nvSpPr>
        <p:spPr>
          <a:xfrm flipH="1">
            <a:off x="304560" y="5102280"/>
            <a:ext cx="2057400" cy="0"/>
          </a:xfrm>
          <a:prstGeom prst="line">
            <a:avLst/>
          </a:prstGeom>
          <a:ln w="381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Text Box 66"/>
          <p:cNvSpPr/>
          <p:nvPr/>
        </p:nvSpPr>
        <p:spPr>
          <a:xfrm>
            <a:off x="673920" y="455616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18" name="Object 67"/>
              <p:cNvSpPr txBox="1"/>
              <p:nvPr/>
            </p:nvSpPr>
            <p:spPr>
              <a:xfrm>
                <a:off x="533520" y="5638680"/>
                <a:ext cx="1523880" cy="1043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πR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18" name="Object 67"/>
              <p:cNvSpPr txBox="1"/>
              <p:nvPr/>
            </p:nvSpPr>
            <p:spPr>
              <a:xfrm>
                <a:off x="533520" y="5638680"/>
                <a:ext cx="1523880" cy="10432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9" name="Object 68"/>
              <p:cNvSpPr txBox="1"/>
              <p:nvPr/>
            </p:nvSpPr>
            <p:spPr>
              <a:xfrm>
                <a:off x="3200400" y="5654520"/>
                <a:ext cx="1254240" cy="1043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19" name="Object 68"/>
              <p:cNvSpPr txBox="1"/>
              <p:nvPr/>
            </p:nvSpPr>
            <p:spPr>
              <a:xfrm>
                <a:off x="3200400" y="5654520"/>
                <a:ext cx="1254240" cy="1043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0" name="Object 69"/>
              <p:cNvSpPr txBox="1"/>
              <p:nvPr/>
            </p:nvSpPr>
            <p:spPr>
              <a:xfrm>
                <a:off x="6292800" y="5959440"/>
                <a:ext cx="1801800" cy="573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=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420" name="Object 69"/>
              <p:cNvSpPr txBox="1"/>
              <p:nvPr/>
            </p:nvSpPr>
            <p:spPr>
              <a:xfrm>
                <a:off x="6292800" y="5959440"/>
                <a:ext cx="1801800" cy="573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1" name="Object 70"/>
              <p:cNvSpPr txBox="1"/>
              <p:nvPr/>
            </p:nvSpPr>
            <p:spPr>
              <a:xfrm>
                <a:off x="6553080" y="3276720"/>
                <a:ext cx="1473480" cy="1041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R</m:t>
                        </m:r>
                      </m:den>
                    </m:f>
                    <m:r>
                      <m:t xml:space="preserve">(</m:t>
                    </m:r>
                    <m:r>
                      <m:t xml:space="preserve">1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π</m:t>
                        </m:r>
                      </m:den>
                    </m:f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421" name="Object 70"/>
              <p:cNvSpPr txBox="1"/>
              <p:nvPr/>
            </p:nvSpPr>
            <p:spPr>
              <a:xfrm>
                <a:off x="6553080" y="3276720"/>
                <a:ext cx="1473480" cy="10411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422" name="Text Box 71"/>
          <p:cNvSpPr/>
          <p:nvPr/>
        </p:nvSpPr>
        <p:spPr>
          <a:xfrm>
            <a:off x="5702400" y="4495680"/>
            <a:ext cx="3419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垂直纸面向里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Text Box 72"/>
          <p:cNvSpPr/>
          <p:nvPr/>
        </p:nvSpPr>
        <p:spPr>
          <a:xfrm>
            <a:off x="-514080" y="76320"/>
            <a:ext cx="99691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P112/1.</a:t>
            </a:r>
            <a:r>
              <a:rPr lang="zh-CN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求各图中载流导线在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zh-CN" sz="26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点产生磁感应强度大小和方向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0" dur="indefinite" restart="never" nodeType="tmRoot">
          <p:childTnLst>
            <p:seq>
              <p:cTn id="261" dur="indefinite" nodeType="mainSeq">
                <p:childTnLst>
                  <p:par>
                    <p:cTn id="262" fill="hold" nodeType="clickEffect">
                      <p:stCondLst>
                        <p:cond delay="indefinite"/>
                      </p:stCondLst>
                      <p:childTnLst>
                        <p:par>
                          <p:cTn id="26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Effect">
                      <p:stCondLst>
                        <p:cond delay="indefinite"/>
                      </p:stCondLst>
                      <p:childTnLst>
                        <p:par>
                          <p:cTn id="26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1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Effect">
                      <p:stCondLst>
                        <p:cond delay="indefinite"/>
                      </p:stCondLst>
                      <p:childTnLst>
                        <p:par>
                          <p:cTn id="27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6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Effect">
                      <p:stCondLst>
                        <p:cond delay="indefinite"/>
                      </p:stCondLst>
                      <p:childTnLst>
                        <p:par>
                          <p:cTn id="27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81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Effect">
                      <p:stCondLst>
                        <p:cond delay="indefinite"/>
                      </p:stCondLst>
                      <p:childTnLst>
                        <p:par>
                          <p:cTn id="28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86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Effect">
                      <p:stCondLst>
                        <p:cond delay="indefinite"/>
                      </p:stCondLst>
                      <p:childTnLst>
                        <p:par>
                          <p:cTn id="28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91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Effect">
                      <p:stCondLst>
                        <p:cond delay="indefinite"/>
                      </p:stCondLst>
                      <p:childTnLst>
                        <p:par>
                          <p:cTn id="29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96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Effect">
                      <p:stCondLst>
                        <p:cond delay="indefinite"/>
                      </p:stCondLst>
                      <p:childTnLst>
                        <p:par>
                          <p:cTn id="29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01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 Box 28"/>
          <p:cNvSpPr/>
          <p:nvPr/>
        </p:nvSpPr>
        <p:spPr>
          <a:xfrm>
            <a:off x="-508320" y="441360"/>
            <a:ext cx="10170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P112/2.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磁场高斯定理的表达式为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Text Box 29"/>
          <p:cNvSpPr/>
          <p:nvPr/>
        </p:nvSpPr>
        <p:spPr>
          <a:xfrm>
            <a:off x="-469080" y="1219320"/>
            <a:ext cx="874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它表明磁场的磁感应线是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26" name="Object 30"/>
              <p:cNvSpPr txBox="1"/>
              <p:nvPr/>
            </p:nvSpPr>
            <p:spPr>
              <a:xfrm>
                <a:off x="6248520" y="228600"/>
                <a:ext cx="1709640" cy="679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∯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426" name="Object 30"/>
              <p:cNvSpPr txBox="1"/>
              <p:nvPr/>
            </p:nvSpPr>
            <p:spPr>
              <a:xfrm>
                <a:off x="6248520" y="228600"/>
                <a:ext cx="1709640" cy="6793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427" name="Text Box 31"/>
          <p:cNvSpPr/>
          <p:nvPr/>
        </p:nvSpPr>
        <p:spPr>
          <a:xfrm>
            <a:off x="4556160" y="1203480"/>
            <a:ext cx="1895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闭合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2" dur="indefinite" restart="never" nodeType="tmRoot">
          <p:childTnLst>
            <p:seq>
              <p:cTn id="303" dur="indefinite" nodeType="mainSeq">
                <p:childTnLst>
                  <p:par>
                    <p:cTn id="304" fill="hold" nodeType="clickEffect">
                      <p:stCondLst>
                        <p:cond delay="indefinite"/>
                      </p:stCondLst>
                      <p:childTnLst>
                        <p:par>
                          <p:cTn id="30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0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Effect">
                      <p:stCondLst>
                        <p:cond delay="indefinite"/>
                      </p:stCondLst>
                      <p:childTnLst>
                        <p:par>
                          <p:cTn id="3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3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Oval 2"/>
          <p:cNvSpPr/>
          <p:nvPr/>
        </p:nvSpPr>
        <p:spPr>
          <a:xfrm>
            <a:off x="6019920" y="609480"/>
            <a:ext cx="2743200" cy="1219320"/>
          </a:xfrm>
          <a:prstGeom prst="ellipse">
            <a:avLst/>
          </a:prstGeom>
          <a:noFill/>
          <a:ln w="381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Text Box 3"/>
          <p:cNvSpPr/>
          <p:nvPr/>
        </p:nvSpPr>
        <p:spPr>
          <a:xfrm>
            <a:off x="-506160" y="212760"/>
            <a:ext cx="7122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P112/4.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写出环绕闭合曲线的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Freeform 4"/>
          <p:cNvSpPr/>
          <p:nvPr/>
        </p:nvSpPr>
        <p:spPr>
          <a:xfrm>
            <a:off x="6934320" y="990720"/>
            <a:ext cx="1218960" cy="1447560"/>
          </a:xfrm>
          <a:custGeom>
            <a:avLst/>
            <a:gdLst>
              <a:gd name="GluePoint1X" fmla="*/ 0 w 912"/>
              <a:gd name="GluePoint1Y" fmla="*/ 1026000 h 1016"/>
              <a:gd name="GluePoint2X" fmla="*/ 385011 w 912"/>
              <a:gd name="GluePoint2Y" fmla="*/ 1299600 h 1016"/>
              <a:gd name="GluePoint3X" fmla="*/ 898358 w 912"/>
              <a:gd name="GluePoint3Y" fmla="*/ 136800 h 1016"/>
              <a:gd name="GluePoint4X" fmla="*/ 1219200 w 912"/>
              <a:gd name="GluePoint4Y" fmla="*/ 478800 h 10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912" h="1016">
                <a:moveTo>
                  <a:pt x="0" y="720"/>
                </a:moveTo>
                <a:cubicBezTo>
                  <a:pt x="88" y="868"/>
                  <a:pt x="176" y="1016"/>
                  <a:pt x="288" y="912"/>
                </a:cubicBezTo>
                <a:cubicBezTo>
                  <a:pt x="400" y="808"/>
                  <a:pt x="568" y="192"/>
                  <a:pt x="672" y="96"/>
                </a:cubicBezTo>
                <a:cubicBezTo>
                  <a:pt x="776" y="0"/>
                  <a:pt x="844" y="168"/>
                  <a:pt x="912" y="336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Freeform 5"/>
          <p:cNvSpPr/>
          <p:nvPr/>
        </p:nvSpPr>
        <p:spPr>
          <a:xfrm>
            <a:off x="6019920" y="1041480"/>
            <a:ext cx="761760" cy="1168200"/>
          </a:xfrm>
          <a:custGeom>
            <a:avLst/>
            <a:gdLst>
              <a:gd name="GluePoint1X" fmla="*/ 762000 w 480"/>
              <a:gd name="GluePoint1Y" fmla="*/ 467360 h 640"/>
              <a:gd name="GluePoint2X" fmla="*/ 533400 w 480"/>
              <a:gd name="GluePoint2Y" fmla="*/ 116840 h 640"/>
              <a:gd name="GluePoint3X" fmla="*/ 0 w 480"/>
              <a:gd name="GluePoint3Y" fmla="*/ 1168400 h 6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480" h="640">
                <a:moveTo>
                  <a:pt x="480" y="256"/>
                </a:moveTo>
                <a:cubicBezTo>
                  <a:pt x="448" y="128"/>
                  <a:pt x="416" y="0"/>
                  <a:pt x="336" y="64"/>
                </a:cubicBezTo>
                <a:cubicBezTo>
                  <a:pt x="256" y="128"/>
                  <a:pt x="128" y="384"/>
                  <a:pt x="0" y="640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Freeform 6"/>
          <p:cNvSpPr/>
          <p:nvPr/>
        </p:nvSpPr>
        <p:spPr>
          <a:xfrm>
            <a:off x="8305920" y="1981080"/>
            <a:ext cx="152280" cy="457200"/>
          </a:xfrm>
          <a:custGeom>
            <a:avLst/>
            <a:gdLst>
              <a:gd name="GluePoint1X" fmla="*/ 0 w 96"/>
              <a:gd name="GluePoint1Y" fmla="*/ 0 h 288"/>
              <a:gd name="GluePoint2X" fmla="*/ 152400 w 96"/>
              <a:gd name="GluePoint2Y" fmla="*/ 457200 h 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l" t="t" r="r" b="b"/>
            <a:pathLst>
              <a:path w="96" h="288">
                <a:moveTo>
                  <a:pt x="0" y="0"/>
                </a:moveTo>
                <a:cubicBezTo>
                  <a:pt x="0" y="0"/>
                  <a:pt x="48" y="144"/>
                  <a:pt x="96" y="288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Text Box 7"/>
          <p:cNvSpPr/>
          <p:nvPr/>
        </p:nvSpPr>
        <p:spPr>
          <a:xfrm>
            <a:off x="-473040" y="1203480"/>
            <a:ext cx="6649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安培环路定理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Line 8"/>
          <p:cNvSpPr/>
          <p:nvPr/>
        </p:nvSpPr>
        <p:spPr>
          <a:xfrm flipH="1">
            <a:off x="7238520" y="609480"/>
            <a:ext cx="304920" cy="0"/>
          </a:xfrm>
          <a:prstGeom prst="line">
            <a:avLst/>
          </a:prstGeom>
          <a:ln w="38160">
            <a:solidFill>
              <a:srgbClr val="0000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Text Box 9"/>
          <p:cNvSpPr/>
          <p:nvPr/>
        </p:nvSpPr>
        <p:spPr>
          <a:xfrm>
            <a:off x="7238880" y="685800"/>
            <a:ext cx="304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36" name="Object 10"/>
              <p:cNvSpPr txBox="1"/>
              <p:nvPr/>
            </p:nvSpPr>
            <p:spPr>
              <a:xfrm>
                <a:off x="2743200" y="762120"/>
                <a:ext cx="2208240" cy="86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1"/>
                      </m:naryPr>
                      <m:sub>
                        <m:r>
                          <m:t xml:space="preserve">L</m:t>
                        </m:r>
                      </m:sub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r>
                      <m:t xml:space="preserve">−</m:t>
                    </m:r>
                    <m:r>
                      <m:t xml:space="preserve">2</m:t>
                    </m:r>
                    <m:sSub>
                      <m:e>
                        <m:r>
                          <m:t xml:space="preserve">μ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I</m:t>
                    </m:r>
                  </m:oMath>
                </a14:m>
              </a:p>
            </p:txBody>
          </p:sp>
        </mc:Choice>
        <mc:Fallback>
          <p:sp>
            <p:nvSpPr>
              <p:cNvPr id="436" name="Object 10"/>
              <p:cNvSpPr txBox="1"/>
              <p:nvPr/>
            </p:nvSpPr>
            <p:spPr>
              <a:xfrm>
                <a:off x="2743200" y="762120"/>
                <a:ext cx="2208240" cy="8604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437" name="Freeform 11"/>
          <p:cNvSpPr/>
          <p:nvPr/>
        </p:nvSpPr>
        <p:spPr>
          <a:xfrm flipV="1">
            <a:off x="6172200" y="1708920"/>
            <a:ext cx="71280" cy="157320"/>
          </a:xfrm>
          <a:custGeom>
            <a:avLst/>
            <a:gdLst>
              <a:gd name="GluePoint1X" fmla="*/ 0 w 96"/>
              <a:gd name="GluePoint1Y" fmla="*/ 0 h 288"/>
              <a:gd name="GluePoint2X" fmla="*/ 71438 w 96"/>
              <a:gd name="GluePoint2Y" fmla="*/ 157162 h 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l" t="t" r="r" b="b"/>
            <a:pathLst>
              <a:path w="96" h="288">
                <a:moveTo>
                  <a:pt x="0" y="0"/>
                </a:moveTo>
                <a:cubicBezTo>
                  <a:pt x="0" y="0"/>
                  <a:pt x="48" y="144"/>
                  <a:pt x="96" y="288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38" name="Object 12"/>
              <p:cNvSpPr txBox="1"/>
              <p:nvPr/>
            </p:nvSpPr>
            <p:spPr>
              <a:xfrm>
                <a:off x="2376360" y="1968480"/>
                <a:ext cx="1900440" cy="86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1"/>
                      </m:naryPr>
                      <m:sub>
                        <m:r>
                          <m:t xml:space="preserve">L</m:t>
                        </m:r>
                      </m:sub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H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  <m:r>
                          <m:t xml:space="preserve">=</m:t>
                        </m:r>
                        <m:r>
                          <m:t xml:space="preserve">−</m:t>
                        </m:r>
                        <m:r>
                          <m:t xml:space="preserve">2</m:t>
                        </m:r>
                        <m:r>
                          <m:t xml:space="preserve">I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38" name="Object 12"/>
              <p:cNvSpPr txBox="1"/>
              <p:nvPr/>
            </p:nvSpPr>
            <p:spPr>
              <a:xfrm>
                <a:off x="2376360" y="1968480"/>
                <a:ext cx="1900440" cy="860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39" name="星形: 五角 14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4" dur="indefinite" restart="never" nodeType="tmRoot">
          <p:childTnLst>
            <p:seq>
              <p:cTn id="315" dur="indefinite" nodeType="mainSeq">
                <p:childTnLst>
                  <p:par>
                    <p:cTn id="316" fill="hold" nodeType="clickEffect">
                      <p:stCondLst>
                        <p:cond delay="indefinite"/>
                      </p:stCondLst>
                      <p:childTnLst>
                        <p:par>
                          <p:cTn id="31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0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Effect">
                      <p:stCondLst>
                        <p:cond delay="indefinite"/>
                      </p:stCondLst>
                      <p:childTnLst>
                        <p:par>
                          <p:cTn id="3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5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AutoShape 41"/>
          <p:cNvSpPr/>
          <p:nvPr/>
        </p:nvSpPr>
        <p:spPr>
          <a:xfrm flipH="1" rot="16200000">
            <a:off x="6933240" y="838080"/>
            <a:ext cx="990360" cy="381240"/>
          </a:xfrm>
          <a:prstGeom prst="parallelogram">
            <a:avLst>
              <a:gd name="adj" fmla="val 95743"/>
            </a:avLst>
          </a:prstGeom>
          <a:blipFill rotWithShape="0">
            <a:blip r:embed="rId1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AutoShape 42"/>
          <p:cNvSpPr/>
          <p:nvPr/>
        </p:nvSpPr>
        <p:spPr>
          <a:xfrm flipV="1" rot="19024800">
            <a:off x="7467120" y="609120"/>
            <a:ext cx="533520" cy="847800"/>
          </a:xfrm>
          <a:prstGeom prst="parallelogram">
            <a:avLst>
              <a:gd name="adj" fmla="val 3426"/>
            </a:avLst>
          </a:prstGeom>
          <a:blipFill rotWithShape="0">
            <a:blip r:embed="rId2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Text Box 2"/>
          <p:cNvSpPr/>
          <p:nvPr/>
        </p:nvSpPr>
        <p:spPr>
          <a:xfrm>
            <a:off x="-638280" y="76320"/>
            <a:ext cx="8158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P112/5.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如图所示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,abcdef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闭合面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Line 7"/>
          <p:cNvSpPr/>
          <p:nvPr/>
        </p:nvSpPr>
        <p:spPr>
          <a:xfrm>
            <a:off x="7620120" y="1143000"/>
            <a:ext cx="1295280" cy="0"/>
          </a:xfrm>
          <a:prstGeom prst="line">
            <a:avLst/>
          </a:prstGeom>
          <a:ln w="284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Line 8"/>
          <p:cNvSpPr/>
          <p:nvPr/>
        </p:nvSpPr>
        <p:spPr>
          <a:xfrm flipH="1">
            <a:off x="6857640" y="1143000"/>
            <a:ext cx="762120" cy="762120"/>
          </a:xfrm>
          <a:prstGeom prst="line">
            <a:avLst/>
          </a:prstGeom>
          <a:ln w="284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Line 9"/>
          <p:cNvSpPr/>
          <p:nvPr/>
        </p:nvSpPr>
        <p:spPr>
          <a:xfrm flipV="1">
            <a:off x="7620120" y="152280"/>
            <a:ext cx="0" cy="990720"/>
          </a:xfrm>
          <a:prstGeom prst="line">
            <a:avLst/>
          </a:prstGeom>
          <a:ln w="284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AutoShape 6"/>
          <p:cNvSpPr/>
          <p:nvPr/>
        </p:nvSpPr>
        <p:spPr>
          <a:xfrm>
            <a:off x="7620120" y="533520"/>
            <a:ext cx="609480" cy="609480"/>
          </a:xfrm>
          <a:prstGeom prst="rtTriangl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Line 11"/>
          <p:cNvSpPr/>
          <p:nvPr/>
        </p:nvSpPr>
        <p:spPr>
          <a:xfrm flipH="1">
            <a:off x="7238520" y="533520"/>
            <a:ext cx="381240" cy="3808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AutoShape 12"/>
          <p:cNvSpPr/>
          <p:nvPr/>
        </p:nvSpPr>
        <p:spPr>
          <a:xfrm>
            <a:off x="7238880" y="914400"/>
            <a:ext cx="609840" cy="609480"/>
          </a:xfrm>
          <a:prstGeom prst="rtTriangl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Line 13"/>
          <p:cNvSpPr/>
          <p:nvPr/>
        </p:nvSpPr>
        <p:spPr>
          <a:xfrm flipH="1">
            <a:off x="7848720" y="1143000"/>
            <a:ext cx="380880" cy="3808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50" name="Object 14"/>
              <p:cNvSpPr txBox="1"/>
              <p:nvPr/>
            </p:nvSpPr>
            <p:spPr>
              <a:xfrm>
                <a:off x="7696080" y="1600200"/>
                <a:ext cx="285840" cy="293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</m:oMath>
                </a14:m>
              </a:p>
            </p:txBody>
          </p:sp>
        </mc:Choice>
        <mc:Fallback>
          <p:sp>
            <p:nvSpPr>
              <p:cNvPr id="450" name="Object 14"/>
              <p:cNvSpPr txBox="1"/>
              <p:nvPr/>
            </p:nvSpPr>
            <p:spPr>
              <a:xfrm>
                <a:off x="7696080" y="1600200"/>
                <a:ext cx="285840" cy="293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1" name="Object 16"/>
              <p:cNvSpPr txBox="1"/>
              <p:nvPr/>
            </p:nvSpPr>
            <p:spPr>
              <a:xfrm>
                <a:off x="8229600" y="1143000"/>
                <a:ext cx="285840" cy="412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451" name="Object 16"/>
              <p:cNvSpPr txBox="1"/>
              <p:nvPr/>
            </p:nvSpPr>
            <p:spPr>
              <a:xfrm>
                <a:off x="8229600" y="1143000"/>
                <a:ext cx="285840" cy="41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2" name="Object 17"/>
              <p:cNvSpPr txBox="1"/>
              <p:nvPr/>
            </p:nvSpPr>
            <p:spPr>
              <a:xfrm>
                <a:off x="7362720" y="304920"/>
                <a:ext cx="257400" cy="323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c</m:t>
                    </m:r>
                  </m:oMath>
                </a14:m>
              </a:p>
            </p:txBody>
          </p:sp>
        </mc:Choice>
        <mc:Fallback>
          <p:sp>
            <p:nvSpPr>
              <p:cNvPr id="452" name="Object 17"/>
              <p:cNvSpPr txBox="1"/>
              <p:nvPr/>
            </p:nvSpPr>
            <p:spPr>
              <a:xfrm>
                <a:off x="7362720" y="304920"/>
                <a:ext cx="257400" cy="3236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3" name="Object 18"/>
              <p:cNvSpPr txBox="1"/>
              <p:nvPr/>
            </p:nvSpPr>
            <p:spPr>
              <a:xfrm>
                <a:off x="7010280" y="609480"/>
                <a:ext cx="285840" cy="412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</m:oMath>
                </a14:m>
              </a:p>
            </p:txBody>
          </p:sp>
        </mc:Choice>
        <mc:Fallback>
          <p:sp>
            <p:nvSpPr>
              <p:cNvPr id="453" name="Object 18"/>
              <p:cNvSpPr txBox="1"/>
              <p:nvPr/>
            </p:nvSpPr>
            <p:spPr>
              <a:xfrm>
                <a:off x="7010280" y="609480"/>
                <a:ext cx="285840" cy="412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4" name="Object 19"/>
              <p:cNvSpPr txBox="1"/>
              <p:nvPr/>
            </p:nvSpPr>
            <p:spPr>
              <a:xfrm>
                <a:off x="7162920" y="1523880"/>
                <a:ext cx="285480" cy="354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e</m:t>
                    </m:r>
                  </m:oMath>
                </a14:m>
              </a:p>
            </p:txBody>
          </p:sp>
        </mc:Choice>
        <mc:Fallback>
          <p:sp>
            <p:nvSpPr>
              <p:cNvPr id="454" name="Object 19"/>
              <p:cNvSpPr txBox="1"/>
              <p:nvPr/>
            </p:nvSpPr>
            <p:spPr>
              <a:xfrm>
                <a:off x="7162920" y="1523880"/>
                <a:ext cx="285480" cy="3542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5" name="Object 21"/>
              <p:cNvSpPr txBox="1"/>
              <p:nvPr/>
            </p:nvSpPr>
            <p:spPr>
              <a:xfrm>
                <a:off x="7620120" y="762120"/>
                <a:ext cx="228600" cy="384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</m:oMath>
                </a14:m>
              </a:p>
            </p:txBody>
          </p:sp>
        </mc:Choice>
        <mc:Fallback>
          <p:sp>
            <p:nvSpPr>
              <p:cNvPr id="455" name="Object 21"/>
              <p:cNvSpPr txBox="1"/>
              <p:nvPr/>
            </p:nvSpPr>
            <p:spPr>
              <a:xfrm>
                <a:off x="7620120" y="762120"/>
                <a:ext cx="228600" cy="3841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456" name="Line 23"/>
          <p:cNvSpPr/>
          <p:nvPr/>
        </p:nvSpPr>
        <p:spPr>
          <a:xfrm>
            <a:off x="8153280" y="762120"/>
            <a:ext cx="685800" cy="0"/>
          </a:xfrm>
          <a:prstGeom prst="line">
            <a:avLst/>
          </a:prstGeom>
          <a:ln w="572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57" name="Object 24"/>
              <p:cNvSpPr txBox="1"/>
              <p:nvPr/>
            </p:nvSpPr>
            <p:spPr>
              <a:xfrm>
                <a:off x="8381880" y="228600"/>
                <a:ext cx="343080" cy="473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457" name="Object 24"/>
              <p:cNvSpPr txBox="1"/>
              <p:nvPr/>
            </p:nvSpPr>
            <p:spPr>
              <a:xfrm>
                <a:off x="8381880" y="228600"/>
                <a:ext cx="343080" cy="4730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8" name="Object 25"/>
              <p:cNvSpPr txBox="1"/>
              <p:nvPr/>
            </p:nvSpPr>
            <p:spPr>
              <a:xfrm>
                <a:off x="8534520" y="1219320"/>
                <a:ext cx="314280" cy="323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x</m:t>
                    </m:r>
                  </m:oMath>
                </a14:m>
              </a:p>
            </p:txBody>
          </p:sp>
        </mc:Choice>
        <mc:Fallback>
          <p:sp>
            <p:nvSpPr>
              <p:cNvPr id="458" name="Object 25"/>
              <p:cNvSpPr txBox="1"/>
              <p:nvPr/>
            </p:nvSpPr>
            <p:spPr>
              <a:xfrm>
                <a:off x="8534520" y="1219320"/>
                <a:ext cx="314280" cy="3236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9" name="Object 26"/>
              <p:cNvSpPr txBox="1"/>
              <p:nvPr/>
            </p:nvSpPr>
            <p:spPr>
              <a:xfrm>
                <a:off x="6781680" y="1981080"/>
                <a:ext cx="285840" cy="324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z</m:t>
                    </m:r>
                  </m:oMath>
                </a14:m>
              </a:p>
            </p:txBody>
          </p:sp>
        </mc:Choice>
        <mc:Fallback>
          <p:sp>
            <p:nvSpPr>
              <p:cNvPr id="459" name="Object 26"/>
              <p:cNvSpPr txBox="1"/>
              <p:nvPr/>
            </p:nvSpPr>
            <p:spPr>
              <a:xfrm>
                <a:off x="6781680" y="1981080"/>
                <a:ext cx="285840" cy="324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60" name="Object 27"/>
              <p:cNvSpPr txBox="1"/>
              <p:nvPr/>
            </p:nvSpPr>
            <p:spPr>
              <a:xfrm>
                <a:off x="7238880" y="0"/>
                <a:ext cx="285840" cy="324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z</m:t>
                    </m:r>
                  </m:oMath>
                </a14:m>
              </a:p>
            </p:txBody>
          </p:sp>
        </mc:Choice>
        <mc:Fallback>
          <p:sp>
            <p:nvSpPr>
              <p:cNvPr id="460" name="Object 27"/>
              <p:cNvSpPr txBox="1"/>
              <p:nvPr/>
            </p:nvSpPr>
            <p:spPr>
              <a:xfrm>
                <a:off x="7238880" y="0"/>
                <a:ext cx="285840" cy="324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sp>
        <p:nvSpPr>
          <p:cNvPr id="461" name="Text Box 28"/>
          <p:cNvSpPr/>
          <p:nvPr/>
        </p:nvSpPr>
        <p:spPr>
          <a:xfrm>
            <a:off x="-700560" y="533520"/>
            <a:ext cx="8250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abfe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cdef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为边长为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L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的正方形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均匀磁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Text Box 29"/>
          <p:cNvSpPr/>
          <p:nvPr/>
        </p:nvSpPr>
        <p:spPr>
          <a:xfrm>
            <a:off x="-701640" y="990720"/>
            <a:ext cx="8250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轴正向穿过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abfe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面的磁通量为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Text Box 30"/>
          <p:cNvSpPr/>
          <p:nvPr/>
        </p:nvSpPr>
        <p:spPr>
          <a:xfrm>
            <a:off x="-607320" y="1523880"/>
            <a:ext cx="8067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；穿过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ade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bcf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面的磁通量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Text Box 31"/>
          <p:cNvSpPr/>
          <p:nvPr/>
        </p:nvSpPr>
        <p:spPr>
          <a:xfrm>
            <a:off x="-563040" y="2057400"/>
            <a:ext cx="7595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；穿过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abcd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面的磁通量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Text Box 32"/>
          <p:cNvSpPr/>
          <p:nvPr/>
        </p:nvSpPr>
        <p:spPr>
          <a:xfrm>
            <a:off x="-644760" y="2666880"/>
            <a:ext cx="10445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；穿过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cdef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面的磁通量为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66" name="Object 33"/>
              <p:cNvSpPr txBox="1"/>
              <p:nvPr/>
            </p:nvSpPr>
            <p:spPr>
              <a:xfrm>
                <a:off x="1066680" y="1600200"/>
                <a:ext cx="285840" cy="412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466" name="Object 33"/>
              <p:cNvSpPr txBox="1"/>
              <p:nvPr/>
            </p:nvSpPr>
            <p:spPr>
              <a:xfrm>
                <a:off x="1066680" y="1600200"/>
                <a:ext cx="285840" cy="412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67" name="Object 34"/>
              <p:cNvSpPr txBox="1"/>
              <p:nvPr/>
            </p:nvSpPr>
            <p:spPr>
              <a:xfrm>
                <a:off x="1295280" y="2209680"/>
                <a:ext cx="285840" cy="412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467" name="Object 34"/>
              <p:cNvSpPr txBox="1"/>
              <p:nvPr/>
            </p:nvSpPr>
            <p:spPr>
              <a:xfrm>
                <a:off x="1295280" y="2209680"/>
                <a:ext cx="285840" cy="41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68" name="Object 35"/>
              <p:cNvSpPr txBox="1"/>
              <p:nvPr/>
            </p:nvSpPr>
            <p:spPr>
              <a:xfrm>
                <a:off x="2514600" y="4807080"/>
                <a:ext cx="2049480" cy="679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Φ</m:t>
                        </m:r>
                      </m:e>
                      <m:sub>
                        <m:r>
                          <m:t xml:space="preserve">m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∬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68" name="Object 35"/>
              <p:cNvSpPr txBox="1"/>
              <p:nvPr/>
            </p:nvSpPr>
            <p:spPr>
              <a:xfrm>
                <a:off x="2514600" y="4807080"/>
                <a:ext cx="2049480" cy="6793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</p:sp>
        </mc:Fallback>
      </mc:AlternateContent>
      <p:sp>
        <p:nvSpPr>
          <p:cNvPr id="469" name="Text Box 36"/>
          <p:cNvSpPr/>
          <p:nvPr/>
        </p:nvSpPr>
        <p:spPr>
          <a:xfrm>
            <a:off x="398160" y="4800600"/>
            <a:ext cx="236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cdef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面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70" name="Object 37"/>
              <p:cNvSpPr txBox="1"/>
              <p:nvPr/>
            </p:nvSpPr>
            <p:spPr>
              <a:xfrm>
                <a:off x="4572000" y="4883040"/>
                <a:ext cx="758880" cy="414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BS</m:t>
                    </m:r>
                  </m:oMath>
                </a14:m>
              </a:p>
            </p:txBody>
          </p:sp>
        </mc:Choice>
        <mc:Fallback>
          <p:sp>
            <p:nvSpPr>
              <p:cNvPr id="470" name="Object 37"/>
              <p:cNvSpPr txBox="1"/>
              <p:nvPr/>
            </p:nvSpPr>
            <p:spPr>
              <a:xfrm>
                <a:off x="4572000" y="4883040"/>
                <a:ext cx="758880" cy="41436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71" name="Object 38"/>
              <p:cNvSpPr txBox="1"/>
              <p:nvPr/>
            </p:nvSpPr>
            <p:spPr>
              <a:xfrm>
                <a:off x="1143000" y="2666880"/>
                <a:ext cx="588960" cy="444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BL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471" name="Object 38"/>
              <p:cNvSpPr txBox="1"/>
              <p:nvPr/>
            </p:nvSpPr>
            <p:spPr>
              <a:xfrm>
                <a:off x="1143000" y="2666880"/>
                <a:ext cx="588960" cy="4446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72" name="Object 39"/>
              <p:cNvSpPr txBox="1"/>
              <p:nvPr/>
            </p:nvSpPr>
            <p:spPr>
              <a:xfrm>
                <a:off x="7467480" y="2666880"/>
                <a:ext cx="588960" cy="444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BL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472" name="Object 39"/>
              <p:cNvSpPr txBox="1"/>
              <p:nvPr/>
            </p:nvSpPr>
            <p:spPr>
              <a:xfrm>
                <a:off x="7467480" y="2666880"/>
                <a:ext cx="588960" cy="444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</p:sp>
        </mc:Fallback>
      </mc:AlternateContent>
      <p:sp>
        <p:nvSpPr>
          <p:cNvPr id="473" name="Text Box 40"/>
          <p:cNvSpPr/>
          <p:nvPr/>
        </p:nvSpPr>
        <p:spPr>
          <a:xfrm>
            <a:off x="806040" y="3886200"/>
            <a:ext cx="65862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Times New Roman"/>
              </a:rPr>
              <a:t>磁通量</a:t>
            </a:r>
            <a:r>
              <a:rPr lang="en-US" sz="3000" b="1" u="none" strike="noStrike">
                <a:solidFill>
                  <a:srgbClr val="0000FF"/>
                </a:solidFill>
                <a:effectLst/>
                <a:uFillTx/>
                <a:latin typeface="Times New Roman"/>
              </a:rPr>
              <a:t>: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通过一给定曲面的总磁感线数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Text Box 43"/>
          <p:cNvSpPr/>
          <p:nvPr/>
        </p:nvSpPr>
        <p:spPr>
          <a:xfrm>
            <a:off x="398160" y="5470560"/>
            <a:ext cx="236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abcd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面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星形: 五角 38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6" dur="indefinite" restart="never" nodeType="tmRoot">
          <p:childTnLst>
            <p:seq>
              <p:cTn id="327" dur="indefinite" nodeType="mainSeq">
                <p:childTnLst>
                  <p:par>
                    <p:cTn id="328" fill="hold" nodeType="clickEffect">
                      <p:stCondLst>
                        <p:cond delay="indefinite"/>
                      </p:stCondLst>
                      <p:childTnLst>
                        <p:par>
                          <p:cTn id="3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32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 nodeType="clickEffect">
                      <p:stCondLst>
                        <p:cond delay="indefinite"/>
                      </p:stCondLst>
                      <p:childTnLst>
                        <p:par>
                          <p:cTn id="3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37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 nodeType="clickEffect">
                      <p:stCondLst>
                        <p:cond delay="indefinite"/>
                      </p:stCondLst>
                      <p:childTnLst>
                        <p:par>
                          <p:cTn id="33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2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Effect">
                      <p:stCondLst>
                        <p:cond delay="indefinite"/>
                      </p:stCondLst>
                      <p:childTnLst>
                        <p:par>
                          <p:cTn id="34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7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 nodeType="clickEffect">
                      <p:stCondLst>
                        <p:cond delay="indefinite"/>
                      </p:stCondLst>
                      <p:childTnLst>
                        <p:par>
                          <p:cTn id="34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52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 nodeType="clickEffect">
                      <p:stCondLst>
                        <p:cond delay="indefinite"/>
                      </p:stCondLst>
                      <p:childTnLst>
                        <p:par>
                          <p:cTn id="35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57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Effect">
                      <p:stCondLst>
                        <p:cond delay="indefinite"/>
                      </p:stCondLst>
                      <p:childTnLst>
                        <p:par>
                          <p:cTn id="3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62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Effect">
                      <p:stCondLst>
                        <p:cond delay="indefinite"/>
                      </p:stCondLst>
                      <p:childTnLst>
                        <p:par>
                          <p:cTn id="3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67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Effect">
                      <p:stCondLst>
                        <p:cond delay="indefinite"/>
                      </p:stCondLst>
                      <p:childTnLst>
                        <p:par>
                          <p:cTn id="3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72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74" presetID="1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 nodeType="clickEffect">
                      <p:stCondLst>
                        <p:cond delay="indefinite"/>
                      </p:stCondLst>
                      <p:childTnLst>
                        <p:par>
                          <p:cTn id="3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0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ext Box 25"/>
          <p:cNvSpPr/>
          <p:nvPr/>
        </p:nvSpPr>
        <p:spPr>
          <a:xfrm>
            <a:off x="-491760" y="152280"/>
            <a:ext cx="9979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P115/1.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两个粒子分别带有等量异号电荷。现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Text Box 26"/>
          <p:cNvSpPr/>
          <p:nvPr/>
        </p:nvSpPr>
        <p:spPr>
          <a:xfrm>
            <a:off x="-434160" y="609480"/>
            <a:ext cx="10269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以相同的速度平行运动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则带正电粒子受到的洛仑兹力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Text Box 27"/>
          <p:cNvSpPr/>
          <p:nvPr/>
        </p:nvSpPr>
        <p:spPr>
          <a:xfrm>
            <a:off x="-430200" y="1066680"/>
            <a:ext cx="9888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的方向为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则带负电粒子受到的洛仑兹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Text Box 28"/>
          <p:cNvSpPr/>
          <p:nvPr/>
        </p:nvSpPr>
        <p:spPr>
          <a:xfrm>
            <a:off x="-438840" y="1523880"/>
            <a:ext cx="6269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力的方向为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Line 29"/>
          <p:cNvSpPr/>
          <p:nvPr/>
        </p:nvSpPr>
        <p:spPr>
          <a:xfrm flipV="1">
            <a:off x="7732800" y="2514600"/>
            <a:ext cx="0" cy="1447920"/>
          </a:xfrm>
          <a:prstGeom prst="line">
            <a:avLst/>
          </a:prstGeom>
          <a:ln w="38160">
            <a:solidFill>
              <a:srgbClr val="000000"/>
            </a:solidFill>
            <a:miter/>
            <a:headEnd len="med" type="oval" w="med"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81" name="Object 30"/>
              <p:cNvSpPr txBox="1"/>
              <p:nvPr/>
            </p:nvSpPr>
            <p:spPr>
              <a:xfrm>
                <a:off x="7885080" y="2362320"/>
                <a:ext cx="301680" cy="395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481" name="Object 30"/>
              <p:cNvSpPr txBox="1"/>
              <p:nvPr/>
            </p:nvSpPr>
            <p:spPr>
              <a:xfrm>
                <a:off x="7885080" y="2362320"/>
                <a:ext cx="301680" cy="3952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82" name="Object 31"/>
              <p:cNvSpPr txBox="1"/>
              <p:nvPr/>
            </p:nvSpPr>
            <p:spPr>
              <a:xfrm>
                <a:off x="7920000" y="4191120"/>
                <a:ext cx="301680" cy="395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q</m:t>
                    </m:r>
                  </m:oMath>
                </a14:m>
              </a:p>
            </p:txBody>
          </p:sp>
        </mc:Choice>
        <mc:Fallback>
          <p:sp>
            <p:nvSpPr>
              <p:cNvPr id="482" name="Object 31"/>
              <p:cNvSpPr txBox="1"/>
              <p:nvPr/>
            </p:nvSpPr>
            <p:spPr>
              <a:xfrm>
                <a:off x="7920000" y="4191120"/>
                <a:ext cx="301680" cy="395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83" name="Line 32"/>
          <p:cNvSpPr/>
          <p:nvPr/>
        </p:nvSpPr>
        <p:spPr>
          <a:xfrm flipV="1">
            <a:off x="6513480" y="2484360"/>
            <a:ext cx="0" cy="1447920"/>
          </a:xfrm>
          <a:prstGeom prst="line">
            <a:avLst/>
          </a:prstGeom>
          <a:ln w="38160">
            <a:solidFill>
              <a:srgbClr val="0000FF"/>
            </a:solidFill>
            <a:miter/>
            <a:headEnd len="med" type="oval" w="med"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84" name="Object 33"/>
              <p:cNvSpPr txBox="1"/>
              <p:nvPr/>
            </p:nvSpPr>
            <p:spPr>
              <a:xfrm>
                <a:off x="6665760" y="2408400"/>
                <a:ext cx="301680" cy="395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484" name="Object 33"/>
              <p:cNvSpPr txBox="1"/>
              <p:nvPr/>
            </p:nvSpPr>
            <p:spPr>
              <a:xfrm>
                <a:off x="6665760" y="2408400"/>
                <a:ext cx="301680" cy="3952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85" name="Object 34"/>
              <p:cNvSpPr txBox="1"/>
              <p:nvPr/>
            </p:nvSpPr>
            <p:spPr>
              <a:xfrm>
                <a:off x="6208560" y="4222800"/>
                <a:ext cx="573120" cy="425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+</m:t>
                    </m:r>
                    <m:r>
                      <m:t xml:space="preserve">q</m:t>
                    </m:r>
                  </m:oMath>
                </a14:m>
              </a:p>
            </p:txBody>
          </p:sp>
        </mc:Choice>
        <mc:Fallback>
          <p:sp>
            <p:nvSpPr>
              <p:cNvPr id="485" name="Object 34"/>
              <p:cNvSpPr txBox="1"/>
              <p:nvPr/>
            </p:nvSpPr>
            <p:spPr>
              <a:xfrm>
                <a:off x="6208560" y="4222800"/>
                <a:ext cx="573120" cy="425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86" name="Object 35"/>
              <p:cNvSpPr txBox="1"/>
              <p:nvPr/>
            </p:nvSpPr>
            <p:spPr>
              <a:xfrm>
                <a:off x="728640" y="2712960"/>
                <a:ext cx="2044800" cy="97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4</m:t>
                        </m:r>
                        <m:r>
                          <m:t xml:space="preserve">π</m:t>
                        </m:r>
                      </m:den>
                    </m:f>
                    <m:f>
                      <m:num>
                        <m:r>
                          <m:t xml:space="preserve">q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  <m:r>
                          <m:t xml:space="preserve">×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num>
                      <m:den>
                        <m:sSup>
                          <m:e>
                            <m:r>
                              <m:t xml:space="preserve">r</m:t>
                            </m:r>
                          </m:e>
                          <m:sup>
                            <m:r>
                              <m:t xml:space="preserve">3</m:t>
                            </m:r>
                          </m:sup>
                        </m:sSup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86" name="Object 35"/>
              <p:cNvSpPr txBox="1"/>
              <p:nvPr/>
            </p:nvSpPr>
            <p:spPr>
              <a:xfrm>
                <a:off x="728640" y="2712960"/>
                <a:ext cx="2044800" cy="9730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87" name="Object 36"/>
              <p:cNvSpPr txBox="1"/>
              <p:nvPr/>
            </p:nvSpPr>
            <p:spPr>
              <a:xfrm>
                <a:off x="3618000" y="2971800"/>
                <a:ext cx="167616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t xml:space="preserve">q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×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487" name="Object 36"/>
              <p:cNvSpPr txBox="1"/>
              <p:nvPr/>
            </p:nvSpPr>
            <p:spPr>
              <a:xfrm>
                <a:off x="3618000" y="2971800"/>
                <a:ext cx="1676160" cy="6094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grpSp>
        <p:nvGrpSpPr>
          <p:cNvPr id="488" name="Group 37"/>
          <p:cNvGrpSpPr/>
          <p:nvPr/>
        </p:nvGrpSpPr>
        <p:grpSpPr>
          <a:xfrm>
            <a:off x="7808760" y="3505320"/>
            <a:ext cx="228600" cy="228600"/>
            <a:chOff x="7808760" y="3505320"/>
            <a:chExt cx="228600" cy="228600"/>
          </a:xfrm>
        </p:grpSpPr>
        <p:sp>
          <p:nvSpPr>
            <p:cNvPr id="489" name="Oval 38"/>
            <p:cNvSpPr/>
            <p:nvPr/>
          </p:nvSpPr>
          <p:spPr>
            <a:xfrm>
              <a:off x="7808760" y="3505320"/>
              <a:ext cx="228600" cy="228600"/>
            </a:xfrm>
            <a:prstGeom prst="ellipse">
              <a:avLst/>
            </a:prstGeom>
            <a:noFill/>
            <a:ln w="381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0" name="Line 39"/>
            <p:cNvSpPr/>
            <p:nvPr/>
          </p:nvSpPr>
          <p:spPr>
            <a:xfrm flipH="1">
              <a:off x="7851240" y="3543480"/>
              <a:ext cx="152280" cy="15264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1" name="Line 40"/>
            <p:cNvSpPr/>
            <p:nvPr/>
          </p:nvSpPr>
          <p:spPr>
            <a:xfrm flipH="1" flipV="1">
              <a:off x="7851240" y="3543480"/>
              <a:ext cx="152280" cy="15264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92" name="Group 41"/>
          <p:cNvGrpSpPr/>
          <p:nvPr/>
        </p:nvGrpSpPr>
        <p:grpSpPr>
          <a:xfrm>
            <a:off x="6208560" y="3581280"/>
            <a:ext cx="228600" cy="228600"/>
            <a:chOff x="6208560" y="3581280"/>
            <a:chExt cx="228600" cy="228600"/>
          </a:xfrm>
        </p:grpSpPr>
        <p:sp>
          <p:nvSpPr>
            <p:cNvPr id="493" name="Oval 42"/>
            <p:cNvSpPr/>
            <p:nvPr/>
          </p:nvSpPr>
          <p:spPr>
            <a:xfrm>
              <a:off x="6208560" y="3581280"/>
              <a:ext cx="228600" cy="2286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4" name="Line 43"/>
            <p:cNvSpPr/>
            <p:nvPr/>
          </p:nvSpPr>
          <p:spPr>
            <a:xfrm flipH="1">
              <a:off x="6251040" y="3619440"/>
              <a:ext cx="152280" cy="15264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5" name="Line 44"/>
            <p:cNvSpPr/>
            <p:nvPr/>
          </p:nvSpPr>
          <p:spPr>
            <a:xfrm flipH="1" flipV="1">
              <a:off x="6251040" y="3619440"/>
              <a:ext cx="152280" cy="15264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96" name="Line 45"/>
          <p:cNvSpPr/>
          <p:nvPr/>
        </p:nvSpPr>
        <p:spPr>
          <a:xfrm flipH="1">
            <a:off x="5903640" y="3962520"/>
            <a:ext cx="609480" cy="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97" name="Object 46"/>
              <p:cNvSpPr txBox="1"/>
              <p:nvPr/>
            </p:nvSpPr>
            <p:spPr>
              <a:xfrm>
                <a:off x="5522760" y="3657600"/>
                <a:ext cx="301680" cy="485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497" name="Object 46"/>
              <p:cNvSpPr txBox="1"/>
              <p:nvPr/>
            </p:nvSpPr>
            <p:spPr>
              <a:xfrm>
                <a:off x="5522760" y="3657600"/>
                <a:ext cx="301680" cy="485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98" name="Object 47"/>
              <p:cNvSpPr txBox="1"/>
              <p:nvPr/>
            </p:nvSpPr>
            <p:spPr>
              <a:xfrm>
                <a:off x="5880240" y="3371760"/>
                <a:ext cx="328320" cy="438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498" name="Object 47"/>
              <p:cNvSpPr txBox="1"/>
              <p:nvPr/>
            </p:nvSpPr>
            <p:spPr>
              <a:xfrm>
                <a:off x="5880240" y="3371760"/>
                <a:ext cx="328320" cy="4381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99" name="Object 48"/>
              <p:cNvSpPr txBox="1"/>
              <p:nvPr/>
            </p:nvSpPr>
            <p:spPr>
              <a:xfrm>
                <a:off x="8037360" y="3352680"/>
                <a:ext cx="328680" cy="438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499" name="Object 48"/>
              <p:cNvSpPr txBox="1"/>
              <p:nvPr/>
            </p:nvSpPr>
            <p:spPr>
              <a:xfrm>
                <a:off x="8037360" y="3352680"/>
                <a:ext cx="328680" cy="4381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500" name="Line 49"/>
          <p:cNvSpPr/>
          <p:nvPr/>
        </p:nvSpPr>
        <p:spPr>
          <a:xfrm>
            <a:off x="7732800" y="3962520"/>
            <a:ext cx="6094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01" name="Object 50"/>
              <p:cNvSpPr txBox="1"/>
              <p:nvPr/>
            </p:nvSpPr>
            <p:spPr>
              <a:xfrm>
                <a:off x="8421840" y="3657600"/>
                <a:ext cx="301320" cy="485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501" name="Object 50"/>
              <p:cNvSpPr txBox="1"/>
              <p:nvPr/>
            </p:nvSpPr>
            <p:spPr>
              <a:xfrm>
                <a:off x="8421840" y="3657600"/>
                <a:ext cx="301320" cy="4856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502" name="Text Box 51"/>
          <p:cNvSpPr/>
          <p:nvPr/>
        </p:nvSpPr>
        <p:spPr>
          <a:xfrm>
            <a:off x="1698840" y="105084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水平向左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Text Box 52"/>
          <p:cNvSpPr/>
          <p:nvPr/>
        </p:nvSpPr>
        <p:spPr>
          <a:xfrm>
            <a:off x="2117880" y="150804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水平向右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Line 53"/>
          <p:cNvSpPr/>
          <p:nvPr/>
        </p:nvSpPr>
        <p:spPr>
          <a:xfrm flipH="1">
            <a:off x="6589440" y="3962520"/>
            <a:ext cx="1143000" cy="0"/>
          </a:xfrm>
          <a:prstGeom prst="line">
            <a:avLst/>
          </a:prstGeom>
          <a:ln w="38160">
            <a:solidFill>
              <a:srgbClr val="008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05" name="Object 54"/>
              <p:cNvSpPr txBox="1"/>
              <p:nvPr/>
            </p:nvSpPr>
            <p:spPr>
              <a:xfrm>
                <a:off x="7122960" y="3479760"/>
                <a:ext cx="244800" cy="406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r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505" name="Object 54"/>
              <p:cNvSpPr txBox="1"/>
              <p:nvPr/>
            </p:nvSpPr>
            <p:spPr>
              <a:xfrm>
                <a:off x="7122960" y="3479760"/>
                <a:ext cx="244800" cy="4064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sp>
        <p:nvSpPr>
          <p:cNvPr id="506" name="Line 55"/>
          <p:cNvSpPr/>
          <p:nvPr/>
        </p:nvSpPr>
        <p:spPr>
          <a:xfrm>
            <a:off x="7808760" y="4357800"/>
            <a:ext cx="15264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星形: 五角 34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1" dur="indefinite" restart="never" nodeType="tmRoot">
          <p:childTnLst>
            <p:seq>
              <p:cTn id="382" dur="indefinite" nodeType="mainSeq">
                <p:childTnLst>
                  <p:par>
                    <p:cTn id="383" fill="hold" nodeType="clickEffect">
                      <p:stCondLst>
                        <p:cond delay="indefinite"/>
                      </p:stCondLst>
                      <p:childTnLst>
                        <p:par>
                          <p:cTn id="3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7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Effect">
                      <p:stCondLst>
                        <p:cond delay="indefinite"/>
                      </p:stCondLst>
                      <p:childTnLst>
                        <p:par>
                          <p:cTn id="3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92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9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6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Effect">
                      <p:stCondLst>
                        <p:cond delay="indefinite"/>
                      </p:stCondLst>
                      <p:childTnLst>
                        <p:par>
                          <p:cTn id="39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9" presetID="23" presetClass="entr" fill="hold" nodeType="clickEffect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1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2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0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6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 nodeType="clickEffect">
                      <p:stCondLst>
                        <p:cond delay="indefinite"/>
                      </p:stCondLst>
                      <p:childTnLst>
                        <p:par>
                          <p:cTn id="40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11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 nodeType="clickEffect">
                      <p:stCondLst>
                        <p:cond delay="indefinite"/>
                      </p:stCondLst>
                      <p:childTnLst>
                        <p:par>
                          <p:cTn id="41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16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1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20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 nodeType="clickEffect">
                      <p:stCondLst>
                        <p:cond delay="indefinite"/>
                      </p:stCondLst>
                      <p:childTnLst>
                        <p:par>
                          <p:cTn id="4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 nodeType="clickEffect">
                      <p:stCondLst>
                        <p:cond delay="indefinite"/>
                      </p:stCondLst>
                      <p:childTnLst>
                        <p:par>
                          <p:cTn id="42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8" presetID="23" presetClass="entr" fill="hold" nodeType="clickEffect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0"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1"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33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5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 nodeType="clickEffect">
                      <p:stCondLst>
                        <p:cond delay="indefinite"/>
                      </p:stCondLst>
                      <p:childTnLst>
                        <p:par>
                          <p:cTn id="43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0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42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4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 nodeType="clickEffect">
                      <p:stCondLst>
                        <p:cond delay="indefinite"/>
                      </p:stCondLst>
                      <p:childTnLst>
                        <p:par>
                          <p:cTn id="44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4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9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Line 6"/>
          <p:cNvSpPr/>
          <p:nvPr/>
        </p:nvSpPr>
        <p:spPr>
          <a:xfrm>
            <a:off x="6934320" y="533520"/>
            <a:ext cx="190476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Line 7"/>
          <p:cNvSpPr/>
          <p:nvPr/>
        </p:nvSpPr>
        <p:spPr>
          <a:xfrm>
            <a:off x="7010280" y="1828800"/>
            <a:ext cx="190512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10" name="Group 8"/>
          <p:cNvGrpSpPr/>
          <p:nvPr/>
        </p:nvGrpSpPr>
        <p:grpSpPr>
          <a:xfrm>
            <a:off x="7162560" y="762120"/>
            <a:ext cx="152640" cy="152280"/>
            <a:chOff x="7162560" y="762120"/>
            <a:chExt cx="152640" cy="152280"/>
          </a:xfrm>
        </p:grpSpPr>
        <p:sp>
          <p:nvSpPr>
            <p:cNvPr id="511" name="Line 9"/>
            <p:cNvSpPr/>
            <p:nvPr/>
          </p:nvSpPr>
          <p:spPr>
            <a:xfrm flipH="1">
              <a:off x="7162560" y="76212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2" name="Line 10"/>
            <p:cNvSpPr/>
            <p:nvPr/>
          </p:nvSpPr>
          <p:spPr>
            <a:xfrm>
              <a:off x="7162920" y="76212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13" name="Group 11"/>
          <p:cNvGrpSpPr/>
          <p:nvPr/>
        </p:nvGrpSpPr>
        <p:grpSpPr>
          <a:xfrm>
            <a:off x="7619760" y="762120"/>
            <a:ext cx="152640" cy="152280"/>
            <a:chOff x="7619760" y="762120"/>
            <a:chExt cx="152640" cy="152280"/>
          </a:xfrm>
        </p:grpSpPr>
        <p:sp>
          <p:nvSpPr>
            <p:cNvPr id="514" name="Line 12"/>
            <p:cNvSpPr/>
            <p:nvPr/>
          </p:nvSpPr>
          <p:spPr>
            <a:xfrm flipH="1">
              <a:off x="7619760" y="76212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5" name="Line 13"/>
            <p:cNvSpPr/>
            <p:nvPr/>
          </p:nvSpPr>
          <p:spPr>
            <a:xfrm>
              <a:off x="7620120" y="76212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16" name="Group 14"/>
          <p:cNvGrpSpPr/>
          <p:nvPr/>
        </p:nvGrpSpPr>
        <p:grpSpPr>
          <a:xfrm>
            <a:off x="8076960" y="762120"/>
            <a:ext cx="152640" cy="152280"/>
            <a:chOff x="8076960" y="762120"/>
            <a:chExt cx="152640" cy="152280"/>
          </a:xfrm>
        </p:grpSpPr>
        <p:sp>
          <p:nvSpPr>
            <p:cNvPr id="517" name="Line 15"/>
            <p:cNvSpPr/>
            <p:nvPr/>
          </p:nvSpPr>
          <p:spPr>
            <a:xfrm flipH="1">
              <a:off x="8076960" y="76212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8" name="Line 16"/>
            <p:cNvSpPr/>
            <p:nvPr/>
          </p:nvSpPr>
          <p:spPr>
            <a:xfrm>
              <a:off x="8077320" y="76212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19" name="Group 17"/>
          <p:cNvGrpSpPr/>
          <p:nvPr/>
        </p:nvGrpSpPr>
        <p:grpSpPr>
          <a:xfrm>
            <a:off x="8534160" y="762120"/>
            <a:ext cx="152640" cy="152280"/>
            <a:chOff x="8534160" y="762120"/>
            <a:chExt cx="152640" cy="152280"/>
          </a:xfrm>
        </p:grpSpPr>
        <p:sp>
          <p:nvSpPr>
            <p:cNvPr id="520" name="Line 18"/>
            <p:cNvSpPr/>
            <p:nvPr/>
          </p:nvSpPr>
          <p:spPr>
            <a:xfrm flipH="1">
              <a:off x="8534160" y="76212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1" name="Line 19"/>
            <p:cNvSpPr/>
            <p:nvPr/>
          </p:nvSpPr>
          <p:spPr>
            <a:xfrm>
              <a:off x="8534520" y="76212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22" name="Group 20"/>
          <p:cNvGrpSpPr/>
          <p:nvPr/>
        </p:nvGrpSpPr>
        <p:grpSpPr>
          <a:xfrm>
            <a:off x="7162560" y="1371600"/>
            <a:ext cx="152640" cy="152280"/>
            <a:chOff x="7162560" y="1371600"/>
            <a:chExt cx="152640" cy="152280"/>
          </a:xfrm>
        </p:grpSpPr>
        <p:sp>
          <p:nvSpPr>
            <p:cNvPr id="523" name="Line 21"/>
            <p:cNvSpPr/>
            <p:nvPr/>
          </p:nvSpPr>
          <p:spPr>
            <a:xfrm flipH="1">
              <a:off x="7162560" y="137160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4" name="Line 22"/>
            <p:cNvSpPr/>
            <p:nvPr/>
          </p:nvSpPr>
          <p:spPr>
            <a:xfrm>
              <a:off x="7162920" y="137160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25" name="Group 23"/>
          <p:cNvGrpSpPr/>
          <p:nvPr/>
        </p:nvGrpSpPr>
        <p:grpSpPr>
          <a:xfrm>
            <a:off x="7619760" y="1371600"/>
            <a:ext cx="152640" cy="152280"/>
            <a:chOff x="7619760" y="1371600"/>
            <a:chExt cx="152640" cy="152280"/>
          </a:xfrm>
        </p:grpSpPr>
        <p:sp>
          <p:nvSpPr>
            <p:cNvPr id="526" name="Line 24"/>
            <p:cNvSpPr/>
            <p:nvPr/>
          </p:nvSpPr>
          <p:spPr>
            <a:xfrm flipH="1">
              <a:off x="7619760" y="137160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7" name="Line 25"/>
            <p:cNvSpPr/>
            <p:nvPr/>
          </p:nvSpPr>
          <p:spPr>
            <a:xfrm>
              <a:off x="7620120" y="137160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28" name="Group 26"/>
          <p:cNvGrpSpPr/>
          <p:nvPr/>
        </p:nvGrpSpPr>
        <p:grpSpPr>
          <a:xfrm>
            <a:off x="8076960" y="1371600"/>
            <a:ext cx="152640" cy="152280"/>
            <a:chOff x="8076960" y="1371600"/>
            <a:chExt cx="152640" cy="152280"/>
          </a:xfrm>
        </p:grpSpPr>
        <p:sp>
          <p:nvSpPr>
            <p:cNvPr id="529" name="Line 27"/>
            <p:cNvSpPr/>
            <p:nvPr/>
          </p:nvSpPr>
          <p:spPr>
            <a:xfrm flipH="1">
              <a:off x="8076960" y="137160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0" name="Line 28"/>
            <p:cNvSpPr/>
            <p:nvPr/>
          </p:nvSpPr>
          <p:spPr>
            <a:xfrm>
              <a:off x="8077320" y="137160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31" name="Group 29"/>
          <p:cNvGrpSpPr/>
          <p:nvPr/>
        </p:nvGrpSpPr>
        <p:grpSpPr>
          <a:xfrm>
            <a:off x="8534160" y="1371600"/>
            <a:ext cx="152640" cy="152280"/>
            <a:chOff x="8534160" y="1371600"/>
            <a:chExt cx="152640" cy="152280"/>
          </a:xfrm>
        </p:grpSpPr>
        <p:sp>
          <p:nvSpPr>
            <p:cNvPr id="532" name="Line 30"/>
            <p:cNvSpPr/>
            <p:nvPr/>
          </p:nvSpPr>
          <p:spPr>
            <a:xfrm flipH="1">
              <a:off x="8534160" y="137160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3" name="Line 31"/>
            <p:cNvSpPr/>
            <p:nvPr/>
          </p:nvSpPr>
          <p:spPr>
            <a:xfrm>
              <a:off x="8534520" y="1371600"/>
              <a:ext cx="152280" cy="15228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34" name="Line 32"/>
          <p:cNvSpPr/>
          <p:nvPr/>
        </p:nvSpPr>
        <p:spPr>
          <a:xfrm>
            <a:off x="7162920" y="1143000"/>
            <a:ext cx="1447560" cy="0"/>
          </a:xfrm>
          <a:prstGeom prst="line">
            <a:avLst/>
          </a:prstGeom>
          <a:ln w="38160">
            <a:solidFill>
              <a:srgbClr val="008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reeform 33"/>
          <p:cNvSpPr/>
          <p:nvPr/>
        </p:nvSpPr>
        <p:spPr>
          <a:xfrm>
            <a:off x="7162920" y="838080"/>
            <a:ext cx="1295280" cy="304920"/>
          </a:xfrm>
          <a:custGeom>
            <a:avLst/>
            <a:gdLst>
              <a:gd name="GluePoint1X" fmla="*/ 0 w 816"/>
              <a:gd name="GluePoint1Y" fmla="*/ 304800 h 192"/>
              <a:gd name="GluePoint2X" fmla="*/ 838200 w 816"/>
              <a:gd name="GluePoint2Y" fmla="*/ 228600 h 192"/>
              <a:gd name="GluePoint3X" fmla="*/ 1295400 w 816"/>
              <a:gd name="GluePoint3Y" fmla="*/ 0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816" h="192">
                <a:moveTo>
                  <a:pt x="0" y="192"/>
                </a:moveTo>
                <a:cubicBezTo>
                  <a:pt x="196" y="184"/>
                  <a:pt x="392" y="176"/>
                  <a:pt x="528" y="144"/>
                </a:cubicBezTo>
                <a:cubicBezTo>
                  <a:pt x="664" y="112"/>
                  <a:pt x="740" y="56"/>
                  <a:pt x="816" y="0"/>
                </a:cubicBezTo>
              </a:path>
            </a:pathLst>
          </a:custGeom>
          <a:noFill/>
          <a:ln w="38160">
            <a:solidFill>
              <a:srgbClr val="008000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reeform 34"/>
          <p:cNvSpPr/>
          <p:nvPr/>
        </p:nvSpPr>
        <p:spPr>
          <a:xfrm flipV="1">
            <a:off x="7162920" y="1142280"/>
            <a:ext cx="1295280" cy="304920"/>
          </a:xfrm>
          <a:custGeom>
            <a:avLst/>
            <a:gdLst>
              <a:gd name="GluePoint1X" fmla="*/ 0 w 816"/>
              <a:gd name="GluePoint1Y" fmla="*/ 304800 h 192"/>
              <a:gd name="GluePoint2X" fmla="*/ 838200 w 816"/>
              <a:gd name="GluePoint2Y" fmla="*/ 228600 h 192"/>
              <a:gd name="GluePoint3X" fmla="*/ 1295400 w 816"/>
              <a:gd name="GluePoint3Y" fmla="*/ 0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816" h="192">
                <a:moveTo>
                  <a:pt x="0" y="192"/>
                </a:moveTo>
                <a:cubicBezTo>
                  <a:pt x="196" y="184"/>
                  <a:pt x="392" y="176"/>
                  <a:pt x="528" y="144"/>
                </a:cubicBezTo>
                <a:cubicBezTo>
                  <a:pt x="664" y="112"/>
                  <a:pt x="740" y="56"/>
                  <a:pt x="816" y="0"/>
                </a:cubicBezTo>
              </a:path>
            </a:pathLst>
          </a:custGeom>
          <a:noFill/>
          <a:ln w="38160">
            <a:solidFill>
              <a:srgbClr val="006600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37" name="Object 35"/>
              <p:cNvSpPr txBox="1"/>
              <p:nvPr/>
            </p:nvSpPr>
            <p:spPr>
              <a:xfrm>
                <a:off x="8292960" y="569880"/>
                <a:ext cx="300240" cy="344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</m:oMath>
                </a14:m>
              </a:p>
            </p:txBody>
          </p:sp>
        </mc:Choice>
        <mc:Fallback>
          <p:sp>
            <p:nvSpPr>
              <p:cNvPr id="537" name="Object 35"/>
              <p:cNvSpPr txBox="1"/>
              <p:nvPr/>
            </p:nvSpPr>
            <p:spPr>
              <a:xfrm>
                <a:off x="8292960" y="569880"/>
                <a:ext cx="300240" cy="3445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38" name="Object 36"/>
              <p:cNvSpPr txBox="1"/>
              <p:nvPr/>
            </p:nvSpPr>
            <p:spPr>
              <a:xfrm>
                <a:off x="8686800" y="914400"/>
                <a:ext cx="272880" cy="438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538" name="Object 36"/>
              <p:cNvSpPr txBox="1"/>
              <p:nvPr/>
            </p:nvSpPr>
            <p:spPr>
              <a:xfrm>
                <a:off x="8686800" y="914400"/>
                <a:ext cx="272880" cy="438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39" name="Object 37"/>
              <p:cNvSpPr txBox="1"/>
              <p:nvPr/>
            </p:nvSpPr>
            <p:spPr>
              <a:xfrm>
                <a:off x="8305920" y="1447920"/>
                <a:ext cx="245880" cy="342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c</m:t>
                    </m:r>
                  </m:oMath>
                </a14:m>
              </a:p>
            </p:txBody>
          </p:sp>
        </mc:Choice>
        <mc:Fallback>
          <p:sp>
            <p:nvSpPr>
              <p:cNvPr id="539" name="Object 37"/>
              <p:cNvSpPr txBox="1"/>
              <p:nvPr/>
            </p:nvSpPr>
            <p:spPr>
              <a:xfrm>
                <a:off x="8305920" y="1447920"/>
                <a:ext cx="245880" cy="342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540" name="Text Box 38"/>
          <p:cNvSpPr/>
          <p:nvPr/>
        </p:nvSpPr>
        <p:spPr>
          <a:xfrm>
            <a:off x="-701280" y="228600"/>
            <a:ext cx="8295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P115/2.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三个带正电粒子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以相同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Text Box 39"/>
          <p:cNvSpPr/>
          <p:nvPr/>
        </p:nvSpPr>
        <p:spPr>
          <a:xfrm>
            <a:off x="-566640" y="669960"/>
            <a:ext cx="7975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动量射入正交电磁场中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则可知它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Text Box 40"/>
          <p:cNvSpPr/>
          <p:nvPr/>
        </p:nvSpPr>
        <p:spPr>
          <a:xfrm>
            <a:off x="-672840" y="1143000"/>
            <a:ext cx="82274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们质量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en-US" sz="3000" b="0" i="1" u="none" strike="noStrike" baseline="-10000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大小顺序为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Text Box 41"/>
          <p:cNvSpPr/>
          <p:nvPr/>
        </p:nvSpPr>
        <p:spPr>
          <a:xfrm>
            <a:off x="-564120" y="1736640"/>
            <a:ext cx="7213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三个粒子中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动能增加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Text Box 42"/>
          <p:cNvSpPr/>
          <p:nvPr/>
        </p:nvSpPr>
        <p:spPr>
          <a:xfrm>
            <a:off x="-512640" y="2422440"/>
            <a:ext cx="8646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动能减少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 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动能不变。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45" name="Group 43"/>
          <p:cNvGrpSpPr/>
          <p:nvPr/>
        </p:nvGrpSpPr>
        <p:grpSpPr>
          <a:xfrm>
            <a:off x="7175520" y="3962520"/>
            <a:ext cx="304920" cy="304560"/>
            <a:chOff x="7175520" y="3962520"/>
            <a:chExt cx="304920" cy="304560"/>
          </a:xfrm>
        </p:grpSpPr>
        <p:sp>
          <p:nvSpPr>
            <p:cNvPr id="546" name="Oval 44"/>
            <p:cNvSpPr/>
            <p:nvPr/>
          </p:nvSpPr>
          <p:spPr>
            <a:xfrm>
              <a:off x="7175520" y="3962520"/>
              <a:ext cx="304920" cy="304560"/>
            </a:xfrm>
            <a:prstGeom prst="ellipse">
              <a:avLst/>
            </a:prstGeom>
            <a:solidFill>
              <a:srgbClr val="FF99FF"/>
            </a:solidFill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7" name="Line 45"/>
            <p:cNvSpPr/>
            <p:nvPr/>
          </p:nvSpPr>
          <p:spPr>
            <a:xfrm>
              <a:off x="7327800" y="4038480"/>
              <a:ext cx="0" cy="15264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8" name="Line 46"/>
            <p:cNvSpPr/>
            <p:nvPr/>
          </p:nvSpPr>
          <p:spPr>
            <a:xfrm flipH="1">
              <a:off x="7251480" y="4114800"/>
              <a:ext cx="15228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49" name="Line 47"/>
          <p:cNvSpPr/>
          <p:nvPr/>
        </p:nvSpPr>
        <p:spPr>
          <a:xfrm>
            <a:off x="7480440" y="4114800"/>
            <a:ext cx="4572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50" name="Object 48"/>
              <p:cNvSpPr txBox="1"/>
              <p:nvPr/>
            </p:nvSpPr>
            <p:spPr>
              <a:xfrm>
                <a:off x="7940520" y="3886200"/>
                <a:ext cx="301680" cy="411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550" name="Object 48"/>
              <p:cNvSpPr txBox="1"/>
              <p:nvPr/>
            </p:nvSpPr>
            <p:spPr>
              <a:xfrm>
                <a:off x="7940520" y="3886200"/>
                <a:ext cx="301680" cy="411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551" name="Line 49"/>
          <p:cNvSpPr/>
          <p:nvPr/>
        </p:nvSpPr>
        <p:spPr>
          <a:xfrm flipV="1">
            <a:off x="7327800" y="3505320"/>
            <a:ext cx="0" cy="457200"/>
          </a:xfrm>
          <a:prstGeom prst="line">
            <a:avLst/>
          </a:prstGeom>
          <a:ln w="38160">
            <a:solidFill>
              <a:srgbClr val="0000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52" name="Object 50"/>
              <p:cNvSpPr txBox="1"/>
              <p:nvPr/>
            </p:nvSpPr>
            <p:spPr>
              <a:xfrm>
                <a:off x="7375680" y="3479760"/>
                <a:ext cx="485640" cy="558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</m:e>
                      <m:sub>
                        <m:r>
                          <m:t xml:space="preserve">m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552" name="Object 50"/>
              <p:cNvSpPr txBox="1"/>
              <p:nvPr/>
            </p:nvSpPr>
            <p:spPr>
              <a:xfrm>
                <a:off x="7375680" y="3479760"/>
                <a:ext cx="485640" cy="558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grpSp>
        <p:nvGrpSpPr>
          <p:cNvPr id="553" name="Group 51"/>
          <p:cNvGrpSpPr/>
          <p:nvPr/>
        </p:nvGrpSpPr>
        <p:grpSpPr>
          <a:xfrm>
            <a:off x="5867280" y="3429000"/>
            <a:ext cx="2895480" cy="1371600"/>
            <a:chOff x="5867280" y="3429000"/>
            <a:chExt cx="2895480" cy="1371600"/>
          </a:xfrm>
        </p:grpSpPr>
        <p:grpSp>
          <p:nvGrpSpPr>
            <p:cNvPr id="554" name="Group 52"/>
            <p:cNvGrpSpPr/>
            <p:nvPr/>
          </p:nvGrpSpPr>
          <p:grpSpPr>
            <a:xfrm>
              <a:off x="6237000" y="3733560"/>
              <a:ext cx="2286000" cy="762120"/>
              <a:chOff x="6237000" y="3733560"/>
              <a:chExt cx="2286000" cy="762120"/>
            </a:xfrm>
          </p:grpSpPr>
          <p:grpSp>
            <p:nvGrpSpPr>
              <p:cNvPr id="555" name="Group 53"/>
              <p:cNvGrpSpPr/>
              <p:nvPr/>
            </p:nvGrpSpPr>
            <p:grpSpPr>
              <a:xfrm>
                <a:off x="6237000" y="3733560"/>
                <a:ext cx="152280" cy="152640"/>
                <a:chOff x="6237000" y="3733560"/>
                <a:chExt cx="152280" cy="152640"/>
              </a:xfrm>
            </p:grpSpPr>
            <p:sp>
              <p:nvSpPr>
                <p:cNvPr id="556" name="Line 54"/>
                <p:cNvSpPr/>
                <p:nvPr/>
              </p:nvSpPr>
              <p:spPr>
                <a:xfrm>
                  <a:off x="6237000" y="373392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57" name="Line 55"/>
                <p:cNvSpPr/>
                <p:nvPr/>
              </p:nvSpPr>
              <p:spPr>
                <a:xfrm flipV="1">
                  <a:off x="6237000" y="373356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558" name="Group 56"/>
              <p:cNvGrpSpPr/>
              <p:nvPr/>
            </p:nvGrpSpPr>
            <p:grpSpPr>
              <a:xfrm>
                <a:off x="6237000" y="4343040"/>
                <a:ext cx="152280" cy="152640"/>
                <a:chOff x="6237000" y="4343040"/>
                <a:chExt cx="152280" cy="152640"/>
              </a:xfrm>
            </p:grpSpPr>
            <p:sp>
              <p:nvSpPr>
                <p:cNvPr id="559" name="Line 57"/>
                <p:cNvSpPr/>
                <p:nvPr/>
              </p:nvSpPr>
              <p:spPr>
                <a:xfrm>
                  <a:off x="6237000" y="4343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60" name="Line 58"/>
                <p:cNvSpPr/>
                <p:nvPr/>
              </p:nvSpPr>
              <p:spPr>
                <a:xfrm flipV="1">
                  <a:off x="6237000" y="434304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561" name="Group 59"/>
              <p:cNvGrpSpPr/>
              <p:nvPr/>
            </p:nvGrpSpPr>
            <p:grpSpPr>
              <a:xfrm>
                <a:off x="6846480" y="3733560"/>
                <a:ext cx="152280" cy="152640"/>
                <a:chOff x="6846480" y="3733560"/>
                <a:chExt cx="152280" cy="152640"/>
              </a:xfrm>
            </p:grpSpPr>
            <p:sp>
              <p:nvSpPr>
                <p:cNvPr id="562" name="Line 60"/>
                <p:cNvSpPr/>
                <p:nvPr/>
              </p:nvSpPr>
              <p:spPr>
                <a:xfrm>
                  <a:off x="6846480" y="373392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63" name="Line 61"/>
                <p:cNvSpPr/>
                <p:nvPr/>
              </p:nvSpPr>
              <p:spPr>
                <a:xfrm flipV="1">
                  <a:off x="6846480" y="373356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564" name="Group 62"/>
              <p:cNvGrpSpPr/>
              <p:nvPr/>
            </p:nvGrpSpPr>
            <p:grpSpPr>
              <a:xfrm>
                <a:off x="6846480" y="4343040"/>
                <a:ext cx="152280" cy="152640"/>
                <a:chOff x="6846480" y="4343040"/>
                <a:chExt cx="152280" cy="152640"/>
              </a:xfrm>
            </p:grpSpPr>
            <p:sp>
              <p:nvSpPr>
                <p:cNvPr id="565" name="Line 63"/>
                <p:cNvSpPr/>
                <p:nvPr/>
              </p:nvSpPr>
              <p:spPr>
                <a:xfrm>
                  <a:off x="6846480" y="4343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66" name="Line 64"/>
                <p:cNvSpPr/>
                <p:nvPr/>
              </p:nvSpPr>
              <p:spPr>
                <a:xfrm flipV="1">
                  <a:off x="6846480" y="434304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567" name="Group 65"/>
              <p:cNvGrpSpPr/>
              <p:nvPr/>
            </p:nvGrpSpPr>
            <p:grpSpPr>
              <a:xfrm>
                <a:off x="7760880" y="3733560"/>
                <a:ext cx="152280" cy="152640"/>
                <a:chOff x="7760880" y="3733560"/>
                <a:chExt cx="152280" cy="152640"/>
              </a:xfrm>
            </p:grpSpPr>
            <p:sp>
              <p:nvSpPr>
                <p:cNvPr id="568" name="Line 66"/>
                <p:cNvSpPr/>
                <p:nvPr/>
              </p:nvSpPr>
              <p:spPr>
                <a:xfrm>
                  <a:off x="7760880" y="373392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69" name="Line 67"/>
                <p:cNvSpPr/>
                <p:nvPr/>
              </p:nvSpPr>
              <p:spPr>
                <a:xfrm flipV="1">
                  <a:off x="7760880" y="373356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570" name="Group 68"/>
              <p:cNvGrpSpPr/>
              <p:nvPr/>
            </p:nvGrpSpPr>
            <p:grpSpPr>
              <a:xfrm>
                <a:off x="7760880" y="4343040"/>
                <a:ext cx="152280" cy="152640"/>
                <a:chOff x="7760880" y="4343040"/>
                <a:chExt cx="152280" cy="152640"/>
              </a:xfrm>
            </p:grpSpPr>
            <p:sp>
              <p:nvSpPr>
                <p:cNvPr id="571" name="Line 69"/>
                <p:cNvSpPr/>
                <p:nvPr/>
              </p:nvSpPr>
              <p:spPr>
                <a:xfrm>
                  <a:off x="7760880" y="434340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72" name="Line 70"/>
                <p:cNvSpPr/>
                <p:nvPr/>
              </p:nvSpPr>
              <p:spPr>
                <a:xfrm flipV="1">
                  <a:off x="7760880" y="4343040"/>
                  <a:ext cx="15228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573" name="Group 71"/>
              <p:cNvGrpSpPr/>
              <p:nvPr/>
            </p:nvGrpSpPr>
            <p:grpSpPr>
              <a:xfrm>
                <a:off x="8370360" y="3733560"/>
                <a:ext cx="152640" cy="152640"/>
                <a:chOff x="8370360" y="3733560"/>
                <a:chExt cx="152640" cy="152640"/>
              </a:xfrm>
            </p:grpSpPr>
            <p:sp>
              <p:nvSpPr>
                <p:cNvPr id="574" name="Line 72"/>
                <p:cNvSpPr/>
                <p:nvPr/>
              </p:nvSpPr>
              <p:spPr>
                <a:xfrm>
                  <a:off x="8370360" y="3733920"/>
                  <a:ext cx="15264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75" name="Line 73"/>
                <p:cNvSpPr/>
                <p:nvPr/>
              </p:nvSpPr>
              <p:spPr>
                <a:xfrm flipV="1">
                  <a:off x="8370360" y="3733560"/>
                  <a:ext cx="15264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576" name="Group 74"/>
              <p:cNvGrpSpPr/>
              <p:nvPr/>
            </p:nvGrpSpPr>
            <p:grpSpPr>
              <a:xfrm>
                <a:off x="8370360" y="4343040"/>
                <a:ext cx="152640" cy="152640"/>
                <a:chOff x="8370360" y="4343040"/>
                <a:chExt cx="152640" cy="152640"/>
              </a:xfrm>
            </p:grpSpPr>
            <p:sp>
              <p:nvSpPr>
                <p:cNvPr id="577" name="Line 75"/>
                <p:cNvSpPr/>
                <p:nvPr/>
              </p:nvSpPr>
              <p:spPr>
                <a:xfrm>
                  <a:off x="8370360" y="4343400"/>
                  <a:ext cx="15264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78" name="Line 76"/>
                <p:cNvSpPr/>
                <p:nvPr/>
              </p:nvSpPr>
              <p:spPr>
                <a:xfrm flipV="1">
                  <a:off x="8370360" y="4343040"/>
                  <a:ext cx="152640" cy="15228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</p:grpSp>
        <p:sp>
          <p:nvSpPr>
            <p:cNvPr id="579" name="Line 77"/>
            <p:cNvSpPr/>
            <p:nvPr/>
          </p:nvSpPr>
          <p:spPr>
            <a:xfrm>
              <a:off x="5867280" y="3429000"/>
              <a:ext cx="2895480" cy="0"/>
            </a:xfrm>
            <a:prstGeom prst="line">
              <a:avLst/>
            </a:prstGeom>
            <a:ln w="572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0" name="Line 78"/>
            <p:cNvSpPr/>
            <p:nvPr/>
          </p:nvSpPr>
          <p:spPr>
            <a:xfrm>
              <a:off x="5867280" y="4800600"/>
              <a:ext cx="2895480" cy="0"/>
            </a:xfrm>
            <a:prstGeom prst="line">
              <a:avLst/>
            </a:prstGeom>
            <a:ln w="572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81" name="Line 79"/>
          <p:cNvSpPr/>
          <p:nvPr/>
        </p:nvSpPr>
        <p:spPr>
          <a:xfrm flipV="1">
            <a:off x="8001000" y="151920"/>
            <a:ext cx="0" cy="38124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Line 80"/>
          <p:cNvSpPr/>
          <p:nvPr/>
        </p:nvSpPr>
        <p:spPr>
          <a:xfrm flipV="1">
            <a:off x="8001000" y="1828800"/>
            <a:ext cx="0" cy="3808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83" name="Group 81"/>
          <p:cNvGrpSpPr/>
          <p:nvPr/>
        </p:nvGrpSpPr>
        <p:grpSpPr>
          <a:xfrm>
            <a:off x="8077320" y="228600"/>
            <a:ext cx="228600" cy="228600"/>
            <a:chOff x="8077320" y="228600"/>
            <a:chExt cx="228600" cy="228600"/>
          </a:xfrm>
        </p:grpSpPr>
        <p:sp>
          <p:nvSpPr>
            <p:cNvPr id="584" name="Line 82"/>
            <p:cNvSpPr/>
            <p:nvPr/>
          </p:nvSpPr>
          <p:spPr>
            <a:xfrm>
              <a:off x="8077320" y="343080"/>
              <a:ext cx="228600" cy="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5" name="Line 83"/>
            <p:cNvSpPr/>
            <p:nvPr/>
          </p:nvSpPr>
          <p:spPr>
            <a:xfrm>
              <a:off x="8191800" y="228600"/>
              <a:ext cx="0" cy="22860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86" name="Line 84"/>
          <p:cNvSpPr/>
          <p:nvPr/>
        </p:nvSpPr>
        <p:spPr>
          <a:xfrm>
            <a:off x="8077320" y="1981080"/>
            <a:ext cx="22860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87" name="Object 85"/>
              <p:cNvSpPr txBox="1"/>
              <p:nvPr/>
            </p:nvSpPr>
            <p:spPr>
              <a:xfrm>
                <a:off x="7437600" y="4191120"/>
                <a:ext cx="423720" cy="588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</m:e>
                      <m:sub>
                        <m:r>
                          <m:t xml:space="preserve">e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587" name="Object 85"/>
              <p:cNvSpPr txBox="1"/>
              <p:nvPr/>
            </p:nvSpPr>
            <p:spPr>
              <a:xfrm>
                <a:off x="7437600" y="4191120"/>
                <a:ext cx="423720" cy="588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588" name="Line 86"/>
          <p:cNvSpPr/>
          <p:nvPr/>
        </p:nvSpPr>
        <p:spPr>
          <a:xfrm>
            <a:off x="7324560" y="4267080"/>
            <a:ext cx="0" cy="457200"/>
          </a:xfrm>
          <a:prstGeom prst="line">
            <a:avLst/>
          </a:prstGeom>
          <a:ln w="38160">
            <a:solidFill>
              <a:srgbClr val="F806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Text Box 87"/>
          <p:cNvSpPr/>
          <p:nvPr/>
        </p:nvSpPr>
        <p:spPr>
          <a:xfrm>
            <a:off x="-169560" y="3276720"/>
            <a:ext cx="13694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i="1" u="none" strike="noStrike">
                <a:solidFill>
                  <a:srgbClr val="3333FF"/>
                </a:solidFill>
                <a:effectLst/>
                <a:uFillTx/>
                <a:latin typeface="Bookman Old Style"/>
              </a:rPr>
              <a:t>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90" name="Object 88"/>
              <p:cNvSpPr txBox="1"/>
              <p:nvPr/>
            </p:nvSpPr>
            <p:spPr>
              <a:xfrm>
                <a:off x="1066680" y="3352680"/>
                <a:ext cx="1154160" cy="441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m</m:t>
                        </m:r>
                      </m:sub>
                    </m:sSub>
                    <m:r>
                      <m:t xml:space="preserve">&gt;</m:t>
                    </m:r>
                    <m:sSub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e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590" name="Object 88"/>
              <p:cNvSpPr txBox="1"/>
              <p:nvPr/>
            </p:nvSpPr>
            <p:spPr>
              <a:xfrm>
                <a:off x="1066680" y="3352680"/>
                <a:ext cx="1154160" cy="4413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91" name="Object 89"/>
              <p:cNvSpPr txBox="1"/>
              <p:nvPr/>
            </p:nvSpPr>
            <p:spPr>
              <a:xfrm>
                <a:off x="2424240" y="3338640"/>
                <a:ext cx="1609560" cy="500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qv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b</m:t>
                    </m:r>
                    <m:r>
                      <m:t xml:space="preserve">&gt;</m:t>
                    </m:r>
                    <m:r>
                      <m:rPr>
                        <m:lit/>
                        <m:nor/>
                      </m:rPr>
                      <m:t xml:space="preserve">qE</m:t>
                    </m:r>
                  </m:oMath>
                </a14:m>
              </a:p>
            </p:txBody>
          </p:sp>
        </mc:Choice>
        <mc:Fallback>
          <p:sp>
            <p:nvSpPr>
              <p:cNvPr id="591" name="Object 89"/>
              <p:cNvSpPr txBox="1"/>
              <p:nvPr/>
            </p:nvSpPr>
            <p:spPr>
              <a:xfrm>
                <a:off x="2424240" y="3338640"/>
                <a:ext cx="1609560" cy="5000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92" name="Object 90"/>
              <p:cNvSpPr txBox="1"/>
              <p:nvPr/>
            </p:nvSpPr>
            <p:spPr>
              <a:xfrm>
                <a:off x="4238640" y="3124080"/>
                <a:ext cx="1184400" cy="911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&gt;</m:t>
                    </m:r>
                    <m:f>
                      <m:num>
                        <m:r>
                          <m:t xml:space="preserve">E</m:t>
                        </m:r>
                      </m:num>
                      <m:den>
                        <m:r>
                          <m:t xml:space="preserve">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92" name="Object 90"/>
              <p:cNvSpPr txBox="1"/>
              <p:nvPr/>
            </p:nvSpPr>
            <p:spPr>
              <a:xfrm>
                <a:off x="4238640" y="3124080"/>
                <a:ext cx="1184400" cy="911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93" name="Object 91"/>
              <p:cNvSpPr txBox="1"/>
              <p:nvPr/>
            </p:nvSpPr>
            <p:spPr>
              <a:xfrm>
                <a:off x="1131840" y="3886200"/>
                <a:ext cx="1154160" cy="911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E</m:t>
                        </m:r>
                      </m:num>
                      <m:den>
                        <m:r>
                          <m:t xml:space="preserve">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93" name="Object 91"/>
              <p:cNvSpPr txBox="1"/>
              <p:nvPr/>
            </p:nvSpPr>
            <p:spPr>
              <a:xfrm>
                <a:off x="1131840" y="3886200"/>
                <a:ext cx="1154160" cy="9111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94" name="Object 92"/>
              <p:cNvSpPr txBox="1"/>
              <p:nvPr/>
            </p:nvSpPr>
            <p:spPr>
              <a:xfrm>
                <a:off x="2960640" y="3886200"/>
                <a:ext cx="1154160" cy="911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c</m:t>
                        </m:r>
                      </m:sub>
                    </m:sSub>
                    <m:r>
                      <m:t xml:space="preserve">&lt;</m:t>
                    </m:r>
                    <m:f>
                      <m:num>
                        <m:r>
                          <m:t xml:space="preserve">E</m:t>
                        </m:r>
                      </m:num>
                      <m:den>
                        <m:r>
                          <m:t xml:space="preserve">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94" name="Object 92"/>
              <p:cNvSpPr txBox="1"/>
              <p:nvPr/>
            </p:nvSpPr>
            <p:spPr>
              <a:xfrm>
                <a:off x="2960640" y="3886200"/>
                <a:ext cx="1154160" cy="9111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95" name="Object 93"/>
              <p:cNvSpPr txBox="1"/>
              <p:nvPr/>
            </p:nvSpPr>
            <p:spPr>
              <a:xfrm>
                <a:off x="5029200" y="1143000"/>
                <a:ext cx="1905120" cy="441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&lt;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r>
                      <m:t xml:space="preserve">&lt;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c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595" name="Object 93"/>
              <p:cNvSpPr txBox="1"/>
              <p:nvPr/>
            </p:nvSpPr>
            <p:spPr>
              <a:xfrm>
                <a:off x="5029200" y="1143000"/>
                <a:ext cx="1905120" cy="4413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sp>
        <p:nvSpPr>
          <p:cNvPr id="596" name="Text Box 94"/>
          <p:cNvSpPr/>
          <p:nvPr/>
        </p:nvSpPr>
        <p:spPr>
          <a:xfrm>
            <a:off x="266400" y="5089680"/>
            <a:ext cx="30344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洛仑兹力不作功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Text Box 95"/>
          <p:cNvSpPr/>
          <p:nvPr/>
        </p:nvSpPr>
        <p:spPr>
          <a:xfrm>
            <a:off x="3300840" y="5089680"/>
            <a:ext cx="4215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电场力对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粒子作负功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Text Box 96"/>
          <p:cNvSpPr/>
          <p:nvPr/>
        </p:nvSpPr>
        <p:spPr>
          <a:xfrm>
            <a:off x="176040" y="5638680"/>
            <a:ext cx="4191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电场力对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粒子不作功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Text Box 97"/>
          <p:cNvSpPr/>
          <p:nvPr/>
        </p:nvSpPr>
        <p:spPr>
          <a:xfrm>
            <a:off x="4215600" y="5638680"/>
            <a:ext cx="41486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电场力对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粒子作正功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Text Box 98"/>
          <p:cNvSpPr/>
          <p:nvPr/>
        </p:nvSpPr>
        <p:spPr>
          <a:xfrm>
            <a:off x="3049920" y="1736640"/>
            <a:ext cx="349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Text Box 99"/>
          <p:cNvSpPr/>
          <p:nvPr/>
        </p:nvSpPr>
        <p:spPr>
          <a:xfrm>
            <a:off x="916200" y="2422440"/>
            <a:ext cx="4168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i="1" u="none" strike="noStrike">
                <a:solidFill>
                  <a:srgbClr val="FF0000"/>
                </a:solidFill>
                <a:effectLst/>
                <a:uFillTx/>
                <a:latin typeface="Bookman Old Style"/>
              </a:rPr>
              <a:t>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Text Box 100"/>
          <p:cNvSpPr/>
          <p:nvPr/>
        </p:nvSpPr>
        <p:spPr>
          <a:xfrm>
            <a:off x="4496760" y="2422440"/>
            <a:ext cx="3927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星形: 五角 98"/>
          <p:cNvSpPr/>
          <p:nvPr/>
        </p:nvSpPr>
        <p:spPr>
          <a:xfrm>
            <a:off x="8077320" y="5867280"/>
            <a:ext cx="457200" cy="457200"/>
          </a:xfrm>
          <a:custGeom>
            <a:avLst/>
            <a:gdLst>
              <a:gd name="GluePoint1X" fmla="*/ 0 w 457200"/>
              <a:gd name="GluePoint1Y" fmla="*/ 174634 h 457200"/>
              <a:gd name="GluePoint2X" fmla="*/ 174636 w 457200"/>
              <a:gd name="GluePoint2Y" fmla="*/ 174636 h 457200"/>
              <a:gd name="GluePoint3X" fmla="*/ 228600 w 457200"/>
              <a:gd name="GluePoint3Y" fmla="*/ 0 h 457200"/>
              <a:gd name="GluePoint4X" fmla="*/ 282564 w 457200"/>
              <a:gd name="GluePoint4Y" fmla="*/ 174636 h 457200"/>
              <a:gd name="GluePoint5X" fmla="*/ 457200 w 457200"/>
              <a:gd name="GluePoint5Y" fmla="*/ 174634 h 457200"/>
              <a:gd name="GluePoint6X" fmla="*/ 315916 w 457200"/>
              <a:gd name="GluePoint6Y" fmla="*/ 282564 h 457200"/>
              <a:gd name="GluePoint7X" fmla="*/ 369882 w 457200"/>
              <a:gd name="GluePoint7Y" fmla="*/ 457199 h 457200"/>
              <a:gd name="GluePoint8X" fmla="*/ 228600 w 457200"/>
              <a:gd name="GluePoint8Y" fmla="*/ 349267 h 457200"/>
              <a:gd name="GluePoint9X" fmla="*/ 87318 w 457200"/>
              <a:gd name="GluePoint9Y" fmla="*/ 457199 h 457200"/>
              <a:gd name="GluePoint10X" fmla="*/ 141284 w 457200"/>
              <a:gd name="GluePoint10Y" fmla="*/ 282564 h 457200"/>
              <a:gd name="GluePoint11X" fmla="*/ 0 w 457200"/>
              <a:gd name="GluePoint11Y" fmla="*/ 174634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57200" h="457200">
                <a:moveTo>
                  <a:pt x="0" y="174634"/>
                </a:moveTo>
                <a:lnTo>
                  <a:pt x="174636" y="174636"/>
                </a:lnTo>
                <a:lnTo>
                  <a:pt x="228600" y="0"/>
                </a:lnTo>
                <a:lnTo>
                  <a:pt x="282564" y="174636"/>
                </a:lnTo>
                <a:lnTo>
                  <a:pt x="457200" y="174634"/>
                </a:lnTo>
                <a:lnTo>
                  <a:pt x="315916" y="282564"/>
                </a:lnTo>
                <a:lnTo>
                  <a:pt x="369882" y="457199"/>
                </a:lnTo>
                <a:lnTo>
                  <a:pt x="228600" y="349267"/>
                </a:lnTo>
                <a:lnTo>
                  <a:pt x="87318" y="457199"/>
                </a:lnTo>
                <a:lnTo>
                  <a:pt x="141284" y="282564"/>
                </a:lnTo>
                <a:lnTo>
                  <a:pt x="0" y="17463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E2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0" dur="indefinite" restart="never" nodeType="tmRoot">
          <p:childTnLst>
            <p:seq>
              <p:cTn id="451" dur="indefinite" nodeType="mainSeq">
                <p:childTnLst>
                  <p:par>
                    <p:cTn id="452" fill="hold" nodeType="clickEffect">
                      <p:stCondLst>
                        <p:cond delay="indefinite"/>
                      </p:stCondLst>
                      <p:childTnLst>
                        <p:par>
                          <p:cTn id="45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56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 nodeType="clickEffect">
                      <p:stCondLst>
                        <p:cond delay="indefinite"/>
                      </p:stCondLst>
                      <p:childTnLst>
                        <p:par>
                          <p:cTn id="45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9" presetID="1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 additive="repl">
                                        <p:cTn id="462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6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66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46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70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 nodeType="clickEffect">
                      <p:stCondLst>
                        <p:cond delay="indefinite"/>
                      </p:stCondLst>
                      <p:childTnLst>
                        <p:par>
                          <p:cTn id="4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73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5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77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79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 nodeType="clickEffect">
                      <p:stCondLst>
                        <p:cond delay="indefinite"/>
                      </p:stCondLst>
                      <p:childTnLst>
                        <p:par>
                          <p:cTn id="48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8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84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8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8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 nodeType="clickEffect">
                      <p:stCondLst>
                        <p:cond delay="indefinite"/>
                      </p:stCondLst>
                      <p:childTnLst>
                        <p:par>
                          <p:cTn id="49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3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 nodeType="clickEffect">
                      <p:stCondLst>
                        <p:cond delay="indefinite"/>
                      </p:stCondLst>
                      <p:childTnLst>
                        <p:par>
                          <p:cTn id="49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8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 nodeType="clickEffect">
                      <p:stCondLst>
                        <p:cond delay="indefinite"/>
                      </p:stCondLst>
                      <p:childTnLst>
                        <p:par>
                          <p:cTn id="50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0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3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 nodeType="clickEffect">
                      <p:stCondLst>
                        <p:cond delay="indefinite"/>
                      </p:stCondLst>
                      <p:childTnLst>
                        <p:par>
                          <p:cTn id="50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0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8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 nodeType="clickEffect">
                      <p:stCondLst>
                        <p:cond delay="indefinite"/>
                      </p:stCondLst>
                      <p:childTnLst>
                        <p:par>
                          <p:cTn id="5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3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 nodeType="clickEffect">
                      <p:stCondLst>
                        <p:cond delay="indefinite"/>
                      </p:stCondLst>
                      <p:childTnLst>
                        <p:par>
                          <p:cTn id="5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8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 nodeType="clickEffect">
                      <p:stCondLst>
                        <p:cond delay="indefinite"/>
                      </p:stCondLst>
                      <p:childTnLst>
                        <p:par>
                          <p:cTn id="5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23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 nodeType="clickEffect">
                      <p:stCondLst>
                        <p:cond delay="indefinite"/>
                      </p:stCondLst>
                      <p:childTnLst>
                        <p:par>
                          <p:cTn id="52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28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 nodeType="clickEffect">
                      <p:stCondLst>
                        <p:cond delay="indefinite"/>
                      </p:stCondLst>
                      <p:childTnLst>
                        <p:par>
                          <p:cTn id="5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3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 nodeType="clickEffect">
                      <p:stCondLst>
                        <p:cond delay="indefinite"/>
                      </p:stCondLst>
                      <p:childTnLst>
                        <p:par>
                          <p:cTn id="53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8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 nodeType="clickEffect">
                      <p:stCondLst>
                        <p:cond delay="indefinite"/>
                      </p:stCondLst>
                      <p:childTnLst>
                        <p:par>
                          <p:cTn id="5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3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 nodeType="clickEffect">
                      <p:stCondLst>
                        <p:cond delay="indefinite"/>
                      </p:stCondLst>
                      <p:childTnLst>
                        <p:par>
                          <p:cTn id="54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8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 nodeType="clickEffect">
                      <p:stCondLst>
                        <p:cond delay="indefinite"/>
                      </p:stCondLst>
                      <p:childTnLst>
                        <p:par>
                          <p:cTn id="55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53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 nodeType="clickEffect">
                      <p:stCondLst>
                        <p:cond delay="indefinite"/>
                      </p:stCondLst>
                      <p:childTnLst>
                        <p:par>
                          <p:cTn id="55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58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Line 37"/>
          <p:cNvSpPr/>
          <p:nvPr/>
        </p:nvSpPr>
        <p:spPr>
          <a:xfrm>
            <a:off x="6705720" y="304920"/>
            <a:ext cx="0" cy="327636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Line 38"/>
          <p:cNvSpPr/>
          <p:nvPr/>
        </p:nvSpPr>
        <p:spPr>
          <a:xfrm flipH="1">
            <a:off x="7856280" y="1600200"/>
            <a:ext cx="982440" cy="6094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Line 39"/>
          <p:cNvSpPr/>
          <p:nvPr/>
        </p:nvSpPr>
        <p:spPr>
          <a:xfrm flipV="1">
            <a:off x="6713640" y="1980720"/>
            <a:ext cx="0" cy="3812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Line 40"/>
          <p:cNvSpPr/>
          <p:nvPr/>
        </p:nvSpPr>
        <p:spPr>
          <a:xfrm flipV="1">
            <a:off x="7848720" y="2209320"/>
            <a:ext cx="0" cy="30492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Line 41"/>
          <p:cNvSpPr/>
          <p:nvPr/>
        </p:nvSpPr>
        <p:spPr>
          <a:xfrm flipH="1">
            <a:off x="6705360" y="2209680"/>
            <a:ext cx="1143000" cy="0"/>
          </a:xfrm>
          <a:prstGeom prst="line">
            <a:avLst/>
          </a:prstGeom>
          <a:ln w="19080">
            <a:solidFill>
              <a:srgbClr val="00000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Line 42"/>
          <p:cNvSpPr/>
          <p:nvPr/>
        </p:nvSpPr>
        <p:spPr>
          <a:xfrm flipH="1" flipV="1">
            <a:off x="7467120" y="1599840"/>
            <a:ext cx="381240" cy="60948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Line 43"/>
          <p:cNvSpPr/>
          <p:nvPr/>
        </p:nvSpPr>
        <p:spPr>
          <a:xfrm flipH="1">
            <a:off x="7696080" y="1371600"/>
            <a:ext cx="990720" cy="609480"/>
          </a:xfrm>
          <a:prstGeom prst="line">
            <a:avLst/>
          </a:prstGeom>
          <a:ln w="19080">
            <a:solidFill>
              <a:srgbClr val="00000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11" name="Object 44"/>
              <p:cNvSpPr txBox="1"/>
              <p:nvPr/>
            </p:nvSpPr>
            <p:spPr>
              <a:xfrm>
                <a:off x="7110360" y="2254320"/>
                <a:ext cx="331920" cy="333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</m:oMath>
                </a14:m>
              </a:p>
            </p:txBody>
          </p:sp>
        </mc:Choice>
        <mc:Fallback>
          <p:sp>
            <p:nvSpPr>
              <p:cNvPr id="611" name="Object 44"/>
              <p:cNvSpPr txBox="1"/>
              <p:nvPr/>
            </p:nvSpPr>
            <p:spPr>
              <a:xfrm>
                <a:off x="7110360" y="2254320"/>
                <a:ext cx="331920" cy="3333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12" name="Object 45"/>
              <p:cNvSpPr txBox="1"/>
              <p:nvPr/>
            </p:nvSpPr>
            <p:spPr>
              <a:xfrm>
                <a:off x="8305920" y="1981080"/>
                <a:ext cx="193680" cy="228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ϕ</m:t>
                    </m:r>
                  </m:oMath>
                </a14:m>
              </a:p>
            </p:txBody>
          </p:sp>
        </mc:Choice>
        <mc:Fallback>
          <p:sp>
            <p:nvSpPr>
              <p:cNvPr id="612" name="Object 45"/>
              <p:cNvSpPr txBox="1"/>
              <p:nvPr/>
            </p:nvSpPr>
            <p:spPr>
              <a:xfrm>
                <a:off x="8305920" y="1981080"/>
                <a:ext cx="193680" cy="228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613" name="Line 46"/>
          <p:cNvSpPr/>
          <p:nvPr/>
        </p:nvSpPr>
        <p:spPr>
          <a:xfrm>
            <a:off x="6705720" y="1219320"/>
            <a:ext cx="0" cy="761760"/>
          </a:xfrm>
          <a:prstGeom prst="line">
            <a:avLst/>
          </a:prstGeom>
          <a:ln w="38160">
            <a:solidFill>
              <a:srgbClr val="000000"/>
            </a:solidFill>
            <a:miter/>
            <a:head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Line 47"/>
          <p:cNvSpPr/>
          <p:nvPr/>
        </p:nvSpPr>
        <p:spPr>
          <a:xfrm flipH="1" flipV="1">
            <a:off x="8610120" y="1294920"/>
            <a:ext cx="228600" cy="30492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15" name="Object 48"/>
              <p:cNvSpPr txBox="1"/>
              <p:nvPr/>
            </p:nvSpPr>
            <p:spPr>
              <a:xfrm>
                <a:off x="8091360" y="1447920"/>
                <a:ext cx="301680" cy="423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615" name="Object 48"/>
              <p:cNvSpPr txBox="1"/>
              <p:nvPr/>
            </p:nvSpPr>
            <p:spPr>
              <a:xfrm>
                <a:off x="8091360" y="1447920"/>
                <a:ext cx="301680" cy="423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616" name="Line 49"/>
          <p:cNvSpPr/>
          <p:nvPr/>
        </p:nvSpPr>
        <p:spPr>
          <a:xfrm flipH="1">
            <a:off x="8077320" y="1847880"/>
            <a:ext cx="372960" cy="228600"/>
          </a:xfrm>
          <a:prstGeom prst="line">
            <a:avLst/>
          </a:prstGeom>
          <a:ln w="38160">
            <a:solidFill>
              <a:srgbClr val="000000"/>
            </a:solidFill>
            <a:miter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17" name="Object 50"/>
              <p:cNvSpPr txBox="1"/>
              <p:nvPr/>
            </p:nvSpPr>
            <p:spPr>
              <a:xfrm>
                <a:off x="7967520" y="1776240"/>
                <a:ext cx="185760" cy="263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I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17" name="Object 50"/>
              <p:cNvSpPr txBox="1"/>
              <p:nvPr/>
            </p:nvSpPr>
            <p:spPr>
              <a:xfrm>
                <a:off x="7967520" y="1776240"/>
                <a:ext cx="185760" cy="263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618" name="Line 51"/>
          <p:cNvSpPr/>
          <p:nvPr/>
        </p:nvSpPr>
        <p:spPr>
          <a:xfrm flipH="1">
            <a:off x="7848360" y="2209680"/>
            <a:ext cx="1143000" cy="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Arc 52"/>
          <p:cNvSpPr/>
          <p:nvPr/>
        </p:nvSpPr>
        <p:spPr>
          <a:xfrm>
            <a:off x="8153280" y="2057400"/>
            <a:ext cx="76320" cy="152280"/>
          </a:xfrm>
          <a:custGeom>
            <a:avLst/>
            <a:gdLst>
              <a:gd name="GluePoint1X" fmla="*/ 0 w 21600"/>
              <a:gd name="GluePoint1Y" fmla="*/ 0 h 21600"/>
              <a:gd name="GluePoint2X" fmla="*/ 76200 w 21600"/>
              <a:gd name="GluePoint2Y" fmla="*/ 152400 h 21600"/>
              <a:gd name="GluePoint3X" fmla="*/ 0 w 21600"/>
              <a:gd name="GluePoint3Y" fmla="*/ 1524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20" name="Object 53"/>
              <p:cNvSpPr txBox="1"/>
              <p:nvPr/>
            </p:nvSpPr>
            <p:spPr>
              <a:xfrm>
                <a:off x="6781680" y="1351080"/>
                <a:ext cx="230400" cy="357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I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20" name="Object 53"/>
              <p:cNvSpPr txBox="1"/>
              <p:nvPr/>
            </p:nvSpPr>
            <p:spPr>
              <a:xfrm>
                <a:off x="6781680" y="1351080"/>
                <a:ext cx="230400" cy="357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21" name="Object 54"/>
              <p:cNvSpPr txBox="1"/>
              <p:nvPr/>
            </p:nvSpPr>
            <p:spPr>
              <a:xfrm>
                <a:off x="3200400" y="3352680"/>
                <a:ext cx="1198440" cy="914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μ</m:t>
                        </m:r>
                        <m:sSub>
                          <m:e>
                            <m:r>
                              <m:t xml:space="preserve">I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num>
                      <m:den>
                        <m:r>
                          <m:t xml:space="preserve">2</m:t>
                        </m:r>
                        <m:r>
                          <m:t xml:space="preserve">πr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21" name="Object 54"/>
              <p:cNvSpPr txBox="1"/>
              <p:nvPr/>
            </p:nvSpPr>
            <p:spPr>
              <a:xfrm>
                <a:off x="3200400" y="3352680"/>
                <a:ext cx="119844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622" name="Line 55"/>
          <p:cNvSpPr/>
          <p:nvPr/>
        </p:nvSpPr>
        <p:spPr>
          <a:xfrm flipV="1">
            <a:off x="8472600" y="1690560"/>
            <a:ext cx="218880" cy="138240"/>
          </a:xfrm>
          <a:prstGeom prst="line">
            <a:avLst/>
          </a:prstGeom>
          <a:ln w="38160">
            <a:solidFill>
              <a:srgbClr val="FF33CC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23" name="Object 56"/>
              <p:cNvSpPr txBox="1"/>
              <p:nvPr/>
            </p:nvSpPr>
            <p:spPr>
              <a:xfrm>
                <a:off x="8458200" y="1752480"/>
                <a:ext cx="493560" cy="435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Id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l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623" name="Object 56"/>
              <p:cNvSpPr txBox="1"/>
              <p:nvPr/>
            </p:nvSpPr>
            <p:spPr>
              <a:xfrm>
                <a:off x="8458200" y="1752480"/>
                <a:ext cx="493560" cy="4352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grpSp>
        <p:nvGrpSpPr>
          <p:cNvPr id="624" name="Group 57"/>
          <p:cNvGrpSpPr/>
          <p:nvPr/>
        </p:nvGrpSpPr>
        <p:grpSpPr>
          <a:xfrm>
            <a:off x="7010280" y="1066320"/>
            <a:ext cx="1828800" cy="1752840"/>
            <a:chOff x="7010280" y="1066320"/>
            <a:chExt cx="1828800" cy="1752840"/>
          </a:xfrm>
        </p:grpSpPr>
        <p:grpSp>
          <p:nvGrpSpPr>
            <p:cNvPr id="625" name="Group 58"/>
            <p:cNvGrpSpPr/>
            <p:nvPr/>
          </p:nvGrpSpPr>
          <p:grpSpPr>
            <a:xfrm>
              <a:off x="7010280" y="1066320"/>
              <a:ext cx="152280" cy="152640"/>
              <a:chOff x="7010280" y="1066320"/>
              <a:chExt cx="152280" cy="152640"/>
            </a:xfrm>
          </p:grpSpPr>
          <p:sp>
            <p:nvSpPr>
              <p:cNvPr id="626" name="Line 59"/>
              <p:cNvSpPr/>
              <p:nvPr/>
            </p:nvSpPr>
            <p:spPr>
              <a:xfrm>
                <a:off x="7010280" y="1066680"/>
                <a:ext cx="15228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7" name="Line 60"/>
              <p:cNvSpPr/>
              <p:nvPr/>
            </p:nvSpPr>
            <p:spPr>
              <a:xfrm flipV="1">
                <a:off x="7010280" y="1066320"/>
                <a:ext cx="15228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28" name="Group 61"/>
            <p:cNvGrpSpPr/>
            <p:nvPr/>
          </p:nvGrpSpPr>
          <p:grpSpPr>
            <a:xfrm>
              <a:off x="7010280" y="2666520"/>
              <a:ext cx="152280" cy="152640"/>
              <a:chOff x="7010280" y="2666520"/>
              <a:chExt cx="152280" cy="152640"/>
            </a:xfrm>
          </p:grpSpPr>
          <p:sp>
            <p:nvSpPr>
              <p:cNvPr id="629" name="Line 62"/>
              <p:cNvSpPr/>
              <p:nvPr/>
            </p:nvSpPr>
            <p:spPr>
              <a:xfrm>
                <a:off x="7010280" y="2666880"/>
                <a:ext cx="15228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0" name="Line 63"/>
              <p:cNvSpPr/>
              <p:nvPr/>
            </p:nvSpPr>
            <p:spPr>
              <a:xfrm flipV="1">
                <a:off x="7010280" y="2666520"/>
                <a:ext cx="15228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31" name="Group 64"/>
            <p:cNvGrpSpPr/>
            <p:nvPr/>
          </p:nvGrpSpPr>
          <p:grpSpPr>
            <a:xfrm>
              <a:off x="7848360" y="1066320"/>
              <a:ext cx="152280" cy="152640"/>
              <a:chOff x="7848360" y="1066320"/>
              <a:chExt cx="152280" cy="152640"/>
            </a:xfrm>
          </p:grpSpPr>
          <p:sp>
            <p:nvSpPr>
              <p:cNvPr id="632" name="Line 65"/>
              <p:cNvSpPr/>
              <p:nvPr/>
            </p:nvSpPr>
            <p:spPr>
              <a:xfrm>
                <a:off x="7848360" y="1066680"/>
                <a:ext cx="15228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3" name="Line 66"/>
              <p:cNvSpPr/>
              <p:nvPr/>
            </p:nvSpPr>
            <p:spPr>
              <a:xfrm flipV="1">
                <a:off x="7848360" y="1066320"/>
                <a:ext cx="15228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34" name="Group 67"/>
            <p:cNvGrpSpPr/>
            <p:nvPr/>
          </p:nvGrpSpPr>
          <p:grpSpPr>
            <a:xfrm>
              <a:off x="7848360" y="2666520"/>
              <a:ext cx="152280" cy="152640"/>
              <a:chOff x="7848360" y="2666520"/>
              <a:chExt cx="152280" cy="152640"/>
            </a:xfrm>
          </p:grpSpPr>
          <p:sp>
            <p:nvSpPr>
              <p:cNvPr id="635" name="Line 68"/>
              <p:cNvSpPr/>
              <p:nvPr/>
            </p:nvSpPr>
            <p:spPr>
              <a:xfrm>
                <a:off x="7848360" y="2666880"/>
                <a:ext cx="15228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6" name="Line 69"/>
              <p:cNvSpPr/>
              <p:nvPr/>
            </p:nvSpPr>
            <p:spPr>
              <a:xfrm flipV="1">
                <a:off x="7848360" y="2666520"/>
                <a:ext cx="15228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37" name="Group 70"/>
            <p:cNvGrpSpPr/>
            <p:nvPr/>
          </p:nvGrpSpPr>
          <p:grpSpPr>
            <a:xfrm>
              <a:off x="8686440" y="1066320"/>
              <a:ext cx="152640" cy="152640"/>
              <a:chOff x="8686440" y="1066320"/>
              <a:chExt cx="152640" cy="152640"/>
            </a:xfrm>
          </p:grpSpPr>
          <p:sp>
            <p:nvSpPr>
              <p:cNvPr id="638" name="Line 71"/>
              <p:cNvSpPr/>
              <p:nvPr/>
            </p:nvSpPr>
            <p:spPr>
              <a:xfrm>
                <a:off x="8686440" y="1066680"/>
                <a:ext cx="15264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9" name="Line 72"/>
              <p:cNvSpPr/>
              <p:nvPr/>
            </p:nvSpPr>
            <p:spPr>
              <a:xfrm flipV="1">
                <a:off x="8686440" y="1066320"/>
                <a:ext cx="15264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640" name="Group 73"/>
            <p:cNvGrpSpPr/>
            <p:nvPr/>
          </p:nvGrpSpPr>
          <p:grpSpPr>
            <a:xfrm>
              <a:off x="8686440" y="2666520"/>
              <a:ext cx="152640" cy="152640"/>
              <a:chOff x="8686440" y="2666520"/>
              <a:chExt cx="152640" cy="152640"/>
            </a:xfrm>
          </p:grpSpPr>
          <p:sp>
            <p:nvSpPr>
              <p:cNvPr id="641" name="Line 74"/>
              <p:cNvSpPr/>
              <p:nvPr/>
            </p:nvSpPr>
            <p:spPr>
              <a:xfrm>
                <a:off x="8686440" y="2666880"/>
                <a:ext cx="15264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42" name="Line 75"/>
              <p:cNvSpPr/>
              <p:nvPr/>
            </p:nvSpPr>
            <p:spPr>
              <a:xfrm flipV="1">
                <a:off x="8686440" y="2666520"/>
                <a:ext cx="152640" cy="152280"/>
              </a:xfrm>
              <a:prstGeom prst="line">
                <a:avLst/>
              </a:prstGeom>
              <a:ln w="28440">
                <a:solidFill>
                  <a:srgbClr val="00BE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643" name="Line 76"/>
          <p:cNvSpPr/>
          <p:nvPr/>
        </p:nvSpPr>
        <p:spPr>
          <a:xfrm flipH="1" flipV="1">
            <a:off x="8000640" y="914400"/>
            <a:ext cx="609480" cy="838080"/>
          </a:xfrm>
          <a:prstGeom prst="line">
            <a:avLst/>
          </a:prstGeom>
          <a:ln w="38160">
            <a:solidFill>
              <a:srgbClr val="0000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44" name="Object 77"/>
              <p:cNvSpPr txBox="1"/>
              <p:nvPr/>
            </p:nvSpPr>
            <p:spPr>
              <a:xfrm>
                <a:off x="8305920" y="762120"/>
                <a:ext cx="374400" cy="414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644" name="Object 77"/>
              <p:cNvSpPr txBox="1"/>
              <p:nvPr/>
            </p:nvSpPr>
            <p:spPr>
              <a:xfrm>
                <a:off x="8305920" y="762120"/>
                <a:ext cx="374400" cy="4143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45" name="Object 78"/>
              <p:cNvSpPr txBox="1"/>
              <p:nvPr/>
            </p:nvSpPr>
            <p:spPr>
              <a:xfrm>
                <a:off x="685800" y="3581280"/>
                <a:ext cx="1752480" cy="500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sSub>
                      <m:e>
                        <m:r>
                          <m:t xml:space="preserve">I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l</m:t>
                        </m:r>
                      </m:e>
                    </m:acc>
                    <m:r>
                      <m:t xml:space="preserve">×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645" name="Object 78"/>
              <p:cNvSpPr txBox="1"/>
              <p:nvPr/>
            </p:nvSpPr>
            <p:spPr>
              <a:xfrm>
                <a:off x="685800" y="3581280"/>
                <a:ext cx="1752480" cy="5000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646" name="Line 79"/>
          <p:cNvSpPr/>
          <p:nvPr/>
        </p:nvSpPr>
        <p:spPr>
          <a:xfrm flipH="1">
            <a:off x="7543440" y="1295280"/>
            <a:ext cx="685800" cy="457200"/>
          </a:xfrm>
          <a:prstGeom prst="line">
            <a:avLst/>
          </a:prstGeom>
          <a:ln w="19080">
            <a:solidFill>
              <a:srgbClr val="00000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47" name="Object 80"/>
              <p:cNvSpPr txBox="1"/>
              <p:nvPr/>
            </p:nvSpPr>
            <p:spPr>
              <a:xfrm>
                <a:off x="7696080" y="1281240"/>
                <a:ext cx="255600" cy="282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x</m:t>
                    </m:r>
                  </m:oMath>
                </a14:m>
              </a:p>
            </p:txBody>
          </p:sp>
        </mc:Choice>
        <mc:Fallback>
          <p:sp>
            <p:nvSpPr>
              <p:cNvPr id="647" name="Object 80"/>
              <p:cNvSpPr txBox="1"/>
              <p:nvPr/>
            </p:nvSpPr>
            <p:spPr>
              <a:xfrm>
                <a:off x="7696080" y="1281240"/>
                <a:ext cx="255600" cy="282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48" name="Object 81"/>
              <p:cNvSpPr txBox="1"/>
              <p:nvPr/>
            </p:nvSpPr>
            <p:spPr>
              <a:xfrm>
                <a:off x="609480" y="4876920"/>
                <a:ext cx="1463760" cy="441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dF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I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Bd</m:t>
                    </m:r>
                    <m:r>
                      <m:t xml:space="preserve">l</m:t>
                    </m:r>
                  </m:oMath>
                </a14:m>
              </a:p>
            </p:txBody>
          </p:sp>
        </mc:Choice>
        <mc:Fallback>
          <p:sp>
            <p:nvSpPr>
              <p:cNvPr id="648" name="Object 81"/>
              <p:cNvSpPr txBox="1"/>
              <p:nvPr/>
            </p:nvSpPr>
            <p:spPr>
              <a:xfrm>
                <a:off x="609480" y="4876920"/>
                <a:ext cx="1463760" cy="4413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49" name="Object 82"/>
              <p:cNvSpPr txBox="1"/>
              <p:nvPr/>
            </p:nvSpPr>
            <p:spPr>
              <a:xfrm>
                <a:off x="2077920" y="4648320"/>
                <a:ext cx="2265480" cy="97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t xml:space="preserve">μ</m:t>
                        </m:r>
                        <m:sSub>
                          <m:e>
                            <m:r>
                              <m:t xml:space="preserve">I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sSub>
                          <m:e>
                            <m:r>
                              <m:t xml:space="preserve">I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π</m:t>
                        </m:r>
                        <m:r>
                          <m:t xml:space="preserve">(</m:t>
                        </m:r>
                        <m:r>
                          <m:t xml:space="preserve">a</m:t>
                        </m:r>
                        <m:r>
                          <m:t xml:space="preserve">+</m:t>
                        </m:r>
                        <m:r>
                          <m:t xml:space="preserve">x</m:t>
                        </m:r>
                        <m:r>
                          <m:rPr>
                            <m:lit/>
                            <m:nor/>
                          </m:rPr>
                          <m:t xml:space="preserve">cos</m:t>
                        </m:r>
                        <m:r>
                          <m:t xml:space="preserve">ϕ</m:t>
                        </m:r>
                        <m:r>
                          <m:t xml:space="preserve">)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49" name="Object 82"/>
              <p:cNvSpPr txBox="1"/>
              <p:nvPr/>
            </p:nvSpPr>
            <p:spPr>
              <a:xfrm>
                <a:off x="2077920" y="4648320"/>
                <a:ext cx="2265480" cy="9730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50" name="Object 83"/>
              <p:cNvSpPr txBox="1"/>
              <p:nvPr/>
            </p:nvSpPr>
            <p:spPr>
              <a:xfrm>
                <a:off x="5035680" y="4648320"/>
                <a:ext cx="2813040" cy="97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r>
                              <m:t xml:space="preserve">μ</m:t>
                            </m:r>
                            <m:sSub>
                              <m:e>
                                <m:r>
                                  <m:t xml:space="preserve">I</m:t>
                                </m:r>
                              </m:e>
                              <m:sub>
                                <m:r>
                                  <m:t xml:space="preserve">1</m:t>
                                </m:r>
                              </m:sub>
                            </m:sSub>
                            <m:sSub>
                              <m:e>
                                <m:r>
                                  <m:t xml:space="preserve">I</m:t>
                                </m:r>
                              </m:e>
                              <m:sub>
                                <m:r>
                                  <m:t xml:space="preserve">2</m:t>
                                </m:r>
                              </m:sub>
                            </m:sSub>
                            <m:r>
                              <m:rPr>
                                <m:lit/>
                                <m:nor/>
                              </m:rPr>
                              <m:t xml:space="preserve">dx</m:t>
                            </m:r>
                          </m:num>
                          <m:den>
                            <m:r>
                              <m:t xml:space="preserve">2</m:t>
                            </m:r>
                            <m:r>
                              <m:t xml:space="preserve">π</m:t>
                            </m:r>
                            <m:r>
                              <m:t xml:space="preserve">(</m:t>
                            </m:r>
                            <m:r>
                              <m:t xml:space="preserve">a</m:t>
                            </m:r>
                            <m:r>
                              <m:t xml:space="preserve">+</m:t>
                            </m:r>
                            <m:r>
                              <m:t xml:space="preserve">x</m:t>
                            </m:r>
                            <m:r>
                              <m:rPr>
                                <m:lit/>
                                <m:nor/>
                              </m:rPr>
                              <m:t xml:space="preserve">cos</m:t>
                            </m:r>
                            <m:r>
                              <m:t xml:space="preserve">ϕ</m:t>
                            </m:r>
                            <m:r>
                              <m:t xml:space="preserve">)</m:t>
                            </m:r>
                          </m:den>
                        </m:f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650" name="Object 83"/>
              <p:cNvSpPr txBox="1"/>
              <p:nvPr/>
            </p:nvSpPr>
            <p:spPr>
              <a:xfrm>
                <a:off x="5035680" y="4648320"/>
                <a:ext cx="2813040" cy="9730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51" name="Object 84"/>
              <p:cNvSpPr txBox="1"/>
              <p:nvPr/>
            </p:nvSpPr>
            <p:spPr>
              <a:xfrm>
                <a:off x="1504800" y="2152800"/>
                <a:ext cx="2838600" cy="971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μ</m:t>
                        </m:r>
                        <m:sSub>
                          <m:e>
                            <m:r>
                              <m:t xml:space="preserve">I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sSub>
                          <m:e>
                            <m:r>
                              <m:t xml:space="preserve">I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num>
                      <m:den>
                        <m:r>
                          <m:t xml:space="preserve">2</m:t>
                        </m:r>
                        <m:r>
                          <m:t xml:space="preserve">π</m:t>
                        </m:r>
                        <m:r>
                          <m:rPr>
                            <m:lit/>
                            <m:nor/>
                          </m:rPr>
                          <m:t xml:space="preserve">cos</m:t>
                        </m:r>
                        <m:r>
                          <m:t xml:space="preserve">ϕ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ln</m:t>
                    </m:r>
                    <m:f>
                      <m:num>
                        <m:r>
                          <m:t xml:space="preserve">a</m:t>
                        </m:r>
                        <m:r>
                          <m:t xml:space="preserve">+</m:t>
                        </m:r>
                        <m:r>
                          <m:t xml:space="preserve">b</m:t>
                        </m:r>
                        <m:r>
                          <m:rPr>
                            <m:lit/>
                            <m:nor/>
                          </m:rPr>
                          <m:t xml:space="preserve">cos</m:t>
                        </m:r>
                        <m:r>
                          <m:t xml:space="preserve">ϕ</m:t>
                        </m:r>
                      </m:num>
                      <m:den>
                        <m:r>
                          <m:t xml:space="preserve">a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51" name="Object 84"/>
              <p:cNvSpPr txBox="1"/>
              <p:nvPr/>
            </p:nvSpPr>
            <p:spPr>
              <a:xfrm>
                <a:off x="1504800" y="2152800"/>
                <a:ext cx="2838600" cy="9712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</p:sp>
        </mc:Fallback>
      </mc:AlternateContent>
      <p:sp>
        <p:nvSpPr>
          <p:cNvPr id="652" name="Text Box 85"/>
          <p:cNvSpPr/>
          <p:nvPr/>
        </p:nvSpPr>
        <p:spPr>
          <a:xfrm>
            <a:off x="-376560" y="228600"/>
            <a:ext cx="7130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P116/3.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在同一平面上有一条无限长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Text Box 86"/>
          <p:cNvSpPr/>
          <p:nvPr/>
        </p:nvSpPr>
        <p:spPr>
          <a:xfrm>
            <a:off x="-441000" y="685800"/>
            <a:ext cx="7602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载流直导线和一有限长载流直导线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Text Box 87"/>
          <p:cNvSpPr/>
          <p:nvPr/>
        </p:nvSpPr>
        <p:spPr>
          <a:xfrm>
            <a:off x="-594360" y="1127160"/>
            <a:ext cx="790740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们分别通有电流和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尺寸及位置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Text Box 88"/>
          <p:cNvSpPr/>
          <p:nvPr/>
        </p:nvSpPr>
        <p:spPr>
          <a:xfrm>
            <a:off x="-475920" y="1600200"/>
            <a:ext cx="7602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如图所示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则有限长导线所受的安培力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Text Box 89"/>
          <p:cNvSpPr/>
          <p:nvPr/>
        </p:nvSpPr>
        <p:spPr>
          <a:xfrm>
            <a:off x="-473040" y="2590920"/>
            <a:ext cx="6078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57" name="Object 90"/>
              <p:cNvSpPr txBox="1"/>
              <p:nvPr/>
            </p:nvSpPr>
            <p:spPr>
              <a:xfrm>
                <a:off x="4343400" y="3294000"/>
                <a:ext cx="2265480" cy="97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t xml:space="preserve">μ</m:t>
                        </m:r>
                        <m:sSub>
                          <m:e>
                            <m:r>
                              <m:t xml:space="preserve">I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num>
                      <m:den>
                        <m:r>
                          <m:t xml:space="preserve">2</m:t>
                        </m:r>
                        <m:r>
                          <m:t xml:space="preserve">π</m:t>
                        </m:r>
                        <m:r>
                          <m:t xml:space="preserve">(</m:t>
                        </m:r>
                        <m:r>
                          <m:t xml:space="preserve">a</m:t>
                        </m:r>
                        <m:r>
                          <m:t xml:space="preserve">+</m:t>
                        </m:r>
                        <m:r>
                          <m:t xml:space="preserve">x</m:t>
                        </m:r>
                        <m:r>
                          <m:rPr>
                            <m:lit/>
                            <m:nor/>
                          </m:rPr>
                          <m:t xml:space="preserve">cos</m:t>
                        </m:r>
                        <m:r>
                          <m:t xml:space="preserve">ϕ</m:t>
                        </m:r>
                        <m:r>
                          <m:t xml:space="preserve">)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57" name="Object 90"/>
              <p:cNvSpPr txBox="1"/>
              <p:nvPr/>
            </p:nvSpPr>
            <p:spPr>
              <a:xfrm>
                <a:off x="4343400" y="3294000"/>
                <a:ext cx="2265480" cy="97308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9" dur="indefinite" restart="never" nodeType="tmRoot">
          <p:childTnLst>
            <p:seq>
              <p:cTn id="560" dur="indefinite" nodeType="mainSeq">
                <p:childTnLst>
                  <p:par>
                    <p:cTn id="561" fill="hold" nodeType="clickEffect">
                      <p:stCondLst>
                        <p:cond delay="indefinite"/>
                      </p:stCondLst>
                      <p:childTnLst>
                        <p:par>
                          <p:cTn id="5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65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 nodeType="clickEffect">
                      <p:stCondLst>
                        <p:cond delay="indefinite"/>
                      </p:stCondLst>
                      <p:childTnLst>
                        <p:par>
                          <p:cTn id="56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70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 nodeType="clickEffect">
                      <p:stCondLst>
                        <p:cond delay="indefinite"/>
                      </p:stCondLst>
                      <p:childTnLst>
                        <p:par>
                          <p:cTn id="5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75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 nodeType="clickEffect">
                      <p:stCondLst>
                        <p:cond delay="indefinite"/>
                      </p:stCondLst>
                      <p:childTnLst>
                        <p:par>
                          <p:cTn id="5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8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80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82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84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 nodeType="clickEffect">
                      <p:stCondLst>
                        <p:cond delay="indefinite"/>
                      </p:stCondLst>
                      <p:childTnLst>
                        <p:par>
                          <p:cTn id="58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87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89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9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93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 nodeType="clickEffect">
                      <p:stCondLst>
                        <p:cond delay="indefinite"/>
                      </p:stCondLst>
                      <p:childTnLst>
                        <p:par>
                          <p:cTn id="59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96" presetID="16" presetClass="entr" fill="hold" nodeType="clickEffect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598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0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02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 nodeType="clickEffect">
                      <p:stCondLst>
                        <p:cond delay="indefinite"/>
                      </p:stCondLst>
                      <p:childTnLst>
                        <p:par>
                          <p:cTn id="6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07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 nodeType="clickEffect">
                      <p:stCondLst>
                        <p:cond delay="indefinite"/>
                      </p:stCondLst>
                      <p:childTnLst>
                        <p:par>
                          <p:cTn id="6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12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 nodeType="clickEffect">
                      <p:stCondLst>
                        <p:cond delay="indefinite"/>
                      </p:stCondLst>
                      <p:childTnLst>
                        <p:par>
                          <p:cTn id="6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17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 nodeType="clickEffect">
                      <p:stCondLst>
                        <p:cond delay="indefinite"/>
                      </p:stCondLst>
                      <p:childTnLst>
                        <p:par>
                          <p:cTn id="6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22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 nodeType="clickEffect">
                      <p:stCondLst>
                        <p:cond delay="indefinite"/>
                      </p:stCondLst>
                      <p:childTnLst>
                        <p:par>
                          <p:cTn id="6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27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3072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2002-12-02T20:00:18Z</dcterms:created>
  <dc:creator>Love</dc:creator>
  <dc:description/>
  <dc:language>zh-CN</dc:language>
  <cp:lastModifiedBy>Administrator</cp:lastModifiedBy>
  <cp:lastPrinted>2026-05-30T16:17:24Z</cp:lastPrinted>
  <dcterms:modified xsi:type="dcterms:W3CDTF">2026-05-31T21:19:39Z</dcterms:modified>
  <cp:revision>434</cp:revision>
  <dc:subject/>
  <dc:title>没有幻灯片标题</dc:title>
</cp:coreProperties>
</file>