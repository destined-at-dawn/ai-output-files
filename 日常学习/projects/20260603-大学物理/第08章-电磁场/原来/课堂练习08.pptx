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18.emf" ContentType="image/x-emf"/>
  <Override PartName="/ppt/media/image1.emf" ContentType="image/x-emf"/>
  <Override PartName="/ppt/media/image2.emf" ContentType="image/x-emf"/>
  <Override PartName="/ppt/media/image3.emf" ContentType="image/x-emf"/>
  <Override PartName="/ppt/media/image4.emf" ContentType="image/x-emf"/>
  <Override PartName="/ppt/media/image5.emf" ContentType="image/x-emf"/>
  <Override PartName="/ppt/media/image6.emf" ContentType="image/x-emf"/>
  <Override PartName="/ppt/media/image7.emf" ContentType="image/x-emf"/>
  <Override PartName="/ppt/media/image11.emf" ContentType="image/x-emf"/>
  <Override PartName="/ppt/media/image8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3.emf" ContentType="image/x-emf"/>
  <Override PartName="/ppt/media/image14.emf" ContentType="image/x-emf"/>
  <Override PartName="/ppt/media/image15.emf" ContentType="image/x-emf"/>
  <Override PartName="/ppt/media/image16.emf" ContentType="image/x-emf"/>
  <Override PartName="/ppt/media/image17.emf" ContentType="image/x-emf"/>
  <Override PartName="/ppt/media/image19.emf" ContentType="image/x-emf"/>
  <Override PartName="/ppt/media/image20.emf" ContentType="image/x-emf"/>
  <Override PartName="/ppt/media/image21.emf" ContentType="image/x-emf"/>
  <Override PartName="/ppt/media/image22.emf" ContentType="image/x-emf"/>
  <Override PartName="/ppt/media/image23.emf" ContentType="image/x-emf"/>
  <Override PartName="/ppt/media/image24.emf" ContentType="image/x-emf"/>
  <Override PartName="/ppt/media/image25.emf" ContentType="image/x-emf"/>
  <Override PartName="/ppt/media/image26.emf" ContentType="image/x-emf"/>
  <Override PartName="/ppt/media/image27.emf" ContentType="image/x-emf"/>
  <Override PartName="/ppt/media/image28.emf" ContentType="image/x-emf"/>
  <Override PartName="/ppt/media/image29.emf" ContentType="image/x-emf"/>
  <Override PartName="/ppt/media/image30.emf" ContentType="image/x-emf"/>
  <Override PartName="/ppt/media/image31.emf" ContentType="image/x-emf"/>
  <Override PartName="/ppt/media/image32.emf" ContentType="image/x-e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EC1135-D322-47F4-8A2A-ACF3261AF4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BF7470A-9D79-4A1E-B584-E5DD60C5D0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emf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emf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image" Target="../media/image8.emf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4.emf"/><Relationship Id="rId9" Type="http://schemas.openxmlformats.org/officeDocument/2006/relationships/image" Target="../media/image15.emf"/><Relationship Id="rId1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emf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1.emf"/><Relationship Id="rId8" Type="http://schemas.openxmlformats.org/officeDocument/2006/relationships/image" Target="../media/image22.emf"/><Relationship Id="rId9" Type="http://schemas.openxmlformats.org/officeDocument/2006/relationships/image" Target="../media/image23.emf"/><Relationship Id="rId10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emf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emf"/><Relationship Id="rId2" Type="http://schemas.openxmlformats.org/officeDocument/2006/relationships/image" Target="../media/image26.emf"/><Relationship Id="rId3" Type="http://schemas.openxmlformats.org/officeDocument/2006/relationships/image" Target="../media/image26.emf"/><Relationship Id="rId4" Type="http://schemas.openxmlformats.org/officeDocument/2006/relationships/image" Target="../media/image25.emf"/><Relationship Id="rId5" Type="http://schemas.openxmlformats.org/officeDocument/2006/relationships/image" Target="../media/image27.emf"/><Relationship Id="rId6" Type="http://schemas.openxmlformats.org/officeDocument/2006/relationships/image" Target="../media/image28.emf"/><Relationship Id="rId7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emf"/><Relationship Id="rId2" Type="http://schemas.openxmlformats.org/officeDocument/2006/relationships/image" Target="../media/image30.emf"/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/>
          <p:cNvSpPr/>
          <p:nvPr/>
        </p:nvSpPr>
        <p:spPr>
          <a:xfrm>
            <a:off x="-513720" y="380880"/>
            <a:ext cx="10170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P135/1.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导体圆线圈在均匀磁场中运动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能使线圈中产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 Box 11"/>
          <p:cNvSpPr/>
          <p:nvPr/>
        </p:nvSpPr>
        <p:spPr>
          <a:xfrm>
            <a:off x="-469800" y="974880"/>
            <a:ext cx="836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生感应电流的一种情况是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Text Box 12"/>
          <p:cNvSpPr/>
          <p:nvPr/>
        </p:nvSpPr>
        <p:spPr>
          <a:xfrm>
            <a:off x="-383040" y="1736640"/>
            <a:ext cx="92260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线圈绕自身直径轴转动，轴与磁场方向平行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Text Box 13"/>
          <p:cNvSpPr/>
          <p:nvPr/>
        </p:nvSpPr>
        <p:spPr>
          <a:xfrm>
            <a:off x="-426600" y="2286000"/>
            <a:ext cx="903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线圈绕自身直径轴转动，轴与磁场方向垂直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 Box 14"/>
          <p:cNvSpPr/>
          <p:nvPr/>
        </p:nvSpPr>
        <p:spPr>
          <a:xfrm>
            <a:off x="-426600" y="2879640"/>
            <a:ext cx="903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线圈平面垂直于磁场并沿垂直磁场方向平移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 Box 15"/>
          <p:cNvSpPr/>
          <p:nvPr/>
        </p:nvSpPr>
        <p:spPr>
          <a:xfrm>
            <a:off x="-426600" y="3429000"/>
            <a:ext cx="903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线圈平面平行于磁场并沿垂直磁场方向平移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 Box 16"/>
          <p:cNvSpPr/>
          <p:nvPr/>
        </p:nvSpPr>
        <p:spPr>
          <a:xfrm>
            <a:off x="4865040" y="9748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" name="Group 17"/>
          <p:cNvGrpSpPr/>
          <p:nvPr/>
        </p:nvGrpSpPr>
        <p:grpSpPr>
          <a:xfrm>
            <a:off x="2057040" y="4114800"/>
            <a:ext cx="2455560" cy="1676520"/>
            <a:chOff x="2057040" y="4114800"/>
            <a:chExt cx="2455560" cy="1676520"/>
          </a:xfrm>
        </p:grpSpPr>
        <p:sp>
          <p:nvSpPr>
            <p:cNvPr id="15" name="Line 18"/>
            <p:cNvSpPr/>
            <p:nvPr/>
          </p:nvSpPr>
          <p:spPr>
            <a:xfrm flipV="1">
              <a:off x="2590920" y="4343400"/>
              <a:ext cx="0" cy="144792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Oval 19"/>
            <p:cNvSpPr/>
            <p:nvPr/>
          </p:nvSpPr>
          <p:spPr>
            <a:xfrm>
              <a:off x="2438280" y="4648320"/>
              <a:ext cx="914400" cy="9144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" name="Line 20"/>
            <p:cNvSpPr/>
            <p:nvPr/>
          </p:nvSpPr>
          <p:spPr>
            <a:xfrm flipV="1">
              <a:off x="3200400" y="4343400"/>
              <a:ext cx="0" cy="144792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Line 21"/>
            <p:cNvSpPr/>
            <p:nvPr/>
          </p:nvSpPr>
          <p:spPr>
            <a:xfrm flipH="1">
              <a:off x="2057040" y="5105520"/>
              <a:ext cx="1676520" cy="0"/>
            </a:xfrm>
            <a:prstGeom prst="line">
              <a:avLst/>
            </a:prstGeom>
            <a:ln w="28440">
              <a:solidFill>
                <a:srgbClr val="000000"/>
              </a:solidFill>
              <a:prstDash val="dash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Text Box 22"/>
            <p:cNvSpPr/>
            <p:nvPr/>
          </p:nvSpPr>
          <p:spPr>
            <a:xfrm>
              <a:off x="2269440" y="4114800"/>
              <a:ext cx="1285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FF0000"/>
                  </a:solidFill>
                  <a:effectLst/>
                  <a:uFillTx/>
                  <a:latin typeface="宋体"/>
                </a:rPr>
                <a:t>B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" name="Arc 23"/>
            <p:cNvSpPr/>
            <p:nvPr/>
          </p:nvSpPr>
          <p:spPr>
            <a:xfrm rot="5400000">
              <a:off x="3344040" y="4944240"/>
              <a:ext cx="457200" cy="322560"/>
            </a:xfrm>
            <a:custGeom>
              <a:avLst/>
              <a:gdLst>
                <a:gd name="GluePoint1X" fmla="*/ 288 w 43180"/>
                <a:gd name="GluePoint1Y" fmla="*/ 0 h 22872"/>
                <a:gd name="GluePoint2X" fmla="*/ 0 w 43180"/>
                <a:gd name="GluePoint2Y" fmla="*/ 20 h 22872"/>
                <a:gd name="GluePoint3X" fmla="*/ 144 w 43180"/>
                <a:gd name="GluePoint3Y" fmla="*/ 11 h 228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43180" h="22872">
                  <a:moveTo>
                    <a:pt x="-22394" y="0"/>
                  </a:moveTo>
                  <a:cubicBezTo>
                    <a:pt x="-22369" y="423"/>
                    <a:pt x="-22356" y="847"/>
                    <a:pt x="-22356" y="1272"/>
                  </a:cubicBezTo>
                  <a:cubicBezTo>
                    <a:pt x="-22356" y="13201"/>
                    <a:pt x="-32027" y="22872"/>
                    <a:pt x="21580" y="22872"/>
                  </a:cubicBezTo>
                  <a:cubicBezTo>
                    <a:pt x="10012" y="22871"/>
                    <a:pt x="498" y="13758"/>
                    <a:pt x="0" y="2201"/>
                  </a:cubicBezTo>
                </a:path>
                <a:path stroke="0" w="43180" h="22872">
                  <a:moveTo>
                    <a:pt x="-22394" y="0"/>
                  </a:moveTo>
                  <a:cubicBezTo>
                    <a:pt x="-22369" y="423"/>
                    <a:pt x="-22356" y="847"/>
                    <a:pt x="-22356" y="1272"/>
                  </a:cubicBezTo>
                  <a:cubicBezTo>
                    <a:pt x="-22356" y="13201"/>
                    <a:pt x="-32027" y="22872"/>
                    <a:pt x="21580" y="22872"/>
                  </a:cubicBezTo>
                  <a:cubicBezTo>
                    <a:pt x="10012" y="22871"/>
                    <a:pt x="498" y="13758"/>
                    <a:pt x="0" y="2201"/>
                  </a:cubicBezTo>
                  <a:lnTo>
                    <a:pt x="21580" y="1272"/>
                  </a:lnTo>
                  <a:lnTo>
                    <a:pt x="-22394" y="0"/>
                  </a:lnTo>
                  <a:close/>
                </a:path>
              </a:pathLst>
            </a:custGeom>
            <a:noFill/>
            <a:ln w="28440">
              <a:solidFill>
                <a:srgbClr val="0000FF"/>
              </a:solidFill>
              <a:round/>
              <a:head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Text Box 24"/>
            <p:cNvSpPr/>
            <p:nvPr/>
          </p:nvSpPr>
          <p:spPr>
            <a:xfrm>
              <a:off x="3074400" y="4952880"/>
              <a:ext cx="1438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FF"/>
                  </a:solidFill>
                  <a:effectLst/>
                  <a:uFillTx/>
                  <a:latin typeface="宋体"/>
                </a:rPr>
                <a:t>ω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22" name="Group 25"/>
          <p:cNvGrpSpPr/>
          <p:nvPr/>
        </p:nvGrpSpPr>
        <p:grpSpPr>
          <a:xfrm>
            <a:off x="4724280" y="4495680"/>
            <a:ext cx="1921680" cy="1219320"/>
            <a:chOff x="4724280" y="4495680"/>
            <a:chExt cx="1921680" cy="1219320"/>
          </a:xfrm>
        </p:grpSpPr>
        <p:grpSp>
          <p:nvGrpSpPr>
            <p:cNvPr id="23" name="Group 26"/>
            <p:cNvGrpSpPr/>
            <p:nvPr/>
          </p:nvGrpSpPr>
          <p:grpSpPr>
            <a:xfrm>
              <a:off x="4724280" y="4495680"/>
              <a:ext cx="152640" cy="152640"/>
              <a:chOff x="4724280" y="4495680"/>
              <a:chExt cx="152640" cy="152640"/>
            </a:xfrm>
          </p:grpSpPr>
          <p:sp>
            <p:nvSpPr>
              <p:cNvPr id="24" name="Line 27"/>
              <p:cNvSpPr/>
              <p:nvPr/>
            </p:nvSpPr>
            <p:spPr>
              <a:xfrm flipH="1">
                <a:off x="4724280" y="4495680"/>
                <a:ext cx="152640" cy="15264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" name="Line 28"/>
              <p:cNvSpPr/>
              <p:nvPr/>
            </p:nvSpPr>
            <p:spPr>
              <a:xfrm>
                <a:off x="4724280" y="4495680"/>
                <a:ext cx="152640" cy="15264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26" name="Group 29"/>
            <p:cNvGrpSpPr/>
            <p:nvPr/>
          </p:nvGrpSpPr>
          <p:grpSpPr>
            <a:xfrm>
              <a:off x="4724280" y="5029200"/>
              <a:ext cx="152640" cy="152280"/>
              <a:chOff x="4724280" y="5029200"/>
              <a:chExt cx="152640" cy="152280"/>
            </a:xfrm>
          </p:grpSpPr>
          <p:sp>
            <p:nvSpPr>
              <p:cNvPr id="27" name="Line 30"/>
              <p:cNvSpPr/>
              <p:nvPr/>
            </p:nvSpPr>
            <p:spPr>
              <a:xfrm flipH="1">
                <a:off x="4724280" y="5029200"/>
                <a:ext cx="15264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" name="Line 31"/>
              <p:cNvSpPr/>
              <p:nvPr/>
            </p:nvSpPr>
            <p:spPr>
              <a:xfrm>
                <a:off x="4724280" y="5029200"/>
                <a:ext cx="15264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29" name="Group 32"/>
            <p:cNvGrpSpPr/>
            <p:nvPr/>
          </p:nvGrpSpPr>
          <p:grpSpPr>
            <a:xfrm>
              <a:off x="4724280" y="5562720"/>
              <a:ext cx="152640" cy="152280"/>
              <a:chOff x="4724280" y="5562720"/>
              <a:chExt cx="152640" cy="152280"/>
            </a:xfrm>
          </p:grpSpPr>
          <p:sp>
            <p:nvSpPr>
              <p:cNvPr id="30" name="Line 33"/>
              <p:cNvSpPr/>
              <p:nvPr/>
            </p:nvSpPr>
            <p:spPr>
              <a:xfrm flipH="1">
                <a:off x="4724280" y="5562720"/>
                <a:ext cx="15264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" name="Line 34"/>
              <p:cNvSpPr/>
              <p:nvPr/>
            </p:nvSpPr>
            <p:spPr>
              <a:xfrm>
                <a:off x="4724280" y="5562720"/>
                <a:ext cx="15264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2" name="Group 35"/>
            <p:cNvGrpSpPr/>
            <p:nvPr/>
          </p:nvGrpSpPr>
          <p:grpSpPr>
            <a:xfrm>
              <a:off x="5257080" y="4495680"/>
              <a:ext cx="152640" cy="152640"/>
              <a:chOff x="5257080" y="4495680"/>
              <a:chExt cx="152640" cy="152640"/>
            </a:xfrm>
          </p:grpSpPr>
          <p:sp>
            <p:nvSpPr>
              <p:cNvPr id="33" name="Line 36"/>
              <p:cNvSpPr/>
              <p:nvPr/>
            </p:nvSpPr>
            <p:spPr>
              <a:xfrm flipH="1">
                <a:off x="5257440" y="4495680"/>
                <a:ext cx="152280" cy="15264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" name="Line 37"/>
              <p:cNvSpPr/>
              <p:nvPr/>
            </p:nvSpPr>
            <p:spPr>
              <a:xfrm>
                <a:off x="5257080" y="4495680"/>
                <a:ext cx="152280" cy="15264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5" name="Group 38"/>
            <p:cNvGrpSpPr/>
            <p:nvPr/>
          </p:nvGrpSpPr>
          <p:grpSpPr>
            <a:xfrm>
              <a:off x="5257080" y="5029200"/>
              <a:ext cx="152640" cy="152280"/>
              <a:chOff x="5257080" y="5029200"/>
              <a:chExt cx="152640" cy="152280"/>
            </a:xfrm>
          </p:grpSpPr>
          <p:sp>
            <p:nvSpPr>
              <p:cNvPr id="36" name="Line 39"/>
              <p:cNvSpPr/>
              <p:nvPr/>
            </p:nvSpPr>
            <p:spPr>
              <a:xfrm flipH="1">
                <a:off x="5257440" y="50292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" name="Line 40"/>
              <p:cNvSpPr/>
              <p:nvPr/>
            </p:nvSpPr>
            <p:spPr>
              <a:xfrm>
                <a:off x="5257080" y="50292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8" name="Group 41"/>
            <p:cNvGrpSpPr/>
            <p:nvPr/>
          </p:nvGrpSpPr>
          <p:grpSpPr>
            <a:xfrm>
              <a:off x="5257080" y="5562720"/>
              <a:ext cx="152640" cy="152280"/>
              <a:chOff x="5257080" y="5562720"/>
              <a:chExt cx="152640" cy="152280"/>
            </a:xfrm>
          </p:grpSpPr>
          <p:sp>
            <p:nvSpPr>
              <p:cNvPr id="39" name="Line 42"/>
              <p:cNvSpPr/>
              <p:nvPr/>
            </p:nvSpPr>
            <p:spPr>
              <a:xfrm flipH="1">
                <a:off x="5257440" y="556272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" name="Line 43"/>
              <p:cNvSpPr/>
              <p:nvPr/>
            </p:nvSpPr>
            <p:spPr>
              <a:xfrm>
                <a:off x="5257080" y="556272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1" name="Group 44"/>
            <p:cNvGrpSpPr/>
            <p:nvPr/>
          </p:nvGrpSpPr>
          <p:grpSpPr>
            <a:xfrm>
              <a:off x="5790600" y="4495680"/>
              <a:ext cx="152640" cy="152640"/>
              <a:chOff x="5790600" y="4495680"/>
              <a:chExt cx="152640" cy="152640"/>
            </a:xfrm>
          </p:grpSpPr>
          <p:sp>
            <p:nvSpPr>
              <p:cNvPr id="42" name="Line 45"/>
              <p:cNvSpPr/>
              <p:nvPr/>
            </p:nvSpPr>
            <p:spPr>
              <a:xfrm flipH="1">
                <a:off x="5790960" y="4495680"/>
                <a:ext cx="152280" cy="15264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" name="Line 46"/>
              <p:cNvSpPr/>
              <p:nvPr/>
            </p:nvSpPr>
            <p:spPr>
              <a:xfrm>
                <a:off x="5790600" y="4495680"/>
                <a:ext cx="152280" cy="15264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4" name="Group 47"/>
            <p:cNvGrpSpPr/>
            <p:nvPr/>
          </p:nvGrpSpPr>
          <p:grpSpPr>
            <a:xfrm>
              <a:off x="5790600" y="5029200"/>
              <a:ext cx="152640" cy="152280"/>
              <a:chOff x="5790600" y="5029200"/>
              <a:chExt cx="152640" cy="152280"/>
            </a:xfrm>
          </p:grpSpPr>
          <p:sp>
            <p:nvSpPr>
              <p:cNvPr id="45" name="Line 48"/>
              <p:cNvSpPr/>
              <p:nvPr/>
            </p:nvSpPr>
            <p:spPr>
              <a:xfrm flipH="1">
                <a:off x="5790960" y="50292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" name="Line 49"/>
              <p:cNvSpPr/>
              <p:nvPr/>
            </p:nvSpPr>
            <p:spPr>
              <a:xfrm>
                <a:off x="5790600" y="502920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47" name="Group 50"/>
            <p:cNvGrpSpPr/>
            <p:nvPr/>
          </p:nvGrpSpPr>
          <p:grpSpPr>
            <a:xfrm>
              <a:off x="5790600" y="5562720"/>
              <a:ext cx="152640" cy="152280"/>
              <a:chOff x="5790600" y="5562720"/>
              <a:chExt cx="152640" cy="152280"/>
            </a:xfrm>
          </p:grpSpPr>
          <p:sp>
            <p:nvSpPr>
              <p:cNvPr id="48" name="Line 51"/>
              <p:cNvSpPr/>
              <p:nvPr/>
            </p:nvSpPr>
            <p:spPr>
              <a:xfrm flipH="1">
                <a:off x="5790960" y="556272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" name="Line 52"/>
              <p:cNvSpPr/>
              <p:nvPr/>
            </p:nvSpPr>
            <p:spPr>
              <a:xfrm>
                <a:off x="5790600" y="5562720"/>
                <a:ext cx="152280" cy="15228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50" name="Oval 53"/>
            <p:cNvSpPr/>
            <p:nvPr/>
          </p:nvSpPr>
          <p:spPr>
            <a:xfrm>
              <a:off x="4876920" y="4648320"/>
              <a:ext cx="914400" cy="9144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" name="Line 54"/>
            <p:cNvSpPr/>
            <p:nvPr/>
          </p:nvSpPr>
          <p:spPr>
            <a:xfrm>
              <a:off x="5791320" y="5105520"/>
              <a:ext cx="380880" cy="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Text Box 55"/>
            <p:cNvSpPr/>
            <p:nvPr/>
          </p:nvSpPr>
          <p:spPr>
            <a:xfrm>
              <a:off x="5360400" y="5105520"/>
              <a:ext cx="1285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FF"/>
                  </a:solidFill>
                  <a:effectLst/>
                  <a:uFillTx/>
                  <a:latin typeface="宋体"/>
                </a:rPr>
                <a:t>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53" name="Group 56"/>
          <p:cNvGrpSpPr/>
          <p:nvPr/>
        </p:nvGrpSpPr>
        <p:grpSpPr>
          <a:xfrm>
            <a:off x="6841440" y="4191120"/>
            <a:ext cx="1895400" cy="1600200"/>
            <a:chOff x="6841440" y="4191120"/>
            <a:chExt cx="1895400" cy="1600200"/>
          </a:xfrm>
        </p:grpSpPr>
        <p:sp>
          <p:nvSpPr>
            <p:cNvPr id="54" name="Oval 57"/>
            <p:cNvSpPr/>
            <p:nvPr/>
          </p:nvSpPr>
          <p:spPr>
            <a:xfrm>
              <a:off x="7010280" y="4648320"/>
              <a:ext cx="914400" cy="9144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Line 58"/>
            <p:cNvSpPr/>
            <p:nvPr/>
          </p:nvSpPr>
          <p:spPr>
            <a:xfrm>
              <a:off x="7924680" y="5105520"/>
              <a:ext cx="381240" cy="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" name="Text Box 59"/>
            <p:cNvSpPr/>
            <p:nvPr/>
          </p:nvSpPr>
          <p:spPr>
            <a:xfrm>
              <a:off x="7451280" y="5105520"/>
              <a:ext cx="1285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FF"/>
                  </a:solidFill>
                  <a:effectLst/>
                  <a:uFillTx/>
                  <a:latin typeface="宋体"/>
                </a:rPr>
                <a:t>v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Line 60"/>
            <p:cNvSpPr/>
            <p:nvPr/>
          </p:nvSpPr>
          <p:spPr>
            <a:xfrm flipV="1">
              <a:off x="7162920" y="4343400"/>
              <a:ext cx="0" cy="144792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Line 61"/>
            <p:cNvSpPr/>
            <p:nvPr/>
          </p:nvSpPr>
          <p:spPr>
            <a:xfrm flipV="1">
              <a:off x="7772400" y="4343400"/>
              <a:ext cx="0" cy="144792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Text Box 62"/>
            <p:cNvSpPr/>
            <p:nvPr/>
          </p:nvSpPr>
          <p:spPr>
            <a:xfrm>
              <a:off x="6841440" y="4191120"/>
              <a:ext cx="1285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FF0000"/>
                  </a:solidFill>
                  <a:effectLst/>
                  <a:uFillTx/>
                  <a:latin typeface="宋体"/>
                </a:rPr>
                <a:t>B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0" name="Group 63"/>
          <p:cNvGrpSpPr/>
          <p:nvPr/>
        </p:nvGrpSpPr>
        <p:grpSpPr>
          <a:xfrm>
            <a:off x="440640" y="3809880"/>
            <a:ext cx="1514520" cy="2364840"/>
            <a:chOff x="440640" y="3809880"/>
            <a:chExt cx="1514520" cy="2364840"/>
          </a:xfrm>
        </p:grpSpPr>
        <p:sp>
          <p:nvSpPr>
            <p:cNvPr id="61" name="Line 64"/>
            <p:cNvSpPr/>
            <p:nvPr/>
          </p:nvSpPr>
          <p:spPr>
            <a:xfrm flipV="1">
              <a:off x="685800" y="4343400"/>
              <a:ext cx="0" cy="144792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Oval 65"/>
            <p:cNvSpPr/>
            <p:nvPr/>
          </p:nvSpPr>
          <p:spPr>
            <a:xfrm>
              <a:off x="609480" y="4648320"/>
              <a:ext cx="914400" cy="914400"/>
            </a:xfrm>
            <a:prstGeom prst="ellipse">
              <a:avLst/>
            </a:prstGeom>
            <a:noFill/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Line 66"/>
            <p:cNvSpPr/>
            <p:nvPr/>
          </p:nvSpPr>
          <p:spPr>
            <a:xfrm flipV="1">
              <a:off x="1447920" y="4343400"/>
              <a:ext cx="0" cy="144792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Line 67"/>
            <p:cNvSpPr/>
            <p:nvPr/>
          </p:nvSpPr>
          <p:spPr>
            <a:xfrm>
              <a:off x="1066680" y="4191120"/>
              <a:ext cx="0" cy="1676160"/>
            </a:xfrm>
            <a:prstGeom prst="line">
              <a:avLst/>
            </a:prstGeom>
            <a:ln w="28440">
              <a:solidFill>
                <a:srgbClr val="000000"/>
              </a:solidFill>
              <a:prstDash val="dash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Text Box 68"/>
            <p:cNvSpPr/>
            <p:nvPr/>
          </p:nvSpPr>
          <p:spPr>
            <a:xfrm>
              <a:off x="440640" y="5715000"/>
              <a:ext cx="12855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FF0000"/>
                  </a:solidFill>
                  <a:effectLst/>
                  <a:uFillTx/>
                  <a:latin typeface="宋体"/>
                </a:rPr>
                <a:t>B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Text Box 69"/>
            <p:cNvSpPr/>
            <p:nvPr/>
          </p:nvSpPr>
          <p:spPr>
            <a:xfrm>
              <a:off x="516960" y="3809880"/>
              <a:ext cx="143820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 marL="476280" indent="-476280">
                <a:lnSpc>
                  <a:spcPct val="100000"/>
                </a:lnSpc>
                <a:spcBef>
                  <a:spcPts val="150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u="none" strike="noStrike">
                  <a:solidFill>
                    <a:srgbClr val="0000FF"/>
                  </a:solidFill>
                  <a:effectLst/>
                  <a:uFillTx/>
                  <a:latin typeface="宋体"/>
                </a:rPr>
                <a:t>ω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Arc 70"/>
            <p:cNvSpPr/>
            <p:nvPr/>
          </p:nvSpPr>
          <p:spPr>
            <a:xfrm>
              <a:off x="838080" y="4249800"/>
              <a:ext cx="457200" cy="322200"/>
            </a:xfrm>
            <a:custGeom>
              <a:avLst/>
              <a:gdLst>
                <a:gd name="GluePoint1X" fmla="*/ 288 w 43180"/>
                <a:gd name="GluePoint1Y" fmla="*/ 0 h 22872"/>
                <a:gd name="GluePoint2X" fmla="*/ 0 w 43180"/>
                <a:gd name="GluePoint2Y" fmla="*/ 20 h 22872"/>
                <a:gd name="GluePoint3X" fmla="*/ 144 w 43180"/>
                <a:gd name="GluePoint3Y" fmla="*/ 11 h 228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43180" h="22872">
                  <a:moveTo>
                    <a:pt x="-22394" y="0"/>
                  </a:moveTo>
                  <a:cubicBezTo>
                    <a:pt x="-22369" y="423"/>
                    <a:pt x="-22356" y="847"/>
                    <a:pt x="-22356" y="1272"/>
                  </a:cubicBezTo>
                  <a:cubicBezTo>
                    <a:pt x="-22356" y="13201"/>
                    <a:pt x="-32027" y="22872"/>
                    <a:pt x="21580" y="22872"/>
                  </a:cubicBezTo>
                  <a:cubicBezTo>
                    <a:pt x="10012" y="22871"/>
                    <a:pt x="498" y="13758"/>
                    <a:pt x="0" y="2201"/>
                  </a:cubicBezTo>
                </a:path>
                <a:path stroke="0" w="43180" h="22872">
                  <a:moveTo>
                    <a:pt x="-22394" y="0"/>
                  </a:moveTo>
                  <a:cubicBezTo>
                    <a:pt x="-22369" y="423"/>
                    <a:pt x="-22356" y="847"/>
                    <a:pt x="-22356" y="1272"/>
                  </a:cubicBezTo>
                  <a:cubicBezTo>
                    <a:pt x="-22356" y="13201"/>
                    <a:pt x="-32027" y="22872"/>
                    <a:pt x="21580" y="22872"/>
                  </a:cubicBezTo>
                  <a:cubicBezTo>
                    <a:pt x="10012" y="22871"/>
                    <a:pt x="498" y="13758"/>
                    <a:pt x="0" y="2201"/>
                  </a:cubicBezTo>
                  <a:lnTo>
                    <a:pt x="21580" y="1272"/>
                  </a:lnTo>
                  <a:lnTo>
                    <a:pt x="-22394" y="0"/>
                  </a:lnTo>
                  <a:close/>
                </a:path>
              </a:pathLst>
            </a:custGeom>
            <a:noFill/>
            <a:ln w="28440">
              <a:solidFill>
                <a:srgbClr val="0000FF"/>
              </a:solidFill>
              <a:round/>
              <a:head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2"/>
          <p:cNvSpPr/>
          <p:nvPr/>
        </p:nvSpPr>
        <p:spPr>
          <a:xfrm>
            <a:off x="-432000" y="714240"/>
            <a:ext cx="560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P135/2.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无限长载流直导线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Line 3"/>
          <p:cNvSpPr/>
          <p:nvPr/>
        </p:nvSpPr>
        <p:spPr>
          <a:xfrm>
            <a:off x="4724280" y="942840"/>
            <a:ext cx="419112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Line 4"/>
          <p:cNvSpPr/>
          <p:nvPr/>
        </p:nvSpPr>
        <p:spPr>
          <a:xfrm>
            <a:off x="6629400" y="942840"/>
            <a:ext cx="3808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5029200" y="1552680"/>
            <a:ext cx="990720" cy="53316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 Box 6"/>
          <p:cNvSpPr/>
          <p:nvPr/>
        </p:nvSpPr>
        <p:spPr>
          <a:xfrm>
            <a:off x="5400720" y="2057400"/>
            <a:ext cx="1322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 Box 7"/>
          <p:cNvSpPr/>
          <p:nvPr/>
        </p:nvSpPr>
        <p:spPr>
          <a:xfrm>
            <a:off x="5360400" y="117144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 Box 8"/>
          <p:cNvSpPr/>
          <p:nvPr/>
        </p:nvSpPr>
        <p:spPr>
          <a:xfrm>
            <a:off x="4369680" y="11430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ext Box 9"/>
          <p:cNvSpPr/>
          <p:nvPr/>
        </p:nvSpPr>
        <p:spPr>
          <a:xfrm>
            <a:off x="4369680" y="2009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Line 10"/>
          <p:cNvSpPr/>
          <p:nvPr/>
        </p:nvSpPr>
        <p:spPr>
          <a:xfrm>
            <a:off x="5257800" y="2467080"/>
            <a:ext cx="4572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 Box 11"/>
          <p:cNvSpPr/>
          <p:nvPr/>
        </p:nvSpPr>
        <p:spPr>
          <a:xfrm>
            <a:off x="4784040" y="239076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 Box 12"/>
          <p:cNvSpPr/>
          <p:nvPr/>
        </p:nvSpPr>
        <p:spPr>
          <a:xfrm>
            <a:off x="4784040" y="1185840"/>
            <a:ext cx="1361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6477120" y="1552680"/>
            <a:ext cx="990360" cy="533160"/>
          </a:xfrm>
          <a:prstGeom prst="rect">
            <a:avLst/>
          </a:prstGeom>
          <a:noFill/>
          <a:ln w="381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 Box 14"/>
          <p:cNvSpPr/>
          <p:nvPr/>
        </p:nvSpPr>
        <p:spPr>
          <a:xfrm>
            <a:off x="6772320" y="2057400"/>
            <a:ext cx="1322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>
                <a:solidFill>
                  <a:srgbClr val="0000FF"/>
                </a:solidFill>
                <a:effectLst/>
                <a:uFillTx/>
                <a:latin typeface="Bookman Old Style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 Box 15"/>
          <p:cNvSpPr/>
          <p:nvPr/>
        </p:nvSpPr>
        <p:spPr>
          <a:xfrm>
            <a:off x="6808320" y="117144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Box 16"/>
          <p:cNvSpPr/>
          <p:nvPr/>
        </p:nvSpPr>
        <p:spPr>
          <a:xfrm>
            <a:off x="5817600" y="11430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Box 17"/>
          <p:cNvSpPr/>
          <p:nvPr/>
        </p:nvSpPr>
        <p:spPr>
          <a:xfrm>
            <a:off x="5817600" y="2009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Line 18"/>
          <p:cNvSpPr/>
          <p:nvPr/>
        </p:nvSpPr>
        <p:spPr>
          <a:xfrm>
            <a:off x="6977160" y="2314440"/>
            <a:ext cx="0" cy="533520"/>
          </a:xfrm>
          <a:prstGeom prst="line">
            <a:avLst/>
          </a:prstGeom>
          <a:ln w="38160">
            <a:solidFill>
              <a:srgbClr val="0000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19"/>
          <p:cNvSpPr/>
          <p:nvPr/>
        </p:nvSpPr>
        <p:spPr>
          <a:xfrm>
            <a:off x="6503400" y="231444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Box 20"/>
          <p:cNvSpPr/>
          <p:nvPr/>
        </p:nvSpPr>
        <p:spPr>
          <a:xfrm>
            <a:off x="6231960" y="1185840"/>
            <a:ext cx="1361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Rectangle 21"/>
          <p:cNvSpPr/>
          <p:nvPr/>
        </p:nvSpPr>
        <p:spPr>
          <a:xfrm>
            <a:off x="7891560" y="1552680"/>
            <a:ext cx="990360" cy="533160"/>
          </a:xfrm>
          <a:prstGeom prst="rect">
            <a:avLst/>
          </a:prstGeom>
          <a:noFill/>
          <a:ln w="38160">
            <a:solidFill>
              <a:srgbClr val="008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22"/>
          <p:cNvSpPr/>
          <p:nvPr/>
        </p:nvSpPr>
        <p:spPr>
          <a:xfrm>
            <a:off x="8212320" y="2057400"/>
            <a:ext cx="1322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>
                <a:solidFill>
                  <a:srgbClr val="008000"/>
                </a:solidFill>
                <a:effectLst/>
                <a:uFillTx/>
                <a:latin typeface="Bookman Old Style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 Box 23"/>
          <p:cNvSpPr/>
          <p:nvPr/>
        </p:nvSpPr>
        <p:spPr>
          <a:xfrm>
            <a:off x="8222760" y="117144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8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 Box 24"/>
          <p:cNvSpPr/>
          <p:nvPr/>
        </p:nvSpPr>
        <p:spPr>
          <a:xfrm>
            <a:off x="7189200" y="11430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8000"/>
                </a:solidFill>
                <a:effectLst/>
                <a:uFillTx/>
                <a:latin typeface="宋体"/>
              </a:rPr>
              <a:t>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Box 25"/>
          <p:cNvSpPr/>
          <p:nvPr/>
        </p:nvSpPr>
        <p:spPr>
          <a:xfrm>
            <a:off x="7232040" y="20098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8000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 Box 26"/>
          <p:cNvSpPr/>
          <p:nvPr/>
        </p:nvSpPr>
        <p:spPr>
          <a:xfrm>
            <a:off x="7451280" y="15526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8000"/>
                </a:solidFill>
                <a:effectLst/>
                <a:uFillTx/>
                <a:latin typeface="宋体"/>
              </a:rPr>
              <a:t>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ext Box 27"/>
          <p:cNvSpPr/>
          <p:nvPr/>
        </p:nvSpPr>
        <p:spPr>
          <a:xfrm>
            <a:off x="7646400" y="1185840"/>
            <a:ext cx="1361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8000"/>
                </a:solidFill>
                <a:effectLst/>
                <a:uFillTx/>
                <a:latin typeface="宋体"/>
              </a:rPr>
              <a:t>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4" name="Group 28"/>
          <p:cNvGrpSpPr/>
          <p:nvPr/>
        </p:nvGrpSpPr>
        <p:grpSpPr>
          <a:xfrm>
            <a:off x="8305920" y="1704960"/>
            <a:ext cx="304560" cy="304920"/>
            <a:chOff x="8305920" y="1704960"/>
            <a:chExt cx="304560" cy="304920"/>
          </a:xfrm>
        </p:grpSpPr>
        <p:sp>
          <p:nvSpPr>
            <p:cNvPr id="95" name="Oval 29"/>
            <p:cNvSpPr/>
            <p:nvPr/>
          </p:nvSpPr>
          <p:spPr>
            <a:xfrm>
              <a:off x="8305920" y="1704960"/>
              <a:ext cx="304560" cy="304920"/>
            </a:xfrm>
            <a:prstGeom prst="ellipse">
              <a:avLst/>
            </a:prstGeom>
            <a:noFill/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Oval 30"/>
            <p:cNvSpPr/>
            <p:nvPr/>
          </p:nvSpPr>
          <p:spPr>
            <a:xfrm>
              <a:off x="8381880" y="1781280"/>
              <a:ext cx="152640" cy="152280"/>
            </a:xfrm>
            <a:prstGeom prst="ellipse">
              <a:avLst/>
            </a:prstGeom>
            <a:solidFill>
              <a:srgbClr val="006600"/>
            </a:solidFill>
            <a:ln w="93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7" name="Text Box 31"/>
          <p:cNvSpPr/>
          <p:nvPr/>
        </p:nvSpPr>
        <p:spPr>
          <a:xfrm>
            <a:off x="-447120" y="1155600"/>
            <a:ext cx="560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附近放置一矩形闭合线圈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Box 32"/>
          <p:cNvSpPr/>
          <p:nvPr/>
        </p:nvSpPr>
        <p:spPr>
          <a:xfrm>
            <a:off x="-384840" y="1552680"/>
            <a:ext cx="5324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开始时线圈与导线在同一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Box 33"/>
          <p:cNvSpPr/>
          <p:nvPr/>
        </p:nvSpPr>
        <p:spPr>
          <a:xfrm>
            <a:off x="-475560" y="1933560"/>
            <a:ext cx="569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平面内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且线圈中两条边与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 Box 34"/>
          <p:cNvSpPr/>
          <p:nvPr/>
        </p:nvSpPr>
        <p:spPr>
          <a:xfrm>
            <a:off x="-340560" y="2374920"/>
            <a:ext cx="5324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导线平行。当线圈以相同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 Box 35"/>
          <p:cNvSpPr/>
          <p:nvPr/>
        </p:nvSpPr>
        <p:spPr>
          <a:xfrm>
            <a:off x="-471240" y="2771640"/>
            <a:ext cx="9888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的速度作如图所示的三种不同方向的平动时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线圈中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36"/>
          <p:cNvSpPr/>
          <p:nvPr/>
        </p:nvSpPr>
        <p:spPr>
          <a:xfrm>
            <a:off x="-477720" y="3228840"/>
            <a:ext cx="569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的感应电流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 Box 37"/>
          <p:cNvSpPr/>
          <p:nvPr/>
        </p:nvSpPr>
        <p:spPr>
          <a:xfrm>
            <a:off x="-437760" y="3762360"/>
            <a:ext cx="9599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以情况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中为最大   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以情况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Ⅱ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中为最大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Box 38"/>
          <p:cNvSpPr/>
          <p:nvPr/>
        </p:nvSpPr>
        <p:spPr>
          <a:xfrm>
            <a:off x="-437040" y="4203720"/>
            <a:ext cx="9979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以情况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Ⅲ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中为最大   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在情况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Ⅱ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中相同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 Box 39"/>
          <p:cNvSpPr/>
          <p:nvPr/>
        </p:nvSpPr>
        <p:spPr>
          <a:xfrm>
            <a:off x="2345760" y="322884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6" name="Object 40"/>
              <p:cNvSpPr txBox="1"/>
              <p:nvPr/>
            </p:nvSpPr>
            <p:spPr>
              <a:xfrm>
                <a:off x="433440" y="5068800"/>
                <a:ext cx="1638360" cy="1255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ε</m:t>
                    </m:r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dΦ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6" name="Object 40"/>
              <p:cNvSpPr txBox="1"/>
              <p:nvPr/>
            </p:nvSpPr>
            <p:spPr>
              <a:xfrm>
                <a:off x="433440" y="5068800"/>
                <a:ext cx="1638360" cy="12556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07" name="Text Box 41"/>
          <p:cNvSpPr/>
          <p:nvPr/>
        </p:nvSpPr>
        <p:spPr>
          <a:xfrm>
            <a:off x="2346480" y="5057640"/>
            <a:ext cx="1704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Ⅰ: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 Box 42"/>
          <p:cNvSpPr/>
          <p:nvPr/>
        </p:nvSpPr>
        <p:spPr>
          <a:xfrm>
            <a:off x="2347200" y="5591160"/>
            <a:ext cx="1895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Ⅲ 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9" name="Object 43"/>
              <p:cNvSpPr txBox="1"/>
              <p:nvPr/>
            </p:nvSpPr>
            <p:spPr>
              <a:xfrm>
                <a:off x="3809880" y="5514840"/>
                <a:ext cx="1611360" cy="60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×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09" name="Object 43"/>
              <p:cNvSpPr txBox="1"/>
              <p:nvPr/>
            </p:nvSpPr>
            <p:spPr>
              <a:xfrm>
                <a:off x="3809880" y="5514840"/>
                <a:ext cx="1611360" cy="609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10" name="Object 44"/>
              <p:cNvSpPr txBox="1"/>
              <p:nvPr/>
            </p:nvSpPr>
            <p:spPr>
              <a:xfrm>
                <a:off x="5867280" y="5514840"/>
                <a:ext cx="2819520" cy="67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dε</m:t>
                    </m:r>
                    <m:r>
                      <m:t xml:space="preserve">=</m:t>
                    </m:r>
                    <m:r>
                      <m:t xml:space="preserve">(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×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  <m:r>
                      <m:t xml:space="preserve">)</m:t>
                    </m:r>
                    <m:r>
                      <m:t xml:space="preserve">⋅</m:t>
                    </m:r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10" name="Object 44"/>
              <p:cNvSpPr txBox="1"/>
              <p:nvPr/>
            </p:nvSpPr>
            <p:spPr>
              <a:xfrm>
                <a:off x="5867280" y="5514840"/>
                <a:ext cx="2819520" cy="671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11" name="Text Box 45"/>
          <p:cNvSpPr/>
          <p:nvPr/>
        </p:nvSpPr>
        <p:spPr>
          <a:xfrm>
            <a:off x="2874600" y="505764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Φ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星形: 五角 1"/>
          <p:cNvSpPr/>
          <p:nvPr/>
        </p:nvSpPr>
        <p:spPr>
          <a:xfrm>
            <a:off x="8426520" y="6222960"/>
            <a:ext cx="439560" cy="438120"/>
          </a:xfrm>
          <a:custGeom>
            <a:avLst/>
            <a:gdLst>
              <a:gd name="GluePoint1X" fmla="*/ 0 w 438472"/>
              <a:gd name="GluePoint1Y" fmla="*/ 167481 h 438472"/>
              <a:gd name="GluePoint2X" fmla="*/ 167482 w 438472"/>
              <a:gd name="GluePoint2Y" fmla="*/ 167482 h 438472"/>
              <a:gd name="GluePoint3X" fmla="*/ 219236 w 438472"/>
              <a:gd name="GluePoint3Y" fmla="*/ 0 h 438472"/>
              <a:gd name="GluePoint4X" fmla="*/ 270990 w 438472"/>
              <a:gd name="GluePoint4Y" fmla="*/ 167482 h 438472"/>
              <a:gd name="GluePoint5X" fmla="*/ 438472 w 438472"/>
              <a:gd name="GluePoint5Y" fmla="*/ 167481 h 438472"/>
              <a:gd name="GluePoint6X" fmla="*/ 302975 w 438472"/>
              <a:gd name="GluePoint6Y" fmla="*/ 270989 h 438472"/>
              <a:gd name="GluePoint7X" fmla="*/ 354731 w 438472"/>
              <a:gd name="GluePoint7Y" fmla="*/ 438471 h 438472"/>
              <a:gd name="GluePoint8X" fmla="*/ 219236 w 438472"/>
              <a:gd name="GluePoint8Y" fmla="*/ 334960 h 438472"/>
              <a:gd name="GluePoint9X" fmla="*/ 83741 w 438472"/>
              <a:gd name="GluePoint9Y" fmla="*/ 438471 h 438472"/>
              <a:gd name="GluePoint10X" fmla="*/ 135497 w 438472"/>
              <a:gd name="GluePoint10Y" fmla="*/ 270989 h 438472"/>
              <a:gd name="GluePoint11X" fmla="*/ 0 w 438472"/>
              <a:gd name="GluePoint11Y" fmla="*/ 167481 h 4384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8472" h="438472">
                <a:moveTo>
                  <a:pt x="0" y="167481"/>
                </a:moveTo>
                <a:lnTo>
                  <a:pt x="167482" y="167482"/>
                </a:lnTo>
                <a:lnTo>
                  <a:pt x="219236" y="0"/>
                </a:lnTo>
                <a:lnTo>
                  <a:pt x="270990" y="167482"/>
                </a:lnTo>
                <a:lnTo>
                  <a:pt x="438472" y="167481"/>
                </a:lnTo>
                <a:lnTo>
                  <a:pt x="302975" y="270989"/>
                </a:lnTo>
                <a:lnTo>
                  <a:pt x="354731" y="438471"/>
                </a:lnTo>
                <a:lnTo>
                  <a:pt x="219236" y="334960"/>
                </a:lnTo>
                <a:lnTo>
                  <a:pt x="83741" y="438471"/>
                </a:lnTo>
                <a:lnTo>
                  <a:pt x="135497" y="270989"/>
                </a:lnTo>
                <a:lnTo>
                  <a:pt x="0" y="167481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" dur="indefinite" restart="never" nodeType="tmRoot">
          <p:childTnLst>
            <p:seq>
              <p:cTn id="29" dur="indefinite" nodeType="mainSeq">
                <p:childTnLst>
                  <p:par>
                    <p:cTn id="30" fill="hold" nodeType="clickEffect">
                      <p:stCondLst>
                        <p:cond delay="indefinite"/>
                      </p:stCondLst>
                      <p:childTnLst>
                        <p:par>
                          <p:cTn id="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Effect">
                      <p:stCondLst>
                        <p:cond delay="indefinite"/>
                      </p:stCondLst>
                      <p:childTnLst>
                        <p:par>
                          <p:cTn id="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Effect">
                      <p:stCondLst>
                        <p:cond delay="indefinite"/>
                      </p:stCondLst>
                      <p:childTnLst>
                        <p:par>
                          <p:cTn id="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Effect">
                      <p:stCondLst>
                        <p:cond delay="indefinite"/>
                      </p:stCondLst>
                      <p:childTnLst>
                        <p:par>
                          <p:cTn id="5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Effect">
                      <p:stCondLst>
                        <p:cond delay="indefinite"/>
                      </p:stCondLst>
                      <p:childTnLst>
                        <p:par>
                          <p:cTn id="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Effect">
                      <p:stCondLst>
                        <p:cond delay="indefinite"/>
                      </p:stCondLst>
                      <p:childTnLst>
                        <p:par>
                          <p:cTn id="6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ine 2"/>
          <p:cNvSpPr/>
          <p:nvPr/>
        </p:nvSpPr>
        <p:spPr>
          <a:xfrm>
            <a:off x="6629400" y="1371600"/>
            <a:ext cx="2209680" cy="0"/>
          </a:xfrm>
          <a:prstGeom prst="line">
            <a:avLst/>
          </a:prstGeom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Line 3"/>
          <p:cNvSpPr/>
          <p:nvPr/>
        </p:nvSpPr>
        <p:spPr>
          <a:xfrm>
            <a:off x="6629400" y="2209680"/>
            <a:ext cx="2209680" cy="0"/>
          </a:xfrm>
          <a:prstGeom prst="line">
            <a:avLst/>
          </a:prstGeom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Line 4"/>
          <p:cNvSpPr/>
          <p:nvPr/>
        </p:nvSpPr>
        <p:spPr>
          <a:xfrm>
            <a:off x="7086600" y="1219320"/>
            <a:ext cx="0" cy="1143000"/>
          </a:xfrm>
          <a:prstGeom prst="line">
            <a:avLst/>
          </a:prstGeom>
          <a:ln w="5724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Line 5"/>
          <p:cNvSpPr/>
          <p:nvPr/>
        </p:nvSpPr>
        <p:spPr>
          <a:xfrm>
            <a:off x="8305920" y="1219320"/>
            <a:ext cx="0" cy="1143000"/>
          </a:xfrm>
          <a:prstGeom prst="line">
            <a:avLst/>
          </a:prstGeom>
          <a:ln w="5724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7" name="Group 6"/>
          <p:cNvGrpSpPr/>
          <p:nvPr/>
        </p:nvGrpSpPr>
        <p:grpSpPr>
          <a:xfrm>
            <a:off x="7620120" y="1676520"/>
            <a:ext cx="304560" cy="304560"/>
            <a:chOff x="7620120" y="1676520"/>
            <a:chExt cx="304560" cy="304560"/>
          </a:xfrm>
        </p:grpSpPr>
        <p:sp>
          <p:nvSpPr>
            <p:cNvPr id="118" name="Oval 7"/>
            <p:cNvSpPr/>
            <p:nvPr/>
          </p:nvSpPr>
          <p:spPr>
            <a:xfrm>
              <a:off x="7620120" y="1676520"/>
              <a:ext cx="304560" cy="304560"/>
            </a:xfrm>
            <a:prstGeom prst="ellipse">
              <a:avLst/>
            </a:prstGeom>
            <a:noFill/>
            <a:ln w="381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9" name="Oval 8"/>
            <p:cNvSpPr/>
            <p:nvPr/>
          </p:nvSpPr>
          <p:spPr>
            <a:xfrm>
              <a:off x="7696080" y="1752480"/>
              <a:ext cx="152640" cy="151920"/>
            </a:xfrm>
            <a:prstGeom prst="ellipse">
              <a:avLst/>
            </a:prstGeom>
            <a:solidFill>
              <a:srgbClr val="006600"/>
            </a:solidFill>
            <a:ln w="9360">
              <a:solidFill>
                <a:srgbClr val="008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0" name="Text Box 9"/>
          <p:cNvSpPr/>
          <p:nvPr/>
        </p:nvSpPr>
        <p:spPr>
          <a:xfrm>
            <a:off x="7755120" y="2133720"/>
            <a:ext cx="1322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>
                <a:solidFill>
                  <a:srgbClr val="0000FF"/>
                </a:solidFill>
                <a:effectLst/>
                <a:uFillTx/>
                <a:latin typeface="Bookman Old Style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 Box 10"/>
          <p:cNvSpPr/>
          <p:nvPr/>
        </p:nvSpPr>
        <p:spPr>
          <a:xfrm>
            <a:off x="7832160" y="9144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 Box 11"/>
          <p:cNvSpPr/>
          <p:nvPr/>
        </p:nvSpPr>
        <p:spPr>
          <a:xfrm>
            <a:off x="6612840" y="9144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Text Box 12"/>
          <p:cNvSpPr/>
          <p:nvPr/>
        </p:nvSpPr>
        <p:spPr>
          <a:xfrm>
            <a:off x="6579720" y="213372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Line 13"/>
          <p:cNvSpPr/>
          <p:nvPr/>
        </p:nvSpPr>
        <p:spPr>
          <a:xfrm>
            <a:off x="8305920" y="1828800"/>
            <a:ext cx="4572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 Box 14"/>
          <p:cNvSpPr/>
          <p:nvPr/>
        </p:nvSpPr>
        <p:spPr>
          <a:xfrm>
            <a:off x="7984440" y="13716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15"/>
          <p:cNvSpPr/>
          <p:nvPr/>
        </p:nvSpPr>
        <p:spPr>
          <a:xfrm>
            <a:off x="7417800" y="13716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8000"/>
                </a:solidFill>
                <a:effectLst/>
                <a:uFillTx/>
                <a:latin typeface="宋体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 Box 16"/>
          <p:cNvSpPr/>
          <p:nvPr/>
        </p:nvSpPr>
        <p:spPr>
          <a:xfrm>
            <a:off x="-612360" y="838080"/>
            <a:ext cx="7558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P136/4.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为水平面内两根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Text Box 17"/>
          <p:cNvSpPr/>
          <p:nvPr/>
        </p:nvSpPr>
        <p:spPr>
          <a:xfrm>
            <a:off x="6078600" y="914400"/>
            <a:ext cx="1420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Text Box 18"/>
          <p:cNvSpPr/>
          <p:nvPr/>
        </p:nvSpPr>
        <p:spPr>
          <a:xfrm>
            <a:off x="6078960" y="2209680"/>
            <a:ext cx="1353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Text Box 19"/>
          <p:cNvSpPr/>
          <p:nvPr/>
        </p:nvSpPr>
        <p:spPr>
          <a:xfrm>
            <a:off x="-566640" y="1295280"/>
            <a:ext cx="7404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平行金属导轨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,ab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cd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为垂直于导轨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Text Box 20"/>
          <p:cNvSpPr/>
          <p:nvPr/>
        </p:nvSpPr>
        <p:spPr>
          <a:xfrm>
            <a:off x="-385560" y="1828800"/>
            <a:ext cx="7229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并可在其上自由滑动两根直裸导线。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21"/>
          <p:cNvSpPr/>
          <p:nvPr/>
        </p:nvSpPr>
        <p:spPr>
          <a:xfrm>
            <a:off x="-499680" y="2498760"/>
            <a:ext cx="9980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外磁场垂直水平面向上。当外力使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向右平移时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,cd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22"/>
          <p:cNvSpPr/>
          <p:nvPr/>
        </p:nvSpPr>
        <p:spPr>
          <a:xfrm>
            <a:off x="-404640" y="2971800"/>
            <a:ext cx="3792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将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 Box 23"/>
          <p:cNvSpPr/>
          <p:nvPr/>
        </p:nvSpPr>
        <p:spPr>
          <a:xfrm>
            <a:off x="-692280" y="3505320"/>
            <a:ext cx="10346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不动 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转动 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向左移动  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向右移动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 Box 24"/>
          <p:cNvSpPr/>
          <p:nvPr/>
        </p:nvSpPr>
        <p:spPr>
          <a:xfrm>
            <a:off x="673920" y="297180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 Box 25"/>
          <p:cNvSpPr/>
          <p:nvPr/>
        </p:nvSpPr>
        <p:spPr>
          <a:xfrm>
            <a:off x="-131760" y="4556160"/>
            <a:ext cx="570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Times New Roman"/>
              </a:rPr>
              <a:t>楞次定律</a:t>
            </a: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Times New Roman"/>
              </a:rPr>
              <a:t>判定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电流方向如图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Line 26"/>
          <p:cNvSpPr/>
          <p:nvPr/>
        </p:nvSpPr>
        <p:spPr>
          <a:xfrm flipV="1">
            <a:off x="7086600" y="1523880"/>
            <a:ext cx="0" cy="533520"/>
          </a:xfrm>
          <a:prstGeom prst="line">
            <a:avLst/>
          </a:prstGeom>
          <a:ln w="572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Text Box 27"/>
          <p:cNvSpPr/>
          <p:nvPr/>
        </p:nvSpPr>
        <p:spPr>
          <a:xfrm>
            <a:off x="6233040" y="1600200"/>
            <a:ext cx="1251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9" name="Object 28"/>
              <p:cNvSpPr txBox="1"/>
              <p:nvPr/>
            </p:nvSpPr>
            <p:spPr>
              <a:xfrm>
                <a:off x="609480" y="5334120"/>
                <a:ext cx="1692360" cy="53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Id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l</m:t>
                        </m:r>
                      </m:e>
                    </m:acc>
                    <m:r>
                      <m:t xml:space="preserve">×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39" name="Object 28"/>
              <p:cNvSpPr txBox="1"/>
              <p:nvPr/>
            </p:nvSpPr>
            <p:spPr>
              <a:xfrm>
                <a:off x="609480" y="5334120"/>
                <a:ext cx="1692360" cy="533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40" name="Line 29"/>
          <p:cNvSpPr/>
          <p:nvPr/>
        </p:nvSpPr>
        <p:spPr>
          <a:xfrm>
            <a:off x="7086600" y="1905120"/>
            <a:ext cx="457200" cy="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1" name="Object 30"/>
              <p:cNvSpPr txBox="1"/>
              <p:nvPr/>
            </p:nvSpPr>
            <p:spPr>
              <a:xfrm>
                <a:off x="7238880" y="1403280"/>
                <a:ext cx="273240" cy="425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41" name="Object 30"/>
              <p:cNvSpPr txBox="1"/>
              <p:nvPr/>
            </p:nvSpPr>
            <p:spPr>
              <a:xfrm>
                <a:off x="7238880" y="1403280"/>
                <a:ext cx="273240" cy="425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2" name="星形: 五角 32"/>
          <p:cNvSpPr/>
          <p:nvPr/>
        </p:nvSpPr>
        <p:spPr>
          <a:xfrm>
            <a:off x="8447040" y="6237360"/>
            <a:ext cx="438120" cy="438120"/>
          </a:xfrm>
          <a:custGeom>
            <a:avLst/>
            <a:gdLst>
              <a:gd name="GluePoint1X" fmla="*/ 0 w 438472"/>
              <a:gd name="GluePoint1Y" fmla="*/ 167481 h 438472"/>
              <a:gd name="GluePoint2X" fmla="*/ 167482 w 438472"/>
              <a:gd name="GluePoint2Y" fmla="*/ 167482 h 438472"/>
              <a:gd name="GluePoint3X" fmla="*/ 219236 w 438472"/>
              <a:gd name="GluePoint3Y" fmla="*/ 0 h 438472"/>
              <a:gd name="GluePoint4X" fmla="*/ 270990 w 438472"/>
              <a:gd name="GluePoint4Y" fmla="*/ 167482 h 438472"/>
              <a:gd name="GluePoint5X" fmla="*/ 438472 w 438472"/>
              <a:gd name="GluePoint5Y" fmla="*/ 167481 h 438472"/>
              <a:gd name="GluePoint6X" fmla="*/ 302975 w 438472"/>
              <a:gd name="GluePoint6Y" fmla="*/ 270989 h 438472"/>
              <a:gd name="GluePoint7X" fmla="*/ 354731 w 438472"/>
              <a:gd name="GluePoint7Y" fmla="*/ 438471 h 438472"/>
              <a:gd name="GluePoint8X" fmla="*/ 219236 w 438472"/>
              <a:gd name="GluePoint8Y" fmla="*/ 334960 h 438472"/>
              <a:gd name="GluePoint9X" fmla="*/ 83741 w 438472"/>
              <a:gd name="GluePoint9Y" fmla="*/ 438471 h 438472"/>
              <a:gd name="GluePoint10X" fmla="*/ 135497 w 438472"/>
              <a:gd name="GluePoint10Y" fmla="*/ 270989 h 438472"/>
              <a:gd name="GluePoint11X" fmla="*/ 0 w 438472"/>
              <a:gd name="GluePoint11Y" fmla="*/ 167481 h 4384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8472" h="438472">
                <a:moveTo>
                  <a:pt x="0" y="167481"/>
                </a:moveTo>
                <a:lnTo>
                  <a:pt x="167482" y="167482"/>
                </a:lnTo>
                <a:lnTo>
                  <a:pt x="219236" y="0"/>
                </a:lnTo>
                <a:lnTo>
                  <a:pt x="270990" y="167482"/>
                </a:lnTo>
                <a:lnTo>
                  <a:pt x="438472" y="167481"/>
                </a:lnTo>
                <a:lnTo>
                  <a:pt x="302975" y="270989"/>
                </a:lnTo>
                <a:lnTo>
                  <a:pt x="354731" y="438471"/>
                </a:lnTo>
                <a:lnTo>
                  <a:pt x="219236" y="334960"/>
                </a:lnTo>
                <a:lnTo>
                  <a:pt x="83741" y="438471"/>
                </a:lnTo>
                <a:lnTo>
                  <a:pt x="135497" y="270989"/>
                </a:lnTo>
                <a:lnTo>
                  <a:pt x="0" y="167481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 nodeType="clickEffect">
                      <p:stCondLst>
                        <p:cond delay="indefinite"/>
                      </p:stCondLst>
                      <p:childTnLst>
                        <p:par>
                          <p:cTn id="6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Effect">
                      <p:stCondLst>
                        <p:cond delay="indefinite"/>
                      </p:stCondLst>
                      <p:childTnLst>
                        <p:par>
                          <p:cTn id="7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Effect">
                      <p:stCondLst>
                        <p:cond delay="indefinite"/>
                      </p:stCondLst>
                      <p:childTnLst>
                        <p:par>
                          <p:cTn id="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Effect">
                      <p:stCondLst>
                        <p:cond delay="indefinite"/>
                      </p:stCondLst>
                      <p:childTnLst>
                        <p:par>
                          <p:cTn id="8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Effect">
                      <p:stCondLst>
                        <p:cond delay="indefinite"/>
                      </p:stCondLst>
                      <p:childTnLst>
                        <p:par>
                          <p:cTn id="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Box 2"/>
          <p:cNvSpPr/>
          <p:nvPr/>
        </p:nvSpPr>
        <p:spPr>
          <a:xfrm>
            <a:off x="-351720" y="1111320"/>
            <a:ext cx="7511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P136/7.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单匝线圈自感系数的定义式为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4" name="Object 3"/>
              <p:cNvSpPr txBox="1"/>
              <p:nvPr/>
            </p:nvSpPr>
            <p:spPr>
              <a:xfrm>
                <a:off x="6781680" y="914400"/>
                <a:ext cx="1123920" cy="1015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L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Φ</m:t>
                        </m:r>
                      </m:num>
                      <m:den>
                        <m:r>
                          <m:t xml:space="preserve">I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44" name="Object 3"/>
              <p:cNvSpPr txBox="1"/>
              <p:nvPr/>
            </p:nvSpPr>
            <p:spPr>
              <a:xfrm>
                <a:off x="6781680" y="914400"/>
                <a:ext cx="1123920" cy="10159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45" name="Text Box 4"/>
          <p:cNvSpPr/>
          <p:nvPr/>
        </p:nvSpPr>
        <p:spPr>
          <a:xfrm>
            <a:off x="7466760" y="1111320"/>
            <a:ext cx="1796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当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Text Box 5"/>
          <p:cNvSpPr/>
          <p:nvPr/>
        </p:nvSpPr>
        <p:spPr>
          <a:xfrm>
            <a:off x="-500040" y="1965240"/>
            <a:ext cx="9888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线圈的几何形状、大小及周围磁介质分布不变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且无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 Box 6"/>
          <p:cNvSpPr/>
          <p:nvPr/>
        </p:nvSpPr>
        <p:spPr>
          <a:xfrm>
            <a:off x="-561960" y="2558880"/>
            <a:ext cx="10262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铁磁性物质时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若线圈中的电流强度变小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则线圈的自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 Box 7"/>
          <p:cNvSpPr/>
          <p:nvPr/>
        </p:nvSpPr>
        <p:spPr>
          <a:xfrm>
            <a:off x="-372600" y="3641760"/>
            <a:ext cx="5789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变大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与电流成反比关系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 Box 8"/>
          <p:cNvSpPr/>
          <p:nvPr/>
        </p:nvSpPr>
        <p:spPr>
          <a:xfrm>
            <a:off x="-288360" y="409896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Text Box 9"/>
          <p:cNvSpPr/>
          <p:nvPr/>
        </p:nvSpPr>
        <p:spPr>
          <a:xfrm>
            <a:off x="-288360" y="455616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 Box 10"/>
          <p:cNvSpPr/>
          <p:nvPr/>
        </p:nvSpPr>
        <p:spPr>
          <a:xfrm>
            <a:off x="-371160" y="5013360"/>
            <a:ext cx="6550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变大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但与电流不成反比关系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ectangle 11"/>
          <p:cNvSpPr/>
          <p:nvPr/>
        </p:nvSpPr>
        <p:spPr>
          <a:xfrm>
            <a:off x="1755000" y="3078000"/>
            <a:ext cx="3841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Text Box 12"/>
          <p:cNvSpPr/>
          <p:nvPr/>
        </p:nvSpPr>
        <p:spPr>
          <a:xfrm>
            <a:off x="-415800" y="3108240"/>
            <a:ext cx="4173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感系数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星形: 五角 14"/>
          <p:cNvSpPr/>
          <p:nvPr/>
        </p:nvSpPr>
        <p:spPr>
          <a:xfrm>
            <a:off x="8381880" y="6324480"/>
            <a:ext cx="438120" cy="438120"/>
          </a:xfrm>
          <a:custGeom>
            <a:avLst/>
            <a:gdLst>
              <a:gd name="GluePoint1X" fmla="*/ 0 w 438472"/>
              <a:gd name="GluePoint1Y" fmla="*/ 167481 h 438472"/>
              <a:gd name="GluePoint2X" fmla="*/ 167482 w 438472"/>
              <a:gd name="GluePoint2Y" fmla="*/ 167482 h 438472"/>
              <a:gd name="GluePoint3X" fmla="*/ 219236 w 438472"/>
              <a:gd name="GluePoint3Y" fmla="*/ 0 h 438472"/>
              <a:gd name="GluePoint4X" fmla="*/ 270990 w 438472"/>
              <a:gd name="GluePoint4Y" fmla="*/ 167482 h 438472"/>
              <a:gd name="GluePoint5X" fmla="*/ 438472 w 438472"/>
              <a:gd name="GluePoint5Y" fmla="*/ 167481 h 438472"/>
              <a:gd name="GluePoint6X" fmla="*/ 302975 w 438472"/>
              <a:gd name="GluePoint6Y" fmla="*/ 270989 h 438472"/>
              <a:gd name="GluePoint7X" fmla="*/ 354731 w 438472"/>
              <a:gd name="GluePoint7Y" fmla="*/ 438471 h 438472"/>
              <a:gd name="GluePoint8X" fmla="*/ 219236 w 438472"/>
              <a:gd name="GluePoint8Y" fmla="*/ 334960 h 438472"/>
              <a:gd name="GluePoint9X" fmla="*/ 83741 w 438472"/>
              <a:gd name="GluePoint9Y" fmla="*/ 438471 h 438472"/>
              <a:gd name="GluePoint10X" fmla="*/ 135497 w 438472"/>
              <a:gd name="GluePoint10Y" fmla="*/ 270989 h 438472"/>
              <a:gd name="GluePoint11X" fmla="*/ 0 w 438472"/>
              <a:gd name="GluePoint11Y" fmla="*/ 167481 h 4384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8472" h="438472">
                <a:moveTo>
                  <a:pt x="0" y="167481"/>
                </a:moveTo>
                <a:lnTo>
                  <a:pt x="167482" y="167482"/>
                </a:lnTo>
                <a:lnTo>
                  <a:pt x="219236" y="0"/>
                </a:lnTo>
                <a:lnTo>
                  <a:pt x="270990" y="167482"/>
                </a:lnTo>
                <a:lnTo>
                  <a:pt x="438472" y="167481"/>
                </a:lnTo>
                <a:lnTo>
                  <a:pt x="302975" y="270989"/>
                </a:lnTo>
                <a:lnTo>
                  <a:pt x="354731" y="438471"/>
                </a:lnTo>
                <a:lnTo>
                  <a:pt x="219236" y="334960"/>
                </a:lnTo>
                <a:lnTo>
                  <a:pt x="83741" y="438471"/>
                </a:lnTo>
                <a:lnTo>
                  <a:pt x="135497" y="270989"/>
                </a:lnTo>
                <a:lnTo>
                  <a:pt x="0" y="167481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0" dur="indefinite" restart="never" nodeType="tmRoot">
          <p:childTnLst>
            <p:seq>
              <p:cTn id="101" dur="indefinite" nodeType="mainSeq">
                <p:childTnLst>
                  <p:par>
                    <p:cTn id="102" fill="hold" nodeType="clickEffect">
                      <p:stCondLst>
                        <p:cond delay="indefinite"/>
                      </p:stCondLst>
                      <p:childTnLst>
                        <p:par>
                          <p:cTn id="10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Box 2"/>
          <p:cNvSpPr/>
          <p:nvPr/>
        </p:nvSpPr>
        <p:spPr>
          <a:xfrm>
            <a:off x="-770040" y="380880"/>
            <a:ext cx="1068624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P136/8.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两个线圈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对线圈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互感系数为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21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而线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 Box 3"/>
          <p:cNvSpPr/>
          <p:nvPr/>
        </p:nvSpPr>
        <p:spPr>
          <a:xfrm>
            <a:off x="-747000" y="898560"/>
            <a:ext cx="1046700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对线圈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的互感系数为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12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若它们分别流过</a:t>
            </a:r>
            <a:r>
              <a:rPr lang="en-US" sz="30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和</a:t>
            </a:r>
            <a:r>
              <a:rPr lang="en-US" sz="30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Text Box 4"/>
          <p:cNvSpPr/>
          <p:nvPr/>
        </p:nvSpPr>
        <p:spPr>
          <a:xfrm>
            <a:off x="-358560" y="158436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的变化电流且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Text Box 5"/>
          <p:cNvSpPr/>
          <p:nvPr/>
        </p:nvSpPr>
        <p:spPr>
          <a:xfrm>
            <a:off x="3364200" y="1600200"/>
            <a:ext cx="629892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并设由 </a:t>
            </a:r>
            <a:r>
              <a:rPr lang="en-US" sz="30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2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变化在线圈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9" name="Object 6"/>
              <p:cNvSpPr txBox="1"/>
              <p:nvPr/>
            </p:nvSpPr>
            <p:spPr>
              <a:xfrm>
                <a:off x="2514600" y="1371600"/>
                <a:ext cx="1555920" cy="987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</m:dPr>
                      <m:e>
                        <m:f>
                          <m:num>
                            <m:sSub>
                              <m:e>
                                <m:r>
                                  <m:t xml:space="preserve">di</m:t>
                                </m:r>
                              </m:e>
                              <m:sub>
                                <m:r>
                                  <m:t xml:space="preserve"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lit/>
                                <m:nor/>
                              </m:rPr>
                              <m:t xml:space="preserve">dt</m:t>
                            </m:r>
                          </m:den>
                        </m:f>
                      </m:e>
                    </m:d>
                    <m:r>
                      <m:t xml:space="preserve">&gt;</m:t>
                    </m:r>
                    <m:d>
                      <m:dPr>
                        <m:begChr m:val="|"/>
                        <m:endChr m:val="|"/>
                      </m:dPr>
                      <m:e>
                        <m:f>
                          <m:num>
                            <m:sSub>
                              <m:e>
                                <m:r>
                                  <m:t xml:space="preserve">di</m:t>
                                </m:r>
                              </m:e>
                              <m:sub>
                                <m:r>
                                  <m:t xml:space="preserve"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lit/>
                                <m:nor/>
                              </m:rPr>
                              <m:t xml:space="preserve">dt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59" name="Object 6"/>
              <p:cNvSpPr txBox="1"/>
              <p:nvPr/>
            </p:nvSpPr>
            <p:spPr>
              <a:xfrm>
                <a:off x="2514600" y="1371600"/>
                <a:ext cx="1555920" cy="9874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60" name="Text Box 7"/>
          <p:cNvSpPr/>
          <p:nvPr/>
        </p:nvSpPr>
        <p:spPr>
          <a:xfrm>
            <a:off x="-368280" y="227016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生的互感电动势为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1" name="Object 8"/>
              <p:cNvSpPr txBox="1"/>
              <p:nvPr/>
            </p:nvSpPr>
            <p:spPr>
              <a:xfrm>
                <a:off x="3276720" y="2286000"/>
                <a:ext cx="460080" cy="463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61" name="Object 8"/>
              <p:cNvSpPr txBox="1"/>
              <p:nvPr/>
            </p:nvSpPr>
            <p:spPr>
              <a:xfrm>
                <a:off x="3276720" y="2286000"/>
                <a:ext cx="460080" cy="463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62" name="Text Box 9"/>
          <p:cNvSpPr/>
          <p:nvPr/>
        </p:nvSpPr>
        <p:spPr>
          <a:xfrm>
            <a:off x="3020400" y="2270160"/>
            <a:ext cx="668016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由 </a:t>
            </a:r>
            <a:r>
              <a:rPr lang="en-US" sz="30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变化在线圈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中产生的互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10"/>
          <p:cNvSpPr/>
          <p:nvPr/>
        </p:nvSpPr>
        <p:spPr>
          <a:xfrm>
            <a:off x="-357840" y="2803680"/>
            <a:ext cx="3038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感电动势为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4" name="Object 11"/>
              <p:cNvSpPr txBox="1"/>
              <p:nvPr/>
            </p:nvSpPr>
            <p:spPr>
              <a:xfrm>
                <a:off x="2133720" y="2819520"/>
                <a:ext cx="460080" cy="463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64" name="Object 11"/>
              <p:cNvSpPr txBox="1"/>
              <p:nvPr/>
            </p:nvSpPr>
            <p:spPr>
              <a:xfrm>
                <a:off x="2133720" y="2819520"/>
                <a:ext cx="460080" cy="463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65" name="Text Box 12"/>
          <p:cNvSpPr/>
          <p:nvPr/>
        </p:nvSpPr>
        <p:spPr>
          <a:xfrm>
            <a:off x="1995840" y="2803680"/>
            <a:ext cx="7503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判断下述哪个论断正确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Text Box 13"/>
          <p:cNvSpPr/>
          <p:nvPr/>
        </p:nvSpPr>
        <p:spPr>
          <a:xfrm>
            <a:off x="-300600" y="3452760"/>
            <a:ext cx="1704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 Box 14"/>
          <p:cNvSpPr/>
          <p:nvPr/>
        </p:nvSpPr>
        <p:spPr>
          <a:xfrm>
            <a:off x="3744000" y="3452760"/>
            <a:ext cx="1704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8" name="Object 15"/>
              <p:cNvSpPr txBox="1"/>
              <p:nvPr/>
            </p:nvSpPr>
            <p:spPr>
              <a:xfrm>
                <a:off x="863640" y="3544920"/>
                <a:ext cx="2793960" cy="493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,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68" name="Object 15"/>
              <p:cNvSpPr txBox="1"/>
              <p:nvPr/>
            </p:nvSpPr>
            <p:spPr>
              <a:xfrm>
                <a:off x="863640" y="3544920"/>
                <a:ext cx="2793960" cy="493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69" name="Object 16"/>
              <p:cNvSpPr txBox="1"/>
              <p:nvPr/>
            </p:nvSpPr>
            <p:spPr>
              <a:xfrm>
                <a:off x="4902120" y="3544920"/>
                <a:ext cx="2793960" cy="493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  <m:r>
                      <m:t xml:space="preserve">≠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,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≠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69" name="Object 16"/>
              <p:cNvSpPr txBox="1"/>
              <p:nvPr/>
            </p:nvSpPr>
            <p:spPr>
              <a:xfrm>
                <a:off x="4902120" y="3544920"/>
                <a:ext cx="2793960" cy="493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170" name="Text Box 17"/>
          <p:cNvSpPr/>
          <p:nvPr/>
        </p:nvSpPr>
        <p:spPr>
          <a:xfrm>
            <a:off x="-319680" y="4062240"/>
            <a:ext cx="1704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Text Box 18"/>
          <p:cNvSpPr/>
          <p:nvPr/>
        </p:nvSpPr>
        <p:spPr>
          <a:xfrm>
            <a:off x="3725280" y="4062240"/>
            <a:ext cx="1704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2" name="Object 19"/>
              <p:cNvSpPr txBox="1"/>
              <p:nvPr/>
            </p:nvSpPr>
            <p:spPr>
              <a:xfrm>
                <a:off x="844560" y="4154400"/>
                <a:ext cx="2793960" cy="493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,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&gt;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72" name="Object 19"/>
              <p:cNvSpPr txBox="1"/>
              <p:nvPr/>
            </p:nvSpPr>
            <p:spPr>
              <a:xfrm>
                <a:off x="844560" y="4154400"/>
                <a:ext cx="2793960" cy="493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3" name="Object 20"/>
              <p:cNvSpPr txBox="1"/>
              <p:nvPr/>
            </p:nvSpPr>
            <p:spPr>
              <a:xfrm>
                <a:off x="4883040" y="4154400"/>
                <a:ext cx="2793960" cy="493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,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&lt;</m:t>
                    </m:r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73" name="Object 20"/>
              <p:cNvSpPr txBox="1"/>
              <p:nvPr/>
            </p:nvSpPr>
            <p:spPr>
              <a:xfrm>
                <a:off x="4883040" y="4154400"/>
                <a:ext cx="2793960" cy="493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174" name="Text Box 21"/>
          <p:cNvSpPr/>
          <p:nvPr/>
        </p:nvSpPr>
        <p:spPr>
          <a:xfrm>
            <a:off x="6770160" y="28036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 Box 22"/>
          <p:cNvSpPr/>
          <p:nvPr/>
        </p:nvSpPr>
        <p:spPr>
          <a:xfrm>
            <a:off x="419040" y="5257800"/>
            <a:ext cx="2069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M=M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Arial"/>
              </a:rPr>
              <a:t>12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=M</a:t>
            </a:r>
            <a:r>
              <a:rPr lang="en-US" sz="3000" b="1" u="none" strike="noStrike" baseline="-5000">
                <a:solidFill>
                  <a:srgbClr val="000000"/>
                </a:solidFill>
                <a:effectLst/>
                <a:uFillTx/>
                <a:latin typeface="Arial"/>
              </a:rPr>
              <a:t>21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6" name="Object 23"/>
              <p:cNvSpPr txBox="1"/>
              <p:nvPr/>
            </p:nvSpPr>
            <p:spPr>
              <a:xfrm>
                <a:off x="2971800" y="4876920"/>
                <a:ext cx="1836720" cy="91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12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M</m:t>
                    </m:r>
                    <m:f>
                      <m:num>
                        <m:sSub>
                          <m:e>
                            <m:r>
                              <m:t xml:space="preserve">di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76" name="Object 23"/>
              <p:cNvSpPr txBox="1"/>
              <p:nvPr/>
            </p:nvSpPr>
            <p:spPr>
              <a:xfrm>
                <a:off x="2971800" y="4876920"/>
                <a:ext cx="183672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7" name="Object 24"/>
              <p:cNvSpPr txBox="1"/>
              <p:nvPr/>
            </p:nvSpPr>
            <p:spPr>
              <a:xfrm>
                <a:off x="2998800" y="5791320"/>
                <a:ext cx="1782720" cy="91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ε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21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M</m:t>
                    </m:r>
                    <m:f>
                      <m:num>
                        <m:sSub>
                          <m:e>
                            <m:r>
                              <m:t xml:space="preserve">di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77" name="Object 24"/>
              <p:cNvSpPr txBox="1"/>
              <p:nvPr/>
            </p:nvSpPr>
            <p:spPr>
              <a:xfrm>
                <a:off x="2998800" y="5791320"/>
                <a:ext cx="178272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7" dur="indefinite" restart="never" nodeType="tmRoot">
          <p:childTnLst>
            <p:seq>
              <p:cTn id="108" dur="indefinite" nodeType="mainSeq">
                <p:childTnLst>
                  <p:par>
                    <p:cTn id="109" fill="hold" nodeType="clickEffect">
                      <p:stCondLst>
                        <p:cond delay="indefinite"/>
                      </p:stCondLst>
                      <p:childTnLst>
                        <p:par>
                          <p:cTn id="1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Effect">
                      <p:stCondLst>
                        <p:cond delay="indefinite"/>
                      </p:stCondLst>
                      <p:childTnLst>
                        <p:par>
                          <p:cTn id="1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Effect">
                      <p:stCondLst>
                        <p:cond delay="indefinite"/>
                      </p:stCondLst>
                      <p:childTnLst>
                        <p:par>
                          <p:cTn id="1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Effect">
                      <p:stCondLst>
                        <p:cond delay="indefinite"/>
                      </p:stCondLst>
                      <p:childTnLst>
                        <p:par>
                          <p:cTn id="12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Box 2"/>
          <p:cNvSpPr/>
          <p:nvPr/>
        </p:nvSpPr>
        <p:spPr>
          <a:xfrm>
            <a:off x="-422280" y="76320"/>
            <a:ext cx="9987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P137/12.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对位移电流，有下述四种说法，请指出哪一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Text Box 3"/>
          <p:cNvSpPr/>
          <p:nvPr/>
        </p:nvSpPr>
        <p:spPr>
          <a:xfrm>
            <a:off x="-477720" y="609480"/>
            <a:ext cx="5316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种说法正确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Text Box 4"/>
          <p:cNvSpPr/>
          <p:nvPr/>
        </p:nvSpPr>
        <p:spPr>
          <a:xfrm>
            <a:off x="-390960" y="1219320"/>
            <a:ext cx="560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(A)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位移电流是指变化电场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Text Box 5"/>
          <p:cNvSpPr/>
          <p:nvPr/>
        </p:nvSpPr>
        <p:spPr>
          <a:xfrm>
            <a:off x="-382320" y="1676520"/>
            <a:ext cx="751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(B)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位移电流是由线性变化磁场产生的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Text Box 6"/>
          <p:cNvSpPr/>
          <p:nvPr/>
        </p:nvSpPr>
        <p:spPr>
          <a:xfrm>
            <a:off x="-380520" y="2117880"/>
            <a:ext cx="82735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(C)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位移电流的热效应服从焦耳─楞次定律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Text Box 7"/>
          <p:cNvSpPr/>
          <p:nvPr/>
        </p:nvSpPr>
        <p:spPr>
          <a:xfrm>
            <a:off x="-380520" y="2575080"/>
            <a:ext cx="82735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(D)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位移电流的磁效应不服从安培环路定理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 Box 8"/>
          <p:cNvSpPr/>
          <p:nvPr/>
        </p:nvSpPr>
        <p:spPr>
          <a:xfrm>
            <a:off x="2274120" y="60948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 nodeType="clickEffect">
                      <p:stCondLst>
                        <p:cond delay="indefinite"/>
                      </p:stCondLst>
                      <p:childTnLst>
                        <p:par>
                          <p:cTn id="1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Box 13"/>
          <p:cNvSpPr/>
          <p:nvPr/>
        </p:nvSpPr>
        <p:spPr>
          <a:xfrm>
            <a:off x="-714960" y="76320"/>
            <a:ext cx="8250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P138/4.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半径为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很小金属圆环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AutoShape 14"/>
          <p:cNvSpPr/>
          <p:nvPr/>
        </p:nvSpPr>
        <p:spPr>
          <a:xfrm>
            <a:off x="7086600" y="533520"/>
            <a:ext cx="1828800" cy="1828800"/>
          </a:xfrm>
          <a:custGeom>
            <a:avLst/>
            <a:gdLst>
              <a:gd name="textAreaLeft" fmla="*/ 267840 w 1828800"/>
              <a:gd name="textAreaRight" fmla="*/ 1560960 w 1828800"/>
              <a:gd name="textAreaTop" fmla="*/ 267840 h 1828800"/>
              <a:gd name="textAreaBottom" fmla="*/ 1560960 h 1828800"/>
              <a:gd name="GluePoint1X" fmla="*/ 914400 w 21600"/>
              <a:gd name="GluePoint1Y" fmla="*/ 0 h 21600"/>
              <a:gd name="GluePoint2X" fmla="*/ 267801 w 21600"/>
              <a:gd name="GluePoint2Y" fmla="*/ 267801 h 21600"/>
              <a:gd name="GluePoint3X" fmla="*/ 0 w 21600"/>
              <a:gd name="GluePoint3Y" fmla="*/ 914400 h 21600"/>
              <a:gd name="GluePoint4X" fmla="*/ 267801 w 21600"/>
              <a:gd name="GluePoint4Y" fmla="*/ 1560999 h 21600"/>
              <a:gd name="GluePoint5X" fmla="*/ 914400 w 21600"/>
              <a:gd name="GluePoint5Y" fmla="*/ 1828800 h 21600"/>
              <a:gd name="GluePoint6X" fmla="*/ 1560999 w 21600"/>
              <a:gd name="GluePoint6Y" fmla="*/ 1560999 h 21600"/>
              <a:gd name="GluePoint7X" fmla="*/ 1828800 w 21600"/>
              <a:gd name="GluePoint7Y" fmla="*/ 914400 h 21600"/>
              <a:gd name="GluePoint8X" fmla="*/ 1560999 w 21600"/>
              <a:gd name="GluePoint8Y" fmla="*/ 267801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6809" y="10800"/>
                </a:moveTo>
                <a:cubicBezTo>
                  <a:pt x="6809" y="13004"/>
                  <a:pt x="8596" y="14791"/>
                  <a:pt x="10800" y="14791"/>
                </a:cubicBezTo>
                <a:cubicBezTo>
                  <a:pt x="13004" y="14791"/>
                  <a:pt x="14791" y="13004"/>
                  <a:pt x="14791" y="10800"/>
                </a:cubicBezTo>
                <a:cubicBezTo>
                  <a:pt x="14791" y="8596"/>
                  <a:pt x="13004" y="6809"/>
                  <a:pt x="10800" y="6809"/>
                </a:cubicBezTo>
                <a:cubicBezTo>
                  <a:pt x="8596" y="6809"/>
                  <a:pt x="6809" y="8596"/>
                  <a:pt x="6809" y="10800"/>
                </a:cubicBezTo>
                <a:close/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Line 15"/>
          <p:cNvSpPr/>
          <p:nvPr/>
        </p:nvSpPr>
        <p:spPr>
          <a:xfrm flipV="1">
            <a:off x="8001000" y="151920"/>
            <a:ext cx="0" cy="2590920"/>
          </a:xfrm>
          <a:prstGeom prst="line">
            <a:avLst/>
          </a:prstGeom>
          <a:ln w="2844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Line 16"/>
          <p:cNvSpPr/>
          <p:nvPr/>
        </p:nvSpPr>
        <p:spPr>
          <a:xfrm>
            <a:off x="8001000" y="1447920"/>
            <a:ext cx="304920" cy="0"/>
          </a:xfrm>
          <a:prstGeom prst="line">
            <a:avLst/>
          </a:prstGeom>
          <a:ln w="19080">
            <a:solidFill>
              <a:srgbClr val="000000"/>
            </a:solidFill>
            <a:miter/>
            <a:headEnd len="sm" type="oval" w="sm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 Box 17"/>
          <p:cNvSpPr/>
          <p:nvPr/>
        </p:nvSpPr>
        <p:spPr>
          <a:xfrm>
            <a:off x="7494120" y="10666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Arc 18"/>
          <p:cNvSpPr/>
          <p:nvPr/>
        </p:nvSpPr>
        <p:spPr>
          <a:xfrm>
            <a:off x="7770960" y="685800"/>
            <a:ext cx="533160" cy="304920"/>
          </a:xfrm>
          <a:custGeom>
            <a:avLst/>
            <a:gdLst>
              <a:gd name="GluePoint1X" fmla="*/ 532709 w 43197"/>
              <a:gd name="GluePoint1Y" fmla="*/ 0 h 23156"/>
              <a:gd name="GluePoint2X" fmla="*/ 0 w 43197"/>
              <a:gd name="GluePoint2Y" fmla="*/ 24852 h 23156"/>
              <a:gd name="GluePoint3X" fmla="*/ 266681 w 43197"/>
              <a:gd name="GluePoint3Y" fmla="*/ 20481 h 231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197" h="23156">
                <a:moveTo>
                  <a:pt x="43140" y="0"/>
                </a:moveTo>
                <a:cubicBezTo>
                  <a:pt x="43178" y="517"/>
                  <a:pt x="43197" y="1036"/>
                  <a:pt x="43197" y="1556"/>
                </a:cubicBezTo>
                <a:cubicBezTo>
                  <a:pt x="43197" y="13485"/>
                  <a:pt x="33526" y="23156"/>
                  <a:pt x="21597" y="23156"/>
                </a:cubicBezTo>
                <a:cubicBezTo>
                  <a:pt x="9797" y="23155"/>
                  <a:pt x="180" y="13686"/>
                  <a:pt x="-1" y="1888"/>
                </a:cubicBezTo>
              </a:path>
              <a:path stroke="0" w="43197" h="23156">
                <a:moveTo>
                  <a:pt x="43140" y="0"/>
                </a:moveTo>
                <a:cubicBezTo>
                  <a:pt x="43178" y="517"/>
                  <a:pt x="43197" y="1036"/>
                  <a:pt x="43197" y="1556"/>
                </a:cubicBezTo>
                <a:cubicBezTo>
                  <a:pt x="43197" y="13485"/>
                  <a:pt x="33526" y="23156"/>
                  <a:pt x="21597" y="23156"/>
                </a:cubicBezTo>
                <a:cubicBezTo>
                  <a:pt x="9797" y="23155"/>
                  <a:pt x="180" y="13686"/>
                  <a:pt x="-1" y="1888"/>
                </a:cubicBezTo>
                <a:lnTo>
                  <a:pt x="21597" y="1556"/>
                </a:lnTo>
                <a:lnTo>
                  <a:pt x="43140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round/>
            <a:headEnd len="med" type="arrow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1" name="Object 19"/>
              <p:cNvSpPr txBox="1"/>
              <p:nvPr/>
            </p:nvSpPr>
            <p:spPr>
              <a:xfrm>
                <a:off x="8151840" y="304920"/>
                <a:ext cx="306360" cy="298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ω</m:t>
                    </m:r>
                  </m:oMath>
                </a14:m>
              </a:p>
            </p:txBody>
          </p:sp>
        </mc:Choice>
        <mc:Fallback>
          <p:sp>
            <p:nvSpPr>
              <p:cNvPr id="191" name="Object 19"/>
              <p:cNvSpPr txBox="1"/>
              <p:nvPr/>
            </p:nvSpPr>
            <p:spPr>
              <a:xfrm>
                <a:off x="8151840" y="304920"/>
                <a:ext cx="306360" cy="2984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92" name="Text Box 20"/>
          <p:cNvSpPr/>
          <p:nvPr/>
        </p:nvSpPr>
        <p:spPr>
          <a:xfrm>
            <a:off x="7222680" y="114300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Line 21"/>
          <p:cNvSpPr/>
          <p:nvPr/>
        </p:nvSpPr>
        <p:spPr>
          <a:xfrm flipH="1">
            <a:off x="7358040" y="1447920"/>
            <a:ext cx="642960" cy="64296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Text Box 22"/>
          <p:cNvSpPr/>
          <p:nvPr/>
        </p:nvSpPr>
        <p:spPr>
          <a:xfrm>
            <a:off x="6764400" y="1523880"/>
            <a:ext cx="1322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Line 23"/>
          <p:cNvSpPr/>
          <p:nvPr/>
        </p:nvSpPr>
        <p:spPr>
          <a:xfrm flipV="1">
            <a:off x="8610480" y="2057400"/>
            <a:ext cx="76320" cy="7632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29520" rIns="90000" bIns="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 Box 24"/>
          <p:cNvSpPr/>
          <p:nvPr/>
        </p:nvSpPr>
        <p:spPr>
          <a:xfrm>
            <a:off x="8179920" y="1981080"/>
            <a:ext cx="128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Text Box 25"/>
          <p:cNvSpPr/>
          <p:nvPr/>
        </p:nvSpPr>
        <p:spPr>
          <a:xfrm>
            <a:off x="-502920" y="533520"/>
            <a:ext cx="807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初始时刻与一半径为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a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&gt;&gt;r)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的大金属圆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 Box 26"/>
          <p:cNvSpPr/>
          <p:nvPr/>
        </p:nvSpPr>
        <p:spPr>
          <a:xfrm>
            <a:off x="-403920" y="974880"/>
            <a:ext cx="7610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环共面且同心。在大圆环中通以恒定电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Text Box 27"/>
          <p:cNvSpPr/>
          <p:nvPr/>
        </p:nvSpPr>
        <p:spPr>
          <a:xfrm>
            <a:off x="-649080" y="1432080"/>
            <a:ext cx="83487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I,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如果小圆环以角速度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ω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绕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28"/>
          <p:cNvSpPr/>
          <p:nvPr/>
        </p:nvSpPr>
        <p:spPr>
          <a:xfrm>
            <a:off x="-475200" y="1889280"/>
            <a:ext cx="7983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其任一方向的直径转动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并设小圆环电阻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Text Box 29"/>
          <p:cNvSpPr/>
          <p:nvPr/>
        </p:nvSpPr>
        <p:spPr>
          <a:xfrm>
            <a:off x="-653040" y="2346480"/>
            <a:ext cx="8067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R,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则任一时刻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通过小圆环的磁通量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Text Box 30"/>
          <p:cNvSpPr/>
          <p:nvPr/>
        </p:nvSpPr>
        <p:spPr>
          <a:xfrm>
            <a:off x="-518760" y="3184560"/>
            <a:ext cx="9819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；小圆环中感应电流</a:t>
            </a:r>
            <a:r>
              <a:rPr lang="en-US" sz="3000" b="0" i="1" u="none" strike="noStrike">
                <a:solidFill>
                  <a:srgbClr val="000000"/>
                </a:solidFill>
                <a:effectLst/>
                <a:uFillTx/>
                <a:latin typeface="Bookman Old Style"/>
              </a:rPr>
              <a:t>i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=___________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03" name="Object 31"/>
              <p:cNvSpPr txBox="1"/>
              <p:nvPr/>
            </p:nvSpPr>
            <p:spPr>
              <a:xfrm>
                <a:off x="1643040" y="4038480"/>
                <a:ext cx="1176480" cy="97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3" name="Object 31"/>
              <p:cNvSpPr txBox="1"/>
              <p:nvPr/>
            </p:nvSpPr>
            <p:spPr>
              <a:xfrm>
                <a:off x="1643040" y="4038480"/>
                <a:ext cx="1176480" cy="974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4" name="Object 32"/>
              <p:cNvSpPr txBox="1"/>
              <p:nvPr/>
            </p:nvSpPr>
            <p:spPr>
              <a:xfrm>
                <a:off x="3733920" y="4206960"/>
                <a:ext cx="1600200" cy="691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Φ</m:t>
                    </m:r>
                    <m:r>
                      <m:t xml:space="preserve">=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04" name="Object 32"/>
              <p:cNvSpPr txBox="1"/>
              <p:nvPr/>
            </p:nvSpPr>
            <p:spPr>
              <a:xfrm>
                <a:off x="3733920" y="4206960"/>
                <a:ext cx="1600200" cy="691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5" name="Object 33"/>
              <p:cNvSpPr txBox="1"/>
              <p:nvPr/>
            </p:nvSpPr>
            <p:spPr>
              <a:xfrm>
                <a:off x="5257800" y="4282920"/>
                <a:ext cx="1515960" cy="441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BS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θ</m:t>
                    </m:r>
                  </m:oMath>
                </a14:m>
              </a:p>
            </p:txBody>
          </p:sp>
        </mc:Choice>
        <mc:Fallback>
          <p:sp>
            <p:nvSpPr>
              <p:cNvPr id="205" name="Object 33"/>
              <p:cNvSpPr txBox="1"/>
              <p:nvPr/>
            </p:nvSpPr>
            <p:spPr>
              <a:xfrm>
                <a:off x="5257800" y="4282920"/>
                <a:ext cx="1515960" cy="441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6" name="Object 34"/>
              <p:cNvSpPr txBox="1"/>
              <p:nvPr/>
            </p:nvSpPr>
            <p:spPr>
              <a:xfrm>
                <a:off x="6737400" y="4054320"/>
                <a:ext cx="2178000" cy="97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a</m:t>
                        </m:r>
                      </m:den>
                    </m:f>
                    <m:sSup>
                      <m:e>
                        <m:r>
                          <m:t xml:space="preserve">πr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206" name="Object 34"/>
              <p:cNvSpPr txBox="1"/>
              <p:nvPr/>
            </p:nvSpPr>
            <p:spPr>
              <a:xfrm>
                <a:off x="6737400" y="4054320"/>
                <a:ext cx="2178000" cy="974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7" name="Object 35"/>
              <p:cNvSpPr txBox="1"/>
              <p:nvPr/>
            </p:nvSpPr>
            <p:spPr>
              <a:xfrm>
                <a:off x="228600" y="2743200"/>
                <a:ext cx="1978200" cy="97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a</m:t>
                        </m:r>
                      </m:den>
                    </m:f>
                    <m:sSup>
                      <m:e>
                        <m:r>
                          <m:t xml:space="preserve">πr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207" name="Object 35"/>
              <p:cNvSpPr txBox="1"/>
              <p:nvPr/>
            </p:nvSpPr>
            <p:spPr>
              <a:xfrm>
                <a:off x="228600" y="2743200"/>
                <a:ext cx="1978200" cy="974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8" name="Object 36"/>
              <p:cNvSpPr txBox="1"/>
              <p:nvPr/>
            </p:nvSpPr>
            <p:spPr>
              <a:xfrm>
                <a:off x="457200" y="5334120"/>
                <a:ext cx="1282680" cy="97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ε</m:t>
                    </m:r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dΦ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8" name="Object 36"/>
              <p:cNvSpPr txBox="1"/>
              <p:nvPr/>
            </p:nvSpPr>
            <p:spPr>
              <a:xfrm>
                <a:off x="457200" y="5334120"/>
                <a:ext cx="1282680" cy="973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9" name="Object 37"/>
              <p:cNvSpPr txBox="1"/>
              <p:nvPr/>
            </p:nvSpPr>
            <p:spPr>
              <a:xfrm>
                <a:off x="2514600" y="5334120"/>
                <a:ext cx="817560" cy="97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i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ε</m:t>
                        </m:r>
                      </m:num>
                      <m:den>
                        <m:r>
                          <m:t xml:space="preserve">R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9" name="Object 37"/>
              <p:cNvSpPr txBox="1"/>
              <p:nvPr/>
            </p:nvSpPr>
            <p:spPr>
              <a:xfrm>
                <a:off x="2514600" y="5334120"/>
                <a:ext cx="817560" cy="973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0" name="Object 38"/>
              <p:cNvSpPr txBox="1"/>
              <p:nvPr/>
            </p:nvSpPr>
            <p:spPr>
              <a:xfrm>
                <a:off x="6172200" y="2666880"/>
                <a:ext cx="2550960" cy="97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−</m:t>
                    </m:r>
                    <m:f>
                      <m:num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  <m:r>
                          <m:t xml:space="preserve">I</m:t>
                        </m:r>
                      </m:num>
                      <m:den>
                        <m:r>
                          <m:t xml:space="preserve">2</m:t>
                        </m:r>
                        <m:r>
                          <m:t xml:space="preserve">aR</m:t>
                        </m:r>
                      </m:den>
                    </m:f>
                    <m:sSup>
                      <m:e>
                        <m:r>
                          <m:t xml:space="preserve">πr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ω</m:t>
                    </m:r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210" name="Object 38"/>
              <p:cNvSpPr txBox="1"/>
              <p:nvPr/>
            </p:nvSpPr>
            <p:spPr>
              <a:xfrm>
                <a:off x="6172200" y="2666880"/>
                <a:ext cx="2550960" cy="97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211" name="Text Box 39"/>
          <p:cNvSpPr/>
          <p:nvPr/>
        </p:nvSpPr>
        <p:spPr>
          <a:xfrm>
            <a:off x="-433080" y="419112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圆环中心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6" dur="indefinite" restart="never" nodeType="tmRoot">
          <p:childTnLst>
            <p:seq>
              <p:cTn id="137" dur="indefinite" nodeType="mainSeq">
                <p:childTnLst>
                  <p:par>
                    <p:cTn id="138" fill="hold" nodeType="clickEffect">
                      <p:stCondLst>
                        <p:cond delay="indefinite"/>
                      </p:stCondLst>
                      <p:childTnLst>
                        <p:par>
                          <p:cTn id="13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Effect">
                      <p:stCondLst>
                        <p:cond delay="indefinite"/>
                      </p:stCondLst>
                      <p:childTnLst>
                        <p:par>
                          <p:cTn id="1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Effect">
                      <p:stCondLst>
                        <p:cond delay="indefinite"/>
                      </p:stCondLst>
                      <p:childTnLst>
                        <p:par>
                          <p:cTn id="1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Effect">
                      <p:stCondLst>
                        <p:cond delay="indefinite"/>
                      </p:stCondLst>
                      <p:childTnLst>
                        <p:par>
                          <p:cTn id="15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Effect">
                      <p:stCondLst>
                        <p:cond delay="indefinite"/>
                      </p:stCondLst>
                      <p:childTnLst>
                        <p:par>
                          <p:cTn id="1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Effect">
                      <p:stCondLst>
                        <p:cond delay="indefinite"/>
                      </p:stCondLst>
                      <p:childTnLst>
                        <p:par>
                          <p:cTn id="1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Effect">
                      <p:stCondLst>
                        <p:cond delay="indefinite"/>
                      </p:stCondLst>
                      <p:childTnLst>
                        <p:par>
                          <p:cTn id="1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Effect">
                      <p:stCondLst>
                        <p:cond delay="indefinite"/>
                      </p:stCondLst>
                      <p:childTnLst>
                        <p:par>
                          <p:cTn id="1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Effect">
                      <p:stCondLst>
                        <p:cond delay="indefinite"/>
                      </p:stCondLst>
                      <p:childTnLst>
                        <p:par>
                          <p:cTn id="1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Box 6"/>
          <p:cNvSpPr/>
          <p:nvPr/>
        </p:nvSpPr>
        <p:spPr>
          <a:xfrm>
            <a:off x="-530640" y="2133720"/>
            <a:ext cx="9027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P138/5.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在感应电场中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电磁感应定律可以写成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3" name="Object 7"/>
              <p:cNvSpPr txBox="1"/>
              <p:nvPr/>
            </p:nvSpPr>
            <p:spPr>
              <a:xfrm>
                <a:off x="609480" y="2819520"/>
                <a:ext cx="3436920" cy="779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E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sSub>
                          <m:e>
                            <m:r>
                              <m:t xml:space="preserve">dΦ</m:t>
                            </m:r>
                          </m:e>
                          <m:sub>
                            <m:r>
                              <m:t xml:space="preserve">m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t xml:space="preserve">∂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B</m:t>
                                </m:r>
                              </m:e>
                            </m:acc>
                          </m:num>
                          <m:den>
                            <m:r>
                              <m:t xml:space="preserve">∂</m:t>
                            </m:r>
                            <m:r>
                              <m:t xml:space="preserve">t</m:t>
                            </m:r>
                          </m:den>
                        </m:f>
                      </m:e>
                    </m:nary>
                    <m:r>
                      <m:t xml:space="preserve">⋅</m:t>
                    </m:r>
                    <m:r>
                      <m:t xml:space="preserve">d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s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13" name="Object 7"/>
              <p:cNvSpPr txBox="1"/>
              <p:nvPr/>
            </p:nvSpPr>
            <p:spPr>
              <a:xfrm>
                <a:off x="609480" y="2819520"/>
                <a:ext cx="3436920" cy="7794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14" name="Text Box 8"/>
          <p:cNvSpPr/>
          <p:nvPr/>
        </p:nvSpPr>
        <p:spPr>
          <a:xfrm>
            <a:off x="3826080" y="2895480"/>
            <a:ext cx="570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此式表明在感应电场中不能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Text Box 9"/>
          <p:cNvSpPr/>
          <p:nvPr/>
        </p:nvSpPr>
        <p:spPr>
          <a:xfrm>
            <a:off x="-165960" y="3718080"/>
            <a:ext cx="7792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象对静电场那样引入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 Box 10"/>
          <p:cNvSpPr/>
          <p:nvPr/>
        </p:nvSpPr>
        <p:spPr>
          <a:xfrm>
            <a:off x="4292640" y="3641760"/>
            <a:ext cx="1895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电势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 nodeType="clickEffect">
                      <p:stCondLst>
                        <p:cond delay="indefinite"/>
                      </p:stCondLst>
                      <p:childTnLst>
                        <p:par>
                          <p:cTn id="18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Oval 21"/>
          <p:cNvSpPr/>
          <p:nvPr/>
        </p:nvSpPr>
        <p:spPr>
          <a:xfrm>
            <a:off x="1600200" y="3124080"/>
            <a:ext cx="2133720" cy="9907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Line 22"/>
          <p:cNvSpPr/>
          <p:nvPr/>
        </p:nvSpPr>
        <p:spPr>
          <a:xfrm flipV="1">
            <a:off x="2666880" y="2362320"/>
            <a:ext cx="0" cy="129528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Oval 23"/>
          <p:cNvSpPr/>
          <p:nvPr/>
        </p:nvSpPr>
        <p:spPr>
          <a:xfrm>
            <a:off x="5029200" y="3124080"/>
            <a:ext cx="2133720" cy="99072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Line 24"/>
          <p:cNvSpPr/>
          <p:nvPr/>
        </p:nvSpPr>
        <p:spPr>
          <a:xfrm flipV="1">
            <a:off x="6095880" y="2362320"/>
            <a:ext cx="0" cy="129528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1" name="Object 25"/>
              <p:cNvSpPr txBox="1"/>
              <p:nvPr/>
            </p:nvSpPr>
            <p:spPr>
              <a:xfrm>
                <a:off x="6248520" y="2209680"/>
                <a:ext cx="538200" cy="779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1" name="Object 25"/>
              <p:cNvSpPr txBox="1"/>
              <p:nvPr/>
            </p:nvSpPr>
            <p:spPr>
              <a:xfrm>
                <a:off x="6248520" y="2209680"/>
                <a:ext cx="538200" cy="7797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2" name="Object 26"/>
              <p:cNvSpPr txBox="1"/>
              <p:nvPr/>
            </p:nvSpPr>
            <p:spPr>
              <a:xfrm>
                <a:off x="2819520" y="2133720"/>
                <a:ext cx="538200" cy="779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E</m:t>
                            </m:r>
                          </m:e>
                        </m:acc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2" name="Object 26"/>
              <p:cNvSpPr txBox="1"/>
              <p:nvPr/>
            </p:nvSpPr>
            <p:spPr>
              <a:xfrm>
                <a:off x="2819520" y="2133720"/>
                <a:ext cx="538200" cy="779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23" name="Text Box 27"/>
          <p:cNvSpPr/>
          <p:nvPr/>
        </p:nvSpPr>
        <p:spPr>
          <a:xfrm>
            <a:off x="-435240" y="289080"/>
            <a:ext cx="9797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P138/7.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已知变化的电场   和变化的磁场   的方向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4" name="Object 28"/>
              <p:cNvSpPr txBox="1"/>
              <p:nvPr/>
            </p:nvSpPr>
            <p:spPr>
              <a:xfrm>
                <a:off x="4191120" y="210960"/>
                <a:ext cx="538200" cy="779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E</m:t>
                            </m:r>
                          </m:e>
                        </m:acc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4" name="Object 28"/>
              <p:cNvSpPr txBox="1"/>
              <p:nvPr/>
            </p:nvSpPr>
            <p:spPr>
              <a:xfrm>
                <a:off x="4191120" y="210960"/>
                <a:ext cx="538200" cy="779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5" name="Object 29"/>
              <p:cNvSpPr txBox="1"/>
              <p:nvPr/>
            </p:nvSpPr>
            <p:spPr>
              <a:xfrm>
                <a:off x="7086600" y="152280"/>
                <a:ext cx="538200" cy="779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</m:num>
                      <m:den>
                        <m:r>
                          <m:t xml:space="preserve">∂</m:t>
                        </m:r>
                        <m:r>
                          <m:t xml:space="preserve">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5" name="Object 29"/>
              <p:cNvSpPr txBox="1"/>
              <p:nvPr/>
            </p:nvSpPr>
            <p:spPr>
              <a:xfrm>
                <a:off x="7086600" y="152280"/>
                <a:ext cx="538200" cy="779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26" name="Text Box 30"/>
          <p:cNvSpPr/>
          <p:nvPr/>
        </p:nvSpPr>
        <p:spPr>
          <a:xfrm>
            <a:off x="-563040" y="914400"/>
            <a:ext cx="9881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都竖直向上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则产生的磁场和电场的方向分别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Text Box 31"/>
          <p:cNvSpPr/>
          <p:nvPr/>
        </p:nvSpPr>
        <p:spPr>
          <a:xfrm>
            <a:off x="-560520" y="1447920"/>
            <a:ext cx="7785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8" name="Object 32"/>
              <p:cNvSpPr txBox="1"/>
              <p:nvPr/>
            </p:nvSpPr>
            <p:spPr>
              <a:xfrm>
                <a:off x="838080" y="4572000"/>
                <a:ext cx="1362240" cy="981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δ</m:t>
                            </m:r>
                          </m:e>
                        </m:acc>
                      </m:e>
                      <m:sub>
                        <m:r>
                          <m:t xml:space="preserve">d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D</m:t>
                            </m:r>
                          </m:e>
                        </m:acc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8" name="Object 32"/>
              <p:cNvSpPr txBox="1"/>
              <p:nvPr/>
            </p:nvSpPr>
            <p:spPr>
              <a:xfrm>
                <a:off x="838080" y="4572000"/>
                <a:ext cx="1362240" cy="9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29" name="Line 33"/>
          <p:cNvSpPr/>
          <p:nvPr/>
        </p:nvSpPr>
        <p:spPr>
          <a:xfrm flipV="1">
            <a:off x="2286000" y="2590560"/>
            <a:ext cx="0" cy="106668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0" name="Object 34"/>
              <p:cNvSpPr txBox="1"/>
              <p:nvPr/>
            </p:nvSpPr>
            <p:spPr>
              <a:xfrm>
                <a:off x="1828800" y="2666880"/>
                <a:ext cx="380880" cy="457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30" name="Object 34"/>
              <p:cNvSpPr txBox="1"/>
              <p:nvPr/>
            </p:nvSpPr>
            <p:spPr>
              <a:xfrm>
                <a:off x="1828800" y="2666880"/>
                <a:ext cx="38088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231" name="Text Box 35"/>
          <p:cNvSpPr/>
          <p:nvPr/>
        </p:nvSpPr>
        <p:spPr>
          <a:xfrm>
            <a:off x="213840" y="1432080"/>
            <a:ext cx="227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逆时针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Text Box 36"/>
          <p:cNvSpPr/>
          <p:nvPr/>
        </p:nvSpPr>
        <p:spPr>
          <a:xfrm>
            <a:off x="4862880" y="441972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楞次定律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 Box 37"/>
          <p:cNvSpPr/>
          <p:nvPr/>
        </p:nvSpPr>
        <p:spPr>
          <a:xfrm>
            <a:off x="4864320" y="502920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感应电流方向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 Box 38"/>
          <p:cNvSpPr/>
          <p:nvPr/>
        </p:nvSpPr>
        <p:spPr>
          <a:xfrm>
            <a:off x="4863600" y="5562720"/>
            <a:ext cx="3038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电场力方向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Text Box 39"/>
          <p:cNvSpPr/>
          <p:nvPr/>
        </p:nvSpPr>
        <p:spPr>
          <a:xfrm>
            <a:off x="4864320" y="6080040"/>
            <a:ext cx="341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感生电场方向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40"/>
          <p:cNvSpPr/>
          <p:nvPr/>
        </p:nvSpPr>
        <p:spPr>
          <a:xfrm>
            <a:off x="3148920" y="1371600"/>
            <a:ext cx="227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顺时针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Line 41"/>
          <p:cNvSpPr/>
          <p:nvPr/>
        </p:nvSpPr>
        <p:spPr>
          <a:xfrm flipH="1">
            <a:off x="6019560" y="4114800"/>
            <a:ext cx="228600" cy="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星形: 五角 24"/>
          <p:cNvSpPr/>
          <p:nvPr/>
        </p:nvSpPr>
        <p:spPr>
          <a:xfrm>
            <a:off x="8381880" y="6324480"/>
            <a:ext cx="438120" cy="438120"/>
          </a:xfrm>
          <a:custGeom>
            <a:avLst/>
            <a:gdLst>
              <a:gd name="GluePoint1X" fmla="*/ 0 w 438472"/>
              <a:gd name="GluePoint1Y" fmla="*/ 167481 h 438472"/>
              <a:gd name="GluePoint2X" fmla="*/ 167482 w 438472"/>
              <a:gd name="GluePoint2Y" fmla="*/ 167482 h 438472"/>
              <a:gd name="GluePoint3X" fmla="*/ 219236 w 438472"/>
              <a:gd name="GluePoint3Y" fmla="*/ 0 h 438472"/>
              <a:gd name="GluePoint4X" fmla="*/ 270990 w 438472"/>
              <a:gd name="GluePoint4Y" fmla="*/ 167482 h 438472"/>
              <a:gd name="GluePoint5X" fmla="*/ 438472 w 438472"/>
              <a:gd name="GluePoint5Y" fmla="*/ 167481 h 438472"/>
              <a:gd name="GluePoint6X" fmla="*/ 302975 w 438472"/>
              <a:gd name="GluePoint6Y" fmla="*/ 270989 h 438472"/>
              <a:gd name="GluePoint7X" fmla="*/ 354731 w 438472"/>
              <a:gd name="GluePoint7Y" fmla="*/ 438471 h 438472"/>
              <a:gd name="GluePoint8X" fmla="*/ 219236 w 438472"/>
              <a:gd name="GluePoint8Y" fmla="*/ 334960 h 438472"/>
              <a:gd name="GluePoint9X" fmla="*/ 83741 w 438472"/>
              <a:gd name="GluePoint9Y" fmla="*/ 438471 h 438472"/>
              <a:gd name="GluePoint10X" fmla="*/ 135497 w 438472"/>
              <a:gd name="GluePoint10Y" fmla="*/ 270989 h 438472"/>
              <a:gd name="GluePoint11X" fmla="*/ 0 w 438472"/>
              <a:gd name="GluePoint11Y" fmla="*/ 167481 h 4384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8472" h="438472">
                <a:moveTo>
                  <a:pt x="0" y="167481"/>
                </a:moveTo>
                <a:lnTo>
                  <a:pt x="167482" y="167482"/>
                </a:lnTo>
                <a:lnTo>
                  <a:pt x="219236" y="0"/>
                </a:lnTo>
                <a:lnTo>
                  <a:pt x="270990" y="167482"/>
                </a:lnTo>
                <a:lnTo>
                  <a:pt x="438472" y="167481"/>
                </a:lnTo>
                <a:lnTo>
                  <a:pt x="302975" y="270989"/>
                </a:lnTo>
                <a:lnTo>
                  <a:pt x="354731" y="438471"/>
                </a:lnTo>
                <a:lnTo>
                  <a:pt x="219236" y="334960"/>
                </a:lnTo>
                <a:lnTo>
                  <a:pt x="83741" y="438471"/>
                </a:lnTo>
                <a:lnTo>
                  <a:pt x="135497" y="270989"/>
                </a:lnTo>
                <a:lnTo>
                  <a:pt x="0" y="167481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0" dur="indefinite" restart="never" nodeType="tmRoot">
          <p:childTnLst>
            <p:seq>
              <p:cTn id="191" dur="indefinite" nodeType="mainSeq">
                <p:childTnLst>
                  <p:par>
                    <p:cTn id="192" fill="hold" nodeType="clickEffect">
                      <p:stCondLst>
                        <p:cond delay="indefinite"/>
                      </p:stCondLst>
                      <p:childTnLst>
                        <p:par>
                          <p:cTn id="19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Effect">
                      <p:stCondLst>
                        <p:cond delay="indefinite"/>
                      </p:stCondLst>
                      <p:childTnLst>
                        <p:par>
                          <p:cTn id="1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Effect">
                      <p:stCondLst>
                        <p:cond delay="indefinite"/>
                      </p:stCondLst>
                      <p:childTnLst>
                        <p:par>
                          <p:cTn id="20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0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Effect">
                      <p:stCondLst>
                        <p:cond delay="indefinite"/>
                      </p:stCondLst>
                      <p:childTnLst>
                        <p:par>
                          <p:cTn id="2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Effect">
                      <p:stCondLst>
                        <p:cond delay="indefinite"/>
                      </p:stCondLst>
                      <p:childTnLst>
                        <p:par>
                          <p:cTn id="2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22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2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Effect">
                      <p:stCondLst>
                        <p:cond delay="indefinite"/>
                      </p:stCondLst>
                      <p:childTnLst>
                        <p:par>
                          <p:cTn id="2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Effect">
                      <p:stCondLst>
                        <p:cond delay="indefinite"/>
                      </p:stCondLst>
                      <p:childTnLst>
                        <p:par>
                          <p:cTn id="2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Effect">
                      <p:stCondLst>
                        <p:cond delay="indefinite"/>
                      </p:stCondLst>
                      <p:childTnLst>
                        <p:par>
                          <p:cTn id="2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Box 19"/>
          <p:cNvSpPr/>
          <p:nvPr/>
        </p:nvSpPr>
        <p:spPr>
          <a:xfrm>
            <a:off x="-437400" y="762120"/>
            <a:ext cx="9797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P138/9.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试相应地写出哪一个麦克斯韦方程相当于或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Text Box 20"/>
          <p:cNvSpPr/>
          <p:nvPr/>
        </p:nvSpPr>
        <p:spPr>
          <a:xfrm>
            <a:off x="-57240" y="1279440"/>
            <a:ext cx="370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包括下列事实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 Box 21"/>
          <p:cNvSpPr/>
          <p:nvPr/>
        </p:nvSpPr>
        <p:spPr>
          <a:xfrm>
            <a:off x="-518040" y="1828800"/>
            <a:ext cx="902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(1)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传导电流和变化的电场伴随有磁场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方程是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Text Box 22"/>
          <p:cNvSpPr/>
          <p:nvPr/>
        </p:nvSpPr>
        <p:spPr>
          <a:xfrm>
            <a:off x="-601200" y="3733920"/>
            <a:ext cx="10353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(2)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变化的磁场伴随有电场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方程是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 Box 23"/>
          <p:cNvSpPr/>
          <p:nvPr/>
        </p:nvSpPr>
        <p:spPr>
          <a:xfrm>
            <a:off x="-601560" y="4403880"/>
            <a:ext cx="10163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(3)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磁感应线是闭合曲线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方程是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24"/>
          <p:cNvSpPr/>
          <p:nvPr/>
        </p:nvSpPr>
        <p:spPr>
          <a:xfrm>
            <a:off x="-561240" y="5013360"/>
            <a:ext cx="10071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(4)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在静电平衡条件下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导体内部不可能有电荷分布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 Box 25"/>
          <p:cNvSpPr/>
          <p:nvPr/>
        </p:nvSpPr>
        <p:spPr>
          <a:xfrm>
            <a:off x="64440" y="5699160"/>
            <a:ext cx="703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方程是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</a:t>
            </a:r>
            <a:r>
              <a:rPr lang="en-US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 ________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</a:t>
            </a:r>
            <a:r>
              <a:rPr lang="en-US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 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Text Box 26"/>
          <p:cNvSpPr/>
          <p:nvPr/>
        </p:nvSpPr>
        <p:spPr>
          <a:xfrm>
            <a:off x="118800" y="2895480"/>
            <a:ext cx="8463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7" name="Object 27"/>
              <p:cNvSpPr txBox="1"/>
              <p:nvPr/>
            </p:nvSpPr>
            <p:spPr>
              <a:xfrm>
                <a:off x="762120" y="2330280"/>
                <a:ext cx="6468840" cy="1022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H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I</m:t>
                        </m:r>
                      </m:e>
                      <m:sub>
                        <m:r>
                          <m:t xml:space="preserve">d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δ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  <m:r>
                      <m:t xml:space="preserve">+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t xml:space="preserve">∂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D</m:t>
                                </m:r>
                              </m:e>
                            </m:acc>
                          </m:num>
                          <m:den>
                            <m:r>
                              <m:t xml:space="preserve">∂</m:t>
                            </m:r>
                            <m:r>
                              <m:t xml:space="preserve">t</m:t>
                            </m:r>
                          </m:den>
                        </m:f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47" name="Object 27"/>
              <p:cNvSpPr txBox="1"/>
              <p:nvPr/>
            </p:nvSpPr>
            <p:spPr>
              <a:xfrm>
                <a:off x="762120" y="2330280"/>
                <a:ext cx="6468840" cy="10224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8" name="Object 28"/>
              <p:cNvSpPr txBox="1"/>
              <p:nvPr/>
            </p:nvSpPr>
            <p:spPr>
              <a:xfrm>
                <a:off x="5943600" y="3360600"/>
                <a:ext cx="2819520" cy="85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E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l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r>
                      <m:t xml:space="preserve">−</m:t>
                    </m:r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t xml:space="preserve">∂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B</m:t>
                                </m:r>
                              </m:e>
                            </m:acc>
                          </m:num>
                          <m:den>
                            <m:r>
                              <m:t xml:space="preserve">∂</m:t>
                            </m:r>
                            <m:r>
                              <m:t xml:space="preserve">t</m:t>
                            </m:r>
                          </m:den>
                        </m:f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48" name="Object 28"/>
              <p:cNvSpPr txBox="1"/>
              <p:nvPr/>
            </p:nvSpPr>
            <p:spPr>
              <a:xfrm>
                <a:off x="5943600" y="3360600"/>
                <a:ext cx="2819520" cy="854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9" name="Object 29"/>
              <p:cNvSpPr txBox="1"/>
              <p:nvPr/>
            </p:nvSpPr>
            <p:spPr>
              <a:xfrm>
                <a:off x="6129360" y="4294080"/>
                <a:ext cx="2100240" cy="582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∯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B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249" name="Object 29"/>
              <p:cNvSpPr txBox="1"/>
              <p:nvPr/>
            </p:nvSpPr>
            <p:spPr>
              <a:xfrm>
                <a:off x="6129360" y="4294080"/>
                <a:ext cx="2100240" cy="582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0" name="Object 30"/>
              <p:cNvSpPr txBox="1"/>
              <p:nvPr/>
            </p:nvSpPr>
            <p:spPr>
              <a:xfrm>
                <a:off x="2170080" y="5589720"/>
                <a:ext cx="3697200" cy="58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∬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D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S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nary>
                      <m:naryPr>
                        <m:chr m:val="∑"/>
                        <m:subHide m:val="1"/>
                        <m:supHide m:val="1"/>
                      </m:naryPr>
                      <m:sub/>
                      <m:sup/>
                      <m:e>
                        <m:sSub>
                          <m:e>
                            <m:r>
                              <m:t xml:space="preserve">q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</m:sSub>
                      </m:e>
                    </m:nary>
                    <m:r>
                      <m:t xml:space="preserve">=</m:t>
                    </m:r>
                    <m:nary>
                      <m:naryPr>
                        <m:chr m:val="∭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ρ</m:t>
                        </m:r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50" name="Object 30"/>
              <p:cNvSpPr txBox="1"/>
              <p:nvPr/>
            </p:nvSpPr>
            <p:spPr>
              <a:xfrm>
                <a:off x="2170080" y="5589720"/>
                <a:ext cx="3697200" cy="582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51" name="星形: 五角 15"/>
          <p:cNvSpPr/>
          <p:nvPr/>
        </p:nvSpPr>
        <p:spPr>
          <a:xfrm>
            <a:off x="8381880" y="6324480"/>
            <a:ext cx="438120" cy="438120"/>
          </a:xfrm>
          <a:custGeom>
            <a:avLst/>
            <a:gdLst>
              <a:gd name="GluePoint1X" fmla="*/ 0 w 438472"/>
              <a:gd name="GluePoint1Y" fmla="*/ 167481 h 438472"/>
              <a:gd name="GluePoint2X" fmla="*/ 167482 w 438472"/>
              <a:gd name="GluePoint2Y" fmla="*/ 167482 h 438472"/>
              <a:gd name="GluePoint3X" fmla="*/ 219236 w 438472"/>
              <a:gd name="GluePoint3Y" fmla="*/ 0 h 438472"/>
              <a:gd name="GluePoint4X" fmla="*/ 270990 w 438472"/>
              <a:gd name="GluePoint4Y" fmla="*/ 167482 h 438472"/>
              <a:gd name="GluePoint5X" fmla="*/ 438472 w 438472"/>
              <a:gd name="GluePoint5Y" fmla="*/ 167481 h 438472"/>
              <a:gd name="GluePoint6X" fmla="*/ 302975 w 438472"/>
              <a:gd name="GluePoint6Y" fmla="*/ 270989 h 438472"/>
              <a:gd name="GluePoint7X" fmla="*/ 354731 w 438472"/>
              <a:gd name="GluePoint7Y" fmla="*/ 438471 h 438472"/>
              <a:gd name="GluePoint8X" fmla="*/ 219236 w 438472"/>
              <a:gd name="GluePoint8Y" fmla="*/ 334960 h 438472"/>
              <a:gd name="GluePoint9X" fmla="*/ 83741 w 438472"/>
              <a:gd name="GluePoint9Y" fmla="*/ 438471 h 438472"/>
              <a:gd name="GluePoint10X" fmla="*/ 135497 w 438472"/>
              <a:gd name="GluePoint10Y" fmla="*/ 270989 h 438472"/>
              <a:gd name="GluePoint11X" fmla="*/ 0 w 438472"/>
              <a:gd name="GluePoint11Y" fmla="*/ 167481 h 4384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8472" h="438472">
                <a:moveTo>
                  <a:pt x="0" y="167481"/>
                </a:moveTo>
                <a:lnTo>
                  <a:pt x="167482" y="167482"/>
                </a:lnTo>
                <a:lnTo>
                  <a:pt x="219236" y="0"/>
                </a:lnTo>
                <a:lnTo>
                  <a:pt x="270990" y="167482"/>
                </a:lnTo>
                <a:lnTo>
                  <a:pt x="438472" y="167481"/>
                </a:lnTo>
                <a:lnTo>
                  <a:pt x="302975" y="270989"/>
                </a:lnTo>
                <a:lnTo>
                  <a:pt x="354731" y="438471"/>
                </a:lnTo>
                <a:lnTo>
                  <a:pt x="219236" y="334960"/>
                </a:lnTo>
                <a:lnTo>
                  <a:pt x="83741" y="438471"/>
                </a:lnTo>
                <a:lnTo>
                  <a:pt x="135497" y="270989"/>
                </a:lnTo>
                <a:lnTo>
                  <a:pt x="0" y="167481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0" dur="indefinite" restart="never" nodeType="tmRoot">
          <p:childTnLst>
            <p:seq>
              <p:cTn id="241" dur="indefinite" nodeType="mainSeq">
                <p:childTnLst>
                  <p:par>
                    <p:cTn id="242" fill="hold" nodeType="clickEffect">
                      <p:stCondLst>
                        <p:cond delay="indefinite"/>
                      </p:stCondLst>
                      <p:childTnLst>
                        <p:par>
                          <p:cTn id="24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Effect">
                      <p:stCondLst>
                        <p:cond delay="indefinite"/>
                      </p:stCondLst>
                      <p:childTnLst>
                        <p:par>
                          <p:cTn id="24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Effect">
                      <p:stCondLst>
                        <p:cond delay="indefinite"/>
                      </p:stCondLst>
                      <p:childTnLst>
                        <p:par>
                          <p:cTn id="2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Effect">
                      <p:stCondLst>
                        <p:cond delay="indefinite"/>
                      </p:stCondLst>
                      <p:childTnLst>
                        <p:par>
                          <p:cTn id="2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1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Box 8"/>
          <p:cNvSpPr/>
          <p:nvPr/>
        </p:nvSpPr>
        <p:spPr>
          <a:xfrm>
            <a:off x="-437760" y="2362320"/>
            <a:ext cx="9606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P139/10.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麦克斯韦关于电磁场理论提出的两个基本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 Box 9"/>
          <p:cNvSpPr/>
          <p:nvPr/>
        </p:nvSpPr>
        <p:spPr>
          <a:xfrm>
            <a:off x="-508680" y="2819520"/>
            <a:ext cx="9789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观点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即两个基本假设是</a:t>
            </a:r>
            <a:r>
              <a:rPr lang="zh-CN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           </a:t>
            </a:r>
            <a:r>
              <a:rPr lang="en-US" sz="3000" b="1" u="sng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Text Box 10"/>
          <p:cNvSpPr/>
          <p:nvPr/>
        </p:nvSpPr>
        <p:spPr>
          <a:xfrm>
            <a:off x="-412200" y="3336840"/>
            <a:ext cx="9035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Text Box 11"/>
          <p:cNvSpPr/>
          <p:nvPr/>
        </p:nvSpPr>
        <p:spPr>
          <a:xfrm>
            <a:off x="4557960" y="280368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感生电场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 Box 12"/>
          <p:cNvSpPr/>
          <p:nvPr/>
        </p:nvSpPr>
        <p:spPr>
          <a:xfrm>
            <a:off x="1586160" y="327672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位移电流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2" dur="indefinite" restart="never" nodeType="tmRoot">
          <p:childTnLst>
            <p:seq>
              <p:cTn id="263" dur="indefinite" nodeType="mainSeq">
                <p:childTnLst>
                  <p:par>
                    <p:cTn id="264" fill="hold" nodeType="clickEffect">
                      <p:stCondLst>
                        <p:cond delay="indefinite"/>
                      </p:stCondLst>
                      <p:childTnLst>
                        <p:par>
                          <p:cTn id="26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Effect">
                      <p:stCondLst>
                        <p:cond delay="indefinite"/>
                      </p:stCondLst>
                      <p:childTnLst>
                        <p:par>
                          <p:cTn id="27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2002-12-02T20:00:18Z</dcterms:created>
  <dc:creator>Love</dc:creator>
  <dc:description/>
  <dc:language>zh-CN</dc:language>
  <cp:lastModifiedBy>Administrator</cp:lastModifiedBy>
  <dcterms:modified xsi:type="dcterms:W3CDTF">2026-06-08T01:59:08Z</dcterms:modified>
  <cp:revision>385</cp:revision>
  <dc:subject/>
  <dc:title>没有幻灯片标题</dc:title>
</cp:coreProperties>
</file>